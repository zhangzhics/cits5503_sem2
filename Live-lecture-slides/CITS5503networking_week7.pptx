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94" r:id="rId1"/>
  </p:sldMasterIdLst>
  <p:notesMasterIdLst>
    <p:notesMasterId r:id="rId73"/>
  </p:notesMasterIdLst>
  <p:handoutMasterIdLst>
    <p:handoutMasterId r:id="rId74"/>
  </p:handoutMasterIdLst>
  <p:sldIdLst>
    <p:sldId id="1357" r:id="rId2"/>
    <p:sldId id="1573" r:id="rId3"/>
    <p:sldId id="1572" r:id="rId4"/>
    <p:sldId id="343" r:id="rId5"/>
    <p:sldId id="1414" r:id="rId6"/>
    <p:sldId id="1457" r:id="rId7"/>
    <p:sldId id="1522" r:id="rId8"/>
    <p:sldId id="1460" r:id="rId9"/>
    <p:sldId id="1461" r:id="rId10"/>
    <p:sldId id="1462" r:id="rId11"/>
    <p:sldId id="1526" r:id="rId12"/>
    <p:sldId id="1527" r:id="rId13"/>
    <p:sldId id="262" r:id="rId14"/>
    <p:sldId id="1466" r:id="rId15"/>
    <p:sldId id="1525" r:id="rId16"/>
    <p:sldId id="1528" r:id="rId17"/>
    <p:sldId id="1529" r:id="rId18"/>
    <p:sldId id="1530" r:id="rId19"/>
    <p:sldId id="1532" r:id="rId20"/>
    <p:sldId id="1531" r:id="rId21"/>
    <p:sldId id="1468" r:id="rId22"/>
    <p:sldId id="1577" r:id="rId23"/>
    <p:sldId id="1574" r:id="rId24"/>
    <p:sldId id="1469" r:id="rId25"/>
    <p:sldId id="1455" r:id="rId26"/>
    <p:sldId id="1470" r:id="rId27"/>
    <p:sldId id="1575" r:id="rId28"/>
    <p:sldId id="1472" r:id="rId29"/>
    <p:sldId id="1473" r:id="rId30"/>
    <p:sldId id="1576" r:id="rId31"/>
    <p:sldId id="1476" r:id="rId32"/>
    <p:sldId id="1477" r:id="rId33"/>
    <p:sldId id="1480" r:id="rId34"/>
    <p:sldId id="1486" r:id="rId35"/>
    <p:sldId id="1485" r:id="rId36"/>
    <p:sldId id="1487" r:id="rId37"/>
    <p:sldId id="1489" r:id="rId38"/>
    <p:sldId id="1492" r:id="rId39"/>
    <p:sldId id="1491" r:id="rId40"/>
    <p:sldId id="1479" r:id="rId41"/>
    <p:sldId id="1494" r:id="rId42"/>
    <p:sldId id="1483" r:id="rId43"/>
    <p:sldId id="1450" r:id="rId44"/>
    <p:sldId id="1534" r:id="rId45"/>
    <p:sldId id="1452" r:id="rId46"/>
    <p:sldId id="1542" r:id="rId47"/>
    <p:sldId id="1533" r:id="rId48"/>
    <p:sldId id="1328" r:id="rId49"/>
    <p:sldId id="1495" r:id="rId50"/>
    <p:sldId id="1498" r:id="rId51"/>
    <p:sldId id="1523" r:id="rId52"/>
    <p:sldId id="1501" r:id="rId53"/>
    <p:sldId id="1502" r:id="rId54"/>
    <p:sldId id="1535" r:id="rId55"/>
    <p:sldId id="1503" r:id="rId56"/>
    <p:sldId id="270" r:id="rId57"/>
    <p:sldId id="1536" r:id="rId58"/>
    <p:sldId id="1496" r:id="rId59"/>
    <p:sldId id="1507" r:id="rId60"/>
    <p:sldId id="1505" r:id="rId61"/>
    <p:sldId id="1539" r:id="rId62"/>
    <p:sldId id="1537" r:id="rId63"/>
    <p:sldId id="1508" r:id="rId64"/>
    <p:sldId id="1509" r:id="rId65"/>
    <p:sldId id="1541" r:id="rId66"/>
    <p:sldId id="1510" r:id="rId67"/>
    <p:sldId id="1512" r:id="rId68"/>
    <p:sldId id="1517" r:id="rId69"/>
    <p:sldId id="1518" r:id="rId70"/>
    <p:sldId id="1375" r:id="rId71"/>
    <p:sldId id="1519" r:id="rId72"/>
  </p:sldIdLst>
  <p:sldSz cx="12192000" cy="6858000"/>
  <p:notesSz cx="9601200" cy="7315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7360"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33CC33"/>
    <a:srgbClr val="66FFFF"/>
    <a:srgbClr val="00FFFF"/>
    <a:srgbClr val="00CC00"/>
    <a:srgbClr val="FF3399"/>
    <a:srgbClr val="66FF33"/>
    <a:srgbClr val="FFCC99"/>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662" autoAdjust="0"/>
    <p:restoredTop sz="65725" autoAdjust="0"/>
  </p:normalViewPr>
  <p:slideViewPr>
    <p:cSldViewPr snapToGrid="0">
      <p:cViewPr varScale="1">
        <p:scale>
          <a:sx n="46" d="100"/>
          <a:sy n="46" d="100"/>
        </p:scale>
        <p:origin x="1020" y="60"/>
      </p:cViewPr>
      <p:guideLst>
        <p:guide orient="horz" pos="3888"/>
        <p:guide pos="73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2" d="100"/>
          <a:sy n="122" d="100"/>
        </p:scale>
        <p:origin x="-1344" y="-9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31242088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2362200" y="549275"/>
            <a:ext cx="4876800" cy="274320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1279256" y="3475660"/>
            <a:ext cx="7042689" cy="32901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23768116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a:t>
            </a:fld>
            <a:endParaRPr lang="en-US"/>
          </a:p>
        </p:txBody>
      </p:sp>
    </p:spTree>
    <p:extLst>
      <p:ext uri="{BB962C8B-B14F-4D97-AF65-F5344CB8AC3E}">
        <p14:creationId xmlns:p14="http://schemas.microsoft.com/office/powerpoint/2010/main" val="3721175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a:t>
            </a:fld>
            <a:endParaRPr lang="en-US"/>
          </a:p>
        </p:txBody>
      </p:sp>
    </p:spTree>
    <p:extLst>
      <p:ext uri="{BB962C8B-B14F-4D97-AF65-F5344CB8AC3E}">
        <p14:creationId xmlns:p14="http://schemas.microsoft.com/office/powerpoint/2010/main" val="1325921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a:t>
            </a:fld>
            <a:endParaRPr lang="en-US"/>
          </a:p>
        </p:txBody>
      </p:sp>
    </p:spTree>
    <p:extLst>
      <p:ext uri="{BB962C8B-B14F-4D97-AF65-F5344CB8AC3E}">
        <p14:creationId xmlns:p14="http://schemas.microsoft.com/office/powerpoint/2010/main" val="3760583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366389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a:t>
            </a:fld>
            <a:endParaRPr lang="en-US"/>
          </a:p>
        </p:txBody>
      </p:sp>
    </p:spTree>
    <p:extLst>
      <p:ext uri="{BB962C8B-B14F-4D97-AF65-F5344CB8AC3E}">
        <p14:creationId xmlns:p14="http://schemas.microsoft.com/office/powerpoint/2010/main" val="1304822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a:t>
            </a:fld>
            <a:endParaRPr lang="en-US"/>
          </a:p>
        </p:txBody>
      </p:sp>
    </p:spTree>
    <p:extLst>
      <p:ext uri="{BB962C8B-B14F-4D97-AF65-F5344CB8AC3E}">
        <p14:creationId xmlns:p14="http://schemas.microsoft.com/office/powerpoint/2010/main" val="939747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7</a:t>
            </a:fld>
            <a:endParaRPr lang="en-US"/>
          </a:p>
        </p:txBody>
      </p:sp>
    </p:spTree>
    <p:extLst>
      <p:ext uri="{BB962C8B-B14F-4D97-AF65-F5344CB8AC3E}">
        <p14:creationId xmlns:p14="http://schemas.microsoft.com/office/powerpoint/2010/main" val="4196444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8</a:t>
            </a:fld>
            <a:endParaRPr lang="en-US"/>
          </a:p>
        </p:txBody>
      </p:sp>
    </p:spTree>
    <p:extLst>
      <p:ext uri="{BB962C8B-B14F-4D97-AF65-F5344CB8AC3E}">
        <p14:creationId xmlns:p14="http://schemas.microsoft.com/office/powerpoint/2010/main" val="2651713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9</a:t>
            </a:fld>
            <a:endParaRPr lang="en-US"/>
          </a:p>
        </p:txBody>
      </p:sp>
    </p:spTree>
    <p:extLst>
      <p:ext uri="{BB962C8B-B14F-4D97-AF65-F5344CB8AC3E}">
        <p14:creationId xmlns:p14="http://schemas.microsoft.com/office/powerpoint/2010/main" val="1358956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10</a:t>
            </a:fld>
            <a:endParaRPr lang="en-US"/>
          </a:p>
        </p:txBody>
      </p:sp>
    </p:spTree>
    <p:extLst>
      <p:ext uri="{BB962C8B-B14F-4D97-AF65-F5344CB8AC3E}">
        <p14:creationId xmlns:p14="http://schemas.microsoft.com/office/powerpoint/2010/main" val="2840665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11</a:t>
            </a:fld>
            <a:endParaRPr lang="en-US"/>
          </a:p>
        </p:txBody>
      </p:sp>
    </p:spTree>
    <p:extLst>
      <p:ext uri="{BB962C8B-B14F-4D97-AF65-F5344CB8AC3E}">
        <p14:creationId xmlns:p14="http://schemas.microsoft.com/office/powerpoint/2010/main" val="490334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12</a:t>
            </a:fld>
            <a:endParaRPr lang="en-US"/>
          </a:p>
        </p:txBody>
      </p:sp>
    </p:spTree>
    <p:extLst>
      <p:ext uri="{BB962C8B-B14F-4D97-AF65-F5344CB8AC3E}">
        <p14:creationId xmlns:p14="http://schemas.microsoft.com/office/powerpoint/2010/main" val="1054725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362200" y="549275"/>
            <a:ext cx="48768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13</a:t>
            </a:fld>
            <a:endParaRPr lang="en-AU" sz="1200" b="0" strike="noStrike" spc="-1">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362200" y="549275"/>
            <a:ext cx="48768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14</a:t>
            </a:fld>
            <a:endParaRPr lang="en-AU" sz="1200" b="0" strike="noStrike" spc="-1">
              <a:latin typeface="Times New Roman"/>
            </a:endParaRPr>
          </a:p>
        </p:txBody>
      </p:sp>
    </p:spTree>
    <p:extLst>
      <p:ext uri="{BB962C8B-B14F-4D97-AF65-F5344CB8AC3E}">
        <p14:creationId xmlns:p14="http://schemas.microsoft.com/office/powerpoint/2010/main" val="6400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362200" y="549275"/>
            <a:ext cx="48768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15</a:t>
            </a:fld>
            <a:endParaRPr lang="en-AU" sz="1200" b="0" strike="noStrike" spc="-1">
              <a:latin typeface="Times New Roman"/>
            </a:endParaRPr>
          </a:p>
        </p:txBody>
      </p:sp>
    </p:spTree>
    <p:extLst>
      <p:ext uri="{BB962C8B-B14F-4D97-AF65-F5344CB8AC3E}">
        <p14:creationId xmlns:p14="http://schemas.microsoft.com/office/powerpoint/2010/main" val="2780988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362200" y="549275"/>
            <a:ext cx="48768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sz="2000" b="0" strike="noStrike" spc="-1" dirty="0">
              <a:latin typeface="Arial"/>
            </a:endParaRPr>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16</a:t>
            </a:fld>
            <a:endParaRPr lang="en-AU" sz="1200" b="0" strike="noStrike" spc="-1">
              <a:latin typeface="Times New Roman"/>
            </a:endParaRPr>
          </a:p>
        </p:txBody>
      </p:sp>
    </p:spTree>
    <p:extLst>
      <p:ext uri="{BB962C8B-B14F-4D97-AF65-F5344CB8AC3E}">
        <p14:creationId xmlns:p14="http://schemas.microsoft.com/office/powerpoint/2010/main" val="1335516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362200" y="549275"/>
            <a:ext cx="48768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endParaRPr lang="en-US"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17</a:t>
            </a:fld>
            <a:endParaRPr lang="en-AU" sz="1200" b="0" strike="noStrike" spc="-1">
              <a:latin typeface="Times New Roman"/>
            </a:endParaRPr>
          </a:p>
        </p:txBody>
      </p:sp>
    </p:spTree>
    <p:extLst>
      <p:ext uri="{BB962C8B-B14F-4D97-AF65-F5344CB8AC3E}">
        <p14:creationId xmlns:p14="http://schemas.microsoft.com/office/powerpoint/2010/main" val="1901292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362200" y="549275"/>
            <a:ext cx="48768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endParaRPr lang="en-US"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18</a:t>
            </a:fld>
            <a:endParaRPr lang="en-AU" sz="1200" b="0" strike="noStrike" spc="-1">
              <a:latin typeface="Times New Roman"/>
            </a:endParaRPr>
          </a:p>
        </p:txBody>
      </p:sp>
    </p:spTree>
    <p:extLst>
      <p:ext uri="{BB962C8B-B14F-4D97-AF65-F5344CB8AC3E}">
        <p14:creationId xmlns:p14="http://schemas.microsoft.com/office/powerpoint/2010/main" val="4165114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362200" y="549275"/>
            <a:ext cx="48768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19</a:t>
            </a:fld>
            <a:endParaRPr lang="en-AU" sz="1200" b="0" strike="noStrike" spc="-1">
              <a:latin typeface="Times New Roman"/>
            </a:endParaRPr>
          </a:p>
        </p:txBody>
      </p:sp>
    </p:spTree>
    <p:extLst>
      <p:ext uri="{BB962C8B-B14F-4D97-AF65-F5344CB8AC3E}">
        <p14:creationId xmlns:p14="http://schemas.microsoft.com/office/powerpoint/2010/main" val="4076971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362200" y="549275"/>
            <a:ext cx="48768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20</a:t>
            </a:fld>
            <a:endParaRPr lang="en-AU" sz="1200" b="0" strike="noStrike" spc="-1">
              <a:latin typeface="Times New Roman"/>
            </a:endParaRPr>
          </a:p>
        </p:txBody>
      </p:sp>
    </p:spTree>
    <p:extLst>
      <p:ext uri="{BB962C8B-B14F-4D97-AF65-F5344CB8AC3E}">
        <p14:creationId xmlns:p14="http://schemas.microsoft.com/office/powerpoint/2010/main" val="292042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21</a:t>
            </a:fld>
            <a:endParaRPr lang="en-US"/>
          </a:p>
        </p:txBody>
      </p:sp>
    </p:spTree>
    <p:extLst>
      <p:ext uri="{BB962C8B-B14F-4D97-AF65-F5344CB8AC3E}">
        <p14:creationId xmlns:p14="http://schemas.microsoft.com/office/powerpoint/2010/main" val="279477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22</a:t>
            </a:fld>
            <a:endParaRPr lang="en-US"/>
          </a:p>
        </p:txBody>
      </p:sp>
    </p:spTree>
    <p:extLst>
      <p:ext uri="{BB962C8B-B14F-4D97-AF65-F5344CB8AC3E}">
        <p14:creationId xmlns:p14="http://schemas.microsoft.com/office/powerpoint/2010/main" val="37406858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23</a:t>
            </a:fld>
            <a:endParaRPr lang="en-US"/>
          </a:p>
        </p:txBody>
      </p:sp>
    </p:spTree>
    <p:extLst>
      <p:ext uri="{BB962C8B-B14F-4D97-AF65-F5344CB8AC3E}">
        <p14:creationId xmlns:p14="http://schemas.microsoft.com/office/powerpoint/2010/main" val="1224348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24</a:t>
            </a:fld>
            <a:endParaRPr lang="en-US"/>
          </a:p>
        </p:txBody>
      </p:sp>
    </p:spTree>
    <p:extLst>
      <p:ext uri="{BB962C8B-B14F-4D97-AF65-F5344CB8AC3E}">
        <p14:creationId xmlns:p14="http://schemas.microsoft.com/office/powerpoint/2010/main" val="2263406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25</a:t>
            </a:fld>
            <a:endParaRPr lang="en-US"/>
          </a:p>
        </p:txBody>
      </p:sp>
    </p:spTree>
    <p:extLst>
      <p:ext uri="{BB962C8B-B14F-4D97-AF65-F5344CB8AC3E}">
        <p14:creationId xmlns:p14="http://schemas.microsoft.com/office/powerpoint/2010/main" val="28885727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26</a:t>
            </a:fld>
            <a:endParaRPr lang="en-US"/>
          </a:p>
        </p:txBody>
      </p:sp>
    </p:spTree>
    <p:extLst>
      <p:ext uri="{BB962C8B-B14F-4D97-AF65-F5344CB8AC3E}">
        <p14:creationId xmlns:p14="http://schemas.microsoft.com/office/powerpoint/2010/main" val="35038811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27</a:t>
            </a:fld>
            <a:endParaRPr lang="en-US"/>
          </a:p>
        </p:txBody>
      </p:sp>
    </p:spTree>
    <p:extLst>
      <p:ext uri="{BB962C8B-B14F-4D97-AF65-F5344CB8AC3E}">
        <p14:creationId xmlns:p14="http://schemas.microsoft.com/office/powerpoint/2010/main" val="13731662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28</a:t>
            </a:fld>
            <a:endParaRPr lang="en-US"/>
          </a:p>
        </p:txBody>
      </p:sp>
    </p:spTree>
    <p:extLst>
      <p:ext uri="{BB962C8B-B14F-4D97-AF65-F5344CB8AC3E}">
        <p14:creationId xmlns:p14="http://schemas.microsoft.com/office/powerpoint/2010/main" val="26282139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29</a:t>
            </a:fld>
            <a:endParaRPr lang="en-US"/>
          </a:p>
        </p:txBody>
      </p:sp>
    </p:spTree>
    <p:extLst>
      <p:ext uri="{BB962C8B-B14F-4D97-AF65-F5344CB8AC3E}">
        <p14:creationId xmlns:p14="http://schemas.microsoft.com/office/powerpoint/2010/main" val="33207790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30</a:t>
            </a:fld>
            <a:endParaRPr lang="en-US"/>
          </a:p>
        </p:txBody>
      </p:sp>
    </p:spTree>
    <p:extLst>
      <p:ext uri="{BB962C8B-B14F-4D97-AF65-F5344CB8AC3E}">
        <p14:creationId xmlns:p14="http://schemas.microsoft.com/office/powerpoint/2010/main" val="2904500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31</a:t>
            </a:fld>
            <a:endParaRPr lang="en-US"/>
          </a:p>
        </p:txBody>
      </p:sp>
    </p:spTree>
    <p:extLst>
      <p:ext uri="{BB962C8B-B14F-4D97-AF65-F5344CB8AC3E}">
        <p14:creationId xmlns:p14="http://schemas.microsoft.com/office/powerpoint/2010/main" val="14167736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32</a:t>
            </a:fld>
            <a:endParaRPr lang="en-US"/>
          </a:p>
        </p:txBody>
      </p:sp>
    </p:spTree>
    <p:extLst>
      <p:ext uri="{BB962C8B-B14F-4D97-AF65-F5344CB8AC3E}">
        <p14:creationId xmlns:p14="http://schemas.microsoft.com/office/powerpoint/2010/main" val="7078926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33</a:t>
            </a:fld>
            <a:endParaRPr lang="en-US"/>
          </a:p>
        </p:txBody>
      </p:sp>
    </p:spTree>
    <p:extLst>
      <p:ext uri="{BB962C8B-B14F-4D97-AF65-F5344CB8AC3E}">
        <p14:creationId xmlns:p14="http://schemas.microsoft.com/office/powerpoint/2010/main" val="1805634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34</a:t>
            </a:fld>
            <a:endParaRPr lang="en-US"/>
          </a:p>
        </p:txBody>
      </p:sp>
    </p:spTree>
    <p:extLst>
      <p:ext uri="{BB962C8B-B14F-4D97-AF65-F5344CB8AC3E}">
        <p14:creationId xmlns:p14="http://schemas.microsoft.com/office/powerpoint/2010/main" val="39719066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35</a:t>
            </a:fld>
            <a:endParaRPr lang="en-US"/>
          </a:p>
        </p:txBody>
      </p:sp>
    </p:spTree>
    <p:extLst>
      <p:ext uri="{BB962C8B-B14F-4D97-AF65-F5344CB8AC3E}">
        <p14:creationId xmlns:p14="http://schemas.microsoft.com/office/powerpoint/2010/main" val="1440705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36</a:t>
            </a:fld>
            <a:endParaRPr lang="en-US"/>
          </a:p>
        </p:txBody>
      </p:sp>
    </p:spTree>
    <p:extLst>
      <p:ext uri="{BB962C8B-B14F-4D97-AF65-F5344CB8AC3E}">
        <p14:creationId xmlns:p14="http://schemas.microsoft.com/office/powerpoint/2010/main" val="15372526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37</a:t>
            </a:fld>
            <a:endParaRPr lang="en-US"/>
          </a:p>
        </p:txBody>
      </p:sp>
    </p:spTree>
    <p:extLst>
      <p:ext uri="{BB962C8B-B14F-4D97-AF65-F5344CB8AC3E}">
        <p14:creationId xmlns:p14="http://schemas.microsoft.com/office/powerpoint/2010/main" val="18518904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38</a:t>
            </a:fld>
            <a:endParaRPr lang="en-US"/>
          </a:p>
        </p:txBody>
      </p:sp>
    </p:spTree>
    <p:extLst>
      <p:ext uri="{BB962C8B-B14F-4D97-AF65-F5344CB8AC3E}">
        <p14:creationId xmlns:p14="http://schemas.microsoft.com/office/powerpoint/2010/main" val="22321241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39</a:t>
            </a:fld>
            <a:endParaRPr lang="en-US"/>
          </a:p>
        </p:txBody>
      </p:sp>
    </p:spTree>
    <p:extLst>
      <p:ext uri="{BB962C8B-B14F-4D97-AF65-F5344CB8AC3E}">
        <p14:creationId xmlns:p14="http://schemas.microsoft.com/office/powerpoint/2010/main" val="20096146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40</a:t>
            </a:fld>
            <a:endParaRPr lang="en-US"/>
          </a:p>
        </p:txBody>
      </p:sp>
    </p:spTree>
    <p:extLst>
      <p:ext uri="{BB962C8B-B14F-4D97-AF65-F5344CB8AC3E}">
        <p14:creationId xmlns:p14="http://schemas.microsoft.com/office/powerpoint/2010/main" val="38598836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41</a:t>
            </a:fld>
            <a:endParaRPr lang="en-US"/>
          </a:p>
        </p:txBody>
      </p:sp>
    </p:spTree>
    <p:extLst>
      <p:ext uri="{BB962C8B-B14F-4D97-AF65-F5344CB8AC3E}">
        <p14:creationId xmlns:p14="http://schemas.microsoft.com/office/powerpoint/2010/main" val="40334418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42</a:t>
            </a:fld>
            <a:endParaRPr lang="en-US"/>
          </a:p>
        </p:txBody>
      </p:sp>
    </p:spTree>
    <p:extLst>
      <p:ext uri="{BB962C8B-B14F-4D97-AF65-F5344CB8AC3E}">
        <p14:creationId xmlns:p14="http://schemas.microsoft.com/office/powerpoint/2010/main" val="24301424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43</a:t>
            </a:fld>
            <a:endParaRPr lang="en-US"/>
          </a:p>
        </p:txBody>
      </p:sp>
    </p:spTree>
    <p:extLst>
      <p:ext uri="{BB962C8B-B14F-4D97-AF65-F5344CB8AC3E}">
        <p14:creationId xmlns:p14="http://schemas.microsoft.com/office/powerpoint/2010/main" val="7411574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44</a:t>
            </a:fld>
            <a:endParaRPr lang="en-US"/>
          </a:p>
        </p:txBody>
      </p:sp>
    </p:spTree>
    <p:extLst>
      <p:ext uri="{BB962C8B-B14F-4D97-AF65-F5344CB8AC3E}">
        <p14:creationId xmlns:p14="http://schemas.microsoft.com/office/powerpoint/2010/main" val="24851171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AU"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45</a:t>
            </a:fld>
            <a:endParaRPr lang="en-US"/>
          </a:p>
        </p:txBody>
      </p:sp>
    </p:spTree>
    <p:extLst>
      <p:ext uri="{BB962C8B-B14F-4D97-AF65-F5344CB8AC3E}">
        <p14:creationId xmlns:p14="http://schemas.microsoft.com/office/powerpoint/2010/main" val="6999743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AU"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46</a:t>
            </a:fld>
            <a:endParaRPr lang="en-US"/>
          </a:p>
        </p:txBody>
      </p:sp>
    </p:spTree>
    <p:extLst>
      <p:ext uri="{BB962C8B-B14F-4D97-AF65-F5344CB8AC3E}">
        <p14:creationId xmlns:p14="http://schemas.microsoft.com/office/powerpoint/2010/main" val="30239327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47</a:t>
            </a:fld>
            <a:endParaRPr lang="en-US"/>
          </a:p>
        </p:txBody>
      </p:sp>
    </p:spTree>
    <p:extLst>
      <p:ext uri="{BB962C8B-B14F-4D97-AF65-F5344CB8AC3E}">
        <p14:creationId xmlns:p14="http://schemas.microsoft.com/office/powerpoint/2010/main" val="35982711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48</a:t>
            </a:fld>
            <a:endParaRPr lang="en-US"/>
          </a:p>
        </p:txBody>
      </p:sp>
    </p:spTree>
    <p:extLst>
      <p:ext uri="{BB962C8B-B14F-4D97-AF65-F5344CB8AC3E}">
        <p14:creationId xmlns:p14="http://schemas.microsoft.com/office/powerpoint/2010/main" val="32528199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49</a:t>
            </a:fld>
            <a:endParaRPr lang="en-US"/>
          </a:p>
        </p:txBody>
      </p:sp>
    </p:spTree>
    <p:extLst>
      <p:ext uri="{BB962C8B-B14F-4D97-AF65-F5344CB8AC3E}">
        <p14:creationId xmlns:p14="http://schemas.microsoft.com/office/powerpoint/2010/main" val="21679732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50</a:t>
            </a:fld>
            <a:endParaRPr lang="en-US"/>
          </a:p>
        </p:txBody>
      </p:sp>
    </p:spTree>
    <p:extLst>
      <p:ext uri="{BB962C8B-B14F-4D97-AF65-F5344CB8AC3E}">
        <p14:creationId xmlns:p14="http://schemas.microsoft.com/office/powerpoint/2010/main" val="332498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51</a:t>
            </a:fld>
            <a:endParaRPr lang="en-US"/>
          </a:p>
        </p:txBody>
      </p:sp>
    </p:spTree>
    <p:extLst>
      <p:ext uri="{BB962C8B-B14F-4D97-AF65-F5344CB8AC3E}">
        <p14:creationId xmlns:p14="http://schemas.microsoft.com/office/powerpoint/2010/main" val="12917505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52</a:t>
            </a:fld>
            <a:endParaRPr lang="en-US"/>
          </a:p>
        </p:txBody>
      </p:sp>
    </p:spTree>
    <p:extLst>
      <p:ext uri="{BB962C8B-B14F-4D97-AF65-F5344CB8AC3E}">
        <p14:creationId xmlns:p14="http://schemas.microsoft.com/office/powerpoint/2010/main" val="24123920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53</a:t>
            </a:fld>
            <a:endParaRPr lang="en-US"/>
          </a:p>
        </p:txBody>
      </p:sp>
    </p:spTree>
    <p:extLst>
      <p:ext uri="{BB962C8B-B14F-4D97-AF65-F5344CB8AC3E}">
        <p14:creationId xmlns:p14="http://schemas.microsoft.com/office/powerpoint/2010/main" val="22773916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54</a:t>
            </a:fld>
            <a:endParaRPr lang="en-US"/>
          </a:p>
        </p:txBody>
      </p:sp>
    </p:spTree>
    <p:extLst>
      <p:ext uri="{BB962C8B-B14F-4D97-AF65-F5344CB8AC3E}">
        <p14:creationId xmlns:p14="http://schemas.microsoft.com/office/powerpoint/2010/main" val="13484768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55</a:t>
            </a:fld>
            <a:endParaRPr lang="en-US"/>
          </a:p>
        </p:txBody>
      </p:sp>
    </p:spTree>
    <p:extLst>
      <p:ext uri="{BB962C8B-B14F-4D97-AF65-F5344CB8AC3E}">
        <p14:creationId xmlns:p14="http://schemas.microsoft.com/office/powerpoint/2010/main" val="16462140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PlaceHolder 1"/>
          <p:cNvSpPr>
            <a:spLocks noGrp="1" noRot="1" noChangeAspect="1"/>
          </p:cNvSpPr>
          <p:nvPr>
            <p:ph type="sldImg"/>
          </p:nvPr>
        </p:nvSpPr>
        <p:spPr>
          <a:xfrm>
            <a:off x="2362200" y="549275"/>
            <a:ext cx="4876800" cy="2743200"/>
          </a:xfrm>
          <a:prstGeom prst="rect">
            <a:avLst/>
          </a:prstGeom>
        </p:spPr>
      </p:sp>
      <p:sp>
        <p:nvSpPr>
          <p:cNvPr id="389" name="PlaceHolder 2"/>
          <p:cNvSpPr>
            <a:spLocks noGrp="1"/>
          </p:cNvSpPr>
          <p:nvPr>
            <p:ph type="body"/>
          </p:nvPr>
        </p:nvSpPr>
        <p:spPr>
          <a:xfrm>
            <a:off x="1279080" y="3475800"/>
            <a:ext cx="7042320" cy="3289680"/>
          </a:xfrm>
          <a:prstGeom prst="rect">
            <a:avLst/>
          </a:prstGeom>
        </p:spPr>
        <p:txBody>
          <a:bodyPr>
            <a:noAutofit/>
          </a:bodyPr>
          <a:lstStyle/>
          <a:p>
            <a:pPr marL="360" indent="0">
              <a:lnSpc>
                <a:spcPct val="90000"/>
              </a:lnSpc>
              <a:spcBef>
                <a:spcPts val="1001"/>
              </a:spcBef>
              <a:buClr>
                <a:srgbClr val="000000"/>
              </a:buClr>
              <a:buFont typeface="Arial"/>
              <a:buNone/>
            </a:pPr>
            <a:endParaRPr lang="en-AU" dirty="0"/>
          </a:p>
        </p:txBody>
      </p:sp>
      <p:sp>
        <p:nvSpPr>
          <p:cNvPr id="390"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CB815770-1E5B-421C-B8B3-D287FB3FF3B8}" type="slidenum">
              <a:rPr lang="en-US" sz="1200" b="0" strike="noStrike" spc="-1">
                <a:latin typeface="Arial"/>
              </a:rPr>
              <a:t>56</a:t>
            </a:fld>
            <a:endParaRPr lang="en-AU" sz="1200" b="0" strike="noStrike" spc="-1">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57</a:t>
            </a:fld>
            <a:endParaRPr lang="en-US"/>
          </a:p>
        </p:txBody>
      </p:sp>
    </p:spTree>
    <p:extLst>
      <p:ext uri="{BB962C8B-B14F-4D97-AF65-F5344CB8AC3E}">
        <p14:creationId xmlns:p14="http://schemas.microsoft.com/office/powerpoint/2010/main" val="33070990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58</a:t>
            </a:fld>
            <a:endParaRPr lang="en-US"/>
          </a:p>
        </p:txBody>
      </p:sp>
    </p:spTree>
    <p:extLst>
      <p:ext uri="{BB962C8B-B14F-4D97-AF65-F5344CB8AC3E}">
        <p14:creationId xmlns:p14="http://schemas.microsoft.com/office/powerpoint/2010/main" val="6912063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59</a:t>
            </a:fld>
            <a:endParaRPr lang="en-US"/>
          </a:p>
        </p:txBody>
      </p:sp>
    </p:spTree>
    <p:extLst>
      <p:ext uri="{BB962C8B-B14F-4D97-AF65-F5344CB8AC3E}">
        <p14:creationId xmlns:p14="http://schemas.microsoft.com/office/powerpoint/2010/main" val="35155518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60</a:t>
            </a:fld>
            <a:endParaRPr lang="en-US"/>
          </a:p>
        </p:txBody>
      </p:sp>
    </p:spTree>
    <p:extLst>
      <p:ext uri="{BB962C8B-B14F-4D97-AF65-F5344CB8AC3E}">
        <p14:creationId xmlns:p14="http://schemas.microsoft.com/office/powerpoint/2010/main" val="15340547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61</a:t>
            </a:fld>
            <a:endParaRPr lang="en-US"/>
          </a:p>
        </p:txBody>
      </p:sp>
    </p:spTree>
    <p:extLst>
      <p:ext uri="{BB962C8B-B14F-4D97-AF65-F5344CB8AC3E}">
        <p14:creationId xmlns:p14="http://schemas.microsoft.com/office/powerpoint/2010/main" val="32625110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62</a:t>
            </a:fld>
            <a:endParaRPr lang="en-US"/>
          </a:p>
        </p:txBody>
      </p:sp>
    </p:spTree>
    <p:extLst>
      <p:ext uri="{BB962C8B-B14F-4D97-AF65-F5344CB8AC3E}">
        <p14:creationId xmlns:p14="http://schemas.microsoft.com/office/powerpoint/2010/main" val="35486367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63</a:t>
            </a:fld>
            <a:endParaRPr lang="en-US"/>
          </a:p>
        </p:txBody>
      </p:sp>
    </p:spTree>
    <p:extLst>
      <p:ext uri="{BB962C8B-B14F-4D97-AF65-F5344CB8AC3E}">
        <p14:creationId xmlns:p14="http://schemas.microsoft.com/office/powerpoint/2010/main" val="8563623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64</a:t>
            </a:fld>
            <a:endParaRPr lang="en-US"/>
          </a:p>
        </p:txBody>
      </p:sp>
    </p:spTree>
    <p:extLst>
      <p:ext uri="{BB962C8B-B14F-4D97-AF65-F5344CB8AC3E}">
        <p14:creationId xmlns:p14="http://schemas.microsoft.com/office/powerpoint/2010/main" val="346457449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65</a:t>
            </a:fld>
            <a:endParaRPr lang="en-US"/>
          </a:p>
        </p:txBody>
      </p:sp>
    </p:spTree>
    <p:extLst>
      <p:ext uri="{BB962C8B-B14F-4D97-AF65-F5344CB8AC3E}">
        <p14:creationId xmlns:p14="http://schemas.microsoft.com/office/powerpoint/2010/main" val="83001961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66</a:t>
            </a:fld>
            <a:endParaRPr lang="en-US"/>
          </a:p>
        </p:txBody>
      </p:sp>
    </p:spTree>
    <p:extLst>
      <p:ext uri="{BB962C8B-B14F-4D97-AF65-F5344CB8AC3E}">
        <p14:creationId xmlns:p14="http://schemas.microsoft.com/office/powerpoint/2010/main" val="157623407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67</a:t>
            </a:fld>
            <a:endParaRPr lang="en-US"/>
          </a:p>
        </p:txBody>
      </p:sp>
    </p:spTree>
    <p:extLst>
      <p:ext uri="{BB962C8B-B14F-4D97-AF65-F5344CB8AC3E}">
        <p14:creationId xmlns:p14="http://schemas.microsoft.com/office/powerpoint/2010/main" val="15028309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68</a:t>
            </a:fld>
            <a:endParaRPr lang="en-US"/>
          </a:p>
        </p:txBody>
      </p:sp>
    </p:spTree>
    <p:extLst>
      <p:ext uri="{BB962C8B-B14F-4D97-AF65-F5344CB8AC3E}">
        <p14:creationId xmlns:p14="http://schemas.microsoft.com/office/powerpoint/2010/main" val="225059369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69</a:t>
            </a:fld>
            <a:endParaRPr lang="en-US"/>
          </a:p>
        </p:txBody>
      </p:sp>
    </p:spTree>
    <p:extLst>
      <p:ext uri="{BB962C8B-B14F-4D97-AF65-F5344CB8AC3E}">
        <p14:creationId xmlns:p14="http://schemas.microsoft.com/office/powerpoint/2010/main" val="17412909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70</a:t>
            </a:fld>
            <a:endParaRPr lang="en-AU"/>
          </a:p>
        </p:txBody>
      </p:sp>
    </p:spTree>
    <p:extLst>
      <p:ext uri="{BB962C8B-B14F-4D97-AF65-F5344CB8AC3E}">
        <p14:creationId xmlns:p14="http://schemas.microsoft.com/office/powerpoint/2010/main" val="404745373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71</a:t>
            </a:fld>
            <a:endParaRPr lang="en-AU"/>
          </a:p>
        </p:txBody>
      </p:sp>
    </p:spTree>
    <p:extLst>
      <p:ext uri="{BB962C8B-B14F-4D97-AF65-F5344CB8AC3E}">
        <p14:creationId xmlns:p14="http://schemas.microsoft.com/office/powerpoint/2010/main" val="1811576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FC76-A687-7B4B-B7C4-626092A4E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7D0C56-5CE4-974A-9396-D3EB55B4D7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4DA849-C6BE-0D42-92BA-360B93EE951E}"/>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a:extLst>
              <a:ext uri="{FF2B5EF4-FFF2-40B4-BE49-F238E27FC236}">
                <a16:creationId xmlns:a16="http://schemas.microsoft.com/office/drawing/2014/main" id="{C6DB5C5E-AC5B-A14E-A301-AD633DC7D77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A5D572F-30CF-9840-9A79-9226228BE8E2}"/>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17106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78CA-57F7-834F-A3B8-2F41FDE557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0E7C3A-CA92-5142-9827-289275BFEDD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6E172-3480-524D-A4CE-62BEC772ECAC}"/>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a:extLst>
              <a:ext uri="{FF2B5EF4-FFF2-40B4-BE49-F238E27FC236}">
                <a16:creationId xmlns:a16="http://schemas.microsoft.com/office/drawing/2014/main" id="{0EECCA29-E44B-4C43-BD55-3FCD251CD04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A014242-6B07-8543-919A-1FC4E1ADFB9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0394670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CDA5-F91D-D044-B783-1882CD742B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242B5-90F0-4E4A-AAB6-B12084FC31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ECF56A0-C271-B245-A1C9-25A589EF50A7}"/>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a:extLst>
              <a:ext uri="{FF2B5EF4-FFF2-40B4-BE49-F238E27FC236}">
                <a16:creationId xmlns:a16="http://schemas.microsoft.com/office/drawing/2014/main" id="{C566E697-8320-434A-86D9-AAC230922290}"/>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37EB4B91-4A86-974C-8CCB-8A3EB058B04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8689611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212B-8369-DA4C-BABB-1A078941EE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90E38-4CB2-584D-B9E8-A2B2094BFE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6C5A60-5C7D-254F-9697-BF3AEA3A3A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CFB941-C882-CC41-A9CF-2E02FA3FC514}"/>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6" name="Footer Placeholder 5">
            <a:extLst>
              <a:ext uri="{FF2B5EF4-FFF2-40B4-BE49-F238E27FC236}">
                <a16:creationId xmlns:a16="http://schemas.microsoft.com/office/drawing/2014/main" id="{769EE5D5-3BD1-6B4E-B031-3D61A515D825}"/>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A3F84497-F0E4-324C-96C4-4BDF3800257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49967051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C25F-5F64-AB4A-BBF5-77AF585846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848DA2-5CA8-1F4E-9841-4BBF635744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3FFDB4-FED0-1C4F-8D7D-17B0867BD9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D7F3F-2DF5-3447-AAF3-177659901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613463-9787-6941-B670-25EC1557F0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0F4E8-78E2-3747-80C1-43D61721C774}"/>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a:extLst>
              <a:ext uri="{FF2B5EF4-FFF2-40B4-BE49-F238E27FC236}">
                <a16:creationId xmlns:a16="http://schemas.microsoft.com/office/drawing/2014/main" id="{7BC262F4-0E96-6C4F-B0F2-DF033F911B8C}"/>
              </a:ext>
            </a:extLst>
          </p:cNvPr>
          <p:cNvSpPr>
            <a:spLocks noGrp="1"/>
          </p:cNvSpPr>
          <p:nvPr>
            <p:ph type="ftr" sz="quarter" idx="11"/>
          </p:nvPr>
        </p:nvSpPr>
        <p:spPr/>
        <p:txBody>
          <a:bodyPr/>
          <a:lstStyle/>
          <a:p>
            <a:r>
              <a:rPr lang="de-DE"/>
              <a:t>University of Pennsylvania</a:t>
            </a:r>
            <a:endParaRPr lang="en-GB"/>
          </a:p>
        </p:txBody>
      </p:sp>
      <p:sp>
        <p:nvSpPr>
          <p:cNvPr id="9" name="Slide Number Placeholder 8">
            <a:extLst>
              <a:ext uri="{FF2B5EF4-FFF2-40B4-BE49-F238E27FC236}">
                <a16:creationId xmlns:a16="http://schemas.microsoft.com/office/drawing/2014/main" id="{55680677-D036-7543-8C21-49D40D16F000}"/>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20304593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E4D1-730E-504F-9683-098495A950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4C212F-EA7C-C045-BCB8-108319BCDE93}"/>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a:extLst>
              <a:ext uri="{FF2B5EF4-FFF2-40B4-BE49-F238E27FC236}">
                <a16:creationId xmlns:a16="http://schemas.microsoft.com/office/drawing/2014/main" id="{D936530A-03A9-CA4D-B18F-9C4F563784A5}"/>
              </a:ext>
            </a:extLst>
          </p:cNvPr>
          <p:cNvSpPr>
            <a:spLocks noGrp="1"/>
          </p:cNvSpPr>
          <p:nvPr>
            <p:ph type="ftr" sz="quarter" idx="11"/>
          </p:nvPr>
        </p:nvSpPr>
        <p:spPr/>
        <p:txBody>
          <a:bodyPr/>
          <a:lstStyle/>
          <a:p>
            <a:r>
              <a:rPr lang="de-DE"/>
              <a:t>University of Pennsylvania</a:t>
            </a:r>
            <a:endParaRPr lang="en-GB"/>
          </a:p>
        </p:txBody>
      </p:sp>
      <p:sp>
        <p:nvSpPr>
          <p:cNvPr id="5" name="Slide Number Placeholder 4">
            <a:extLst>
              <a:ext uri="{FF2B5EF4-FFF2-40B4-BE49-F238E27FC236}">
                <a16:creationId xmlns:a16="http://schemas.microsoft.com/office/drawing/2014/main" id="{46F73F1B-9FF0-8641-9282-74CC1E49A5B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7146331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40EEF-C38B-144B-821E-4975E49F335B}"/>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a:extLst>
              <a:ext uri="{FF2B5EF4-FFF2-40B4-BE49-F238E27FC236}">
                <a16:creationId xmlns:a16="http://schemas.microsoft.com/office/drawing/2014/main" id="{1EABF87A-B408-1D4E-A728-89D503529F1B}"/>
              </a:ext>
            </a:extLst>
          </p:cNvPr>
          <p:cNvSpPr>
            <a:spLocks noGrp="1"/>
          </p:cNvSpPr>
          <p:nvPr>
            <p:ph type="ftr" sz="quarter" idx="11"/>
          </p:nvPr>
        </p:nvSpPr>
        <p:spPr/>
        <p:txBody>
          <a:bodyPr/>
          <a:lstStyle/>
          <a:p>
            <a:r>
              <a:rPr lang="de-DE"/>
              <a:t>University of Pennsylvania</a:t>
            </a:r>
            <a:endParaRPr lang="en-GB"/>
          </a:p>
        </p:txBody>
      </p:sp>
      <p:sp>
        <p:nvSpPr>
          <p:cNvPr id="4" name="Slide Number Placeholder 3">
            <a:extLst>
              <a:ext uri="{FF2B5EF4-FFF2-40B4-BE49-F238E27FC236}">
                <a16:creationId xmlns:a16="http://schemas.microsoft.com/office/drawing/2014/main" id="{844A79A3-BC23-5049-AB5A-EEBEFC1DDF1E}"/>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6964078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8979A-65AB-B347-9E09-756CA6284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205E94-A13D-4147-89EB-2AE179F7EE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5A8F7D-3AD4-1D43-A088-C33A03187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D2DD2C-19B1-0A43-9570-9A1842C00E0B}"/>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6" name="Footer Placeholder 5">
            <a:extLst>
              <a:ext uri="{FF2B5EF4-FFF2-40B4-BE49-F238E27FC236}">
                <a16:creationId xmlns:a16="http://schemas.microsoft.com/office/drawing/2014/main" id="{728A2C57-1FDB-C346-95CB-FA52DB282911}"/>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87896CB0-35B3-1D4E-8AD4-4B0E0C05CD98}"/>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20450557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D222-4F45-014E-98B9-BC327CE71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ECB534-A460-C74C-B118-2356A474D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56C72C-FBD3-8440-AED3-C06C44303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971F36-EF5A-5F46-9C28-6E6A7D474C7E}"/>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6" name="Footer Placeholder 5">
            <a:extLst>
              <a:ext uri="{FF2B5EF4-FFF2-40B4-BE49-F238E27FC236}">
                <a16:creationId xmlns:a16="http://schemas.microsoft.com/office/drawing/2014/main" id="{B93FA358-451B-7942-B0C1-D0B7B9D6D98D}"/>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FDC32310-9E80-224C-B30E-CC263F97CE04}"/>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93130085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5363-015D-7D4B-BAFF-135F6C4F8A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1C766A-A719-2A44-9699-E3C404432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E4ADE-3ECD-8641-9FE0-CD597AA3DAAC}"/>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a:extLst>
              <a:ext uri="{FF2B5EF4-FFF2-40B4-BE49-F238E27FC236}">
                <a16:creationId xmlns:a16="http://schemas.microsoft.com/office/drawing/2014/main" id="{44B53541-5822-2348-8881-F75DD26C0936}"/>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65EF7EAC-E5FB-A241-A525-745F318996FA}"/>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7443004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E3AC36-B8F3-904D-9D44-3800404FE9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B37D3E-B28E-E04C-B298-29CCA5D7CE0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93EA0-EACD-4649-BF69-F205284D4964}"/>
              </a:ext>
            </a:extLst>
          </p:cNvPr>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a:extLst>
              <a:ext uri="{FF2B5EF4-FFF2-40B4-BE49-F238E27FC236}">
                <a16:creationId xmlns:a16="http://schemas.microsoft.com/office/drawing/2014/main" id="{6527CA7A-55ED-7443-A196-4D2842C272A7}"/>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7FA9D338-29CC-A549-9D40-63A8AB4F78A3}"/>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1765062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572685" y="1990725"/>
            <a:ext cx="10390716" cy="990600"/>
          </a:xfrm>
        </p:spPr>
        <p:txBody>
          <a:bodyPr/>
          <a:lstStyle>
            <a:lvl1pPr>
              <a:defRPr sz="4000"/>
            </a:lvl1pPr>
          </a:lstStyle>
          <a:p>
            <a:r>
              <a:rPr lang="en-US"/>
              <a:t>Click to edit Master title style</a:t>
            </a:r>
          </a:p>
        </p:txBody>
      </p:sp>
      <p:sp>
        <p:nvSpPr>
          <p:cNvPr id="3" name="Slide Number Placeholder 2"/>
          <p:cNvSpPr>
            <a:spLocks noGrp="1"/>
          </p:cNvSpPr>
          <p:nvPr>
            <p:ph type="sldNum" sz="quarter" idx="10"/>
          </p:nvPr>
        </p:nvSpPr>
        <p:spPr/>
        <p:txBody>
          <a:bodyPr/>
          <a:lstStyle/>
          <a:p>
            <a:fld id="{05072F42-4DFA-4725-86F9-7594E4AB4EB5}" type="slidenum">
              <a:rPr lang="en-GB" smtClean="0"/>
              <a:pPr/>
              <a:t>‹#›</a:t>
            </a:fld>
            <a:endParaRPr lang="en-GB"/>
          </a:p>
        </p:txBody>
      </p:sp>
      <p:sp>
        <p:nvSpPr>
          <p:cNvPr id="4" name="Footer Placeholder 3"/>
          <p:cNvSpPr>
            <a:spLocks noGrp="1"/>
          </p:cNvSpPr>
          <p:nvPr>
            <p:ph type="ftr" sz="quarter" idx="11"/>
          </p:nvPr>
        </p:nvSpPr>
        <p:spPr/>
        <p:txBody>
          <a:bodyPr/>
          <a:lstStyle/>
          <a:p>
            <a:r>
              <a:rPr lang="de-DE"/>
              <a:t>University of Pennsylvania</a:t>
            </a:r>
            <a:endParaRPr lang="en-GB"/>
          </a:p>
        </p:txBody>
      </p:sp>
      <p:sp>
        <p:nvSpPr>
          <p:cNvPr id="5" name="Rectangle 111"/>
          <p:cNvSpPr>
            <a:spLocks noChangeArrowheads="1"/>
          </p:cNvSpPr>
          <p:nvPr userDrawn="1"/>
        </p:nvSpPr>
        <p:spPr bwMode="auto">
          <a:xfrm>
            <a:off x="406400" y="838200"/>
            <a:ext cx="1049867"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sz="2000"/>
          </a:p>
        </p:txBody>
      </p:sp>
      <p:sp>
        <p:nvSpPr>
          <p:cNvPr id="6" name="Line 110"/>
          <p:cNvSpPr>
            <a:spLocks noChangeShapeType="1"/>
          </p:cNvSpPr>
          <p:nvPr userDrawn="1"/>
        </p:nvSpPr>
        <p:spPr bwMode="auto">
          <a:xfrm>
            <a:off x="1123951" y="1143000"/>
            <a:ext cx="0" cy="2895600"/>
          </a:xfrm>
          <a:prstGeom prst="line">
            <a:avLst/>
          </a:prstGeom>
          <a:noFill/>
          <a:ln w="28575">
            <a:solidFill>
              <a:srgbClr val="000000"/>
            </a:solidFill>
            <a:round/>
            <a:headEnd/>
            <a:tailEnd/>
          </a:ln>
          <a:effectLst/>
        </p:spPr>
        <p:txBody>
          <a:bodyPr wrap="none" anchor="ctr"/>
          <a:lstStyle/>
          <a:p>
            <a:endParaRPr lang="en-US" sz="2000"/>
          </a:p>
        </p:txBody>
      </p:sp>
      <p:sp>
        <p:nvSpPr>
          <p:cNvPr id="8" name="Rectangle 13"/>
          <p:cNvSpPr>
            <a:spLocks noGrp="1" noChangeArrowheads="1"/>
          </p:cNvSpPr>
          <p:nvPr>
            <p:ph type="subTitle" idx="1"/>
          </p:nvPr>
        </p:nvSpPr>
        <p:spPr>
          <a:xfrm>
            <a:off x="1818217" y="3944938"/>
            <a:ext cx="85344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68817" y="3011488"/>
            <a:ext cx="11590867"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sz="2000"/>
          </a:p>
        </p:txBody>
      </p:sp>
      <p:pic>
        <p:nvPicPr>
          <p:cNvPr id="11" name="Picture 10" descr="Penn shield.gif"/>
          <p:cNvPicPr>
            <a:picLocks noChangeAspect="1"/>
          </p:cNvPicPr>
          <p:nvPr userDrawn="1"/>
        </p:nvPicPr>
        <p:blipFill>
          <a:blip r:embed="rId2" cstate="print"/>
          <a:stretch>
            <a:fillRect/>
          </a:stretch>
        </p:blipFill>
        <p:spPr>
          <a:xfrm>
            <a:off x="501061" y="2612508"/>
            <a:ext cx="878809" cy="740196"/>
          </a:xfrm>
          <a:prstGeom prst="rect">
            <a:avLst/>
          </a:prstGeom>
        </p:spPr>
      </p:pic>
      <p:sp>
        <p:nvSpPr>
          <p:cNvPr id="12" name="Rectangle 32"/>
          <p:cNvSpPr>
            <a:spLocks noChangeArrowheads="1"/>
          </p:cNvSpPr>
          <p:nvPr userDrawn="1"/>
        </p:nvSpPr>
        <p:spPr bwMode="auto">
          <a:xfrm>
            <a:off x="1" y="6605588"/>
            <a:ext cx="2331217" cy="252412"/>
          </a:xfrm>
          <a:prstGeom prst="rect">
            <a:avLst/>
          </a:prstGeom>
          <a:noFill/>
          <a:ln w="9525">
            <a:noFill/>
            <a:miter lim="800000"/>
            <a:headEnd/>
            <a:tailEnd/>
          </a:ln>
          <a:effectLst/>
        </p:spPr>
        <p:txBody>
          <a:bodyPr anchor="b"/>
          <a:lstStyle/>
          <a:p>
            <a:pPr marL="0" marR="0" indent="0" algn="l" defTabSz="914400" rtl="0" eaLnBrk="1" fontAlgn="base" latinLnBrk="0" hangingPunct="1">
              <a:lnSpc>
                <a:spcPct val="100000"/>
              </a:lnSpc>
              <a:spcBef>
                <a:spcPct val="0"/>
              </a:spcBef>
              <a:spcAft>
                <a:spcPct val="0"/>
              </a:spcAft>
              <a:buClrTx/>
              <a:buSzTx/>
              <a:buFontTx/>
              <a:buNone/>
              <a:tabLst/>
              <a:defRPr/>
            </a:pPr>
            <a:r>
              <a:rPr lang="de-DE" sz="900"/>
              <a:t>© 2013 A. Haeberlen, Z. Ives</a:t>
            </a:r>
            <a:endParaRPr lang="en-GB" sz="9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9D4BDC-9DBC-F647-991C-B00D6C38D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B5DE1C-9DB9-0E43-B50B-973E8289EE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81C8A-F206-BA43-8D7E-04234D39F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a:extLst>
              <a:ext uri="{FF2B5EF4-FFF2-40B4-BE49-F238E27FC236}">
                <a16:creationId xmlns:a16="http://schemas.microsoft.com/office/drawing/2014/main" id="{7043EDD4-9495-C047-B664-F26C63648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7EA8D715-2296-A64B-AA69-3A1F4CFB77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072F42-4DFA-4725-86F9-7594E4AB4EB5}" type="slidenum">
              <a:rPr lang="en-GB" smtClean="0"/>
              <a:pPr/>
              <a:t>‹#›</a:t>
            </a:fld>
            <a:endParaRPr lang="en-GB"/>
          </a:p>
        </p:txBody>
      </p:sp>
    </p:spTree>
    <p:extLst>
      <p:ext uri="{BB962C8B-B14F-4D97-AF65-F5344CB8AC3E}">
        <p14:creationId xmlns:p14="http://schemas.microsoft.com/office/powerpoint/2010/main" val="245105896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658"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0" name="Group 9" title="intersecting circles">
            <a:extLst>
              <a:ext uri="{FF2B5EF4-FFF2-40B4-BE49-F238E27FC236}">
                <a16:creationId xmlns:a16="http://schemas.microsoft.com/office/drawing/2014/main" id="{D2C4BFA1-2075-4901-9E24-E41D1FDD51FD}"/>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1" name="Oval 5">
              <a:extLst>
                <a:ext uri="{FF2B5EF4-FFF2-40B4-BE49-F238E27FC236}">
                  <a16:creationId xmlns:a16="http://schemas.microsoft.com/office/drawing/2014/main" id="{985A7375-E3AF-4F5C-85AE-17E8832952CA}"/>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12" name="Oval 11">
              <a:extLst>
                <a:ext uri="{FF2B5EF4-FFF2-40B4-BE49-F238E27FC236}">
                  <a16:creationId xmlns:a16="http://schemas.microsoft.com/office/drawing/2014/main" id="{F0307F65-8304-4FA8-A841-D4D7625411BE}"/>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13" name="Oval 5">
              <a:extLst>
                <a:ext uri="{FF2B5EF4-FFF2-40B4-BE49-F238E27FC236}">
                  <a16:creationId xmlns:a16="http://schemas.microsoft.com/office/drawing/2014/main" id="{C8B8394C-136F-4E05-A002-D93A5E79CD50}"/>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p:nvSpPr>
          <p:cNvPr id="15" name="Rectangle 14" title="ribbon">
            <a:extLst>
              <a:ext uri="{FF2B5EF4-FFF2-40B4-BE49-F238E27FC236}">
                <a16:creationId xmlns:a16="http://schemas.microsoft.com/office/drawing/2014/main" id="{053FB2EE-284F-4C87-AB3D-BBF87A9FAB9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D81C55C-64EF-5A4C-AA55-00ED127F3859}"/>
              </a:ext>
            </a:extLst>
          </p:cNvPr>
          <p:cNvSpPr>
            <a:spLocks noGrp="1"/>
          </p:cNvSpPr>
          <p:nvPr>
            <p:ph type="ctrTitle"/>
          </p:nvPr>
        </p:nvSpPr>
        <p:spPr>
          <a:xfrm>
            <a:off x="1524000" y="2776538"/>
            <a:ext cx="9144000" cy="1381188"/>
          </a:xfrm>
        </p:spPr>
        <p:txBody>
          <a:bodyPr anchor="ctr">
            <a:normAutofit/>
          </a:bodyPr>
          <a:lstStyle/>
          <a:p>
            <a:r>
              <a:rPr lang="en-US" sz="4000" dirty="0">
                <a:solidFill>
                  <a:schemeClr val="bg2"/>
                </a:solidFill>
              </a:rPr>
              <a:t>Week 7 Networking</a:t>
            </a:r>
          </a:p>
        </p:txBody>
      </p:sp>
      <p:sp>
        <p:nvSpPr>
          <p:cNvPr id="3" name="Subtitle 2">
            <a:extLst>
              <a:ext uri="{FF2B5EF4-FFF2-40B4-BE49-F238E27FC236}">
                <a16:creationId xmlns:a16="http://schemas.microsoft.com/office/drawing/2014/main" id="{0948071F-5629-E546-A495-2CF02BCF2F6C}"/>
              </a:ext>
            </a:extLst>
          </p:cNvPr>
          <p:cNvSpPr>
            <a:spLocks noGrp="1"/>
          </p:cNvSpPr>
          <p:nvPr>
            <p:ph type="subTitle" idx="1"/>
          </p:nvPr>
        </p:nvSpPr>
        <p:spPr>
          <a:xfrm>
            <a:off x="1524000" y="4495800"/>
            <a:ext cx="9144000" cy="493059"/>
          </a:xfrm>
        </p:spPr>
        <p:txBody>
          <a:bodyPr>
            <a:normAutofit/>
          </a:bodyPr>
          <a:lstStyle/>
          <a:p>
            <a:r>
              <a:rPr lang="en-US" sz="1800" dirty="0"/>
              <a:t>Dr </a:t>
            </a:r>
            <a:r>
              <a:rPr lang="en-US" sz="1800" dirty="0" err="1"/>
              <a:t>Zhi</a:t>
            </a:r>
            <a:r>
              <a:rPr lang="en-US" sz="1800" dirty="0"/>
              <a:t> Zhang</a:t>
            </a:r>
          </a:p>
        </p:txBody>
      </p:sp>
    </p:spTree>
    <p:extLst>
      <p:ext uri="{BB962C8B-B14F-4D97-AF65-F5344CB8AC3E}">
        <p14:creationId xmlns:p14="http://schemas.microsoft.com/office/powerpoint/2010/main" val="20153539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7A1571-74FE-4469-B8FC-3AF47E1B2260}"/>
              </a:ext>
            </a:extLst>
          </p:cNvPr>
          <p:cNvSpPr txBox="1"/>
          <p:nvPr/>
        </p:nvSpPr>
        <p:spPr>
          <a:xfrm>
            <a:off x="1147432" y="29260"/>
            <a:ext cx="8741797" cy="2406813"/>
          </a:xfrm>
          <a:prstGeom prst="rect">
            <a:avLst/>
          </a:prstGeom>
          <a:solidFill>
            <a:schemeClr val="bg1">
              <a:lumMod val="85000"/>
              <a:alpha val="30000"/>
            </a:schemeClr>
          </a:solidFill>
          <a:ln>
            <a:noFill/>
          </a:ln>
        </p:spPr>
        <p:txBody>
          <a:bodyPr wrap="square" rtlCol="0">
            <a:spAutoFit/>
          </a:bodyPr>
          <a:lstStyle/>
          <a:p>
            <a:pPr marL="49213" lvl="2" algn="l"/>
            <a:r>
              <a:rPr lang="en-AU" sz="1600" dirty="0" err="1">
                <a:latin typeface="Calibri" panose="020F0502020204030204" pitchFamily="34" charset="0"/>
              </a:rPr>
              <a:t>aws</a:t>
            </a:r>
            <a:r>
              <a:rPr lang="en-AU" sz="1600" dirty="0">
                <a:latin typeface="Calibri" panose="020F0502020204030204" pitchFamily="34" charset="0"/>
              </a:rPr>
              <a:t> </a:t>
            </a:r>
            <a:r>
              <a:rPr lang="en-AU" sz="1600" dirty="0" err="1">
                <a:latin typeface="Calibri" panose="020F0502020204030204" pitchFamily="34" charset="0"/>
              </a:rPr>
              <a:t>dynamodb</a:t>
            </a:r>
            <a:r>
              <a:rPr lang="en-AU" sz="1600" dirty="0">
                <a:latin typeface="Calibri" panose="020F0502020204030204" pitchFamily="34" charset="0"/>
              </a:rPr>
              <a:t> create-table --table-name </a:t>
            </a:r>
            <a:r>
              <a:rPr lang="en-AU" sz="1600" dirty="0" err="1">
                <a:latin typeface="Calibri" panose="020F0502020204030204" pitchFamily="34" charset="0"/>
              </a:rPr>
              <a:t>MusicAlbum</a:t>
            </a:r>
            <a:r>
              <a:rPr lang="en-AU" sz="1600" dirty="0">
                <a:latin typeface="Calibri" panose="020F0502020204030204" pitchFamily="34" charset="0"/>
              </a:rPr>
              <a:t> </a:t>
            </a:r>
          </a:p>
          <a:p>
            <a:pPr marL="49213" lvl="2" algn="l"/>
            <a:r>
              <a:rPr lang="en-AU" sz="1600" dirty="0">
                <a:latin typeface="Calibri" panose="020F0502020204030204" pitchFamily="34" charset="0"/>
              </a:rPr>
              <a:t>  --attribute-definitions \</a:t>
            </a:r>
          </a:p>
          <a:p>
            <a:pPr marL="49213" lvl="2" algn="l"/>
            <a:r>
              <a:rPr lang="en-AU" sz="1600" dirty="0">
                <a:latin typeface="Calibri" panose="020F0502020204030204" pitchFamily="34" charset="0"/>
              </a:rPr>
              <a:t>    </a:t>
            </a:r>
            <a:r>
              <a:rPr lang="en-AU" sz="1600" dirty="0" err="1">
                <a:latin typeface="Calibri" panose="020F0502020204030204" pitchFamily="34" charset="0"/>
              </a:rPr>
              <a:t>AttributeName</a:t>
            </a:r>
            <a:r>
              <a:rPr lang="en-AU" sz="1600" dirty="0">
                <a:latin typeface="Calibri" panose="020F0502020204030204" pitchFamily="34" charset="0"/>
              </a:rPr>
              <a:t>=</a:t>
            </a:r>
            <a:r>
              <a:rPr lang="en-AU" sz="1600" dirty="0" err="1">
                <a:latin typeface="Calibri" panose="020F0502020204030204" pitchFamily="34" charset="0"/>
              </a:rPr>
              <a:t>Artist,AttributeType</a:t>
            </a:r>
            <a:r>
              <a:rPr lang="en-AU" sz="1600" dirty="0">
                <a:latin typeface="Calibri" panose="020F0502020204030204" pitchFamily="34" charset="0"/>
              </a:rPr>
              <a:t>=S \</a:t>
            </a:r>
          </a:p>
          <a:p>
            <a:pPr marL="49213" lvl="2" algn="l"/>
            <a:r>
              <a:rPr lang="en-AU" sz="1600" dirty="0">
                <a:latin typeface="Calibri" panose="020F0502020204030204" pitchFamily="34" charset="0"/>
              </a:rPr>
              <a:t>    </a:t>
            </a:r>
            <a:r>
              <a:rPr lang="en-AU" sz="1600" dirty="0" err="1">
                <a:latin typeface="Calibri" panose="020F0502020204030204" pitchFamily="34" charset="0"/>
              </a:rPr>
              <a:t>AttributeName</a:t>
            </a:r>
            <a:r>
              <a:rPr lang="en-AU" sz="1600" dirty="0">
                <a:latin typeface="Calibri" panose="020F0502020204030204" pitchFamily="34" charset="0"/>
              </a:rPr>
              <a:t>=</a:t>
            </a:r>
            <a:r>
              <a:rPr lang="en-AU" sz="1600" dirty="0" err="1">
                <a:latin typeface="Calibri" panose="020F0502020204030204" pitchFamily="34" charset="0"/>
              </a:rPr>
              <a:t>Song,AttributeType</a:t>
            </a:r>
            <a:r>
              <a:rPr lang="en-AU" sz="1600" dirty="0">
                <a:latin typeface="Calibri" panose="020F0502020204030204" pitchFamily="34" charset="0"/>
              </a:rPr>
              <a:t>=S \ </a:t>
            </a:r>
          </a:p>
          <a:p>
            <a:pPr marL="49213" lvl="2" algn="l"/>
            <a:r>
              <a:rPr lang="en-AU" sz="1600" dirty="0">
                <a:latin typeface="Calibri" panose="020F0502020204030204" pitchFamily="34" charset="0"/>
              </a:rPr>
              <a:t>  --key-schema </a:t>
            </a:r>
            <a:r>
              <a:rPr lang="en-AU" sz="1600" dirty="0" err="1">
                <a:latin typeface="Calibri" panose="020F0502020204030204" pitchFamily="34" charset="0"/>
              </a:rPr>
              <a:t>AttributeName</a:t>
            </a:r>
            <a:r>
              <a:rPr lang="en-AU" sz="1600" dirty="0">
                <a:latin typeface="Calibri" panose="020F0502020204030204" pitchFamily="34" charset="0"/>
              </a:rPr>
              <a:t>=</a:t>
            </a:r>
            <a:r>
              <a:rPr lang="en-AU" sz="1600" dirty="0" err="1">
                <a:latin typeface="Calibri" panose="020F0502020204030204" pitchFamily="34" charset="0"/>
              </a:rPr>
              <a:t>Artist,KeyType</a:t>
            </a:r>
            <a:r>
              <a:rPr lang="en-AU" sz="1600" dirty="0">
                <a:latin typeface="Calibri" panose="020F0502020204030204" pitchFamily="34" charset="0"/>
              </a:rPr>
              <a:t>=HASH \ </a:t>
            </a:r>
          </a:p>
          <a:p>
            <a:pPr marL="49213" lvl="2" algn="l"/>
            <a:r>
              <a:rPr lang="en-AU" sz="1600" dirty="0">
                <a:latin typeface="Calibri" panose="020F0502020204030204" pitchFamily="34" charset="0"/>
              </a:rPr>
              <a:t>               </a:t>
            </a:r>
            <a:r>
              <a:rPr lang="en-AU" sz="1600" dirty="0" err="1">
                <a:latin typeface="Calibri" panose="020F0502020204030204" pitchFamily="34" charset="0"/>
              </a:rPr>
              <a:t>AttributeName</a:t>
            </a:r>
            <a:r>
              <a:rPr lang="en-AU" sz="1600" dirty="0">
                <a:latin typeface="Calibri" panose="020F0502020204030204" pitchFamily="34" charset="0"/>
              </a:rPr>
              <a:t>=</a:t>
            </a:r>
            <a:r>
              <a:rPr lang="en-AU" sz="1600" dirty="0" err="1">
                <a:latin typeface="Calibri" panose="020F0502020204030204" pitchFamily="34" charset="0"/>
              </a:rPr>
              <a:t>Song,KeyType</a:t>
            </a:r>
            <a:r>
              <a:rPr lang="en-AU" sz="1600" dirty="0">
                <a:latin typeface="Calibri" panose="020F0502020204030204" pitchFamily="34" charset="0"/>
              </a:rPr>
              <a:t>=RANGE  \</a:t>
            </a:r>
          </a:p>
          <a:p>
            <a:pPr marL="7938" lvl="2" algn="l"/>
            <a:r>
              <a:rPr lang="en-AU" sz="1600" dirty="0">
                <a:latin typeface="Calibri" panose="020F0502020204030204" pitchFamily="34" charset="0"/>
              </a:rPr>
              <a:t>  --provisioned-throughput </a:t>
            </a:r>
            <a:r>
              <a:rPr lang="en-AU" sz="1600" dirty="0" err="1">
                <a:latin typeface="Calibri" panose="020F0502020204030204" pitchFamily="34" charset="0"/>
              </a:rPr>
              <a:t>ReadCapacityUnits</a:t>
            </a:r>
            <a:r>
              <a:rPr lang="en-AU" sz="1600" dirty="0">
                <a:latin typeface="Calibri" panose="020F0502020204030204" pitchFamily="34" charset="0"/>
              </a:rPr>
              <a:t>=1,WriteCapacityUnits=1 \</a:t>
            </a:r>
          </a:p>
          <a:p>
            <a:pPr marL="7938" lvl="2" algn="l"/>
            <a:r>
              <a:rPr lang="en-AU" sz="1600" dirty="0">
                <a:latin typeface="Calibri" panose="020F0502020204030204" pitchFamily="34" charset="0"/>
              </a:rPr>
              <a:t>  --endpoint-</a:t>
            </a:r>
            <a:r>
              <a:rPr lang="en-AU" sz="1600" dirty="0" err="1">
                <a:latin typeface="Calibri" panose="020F0502020204030204" pitchFamily="34" charset="0"/>
              </a:rPr>
              <a:t>url</a:t>
            </a:r>
            <a:r>
              <a:rPr lang="en-AU" sz="1600" dirty="0">
                <a:latin typeface="Calibri" panose="020F0502020204030204" pitchFamily="34" charset="0"/>
              </a:rPr>
              <a:t>=http://localhost:8000</a:t>
            </a:r>
            <a:endParaRPr lang="en-US" sz="1600" dirty="0">
              <a:latin typeface="Calibri" panose="020F0502020204030204" pitchFamily="34" charset="0"/>
            </a:endParaRPr>
          </a:p>
        </p:txBody>
      </p:sp>
      <p:sp>
        <p:nvSpPr>
          <p:cNvPr id="8" name="TextBox 7">
            <a:extLst>
              <a:ext uri="{FF2B5EF4-FFF2-40B4-BE49-F238E27FC236}">
                <a16:creationId xmlns:a16="http://schemas.microsoft.com/office/drawing/2014/main" id="{9C156143-998A-4DA9-ADF7-48C9419DE713}"/>
              </a:ext>
            </a:extLst>
          </p:cNvPr>
          <p:cNvSpPr txBox="1"/>
          <p:nvPr/>
        </p:nvSpPr>
        <p:spPr>
          <a:xfrm>
            <a:off x="588264" y="29321"/>
            <a:ext cx="559168" cy="2406813"/>
          </a:xfrm>
          <a:prstGeom prst="rect">
            <a:avLst/>
          </a:prstGeom>
          <a:solidFill>
            <a:schemeClr val="bg1">
              <a:lumMod val="85000"/>
              <a:alpha val="30000"/>
            </a:schemeClr>
          </a:solidFill>
          <a:ln>
            <a:noFill/>
          </a:ln>
        </p:spPr>
        <p:txBody>
          <a:bodyPr wrap="square" rtlCol="0">
            <a:spAutoFit/>
          </a:bodyPr>
          <a:lstStyle/>
          <a:p>
            <a:pPr marL="49213" lvl="2" algn="l"/>
            <a:r>
              <a:rPr lang="en-US" sz="1600" dirty="0">
                <a:latin typeface="Calibri" panose="020F0502020204030204" pitchFamily="34" charset="0"/>
              </a:rPr>
              <a:t>1</a:t>
            </a:r>
          </a:p>
          <a:p>
            <a:pPr marL="49213" lvl="2" algn="l"/>
            <a:r>
              <a:rPr lang="en-US" sz="1600" dirty="0">
                <a:latin typeface="Calibri" panose="020F0502020204030204" pitchFamily="34" charset="0"/>
              </a:rPr>
              <a:t>2</a:t>
            </a:r>
          </a:p>
          <a:p>
            <a:pPr marL="49213" lvl="2" algn="l"/>
            <a:r>
              <a:rPr lang="en-US" sz="1600" dirty="0">
                <a:latin typeface="Calibri" panose="020F0502020204030204" pitchFamily="34" charset="0"/>
              </a:rPr>
              <a:t>3</a:t>
            </a:r>
          </a:p>
          <a:p>
            <a:pPr marL="49213" lvl="2" algn="l"/>
            <a:r>
              <a:rPr lang="en-US" sz="1600" dirty="0">
                <a:latin typeface="Calibri" panose="020F0502020204030204" pitchFamily="34" charset="0"/>
              </a:rPr>
              <a:t>4</a:t>
            </a:r>
          </a:p>
          <a:p>
            <a:pPr marL="49213" lvl="2" algn="l"/>
            <a:r>
              <a:rPr lang="en-US" sz="1600" dirty="0">
                <a:latin typeface="Calibri" panose="020F0502020204030204" pitchFamily="34" charset="0"/>
              </a:rPr>
              <a:t>5</a:t>
            </a:r>
          </a:p>
          <a:p>
            <a:pPr marL="49213" lvl="2" algn="l"/>
            <a:r>
              <a:rPr lang="en-US" sz="1600" dirty="0">
                <a:latin typeface="Calibri" panose="020F0502020204030204" pitchFamily="34" charset="0"/>
              </a:rPr>
              <a:t>6</a:t>
            </a:r>
          </a:p>
          <a:p>
            <a:pPr marL="49213" lvl="2" algn="l"/>
            <a:r>
              <a:rPr lang="en-US" sz="1600" dirty="0">
                <a:latin typeface="Calibri" panose="020F0502020204030204" pitchFamily="34" charset="0"/>
              </a:rPr>
              <a:t>7</a:t>
            </a:r>
          </a:p>
          <a:p>
            <a:pPr marL="49213" lvl="2" algn="l"/>
            <a:r>
              <a:rPr lang="en-US" sz="1600" dirty="0">
                <a:latin typeface="Calibri" panose="020F0502020204030204" pitchFamily="34" charset="0"/>
              </a:rPr>
              <a:t>8</a:t>
            </a:r>
          </a:p>
        </p:txBody>
      </p:sp>
      <p:sp>
        <p:nvSpPr>
          <p:cNvPr id="7" name="Title 1">
            <a:extLst>
              <a:ext uri="{FF2B5EF4-FFF2-40B4-BE49-F238E27FC236}">
                <a16:creationId xmlns:a16="http://schemas.microsoft.com/office/drawing/2014/main" id="{69C4C5AE-7E86-4075-9044-A8DE8685B0D7}"/>
              </a:ext>
            </a:extLst>
          </p:cNvPr>
          <p:cNvSpPr txBox="1">
            <a:spLocks/>
          </p:cNvSpPr>
          <p:nvPr/>
        </p:nvSpPr>
        <p:spPr>
          <a:xfrm>
            <a:off x="578165" y="2513373"/>
            <a:ext cx="9715026" cy="7632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endParaRPr lang="en-US" sz="2400" dirty="0">
              <a:solidFill>
                <a:srgbClr val="FF0000"/>
              </a:solidFill>
              <a:latin typeface="+mn-lt"/>
              <a:ea typeface="+mn-ea"/>
              <a:cs typeface="+mn-cs"/>
            </a:endParaRPr>
          </a:p>
        </p:txBody>
      </p:sp>
      <p:sp>
        <p:nvSpPr>
          <p:cNvPr id="10" name="TextBox 9">
            <a:extLst>
              <a:ext uri="{FF2B5EF4-FFF2-40B4-BE49-F238E27FC236}">
                <a16:creationId xmlns:a16="http://schemas.microsoft.com/office/drawing/2014/main" id="{C6210159-DF2F-4FC5-AC24-7B352668CBC8}"/>
              </a:ext>
            </a:extLst>
          </p:cNvPr>
          <p:cNvSpPr txBox="1"/>
          <p:nvPr/>
        </p:nvSpPr>
        <p:spPr>
          <a:xfrm>
            <a:off x="578165" y="2888814"/>
            <a:ext cx="487207" cy="1366528"/>
          </a:xfrm>
          <a:prstGeom prst="rect">
            <a:avLst/>
          </a:prstGeom>
          <a:solidFill>
            <a:schemeClr val="bg1">
              <a:lumMod val="85000"/>
              <a:alpha val="30000"/>
            </a:schemeClr>
          </a:solidFill>
          <a:ln>
            <a:noFill/>
          </a:ln>
        </p:spPr>
        <p:txBody>
          <a:bodyPr wrap="square" rtlCol="0">
            <a:spAutoFit/>
          </a:bodyPr>
          <a:lstStyle/>
          <a:p>
            <a:pPr marL="49213" lvl="2" algn="l"/>
            <a:r>
              <a:rPr lang="en-US" sz="1800" dirty="0">
                <a:latin typeface="Courier" pitchFamily="2" charset="0"/>
              </a:rPr>
              <a:t>1</a:t>
            </a:r>
          </a:p>
          <a:p>
            <a:pPr marL="49213" lvl="2" algn="l"/>
            <a:r>
              <a:rPr lang="en-US" sz="1800" dirty="0">
                <a:latin typeface="Courier" pitchFamily="2" charset="0"/>
              </a:rPr>
              <a:t>2</a:t>
            </a:r>
          </a:p>
          <a:p>
            <a:pPr marL="49213" lvl="2" algn="l"/>
            <a:r>
              <a:rPr lang="en-US" sz="1800" dirty="0">
                <a:latin typeface="Courier" pitchFamily="2" charset="0"/>
              </a:rPr>
              <a:t>3</a:t>
            </a:r>
          </a:p>
          <a:p>
            <a:pPr marL="49213" lvl="2" algn="l"/>
            <a:r>
              <a:rPr lang="en-US" sz="1800" dirty="0">
                <a:latin typeface="Courier" pitchFamily="2" charset="0"/>
              </a:rPr>
              <a:t>4</a:t>
            </a:r>
            <a:endParaRPr lang="en-US" sz="1600" dirty="0">
              <a:latin typeface="Courier" pitchFamily="2" charset="0"/>
            </a:endParaRPr>
          </a:p>
        </p:txBody>
      </p:sp>
      <p:sp>
        <p:nvSpPr>
          <p:cNvPr id="12" name="TextBox 11">
            <a:extLst>
              <a:ext uri="{FF2B5EF4-FFF2-40B4-BE49-F238E27FC236}">
                <a16:creationId xmlns:a16="http://schemas.microsoft.com/office/drawing/2014/main" id="{E0ED1A94-170B-4FB5-AB5E-188E753A629D}"/>
              </a:ext>
            </a:extLst>
          </p:cNvPr>
          <p:cNvSpPr txBox="1"/>
          <p:nvPr/>
        </p:nvSpPr>
        <p:spPr>
          <a:xfrm>
            <a:off x="1094677" y="2888814"/>
            <a:ext cx="8794552" cy="1366528"/>
          </a:xfrm>
          <a:prstGeom prst="rect">
            <a:avLst/>
          </a:prstGeom>
          <a:solidFill>
            <a:schemeClr val="bg1">
              <a:lumMod val="85000"/>
              <a:alpha val="30000"/>
            </a:schemeClr>
          </a:solidFill>
          <a:ln>
            <a:noFill/>
          </a:ln>
        </p:spPr>
        <p:txBody>
          <a:bodyPr wrap="square" rtlCol="0">
            <a:spAutoFit/>
          </a:bodyPr>
          <a:lstStyle/>
          <a:p>
            <a:pPr marL="49213" lvl="2" algn="l"/>
            <a:r>
              <a:rPr lang="en-AU" sz="1800" dirty="0" err="1">
                <a:latin typeface="+mn-lt"/>
              </a:rPr>
              <a:t>aws</a:t>
            </a:r>
            <a:r>
              <a:rPr lang="en-AU" sz="1800" dirty="0">
                <a:latin typeface="+mn-lt"/>
              </a:rPr>
              <a:t> </a:t>
            </a:r>
            <a:r>
              <a:rPr lang="en-AU" sz="1800" dirty="0" err="1">
                <a:latin typeface="+mn-lt"/>
              </a:rPr>
              <a:t>dynamodb</a:t>
            </a:r>
            <a:r>
              <a:rPr lang="en-AU" sz="1800" dirty="0">
                <a:latin typeface="+mn-lt"/>
              </a:rPr>
              <a:t> put-item \ </a:t>
            </a:r>
          </a:p>
          <a:p>
            <a:pPr marL="49213" lvl="2" algn="l"/>
            <a:r>
              <a:rPr lang="en-AU" sz="1800" i="1" dirty="0">
                <a:latin typeface="+mn-lt"/>
              </a:rPr>
              <a:t>  --table-name </a:t>
            </a:r>
            <a:r>
              <a:rPr lang="en-AU" sz="1800" dirty="0" err="1">
                <a:latin typeface="+mn-lt"/>
              </a:rPr>
              <a:t>MusicAlbum</a:t>
            </a:r>
            <a:r>
              <a:rPr lang="en-AU" sz="1800" i="1" dirty="0">
                <a:latin typeface="+mn-lt"/>
              </a:rPr>
              <a:t> \</a:t>
            </a:r>
            <a:r>
              <a:rPr lang="en-AU" sz="1800" dirty="0">
                <a:latin typeface="+mn-lt"/>
              </a:rPr>
              <a:t> </a:t>
            </a:r>
          </a:p>
          <a:p>
            <a:pPr marL="49213" lvl="2" algn="l"/>
            <a:r>
              <a:rPr lang="en-AU" sz="1800" i="1" dirty="0">
                <a:latin typeface="+mn-lt"/>
              </a:rPr>
              <a:t>  --item </a:t>
            </a:r>
            <a:r>
              <a:rPr lang="en-AU" sz="1800" dirty="0">
                <a:latin typeface="+mn-lt"/>
              </a:rPr>
              <a:t>'{"Artist": {"S": "Tom"}, "Song": {"S": "Call me today"}}'\ </a:t>
            </a:r>
          </a:p>
          <a:p>
            <a:pPr marL="49213" lvl="2" algn="l"/>
            <a:r>
              <a:rPr lang="en-AU" sz="1800" i="1" dirty="0">
                <a:latin typeface="+mn-lt"/>
              </a:rPr>
              <a:t>  --return-consumed-capacity TOTAL </a:t>
            </a:r>
            <a:r>
              <a:rPr lang="en-AU" sz="1800" dirty="0">
                <a:latin typeface="+mn-lt"/>
              </a:rPr>
              <a:t>--endpoint-</a:t>
            </a:r>
            <a:r>
              <a:rPr lang="en-AU" sz="1800" dirty="0" err="1">
                <a:latin typeface="+mn-lt"/>
              </a:rPr>
              <a:t>url</a:t>
            </a:r>
            <a:r>
              <a:rPr lang="en-AU" sz="1800" dirty="0">
                <a:latin typeface="+mn-lt"/>
              </a:rPr>
              <a:t>=http://localhost:8000</a:t>
            </a:r>
            <a:endParaRPr lang="en-AU" sz="1800" i="1" dirty="0">
              <a:latin typeface="+mn-lt"/>
            </a:endParaRPr>
          </a:p>
        </p:txBody>
      </p:sp>
      <p:sp>
        <p:nvSpPr>
          <p:cNvPr id="13" name="TextBox 12">
            <a:extLst>
              <a:ext uri="{FF2B5EF4-FFF2-40B4-BE49-F238E27FC236}">
                <a16:creationId xmlns:a16="http://schemas.microsoft.com/office/drawing/2014/main" id="{CDD6A3CB-BC1A-44D2-8F8C-A52CE7144D57}"/>
              </a:ext>
            </a:extLst>
          </p:cNvPr>
          <p:cNvSpPr txBox="1"/>
          <p:nvPr/>
        </p:nvSpPr>
        <p:spPr>
          <a:xfrm>
            <a:off x="578165" y="4637206"/>
            <a:ext cx="487207" cy="1698927"/>
          </a:xfrm>
          <a:prstGeom prst="rect">
            <a:avLst/>
          </a:prstGeom>
          <a:solidFill>
            <a:schemeClr val="bg1">
              <a:lumMod val="85000"/>
              <a:alpha val="30000"/>
            </a:schemeClr>
          </a:solidFill>
          <a:ln>
            <a:noFill/>
          </a:ln>
        </p:spPr>
        <p:txBody>
          <a:bodyPr wrap="square" rtlCol="0">
            <a:spAutoFit/>
          </a:bodyPr>
          <a:lstStyle/>
          <a:p>
            <a:pPr marL="49213" lvl="2" algn="l"/>
            <a:r>
              <a:rPr lang="en-US" sz="1800" dirty="0">
                <a:latin typeface="Courier" pitchFamily="2" charset="0"/>
              </a:rPr>
              <a:t>1</a:t>
            </a:r>
          </a:p>
          <a:p>
            <a:pPr marL="49213" lvl="2" algn="l"/>
            <a:r>
              <a:rPr lang="en-US" sz="1800" dirty="0">
                <a:latin typeface="Courier" pitchFamily="2" charset="0"/>
              </a:rPr>
              <a:t>2</a:t>
            </a:r>
          </a:p>
          <a:p>
            <a:pPr marL="49213" lvl="2" algn="l"/>
            <a:r>
              <a:rPr lang="en-US" sz="1800" dirty="0">
                <a:latin typeface="Courier" pitchFamily="2" charset="0"/>
              </a:rPr>
              <a:t>3</a:t>
            </a:r>
          </a:p>
          <a:p>
            <a:pPr marL="49213" lvl="2" algn="l"/>
            <a:r>
              <a:rPr lang="en-US" sz="1800" dirty="0">
                <a:latin typeface="Courier" pitchFamily="2" charset="0"/>
              </a:rPr>
              <a:t>4</a:t>
            </a:r>
          </a:p>
          <a:p>
            <a:pPr marL="49213" lvl="2" algn="l"/>
            <a:r>
              <a:rPr lang="en-US" sz="1800" dirty="0">
                <a:latin typeface="Courier" pitchFamily="2" charset="0"/>
              </a:rPr>
              <a:t>5</a:t>
            </a:r>
            <a:endParaRPr lang="en-US" sz="1600" dirty="0">
              <a:latin typeface="Courier" pitchFamily="2" charset="0"/>
            </a:endParaRPr>
          </a:p>
        </p:txBody>
      </p:sp>
      <p:sp>
        <p:nvSpPr>
          <p:cNvPr id="14" name="TextBox 13">
            <a:extLst>
              <a:ext uri="{FF2B5EF4-FFF2-40B4-BE49-F238E27FC236}">
                <a16:creationId xmlns:a16="http://schemas.microsoft.com/office/drawing/2014/main" id="{C40651EA-96A1-4C06-B8A6-057D5441B9E5}"/>
              </a:ext>
            </a:extLst>
          </p:cNvPr>
          <p:cNvSpPr txBox="1"/>
          <p:nvPr/>
        </p:nvSpPr>
        <p:spPr>
          <a:xfrm>
            <a:off x="1094677" y="4639123"/>
            <a:ext cx="8794552" cy="1698927"/>
          </a:xfrm>
          <a:prstGeom prst="rect">
            <a:avLst/>
          </a:prstGeom>
          <a:solidFill>
            <a:schemeClr val="bg1">
              <a:lumMod val="85000"/>
              <a:alpha val="30000"/>
            </a:schemeClr>
          </a:solidFill>
          <a:ln>
            <a:noFill/>
          </a:ln>
        </p:spPr>
        <p:txBody>
          <a:bodyPr wrap="square" rtlCol="0">
            <a:spAutoFit/>
          </a:bodyPr>
          <a:lstStyle/>
          <a:p>
            <a:pPr marL="49213" lvl="2" algn="l"/>
            <a:r>
              <a:rPr lang="en-AU" sz="1800" dirty="0" err="1">
                <a:latin typeface="+mn-lt"/>
              </a:rPr>
              <a:t>aws</a:t>
            </a:r>
            <a:r>
              <a:rPr lang="en-AU" sz="1800" dirty="0">
                <a:latin typeface="+mn-lt"/>
              </a:rPr>
              <a:t> </a:t>
            </a:r>
            <a:r>
              <a:rPr lang="en-AU" sz="1800" dirty="0" err="1">
                <a:latin typeface="+mn-lt"/>
              </a:rPr>
              <a:t>dynamodb</a:t>
            </a:r>
            <a:r>
              <a:rPr lang="en-AU" sz="1800" dirty="0">
                <a:latin typeface="+mn-lt"/>
              </a:rPr>
              <a:t> put-item \ </a:t>
            </a:r>
          </a:p>
          <a:p>
            <a:pPr marL="49213" lvl="2" algn="l"/>
            <a:r>
              <a:rPr lang="en-AU" sz="1800" i="1" dirty="0">
                <a:latin typeface="+mn-lt"/>
              </a:rPr>
              <a:t>  --table-name </a:t>
            </a:r>
            <a:r>
              <a:rPr lang="en-AU" sz="1800" dirty="0" err="1">
                <a:latin typeface="+mn-lt"/>
              </a:rPr>
              <a:t>MusicAlbum</a:t>
            </a:r>
            <a:r>
              <a:rPr lang="en-AU" sz="1800" i="1" dirty="0">
                <a:latin typeface="+mn-lt"/>
              </a:rPr>
              <a:t> \</a:t>
            </a:r>
            <a:r>
              <a:rPr lang="en-AU" sz="1800" dirty="0">
                <a:latin typeface="+mn-lt"/>
              </a:rPr>
              <a:t> </a:t>
            </a:r>
          </a:p>
          <a:p>
            <a:pPr marL="49213" lvl="2" algn="l"/>
            <a:r>
              <a:rPr lang="en-AU" sz="1800" i="1" dirty="0">
                <a:latin typeface="+mn-lt"/>
              </a:rPr>
              <a:t>  --item '{"Artist": {"S": “Tom"}, "Song": {"S": "Call Me Today"},  \</a:t>
            </a:r>
          </a:p>
          <a:p>
            <a:pPr marL="49213" lvl="2" algn="l"/>
            <a:r>
              <a:rPr lang="en-AU" sz="1800" i="1" dirty="0">
                <a:latin typeface="+mn-lt"/>
              </a:rPr>
              <a:t>              "</a:t>
            </a:r>
            <a:r>
              <a:rPr lang="en-AU" sz="1800" i="1" dirty="0" err="1">
                <a:latin typeface="+mn-lt"/>
              </a:rPr>
              <a:t>AlbumTitle</a:t>
            </a:r>
            <a:r>
              <a:rPr lang="en-AU" sz="1800" i="1" dirty="0">
                <a:latin typeface="+mn-lt"/>
              </a:rPr>
              <a:t>": {"S": "Somewhat Famous"}}’ \ </a:t>
            </a:r>
          </a:p>
          <a:p>
            <a:pPr marL="49213" lvl="2" algn="l"/>
            <a:r>
              <a:rPr lang="en-AU" sz="1800" i="1" dirty="0">
                <a:latin typeface="+mn-lt"/>
              </a:rPr>
              <a:t>  --return-consumed-capacity TOTAL </a:t>
            </a:r>
            <a:r>
              <a:rPr lang="en-AU" sz="1800" dirty="0">
                <a:latin typeface="+mn-lt"/>
              </a:rPr>
              <a:t>--endpoint-</a:t>
            </a:r>
            <a:r>
              <a:rPr lang="en-AU" sz="1800" dirty="0" err="1">
                <a:latin typeface="+mn-lt"/>
              </a:rPr>
              <a:t>url</a:t>
            </a:r>
            <a:r>
              <a:rPr lang="en-AU" sz="1800" dirty="0">
                <a:latin typeface="+mn-lt"/>
              </a:rPr>
              <a:t>=http://localhost:8000</a:t>
            </a:r>
            <a:endParaRPr lang="en-AU" sz="1800" i="1" dirty="0">
              <a:latin typeface="+mn-lt"/>
            </a:endParaRPr>
          </a:p>
        </p:txBody>
      </p:sp>
      <p:sp>
        <p:nvSpPr>
          <p:cNvPr id="15" name="Title 1">
            <a:extLst>
              <a:ext uri="{FF2B5EF4-FFF2-40B4-BE49-F238E27FC236}">
                <a16:creationId xmlns:a16="http://schemas.microsoft.com/office/drawing/2014/main" id="{9EDAFD53-BF89-4555-AE2E-803E19F885BD}"/>
              </a:ext>
            </a:extLst>
          </p:cNvPr>
          <p:cNvSpPr txBox="1">
            <a:spLocks/>
          </p:cNvSpPr>
          <p:nvPr/>
        </p:nvSpPr>
        <p:spPr>
          <a:xfrm>
            <a:off x="504382" y="2459304"/>
            <a:ext cx="3374014" cy="3716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2000" dirty="0">
                <a:solidFill>
                  <a:srgbClr val="FF0000"/>
                </a:solidFill>
                <a:latin typeface="+mn-lt"/>
                <a:ea typeface="+mn-ea"/>
                <a:cs typeface="+mn-cs"/>
              </a:rPr>
              <a:t>Insert the first item.</a:t>
            </a:r>
          </a:p>
        </p:txBody>
      </p:sp>
      <p:sp>
        <p:nvSpPr>
          <p:cNvPr id="16" name="Title 1">
            <a:extLst>
              <a:ext uri="{FF2B5EF4-FFF2-40B4-BE49-F238E27FC236}">
                <a16:creationId xmlns:a16="http://schemas.microsoft.com/office/drawing/2014/main" id="{EF66AEC1-E0FE-4D2E-81B9-8422814CDE8B}"/>
              </a:ext>
            </a:extLst>
          </p:cNvPr>
          <p:cNvSpPr txBox="1">
            <a:spLocks/>
          </p:cNvSpPr>
          <p:nvPr/>
        </p:nvSpPr>
        <p:spPr>
          <a:xfrm>
            <a:off x="517533" y="4303716"/>
            <a:ext cx="3374014" cy="33540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2000" dirty="0">
                <a:solidFill>
                  <a:srgbClr val="FF0000"/>
                </a:solidFill>
                <a:latin typeface="+mn-lt"/>
                <a:ea typeface="+mn-ea"/>
                <a:cs typeface="+mn-cs"/>
              </a:rPr>
              <a:t>Insert the second item.</a:t>
            </a:r>
          </a:p>
        </p:txBody>
      </p:sp>
      <p:sp>
        <p:nvSpPr>
          <p:cNvPr id="17" name="Title 1">
            <a:extLst>
              <a:ext uri="{FF2B5EF4-FFF2-40B4-BE49-F238E27FC236}">
                <a16:creationId xmlns:a16="http://schemas.microsoft.com/office/drawing/2014/main" id="{E338C0A8-EAC2-4D49-8973-627E1A214A95}"/>
              </a:ext>
            </a:extLst>
          </p:cNvPr>
          <p:cNvSpPr txBox="1">
            <a:spLocks/>
          </p:cNvSpPr>
          <p:nvPr/>
        </p:nvSpPr>
        <p:spPr>
          <a:xfrm>
            <a:off x="517533" y="6380501"/>
            <a:ext cx="4991798" cy="4774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AU" sz="2000" dirty="0">
                <a:solidFill>
                  <a:srgbClr val="FF0000"/>
                </a:solidFill>
                <a:latin typeface="+mn-lt"/>
                <a:ea typeface="+mn-ea"/>
                <a:cs typeface="+mn-cs"/>
              </a:rPr>
              <a:t>What will the table be like?</a:t>
            </a:r>
            <a:endParaRPr lang="en-US" sz="2000" dirty="0">
              <a:solidFill>
                <a:srgbClr val="FF0000"/>
              </a:solidFill>
              <a:latin typeface="+mn-lt"/>
              <a:ea typeface="+mn-ea"/>
              <a:cs typeface="+mn-cs"/>
            </a:endParaRPr>
          </a:p>
        </p:txBody>
      </p:sp>
    </p:spTree>
    <p:extLst>
      <p:ext uri="{BB962C8B-B14F-4D97-AF65-F5344CB8AC3E}">
        <p14:creationId xmlns:p14="http://schemas.microsoft.com/office/powerpoint/2010/main" val="2875214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7A1571-74FE-4469-B8FC-3AF47E1B2260}"/>
              </a:ext>
            </a:extLst>
          </p:cNvPr>
          <p:cNvSpPr txBox="1"/>
          <p:nvPr/>
        </p:nvSpPr>
        <p:spPr>
          <a:xfrm>
            <a:off x="1147432" y="82015"/>
            <a:ext cx="8741797" cy="2696123"/>
          </a:xfrm>
          <a:prstGeom prst="rect">
            <a:avLst/>
          </a:prstGeom>
          <a:solidFill>
            <a:schemeClr val="bg1">
              <a:lumMod val="85000"/>
              <a:alpha val="30000"/>
            </a:schemeClr>
          </a:solidFill>
          <a:ln>
            <a:noFill/>
          </a:ln>
        </p:spPr>
        <p:txBody>
          <a:bodyPr wrap="square" rtlCol="0">
            <a:spAutoFit/>
          </a:bodyPr>
          <a:lstStyle/>
          <a:p>
            <a:pPr marL="49213" lvl="2" algn="l"/>
            <a:r>
              <a:rPr lang="en-AU" sz="1800" dirty="0" err="1">
                <a:latin typeface="Calibri" panose="020F0502020204030204" pitchFamily="34" charset="0"/>
              </a:rPr>
              <a:t>aws</a:t>
            </a:r>
            <a:r>
              <a:rPr lang="en-AU" sz="1800" dirty="0">
                <a:latin typeface="Calibri" panose="020F0502020204030204" pitchFamily="34" charset="0"/>
              </a:rPr>
              <a:t> </a:t>
            </a:r>
            <a:r>
              <a:rPr lang="en-AU" sz="1800" dirty="0" err="1">
                <a:latin typeface="Calibri" panose="020F0502020204030204" pitchFamily="34" charset="0"/>
              </a:rPr>
              <a:t>dynamodb</a:t>
            </a:r>
            <a:r>
              <a:rPr lang="en-AU" sz="1800" dirty="0">
                <a:latin typeface="Calibri" panose="020F0502020204030204" pitchFamily="34" charset="0"/>
              </a:rPr>
              <a:t> create-table --table-name </a:t>
            </a:r>
            <a:r>
              <a:rPr lang="en-AU" sz="1800" dirty="0" err="1">
                <a:latin typeface="Calibri" panose="020F0502020204030204" pitchFamily="34" charset="0"/>
              </a:rPr>
              <a:t>MusicAlbum</a:t>
            </a:r>
            <a:r>
              <a:rPr lang="en-AU" sz="1800" dirty="0">
                <a:latin typeface="Calibri" panose="020F0502020204030204" pitchFamily="34" charset="0"/>
              </a:rPr>
              <a:t> </a:t>
            </a:r>
          </a:p>
          <a:p>
            <a:pPr marL="49213" lvl="2" algn="l"/>
            <a:r>
              <a:rPr lang="en-AU" sz="1800" dirty="0">
                <a:latin typeface="Calibri" panose="020F0502020204030204" pitchFamily="34" charset="0"/>
              </a:rPr>
              <a:t>  --attribute-definitions \</a:t>
            </a:r>
          </a:p>
          <a:p>
            <a:pPr marL="49213" lvl="2" algn="l"/>
            <a:r>
              <a:rPr lang="en-AU" sz="1800" dirty="0">
                <a:latin typeface="Calibri" panose="020F0502020204030204" pitchFamily="34" charset="0"/>
              </a:rPr>
              <a:t>    </a:t>
            </a:r>
            <a:r>
              <a:rPr lang="en-AU" sz="1800" dirty="0" err="1">
                <a:latin typeface="Calibri" panose="020F0502020204030204" pitchFamily="34" charset="0"/>
              </a:rPr>
              <a:t>AttributeName</a:t>
            </a:r>
            <a:r>
              <a:rPr lang="en-AU" sz="1800" dirty="0">
                <a:latin typeface="Calibri" panose="020F0502020204030204" pitchFamily="34" charset="0"/>
              </a:rPr>
              <a:t>=</a:t>
            </a:r>
            <a:r>
              <a:rPr lang="en-AU" sz="1800" dirty="0" err="1">
                <a:latin typeface="Calibri" panose="020F0502020204030204" pitchFamily="34" charset="0"/>
              </a:rPr>
              <a:t>Artist,AttributeType</a:t>
            </a:r>
            <a:r>
              <a:rPr lang="en-AU" sz="1800" dirty="0">
                <a:latin typeface="Calibri" panose="020F0502020204030204" pitchFamily="34" charset="0"/>
              </a:rPr>
              <a:t>=S \</a:t>
            </a:r>
          </a:p>
          <a:p>
            <a:pPr marL="49213" lvl="2" algn="l"/>
            <a:r>
              <a:rPr lang="en-AU" sz="1800" dirty="0">
                <a:latin typeface="Calibri" panose="020F0502020204030204" pitchFamily="34" charset="0"/>
              </a:rPr>
              <a:t>    </a:t>
            </a:r>
            <a:r>
              <a:rPr lang="en-AU" sz="1800" dirty="0" err="1">
                <a:latin typeface="Calibri" panose="020F0502020204030204" pitchFamily="34" charset="0"/>
              </a:rPr>
              <a:t>AttributeName</a:t>
            </a:r>
            <a:r>
              <a:rPr lang="en-AU" sz="1800" dirty="0">
                <a:latin typeface="Calibri" panose="020F0502020204030204" pitchFamily="34" charset="0"/>
              </a:rPr>
              <a:t>=</a:t>
            </a:r>
            <a:r>
              <a:rPr lang="en-AU" sz="1800" dirty="0" err="1">
                <a:latin typeface="Calibri" panose="020F0502020204030204" pitchFamily="34" charset="0"/>
              </a:rPr>
              <a:t>Song,AttributeType</a:t>
            </a:r>
            <a:r>
              <a:rPr lang="en-AU" sz="1800" dirty="0">
                <a:latin typeface="Calibri" panose="020F0502020204030204" pitchFamily="34" charset="0"/>
              </a:rPr>
              <a:t>=S \ </a:t>
            </a:r>
          </a:p>
          <a:p>
            <a:pPr marL="49213" lvl="2" algn="l"/>
            <a:r>
              <a:rPr lang="en-AU" sz="1800" dirty="0">
                <a:latin typeface="Calibri" panose="020F0502020204030204" pitchFamily="34" charset="0"/>
              </a:rPr>
              <a:t>  --key-schema </a:t>
            </a:r>
            <a:r>
              <a:rPr lang="en-AU" sz="1800" dirty="0" err="1">
                <a:latin typeface="Calibri" panose="020F0502020204030204" pitchFamily="34" charset="0"/>
              </a:rPr>
              <a:t>AttributeName</a:t>
            </a:r>
            <a:r>
              <a:rPr lang="en-AU" sz="1800" dirty="0">
                <a:latin typeface="Calibri" panose="020F0502020204030204" pitchFamily="34" charset="0"/>
              </a:rPr>
              <a:t>=</a:t>
            </a:r>
            <a:r>
              <a:rPr lang="en-AU" sz="1800" dirty="0" err="1">
                <a:latin typeface="Calibri" panose="020F0502020204030204" pitchFamily="34" charset="0"/>
              </a:rPr>
              <a:t>Artist,KeyType</a:t>
            </a:r>
            <a:r>
              <a:rPr lang="en-AU" sz="1800" dirty="0">
                <a:latin typeface="Calibri" panose="020F0502020204030204" pitchFamily="34" charset="0"/>
              </a:rPr>
              <a:t>=HASH \ </a:t>
            </a:r>
          </a:p>
          <a:p>
            <a:pPr marL="49213" lvl="2" algn="l"/>
            <a:r>
              <a:rPr lang="en-AU" sz="1800" dirty="0">
                <a:latin typeface="Calibri" panose="020F0502020204030204" pitchFamily="34" charset="0"/>
              </a:rPr>
              <a:t>               </a:t>
            </a:r>
            <a:r>
              <a:rPr lang="en-AU" sz="1800" dirty="0" err="1">
                <a:latin typeface="Calibri" panose="020F0502020204030204" pitchFamily="34" charset="0"/>
              </a:rPr>
              <a:t>AttributeName</a:t>
            </a:r>
            <a:r>
              <a:rPr lang="en-AU" sz="1800" dirty="0">
                <a:latin typeface="Calibri" panose="020F0502020204030204" pitchFamily="34" charset="0"/>
              </a:rPr>
              <a:t>=</a:t>
            </a:r>
            <a:r>
              <a:rPr lang="en-AU" sz="1800" dirty="0" err="1">
                <a:latin typeface="Calibri" panose="020F0502020204030204" pitchFamily="34" charset="0"/>
              </a:rPr>
              <a:t>Song,KeyType</a:t>
            </a:r>
            <a:r>
              <a:rPr lang="en-AU" sz="1800" dirty="0">
                <a:latin typeface="Calibri" panose="020F0502020204030204" pitchFamily="34" charset="0"/>
              </a:rPr>
              <a:t>=RANGE  \</a:t>
            </a:r>
          </a:p>
          <a:p>
            <a:pPr marL="7938" lvl="2" algn="l"/>
            <a:r>
              <a:rPr lang="en-AU" sz="1800" dirty="0">
                <a:latin typeface="Calibri" panose="020F0502020204030204" pitchFamily="34" charset="0"/>
              </a:rPr>
              <a:t>  --provisioned-throughput </a:t>
            </a:r>
            <a:r>
              <a:rPr lang="en-AU" sz="1800" dirty="0" err="1">
                <a:latin typeface="Calibri" panose="020F0502020204030204" pitchFamily="34" charset="0"/>
              </a:rPr>
              <a:t>ReadCapacityUnits</a:t>
            </a:r>
            <a:r>
              <a:rPr lang="en-AU" sz="1800" dirty="0">
                <a:latin typeface="Calibri" panose="020F0502020204030204" pitchFamily="34" charset="0"/>
              </a:rPr>
              <a:t>=1,WriteCapacityUnits=1 \</a:t>
            </a:r>
          </a:p>
          <a:p>
            <a:pPr marL="7938" lvl="2" algn="l"/>
            <a:r>
              <a:rPr lang="en-AU" sz="1800" dirty="0">
                <a:latin typeface="Calibri" panose="020F0502020204030204" pitchFamily="34" charset="0"/>
              </a:rPr>
              <a:t>  --endpoint-</a:t>
            </a:r>
            <a:r>
              <a:rPr lang="en-AU" sz="1800" dirty="0" err="1">
                <a:latin typeface="Calibri" panose="020F0502020204030204" pitchFamily="34" charset="0"/>
              </a:rPr>
              <a:t>url</a:t>
            </a:r>
            <a:r>
              <a:rPr lang="en-AU" sz="1800" dirty="0">
                <a:latin typeface="Calibri" panose="020F0502020204030204" pitchFamily="34" charset="0"/>
              </a:rPr>
              <a:t>=http://localhost:8000</a:t>
            </a:r>
            <a:endParaRPr lang="en-US" sz="1800" dirty="0">
              <a:latin typeface="Calibri" panose="020F0502020204030204" pitchFamily="34" charset="0"/>
            </a:endParaRPr>
          </a:p>
        </p:txBody>
      </p:sp>
      <p:sp>
        <p:nvSpPr>
          <p:cNvPr id="8" name="TextBox 7">
            <a:extLst>
              <a:ext uri="{FF2B5EF4-FFF2-40B4-BE49-F238E27FC236}">
                <a16:creationId xmlns:a16="http://schemas.microsoft.com/office/drawing/2014/main" id="{9C156143-998A-4DA9-ADF7-48C9419DE713}"/>
              </a:ext>
            </a:extLst>
          </p:cNvPr>
          <p:cNvSpPr txBox="1"/>
          <p:nvPr/>
        </p:nvSpPr>
        <p:spPr>
          <a:xfrm>
            <a:off x="588264" y="82076"/>
            <a:ext cx="559168" cy="2696123"/>
          </a:xfrm>
          <a:prstGeom prst="rect">
            <a:avLst/>
          </a:prstGeom>
          <a:solidFill>
            <a:schemeClr val="bg1">
              <a:lumMod val="85000"/>
              <a:alpha val="30000"/>
            </a:schemeClr>
          </a:solidFill>
          <a:ln>
            <a:noFill/>
          </a:ln>
        </p:spPr>
        <p:txBody>
          <a:bodyPr wrap="square" rtlCol="0">
            <a:spAutoFit/>
          </a:bodyPr>
          <a:lstStyle/>
          <a:p>
            <a:pPr marL="49213" lvl="2" algn="l"/>
            <a:r>
              <a:rPr lang="en-US" sz="1800" dirty="0">
                <a:latin typeface="Calibri" panose="020F0502020204030204" pitchFamily="34" charset="0"/>
              </a:rPr>
              <a:t>1</a:t>
            </a:r>
          </a:p>
          <a:p>
            <a:pPr marL="49213" lvl="2" algn="l"/>
            <a:r>
              <a:rPr lang="en-US" sz="1800" dirty="0">
                <a:latin typeface="Calibri" panose="020F0502020204030204" pitchFamily="34" charset="0"/>
              </a:rPr>
              <a:t>2</a:t>
            </a:r>
          </a:p>
          <a:p>
            <a:pPr marL="49213" lvl="2" algn="l"/>
            <a:r>
              <a:rPr lang="en-US" sz="1800" dirty="0">
                <a:latin typeface="Calibri" panose="020F0502020204030204" pitchFamily="34" charset="0"/>
              </a:rPr>
              <a:t>3</a:t>
            </a:r>
          </a:p>
          <a:p>
            <a:pPr marL="49213" lvl="2" algn="l"/>
            <a:r>
              <a:rPr lang="en-US" sz="1800" dirty="0">
                <a:latin typeface="Calibri" panose="020F0502020204030204" pitchFamily="34" charset="0"/>
              </a:rPr>
              <a:t>4</a:t>
            </a:r>
          </a:p>
          <a:p>
            <a:pPr marL="49213" lvl="2" algn="l"/>
            <a:r>
              <a:rPr lang="en-US" sz="1800" dirty="0">
                <a:latin typeface="Calibri" panose="020F0502020204030204" pitchFamily="34" charset="0"/>
              </a:rPr>
              <a:t>5</a:t>
            </a:r>
          </a:p>
          <a:p>
            <a:pPr marL="49213" lvl="2" algn="l"/>
            <a:r>
              <a:rPr lang="en-US" sz="1800" dirty="0">
                <a:latin typeface="Calibri" panose="020F0502020204030204" pitchFamily="34" charset="0"/>
              </a:rPr>
              <a:t>6</a:t>
            </a:r>
          </a:p>
          <a:p>
            <a:pPr marL="49213" lvl="2" algn="l"/>
            <a:r>
              <a:rPr lang="en-US" sz="1800" dirty="0">
                <a:latin typeface="Calibri" panose="020F0502020204030204" pitchFamily="34" charset="0"/>
              </a:rPr>
              <a:t>7</a:t>
            </a:r>
          </a:p>
          <a:p>
            <a:pPr marL="49213" lvl="2" algn="l"/>
            <a:r>
              <a:rPr lang="en-US" sz="1800" dirty="0">
                <a:latin typeface="Calibri" panose="020F0502020204030204" pitchFamily="34" charset="0"/>
              </a:rPr>
              <a:t>8</a:t>
            </a:r>
          </a:p>
        </p:txBody>
      </p:sp>
      <p:sp>
        <p:nvSpPr>
          <p:cNvPr id="7" name="Title 1">
            <a:extLst>
              <a:ext uri="{FF2B5EF4-FFF2-40B4-BE49-F238E27FC236}">
                <a16:creationId xmlns:a16="http://schemas.microsoft.com/office/drawing/2014/main" id="{69C4C5AE-7E86-4075-9044-A8DE8685B0D7}"/>
              </a:ext>
            </a:extLst>
          </p:cNvPr>
          <p:cNvSpPr txBox="1">
            <a:spLocks/>
          </p:cNvSpPr>
          <p:nvPr/>
        </p:nvSpPr>
        <p:spPr>
          <a:xfrm>
            <a:off x="578165" y="2814391"/>
            <a:ext cx="9715026" cy="7632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endParaRPr lang="en-US" sz="2400" dirty="0">
              <a:solidFill>
                <a:srgbClr val="FF0000"/>
              </a:solidFill>
              <a:latin typeface="+mn-lt"/>
              <a:ea typeface="+mn-ea"/>
              <a:cs typeface="+mn-cs"/>
            </a:endParaRPr>
          </a:p>
        </p:txBody>
      </p:sp>
      <p:sp>
        <p:nvSpPr>
          <p:cNvPr id="10" name="TextBox 9">
            <a:extLst>
              <a:ext uri="{FF2B5EF4-FFF2-40B4-BE49-F238E27FC236}">
                <a16:creationId xmlns:a16="http://schemas.microsoft.com/office/drawing/2014/main" id="{C6210159-DF2F-4FC5-AC24-7B352668CBC8}"/>
              </a:ext>
            </a:extLst>
          </p:cNvPr>
          <p:cNvSpPr txBox="1"/>
          <p:nvPr/>
        </p:nvSpPr>
        <p:spPr>
          <a:xfrm>
            <a:off x="578165" y="3189832"/>
            <a:ext cx="487207" cy="1366528"/>
          </a:xfrm>
          <a:prstGeom prst="rect">
            <a:avLst/>
          </a:prstGeom>
          <a:solidFill>
            <a:schemeClr val="bg1">
              <a:lumMod val="85000"/>
              <a:alpha val="30000"/>
            </a:schemeClr>
          </a:solidFill>
          <a:ln>
            <a:noFill/>
          </a:ln>
        </p:spPr>
        <p:txBody>
          <a:bodyPr wrap="square" rtlCol="0">
            <a:spAutoFit/>
          </a:bodyPr>
          <a:lstStyle/>
          <a:p>
            <a:pPr marL="49213" lvl="2" algn="l"/>
            <a:r>
              <a:rPr lang="en-US" sz="1800" dirty="0">
                <a:latin typeface="Courier" pitchFamily="2" charset="0"/>
              </a:rPr>
              <a:t>1</a:t>
            </a:r>
          </a:p>
          <a:p>
            <a:pPr marL="49213" lvl="2" algn="l"/>
            <a:r>
              <a:rPr lang="en-US" sz="1800" dirty="0">
                <a:latin typeface="Courier" pitchFamily="2" charset="0"/>
              </a:rPr>
              <a:t>2</a:t>
            </a:r>
          </a:p>
          <a:p>
            <a:pPr marL="49213" lvl="2" algn="l"/>
            <a:r>
              <a:rPr lang="en-US" sz="1800" dirty="0">
                <a:latin typeface="Courier" pitchFamily="2" charset="0"/>
              </a:rPr>
              <a:t>3</a:t>
            </a:r>
          </a:p>
          <a:p>
            <a:pPr marL="49213" lvl="2" algn="l"/>
            <a:r>
              <a:rPr lang="en-US" sz="1800" dirty="0">
                <a:latin typeface="Courier" pitchFamily="2" charset="0"/>
              </a:rPr>
              <a:t>4</a:t>
            </a:r>
            <a:endParaRPr lang="en-US" sz="1600" dirty="0">
              <a:latin typeface="Courier" pitchFamily="2" charset="0"/>
            </a:endParaRPr>
          </a:p>
        </p:txBody>
      </p:sp>
      <p:sp>
        <p:nvSpPr>
          <p:cNvPr id="12" name="TextBox 11">
            <a:extLst>
              <a:ext uri="{FF2B5EF4-FFF2-40B4-BE49-F238E27FC236}">
                <a16:creationId xmlns:a16="http://schemas.microsoft.com/office/drawing/2014/main" id="{E0ED1A94-170B-4FB5-AB5E-188E753A629D}"/>
              </a:ext>
            </a:extLst>
          </p:cNvPr>
          <p:cNvSpPr txBox="1"/>
          <p:nvPr/>
        </p:nvSpPr>
        <p:spPr>
          <a:xfrm>
            <a:off x="1094677" y="3189832"/>
            <a:ext cx="8794552" cy="1366528"/>
          </a:xfrm>
          <a:prstGeom prst="rect">
            <a:avLst/>
          </a:prstGeom>
          <a:solidFill>
            <a:schemeClr val="bg1">
              <a:lumMod val="85000"/>
              <a:alpha val="30000"/>
            </a:schemeClr>
          </a:solidFill>
          <a:ln>
            <a:noFill/>
          </a:ln>
        </p:spPr>
        <p:txBody>
          <a:bodyPr wrap="square" rtlCol="0">
            <a:spAutoFit/>
          </a:bodyPr>
          <a:lstStyle/>
          <a:p>
            <a:pPr marL="49213" lvl="2" algn="l"/>
            <a:r>
              <a:rPr lang="en-AU" sz="1800" dirty="0" err="1">
                <a:latin typeface="+mn-lt"/>
              </a:rPr>
              <a:t>aws</a:t>
            </a:r>
            <a:r>
              <a:rPr lang="en-AU" sz="1800" dirty="0">
                <a:latin typeface="+mn-lt"/>
              </a:rPr>
              <a:t> </a:t>
            </a:r>
            <a:r>
              <a:rPr lang="en-AU" sz="1800" dirty="0" err="1">
                <a:latin typeface="+mn-lt"/>
              </a:rPr>
              <a:t>dynamodb</a:t>
            </a:r>
            <a:r>
              <a:rPr lang="en-AU" sz="1800" dirty="0">
                <a:latin typeface="+mn-lt"/>
              </a:rPr>
              <a:t> put-item \ </a:t>
            </a:r>
          </a:p>
          <a:p>
            <a:pPr marL="49213" lvl="2" algn="l"/>
            <a:r>
              <a:rPr lang="en-AU" sz="1800" i="1" dirty="0">
                <a:latin typeface="+mn-lt"/>
              </a:rPr>
              <a:t>  --table-name </a:t>
            </a:r>
            <a:r>
              <a:rPr lang="en-AU" sz="1800" dirty="0" err="1">
                <a:latin typeface="+mn-lt"/>
              </a:rPr>
              <a:t>MusicAlbum</a:t>
            </a:r>
            <a:r>
              <a:rPr lang="en-AU" sz="1800" i="1" dirty="0">
                <a:latin typeface="+mn-lt"/>
              </a:rPr>
              <a:t> \</a:t>
            </a:r>
            <a:r>
              <a:rPr lang="en-AU" sz="1800" dirty="0">
                <a:latin typeface="+mn-lt"/>
              </a:rPr>
              <a:t> </a:t>
            </a:r>
          </a:p>
          <a:p>
            <a:pPr marL="49213" lvl="2" algn="l"/>
            <a:r>
              <a:rPr lang="en-AU" sz="1800" i="1" dirty="0">
                <a:latin typeface="+mn-lt"/>
              </a:rPr>
              <a:t>  --item </a:t>
            </a:r>
            <a:r>
              <a:rPr lang="en-AU" sz="1800" dirty="0">
                <a:latin typeface="+mn-lt"/>
              </a:rPr>
              <a:t>'{"Artist": {"S": "Tom"}, "Song": {"S": "Call me today"}}'\ </a:t>
            </a:r>
          </a:p>
          <a:p>
            <a:pPr marL="49213" lvl="2" algn="l"/>
            <a:r>
              <a:rPr lang="en-AU" sz="1800" i="1" dirty="0">
                <a:latin typeface="+mn-lt"/>
              </a:rPr>
              <a:t>  --return-consumed-capacity TOTAL </a:t>
            </a:r>
            <a:r>
              <a:rPr lang="en-AU" sz="1800" dirty="0">
                <a:latin typeface="+mn-lt"/>
              </a:rPr>
              <a:t>--endpoint-</a:t>
            </a:r>
            <a:r>
              <a:rPr lang="en-AU" sz="1800" dirty="0" err="1">
                <a:latin typeface="+mn-lt"/>
              </a:rPr>
              <a:t>url</a:t>
            </a:r>
            <a:r>
              <a:rPr lang="en-AU" sz="1800" dirty="0">
                <a:latin typeface="+mn-lt"/>
              </a:rPr>
              <a:t>=http://localhost:8000</a:t>
            </a:r>
            <a:endParaRPr lang="en-AU" sz="1800" i="1" dirty="0">
              <a:latin typeface="+mn-lt"/>
            </a:endParaRPr>
          </a:p>
        </p:txBody>
      </p:sp>
      <p:sp>
        <p:nvSpPr>
          <p:cNvPr id="13" name="TextBox 12">
            <a:extLst>
              <a:ext uri="{FF2B5EF4-FFF2-40B4-BE49-F238E27FC236}">
                <a16:creationId xmlns:a16="http://schemas.microsoft.com/office/drawing/2014/main" id="{CDD6A3CB-BC1A-44D2-8F8C-A52CE7144D57}"/>
              </a:ext>
            </a:extLst>
          </p:cNvPr>
          <p:cNvSpPr txBox="1"/>
          <p:nvPr/>
        </p:nvSpPr>
        <p:spPr>
          <a:xfrm>
            <a:off x="630920" y="5002141"/>
            <a:ext cx="487207" cy="1366528"/>
          </a:xfrm>
          <a:prstGeom prst="rect">
            <a:avLst/>
          </a:prstGeom>
          <a:solidFill>
            <a:schemeClr val="bg1">
              <a:lumMod val="85000"/>
              <a:alpha val="30000"/>
            </a:schemeClr>
          </a:solidFill>
          <a:ln>
            <a:noFill/>
          </a:ln>
        </p:spPr>
        <p:txBody>
          <a:bodyPr wrap="square" rtlCol="0">
            <a:spAutoFit/>
          </a:bodyPr>
          <a:lstStyle/>
          <a:p>
            <a:pPr marL="49213" lvl="2" algn="l"/>
            <a:r>
              <a:rPr lang="en-US" sz="1800" dirty="0">
                <a:latin typeface="Courier" pitchFamily="2" charset="0"/>
              </a:rPr>
              <a:t>1</a:t>
            </a:r>
          </a:p>
          <a:p>
            <a:pPr marL="49213" lvl="2" algn="l"/>
            <a:r>
              <a:rPr lang="en-US" sz="1800" dirty="0">
                <a:latin typeface="Courier" pitchFamily="2" charset="0"/>
              </a:rPr>
              <a:t>2</a:t>
            </a:r>
          </a:p>
          <a:p>
            <a:pPr marL="49213" lvl="2" algn="l"/>
            <a:r>
              <a:rPr lang="en-US" sz="1800" dirty="0">
                <a:latin typeface="Courier" pitchFamily="2" charset="0"/>
              </a:rPr>
              <a:t>3</a:t>
            </a:r>
          </a:p>
          <a:p>
            <a:pPr marL="49213" lvl="2" algn="l"/>
            <a:r>
              <a:rPr lang="en-US" sz="1800" dirty="0">
                <a:latin typeface="Courier" pitchFamily="2" charset="0"/>
              </a:rPr>
              <a:t>4</a:t>
            </a:r>
            <a:endParaRPr lang="en-US" sz="1600" dirty="0">
              <a:latin typeface="Courier" pitchFamily="2" charset="0"/>
            </a:endParaRPr>
          </a:p>
        </p:txBody>
      </p:sp>
      <p:sp>
        <p:nvSpPr>
          <p:cNvPr id="14" name="TextBox 13">
            <a:extLst>
              <a:ext uri="{FF2B5EF4-FFF2-40B4-BE49-F238E27FC236}">
                <a16:creationId xmlns:a16="http://schemas.microsoft.com/office/drawing/2014/main" id="{C40651EA-96A1-4C06-B8A6-057D5441B9E5}"/>
              </a:ext>
            </a:extLst>
          </p:cNvPr>
          <p:cNvSpPr txBox="1"/>
          <p:nvPr/>
        </p:nvSpPr>
        <p:spPr>
          <a:xfrm>
            <a:off x="1147432" y="5002141"/>
            <a:ext cx="8794552" cy="1366528"/>
          </a:xfrm>
          <a:prstGeom prst="rect">
            <a:avLst/>
          </a:prstGeom>
          <a:solidFill>
            <a:schemeClr val="bg1">
              <a:lumMod val="85000"/>
              <a:alpha val="30000"/>
            </a:schemeClr>
          </a:solidFill>
          <a:ln>
            <a:noFill/>
          </a:ln>
        </p:spPr>
        <p:txBody>
          <a:bodyPr wrap="square" rtlCol="0">
            <a:spAutoFit/>
          </a:bodyPr>
          <a:lstStyle/>
          <a:p>
            <a:pPr marL="49213" lvl="2" algn="l"/>
            <a:r>
              <a:rPr lang="en-AU" sz="1800" dirty="0" err="1">
                <a:latin typeface="+mn-lt"/>
              </a:rPr>
              <a:t>aws</a:t>
            </a:r>
            <a:r>
              <a:rPr lang="en-AU" sz="1800" dirty="0">
                <a:latin typeface="+mn-lt"/>
              </a:rPr>
              <a:t> </a:t>
            </a:r>
            <a:r>
              <a:rPr lang="en-AU" sz="1800" dirty="0" err="1">
                <a:latin typeface="+mn-lt"/>
              </a:rPr>
              <a:t>dynamodb</a:t>
            </a:r>
            <a:r>
              <a:rPr lang="en-AU" sz="1800" dirty="0">
                <a:latin typeface="+mn-lt"/>
              </a:rPr>
              <a:t> put-item \ </a:t>
            </a:r>
          </a:p>
          <a:p>
            <a:pPr marL="49213" lvl="2" algn="l"/>
            <a:r>
              <a:rPr lang="en-AU" sz="1800" i="1" dirty="0">
                <a:latin typeface="+mn-lt"/>
              </a:rPr>
              <a:t>  --table-name </a:t>
            </a:r>
            <a:r>
              <a:rPr lang="en-AU" sz="1800" dirty="0" err="1">
                <a:latin typeface="+mn-lt"/>
              </a:rPr>
              <a:t>MusicAlbum</a:t>
            </a:r>
            <a:r>
              <a:rPr lang="en-AU" sz="1800" i="1" dirty="0">
                <a:latin typeface="+mn-lt"/>
              </a:rPr>
              <a:t> \</a:t>
            </a:r>
            <a:r>
              <a:rPr lang="en-AU" sz="1800" dirty="0">
                <a:latin typeface="+mn-lt"/>
              </a:rPr>
              <a:t> </a:t>
            </a:r>
          </a:p>
          <a:p>
            <a:pPr marL="49213" lvl="2" algn="l"/>
            <a:r>
              <a:rPr lang="en-AU" sz="1800" i="1" dirty="0">
                <a:latin typeface="+mn-lt"/>
              </a:rPr>
              <a:t>  --item </a:t>
            </a:r>
            <a:r>
              <a:rPr lang="en-AU" sz="1800" dirty="0">
                <a:latin typeface="+mn-lt"/>
              </a:rPr>
              <a:t>'{"Artist": {"S": "Tom"}, "Song": {"S": “C</a:t>
            </a:r>
            <a:r>
              <a:rPr lang="en-US" altLang="zh-CN" sz="1800" dirty="0">
                <a:latin typeface="+mn-lt"/>
              </a:rPr>
              <a:t>all me today</a:t>
            </a:r>
            <a:r>
              <a:rPr lang="en-AU" sz="1800" dirty="0">
                <a:latin typeface="+mn-lt"/>
              </a:rPr>
              <a:t>"}}'\ </a:t>
            </a:r>
          </a:p>
          <a:p>
            <a:pPr marL="49213" lvl="2" algn="l"/>
            <a:r>
              <a:rPr lang="en-AU" sz="1800" i="1" dirty="0">
                <a:latin typeface="+mn-lt"/>
              </a:rPr>
              <a:t>  --return-consumed-capacity TOTAL </a:t>
            </a:r>
            <a:r>
              <a:rPr lang="en-AU" sz="1800" dirty="0">
                <a:latin typeface="+mn-lt"/>
              </a:rPr>
              <a:t>--endpoint-</a:t>
            </a:r>
            <a:r>
              <a:rPr lang="en-AU" sz="1800" dirty="0" err="1">
                <a:latin typeface="+mn-lt"/>
              </a:rPr>
              <a:t>url</a:t>
            </a:r>
            <a:r>
              <a:rPr lang="en-AU" sz="1800" dirty="0">
                <a:latin typeface="+mn-lt"/>
              </a:rPr>
              <a:t>=http://localhost:8000</a:t>
            </a:r>
            <a:endParaRPr lang="en-AU" sz="1800" i="1" dirty="0">
              <a:latin typeface="+mn-lt"/>
            </a:endParaRPr>
          </a:p>
        </p:txBody>
      </p:sp>
      <p:sp>
        <p:nvSpPr>
          <p:cNvPr id="15" name="Title 1">
            <a:extLst>
              <a:ext uri="{FF2B5EF4-FFF2-40B4-BE49-F238E27FC236}">
                <a16:creationId xmlns:a16="http://schemas.microsoft.com/office/drawing/2014/main" id="{9EDAFD53-BF89-4555-AE2E-803E19F885BD}"/>
              </a:ext>
            </a:extLst>
          </p:cNvPr>
          <p:cNvSpPr txBox="1">
            <a:spLocks/>
          </p:cNvSpPr>
          <p:nvPr/>
        </p:nvSpPr>
        <p:spPr>
          <a:xfrm>
            <a:off x="504382" y="2760322"/>
            <a:ext cx="3374014" cy="3716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2000" dirty="0">
                <a:solidFill>
                  <a:srgbClr val="FF0000"/>
                </a:solidFill>
                <a:latin typeface="+mn-lt"/>
                <a:ea typeface="+mn-ea"/>
                <a:cs typeface="+mn-cs"/>
              </a:rPr>
              <a:t>Insert the first item.</a:t>
            </a:r>
          </a:p>
        </p:txBody>
      </p:sp>
      <p:sp>
        <p:nvSpPr>
          <p:cNvPr id="16" name="Title 1">
            <a:extLst>
              <a:ext uri="{FF2B5EF4-FFF2-40B4-BE49-F238E27FC236}">
                <a16:creationId xmlns:a16="http://schemas.microsoft.com/office/drawing/2014/main" id="{EF66AEC1-E0FE-4D2E-81B9-8422814CDE8B}"/>
              </a:ext>
            </a:extLst>
          </p:cNvPr>
          <p:cNvSpPr txBox="1">
            <a:spLocks/>
          </p:cNvSpPr>
          <p:nvPr/>
        </p:nvSpPr>
        <p:spPr>
          <a:xfrm>
            <a:off x="570288" y="4666734"/>
            <a:ext cx="3374014" cy="33540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2000" dirty="0">
                <a:solidFill>
                  <a:srgbClr val="FF0000"/>
                </a:solidFill>
                <a:latin typeface="+mn-lt"/>
                <a:ea typeface="+mn-ea"/>
                <a:cs typeface="+mn-cs"/>
              </a:rPr>
              <a:t>Insert the second item.</a:t>
            </a:r>
          </a:p>
        </p:txBody>
      </p:sp>
    </p:spTree>
    <p:extLst>
      <p:ext uri="{BB962C8B-B14F-4D97-AF65-F5344CB8AC3E}">
        <p14:creationId xmlns:p14="http://schemas.microsoft.com/office/powerpoint/2010/main" val="945577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12784-199A-4366-8059-4B353600DEA1}"/>
              </a:ext>
            </a:extLst>
          </p:cNvPr>
          <p:cNvSpPr>
            <a:spLocks noGrp="1"/>
          </p:cNvSpPr>
          <p:nvPr>
            <p:ph idx="1"/>
          </p:nvPr>
        </p:nvSpPr>
        <p:spPr>
          <a:xfrm>
            <a:off x="828414" y="1436483"/>
            <a:ext cx="8674173" cy="1225437"/>
          </a:xfrm>
        </p:spPr>
        <p:txBody>
          <a:bodyPr>
            <a:normAutofit/>
          </a:bodyPr>
          <a:lstStyle/>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Networking concepts</a:t>
            </a:r>
          </a:p>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Elastic load balancing</a:t>
            </a:r>
          </a:p>
          <a:p>
            <a:pPr marL="27675" indent="0">
              <a:buNone/>
            </a:pPr>
            <a:endParaRPr lang="en-AU" dirty="0"/>
          </a:p>
        </p:txBody>
      </p:sp>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828415" y="286870"/>
            <a:ext cx="3258393" cy="763530"/>
          </a:xfrm>
          <a:prstGeom prst="rect">
            <a:avLst/>
          </a:prstGeom>
        </p:spPr>
        <p:txBody>
          <a:bodyPr>
            <a:normAutofit/>
          </a:bodyPr>
          <a:lstStyle/>
          <a:p>
            <a:r>
              <a:rPr lang="en-AU" sz="3200" b="1" dirty="0"/>
              <a:t>Overview</a:t>
            </a:r>
            <a:endParaRPr sz="2800" b="1" dirty="0"/>
          </a:p>
        </p:txBody>
      </p:sp>
    </p:spTree>
    <p:extLst>
      <p:ext uri="{BB962C8B-B14F-4D97-AF65-F5344CB8AC3E}">
        <p14:creationId xmlns:p14="http://schemas.microsoft.com/office/powerpoint/2010/main" val="3039451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261441"/>
            <a:ext cx="2840794" cy="563312"/>
          </a:xfrm>
        </p:spPr>
        <p:txBody>
          <a:bodyPr>
            <a:normAutofit/>
          </a:bodyPr>
          <a:lstStyle/>
          <a:p>
            <a:r>
              <a:rPr lang="en-US" sz="3200" b="1" dirty="0">
                <a:latin typeface="+mn-lt"/>
                <a:ea typeface="+mn-ea"/>
                <a:cs typeface="+mn-cs"/>
              </a:rPr>
              <a:t>Network</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5016726"/>
          </a:xfrm>
        </p:spPr>
        <p:txBody>
          <a:bodyPr>
            <a:noAutofit/>
          </a:bodyPr>
          <a:lstStyle/>
          <a:p>
            <a:pPr algn="l"/>
            <a:r>
              <a:rPr lang="en-US" sz="2400" b="0" i="0" u="none" strike="noStrike" baseline="0" dirty="0"/>
              <a:t>A network can be defined as a group of devices connected </a:t>
            </a:r>
            <a:r>
              <a:rPr lang="en-US" sz="2400" dirty="0"/>
              <a:t>for data</a:t>
            </a:r>
            <a:r>
              <a:rPr lang="en-US" sz="2400" b="0" i="0" u="none" strike="noStrike" baseline="0" dirty="0"/>
              <a:t> exchange.</a:t>
            </a:r>
          </a:p>
          <a:p>
            <a:pPr algn="l"/>
            <a:r>
              <a:rPr lang="en-US" sz="2400" b="0" i="0" u="none" strike="noStrike" baseline="0" dirty="0"/>
              <a:t>Each of the devices on the network is a node and each node has at least one unique address.</a:t>
            </a:r>
          </a:p>
          <a:p>
            <a:pPr algn="l"/>
            <a:endParaRPr lang="en-AU" b="0" u="none" strike="noStrike" baseline="0" dirty="0"/>
          </a:p>
        </p:txBody>
      </p:sp>
    </p:spTree>
    <p:extLst>
      <p:ext uri="{BB962C8B-B14F-4D97-AF65-F5344CB8AC3E}">
        <p14:creationId xmlns:p14="http://schemas.microsoft.com/office/powerpoint/2010/main" val="1808280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261441"/>
            <a:ext cx="2840794" cy="563312"/>
          </a:xfrm>
        </p:spPr>
        <p:txBody>
          <a:bodyPr>
            <a:normAutofit/>
          </a:bodyPr>
          <a:lstStyle/>
          <a:p>
            <a:r>
              <a:rPr lang="en-US" sz="3200" b="1" dirty="0">
                <a:latin typeface="+mn-lt"/>
                <a:ea typeface="+mn-ea"/>
                <a:cs typeface="+mn-cs"/>
              </a:rPr>
              <a:t>IP Address</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2659369"/>
          </a:xfrm>
        </p:spPr>
        <p:txBody>
          <a:bodyPr>
            <a:noAutofit/>
          </a:bodyPr>
          <a:lstStyle/>
          <a:p>
            <a:pPr algn="l"/>
            <a:r>
              <a:rPr lang="en-US" sz="2400" dirty="0"/>
              <a:t>It is an </a:t>
            </a:r>
            <a:r>
              <a:rPr lang="en-AU" sz="2400" dirty="0"/>
              <a:t>Internet Protocol address</a:t>
            </a:r>
            <a:r>
              <a:rPr lang="en-US" sz="2400" dirty="0"/>
              <a:t>, which is a numerical label assigned to each device connected to a network that uses the Internet Protocol for communication.</a:t>
            </a:r>
          </a:p>
          <a:p>
            <a:r>
              <a:rPr lang="en-US" sz="2400" dirty="0"/>
              <a:t>An IPv4 (</a:t>
            </a:r>
            <a:r>
              <a:rPr lang="en-AU" sz="2400" dirty="0"/>
              <a:t>Internet Protocol version 4</a:t>
            </a:r>
            <a:r>
              <a:rPr lang="en-US" sz="2400" dirty="0"/>
              <a:t>) address has 4 bytes (32 bits) separated by periods.</a:t>
            </a:r>
          </a:p>
          <a:p>
            <a:pPr lvl="1"/>
            <a:r>
              <a:rPr lang="en-AU" dirty="0"/>
              <a:t>e.g., 192.168.1.10</a:t>
            </a:r>
          </a:p>
          <a:p>
            <a:pPr marL="457200" lvl="1" indent="0">
              <a:buNone/>
            </a:pPr>
            <a:endParaRPr lang="en-US" sz="2400" dirty="0"/>
          </a:p>
        </p:txBody>
      </p:sp>
    </p:spTree>
    <p:extLst>
      <p:ext uri="{BB962C8B-B14F-4D97-AF65-F5344CB8AC3E}">
        <p14:creationId xmlns:p14="http://schemas.microsoft.com/office/powerpoint/2010/main" val="98441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261441"/>
            <a:ext cx="2840794" cy="563312"/>
          </a:xfrm>
        </p:spPr>
        <p:txBody>
          <a:bodyPr>
            <a:normAutofit/>
          </a:bodyPr>
          <a:lstStyle/>
          <a:p>
            <a:r>
              <a:rPr lang="en-US" sz="3200" b="1" dirty="0">
                <a:latin typeface="+mn-lt"/>
                <a:ea typeface="+mn-ea"/>
                <a:cs typeface="+mn-cs"/>
              </a:rPr>
              <a:t>IP Address</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2659369"/>
          </a:xfrm>
        </p:spPr>
        <p:txBody>
          <a:bodyPr>
            <a:noAutofit/>
          </a:bodyPr>
          <a:lstStyle/>
          <a:p>
            <a:r>
              <a:rPr lang="en-US" sz="2400" dirty="0"/>
              <a:t>An IPv4 address has 4 bytes separated by periods.</a:t>
            </a:r>
          </a:p>
          <a:p>
            <a:pPr lvl="1"/>
            <a:r>
              <a:rPr lang="en-US" dirty="0"/>
              <a:t>t</a:t>
            </a:r>
            <a:r>
              <a:rPr lang="en-US" sz="2400" dirty="0"/>
              <a:t>he first R bits</a:t>
            </a:r>
            <a:r>
              <a:rPr lang="en-US" dirty="0"/>
              <a:t> </a:t>
            </a:r>
            <a:r>
              <a:rPr lang="en-US" sz="2400" dirty="0"/>
              <a:t>correspond to the </a:t>
            </a:r>
            <a:r>
              <a:rPr lang="en-US" sz="2400" b="1" dirty="0"/>
              <a:t>network portion</a:t>
            </a:r>
            <a:r>
              <a:rPr lang="en-US" sz="2400" dirty="0"/>
              <a:t>. </a:t>
            </a:r>
          </a:p>
          <a:p>
            <a:pPr lvl="1"/>
            <a:r>
              <a:rPr lang="en-US" sz="2400" dirty="0"/>
              <a:t>the remaining H </a:t>
            </a:r>
            <a:r>
              <a:rPr lang="en-US" dirty="0"/>
              <a:t>bits (32 – R) </a:t>
            </a:r>
            <a:r>
              <a:rPr lang="en-US" sz="2400" dirty="0"/>
              <a:t>are used for the </a:t>
            </a:r>
            <a:r>
              <a:rPr lang="en-US" sz="2400" b="1" dirty="0"/>
              <a:t>host portion</a:t>
            </a:r>
            <a:r>
              <a:rPr lang="en-US" sz="2400" dirty="0"/>
              <a:t>.</a:t>
            </a:r>
          </a:p>
          <a:p>
            <a:pPr lvl="1"/>
            <a:r>
              <a:rPr lang="en-US" dirty="0"/>
              <a:t>subnet mask: determines the values for R and H. </a:t>
            </a:r>
          </a:p>
          <a:p>
            <a:pPr lvl="2"/>
            <a:r>
              <a:rPr lang="en-US" sz="2400" dirty="0"/>
              <a:t>e.g., IPv4 address "192.168.1.10" with a subnet mask of "255.255.255.0".</a:t>
            </a:r>
          </a:p>
          <a:p>
            <a:pPr lvl="2"/>
            <a:r>
              <a:rPr lang="en-US" sz="2400" dirty="0"/>
              <a:t>question: </a:t>
            </a:r>
            <a:r>
              <a:rPr lang="en-US" sz="2400" dirty="0">
                <a:solidFill>
                  <a:srgbClr val="FF0000"/>
                </a:solidFill>
              </a:rPr>
              <a:t>what are the network portion and host portion for this IP address?</a:t>
            </a:r>
          </a:p>
        </p:txBody>
      </p:sp>
    </p:spTree>
    <p:extLst>
      <p:ext uri="{BB962C8B-B14F-4D97-AF65-F5344CB8AC3E}">
        <p14:creationId xmlns:p14="http://schemas.microsoft.com/office/powerpoint/2010/main" val="3957031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261441"/>
            <a:ext cx="2840794" cy="563312"/>
          </a:xfrm>
        </p:spPr>
        <p:txBody>
          <a:bodyPr>
            <a:normAutofit/>
          </a:bodyPr>
          <a:lstStyle/>
          <a:p>
            <a:r>
              <a:rPr lang="en-US" sz="3200" b="1" dirty="0">
                <a:latin typeface="+mn-lt"/>
                <a:ea typeface="+mn-ea"/>
                <a:cs typeface="+mn-cs"/>
              </a:rPr>
              <a:t>IP Address</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2659369"/>
          </a:xfrm>
        </p:spPr>
        <p:txBody>
          <a:bodyPr>
            <a:noAutofit/>
          </a:bodyPr>
          <a:lstStyle/>
          <a:p>
            <a:pPr algn="l"/>
            <a:r>
              <a:rPr lang="en-US" sz="2400" dirty="0"/>
              <a:t>An IPv4 address has 4 bytes separated by periods.</a:t>
            </a:r>
          </a:p>
          <a:p>
            <a:pPr lvl="1"/>
            <a:r>
              <a:rPr lang="en-US" dirty="0"/>
              <a:t>t</a:t>
            </a:r>
            <a:r>
              <a:rPr lang="en-US" sz="2400" dirty="0"/>
              <a:t>he first R bits correspond to the network portion. </a:t>
            </a:r>
          </a:p>
          <a:p>
            <a:pPr lvl="1"/>
            <a:r>
              <a:rPr lang="en-US" sz="2400" dirty="0"/>
              <a:t>the remaining H bits are used for the host portion.</a:t>
            </a:r>
          </a:p>
          <a:p>
            <a:pPr lvl="1"/>
            <a:r>
              <a:rPr lang="en-US" dirty="0"/>
              <a:t>subnet mask: determines the values for R and H. </a:t>
            </a:r>
          </a:p>
          <a:p>
            <a:pPr lvl="2"/>
            <a:r>
              <a:rPr lang="en-US" sz="2400" dirty="0"/>
              <a:t>e.g., IPv4 address "192.168.1.10" with a subnet mask of "255.255.255.0".</a:t>
            </a:r>
          </a:p>
          <a:p>
            <a:pPr lvl="2"/>
            <a:r>
              <a:rPr lang="en-US" sz="2400" dirty="0"/>
              <a:t>Question: what are the network portion and host portion for this IP address?</a:t>
            </a:r>
          </a:p>
          <a:p>
            <a:pPr lvl="3"/>
            <a:r>
              <a:rPr lang="en-US" sz="2400" dirty="0"/>
              <a:t>A notation: 192.168.1.10/24</a:t>
            </a:r>
          </a:p>
          <a:p>
            <a:pPr lvl="4"/>
            <a:r>
              <a:rPr lang="en-US" sz="2400" b="1" dirty="0"/>
              <a:t>CIDR</a:t>
            </a:r>
            <a:r>
              <a:rPr lang="en-US" sz="2400" dirty="0"/>
              <a:t> (Classless Inter-Domain Routing) notation</a:t>
            </a:r>
          </a:p>
        </p:txBody>
      </p:sp>
    </p:spTree>
    <p:extLst>
      <p:ext uri="{BB962C8B-B14F-4D97-AF65-F5344CB8AC3E}">
        <p14:creationId xmlns:p14="http://schemas.microsoft.com/office/powerpoint/2010/main" val="3919884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261441"/>
            <a:ext cx="2840794" cy="563312"/>
          </a:xfrm>
        </p:spPr>
        <p:txBody>
          <a:bodyPr>
            <a:normAutofit/>
          </a:bodyPr>
          <a:lstStyle/>
          <a:p>
            <a:r>
              <a:rPr lang="en-US" sz="3200" b="1" dirty="0">
                <a:latin typeface="+mn-lt"/>
                <a:ea typeface="+mn-ea"/>
                <a:cs typeface="+mn-cs"/>
              </a:rPr>
              <a:t>IP Address</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2659369"/>
          </a:xfrm>
        </p:spPr>
        <p:txBody>
          <a:bodyPr>
            <a:noAutofit/>
          </a:bodyPr>
          <a:lstStyle/>
          <a:p>
            <a:pPr marL="0" indent="0" algn="l">
              <a:buNone/>
            </a:pPr>
            <a:endParaRPr lang="en-US" sz="2400" dirty="0"/>
          </a:p>
          <a:p>
            <a:pPr algn="l"/>
            <a:r>
              <a:rPr lang="en-US" sz="2400" dirty="0"/>
              <a:t>An IPv4 address has 4 bytes separated by periods.</a:t>
            </a:r>
          </a:p>
          <a:p>
            <a:pPr lvl="1"/>
            <a:r>
              <a:rPr lang="en-US" dirty="0"/>
              <a:t>t</a:t>
            </a:r>
            <a:r>
              <a:rPr lang="en-US" sz="2400" dirty="0"/>
              <a:t>he first R bits correspond to the network portion. </a:t>
            </a:r>
          </a:p>
          <a:p>
            <a:pPr lvl="1"/>
            <a:r>
              <a:rPr lang="en-US" sz="2400" dirty="0"/>
              <a:t>the remaining H bits are used for the host portion.</a:t>
            </a:r>
          </a:p>
          <a:p>
            <a:pPr lvl="1"/>
            <a:r>
              <a:rPr lang="en-US" dirty="0"/>
              <a:t>subnet mask: determines the values for R and H. </a:t>
            </a:r>
          </a:p>
          <a:p>
            <a:pPr lvl="2"/>
            <a:r>
              <a:rPr lang="en-US" sz="2400" b="1" dirty="0"/>
              <a:t>it is used to cluster IP addresses into different subnets. </a:t>
            </a:r>
          </a:p>
          <a:p>
            <a:pPr lvl="3" indent="-228240">
              <a:spcBef>
                <a:spcPts val="499"/>
              </a:spcBef>
              <a:buClr>
                <a:srgbClr val="000000"/>
              </a:buClr>
              <a:buFont typeface="Arial"/>
              <a:buChar char="•"/>
            </a:pPr>
            <a:r>
              <a:rPr lang="pt-BR" sz="2400" spc="-1" dirty="0">
                <a:solidFill>
                  <a:srgbClr val="000000"/>
                </a:solidFill>
                <a:latin typeface="Calibri"/>
              </a:rPr>
              <a:t>e</a:t>
            </a:r>
            <a:r>
              <a:rPr lang="pt-BR" sz="2400" b="0" strike="noStrike" spc="-1" dirty="0">
                <a:solidFill>
                  <a:srgbClr val="000000"/>
                </a:solidFill>
                <a:latin typeface="Calibri"/>
              </a:rPr>
              <a:t>.g., 130.95.141.192 with a subnet mask of 255.255.255.192 </a:t>
            </a:r>
            <a:endParaRPr lang="en-US" sz="2400" b="0" strike="noStrike" spc="-1" dirty="0">
              <a:solidFill>
                <a:srgbClr val="000000"/>
              </a:solidFill>
              <a:latin typeface="Calibri"/>
            </a:endParaRPr>
          </a:p>
          <a:p>
            <a:pPr lvl="3" indent="-228240">
              <a:spcBef>
                <a:spcPts val="499"/>
              </a:spcBef>
              <a:buClr>
                <a:srgbClr val="000000"/>
              </a:buClr>
              <a:buFont typeface="Arial"/>
              <a:buChar char="•"/>
            </a:pPr>
            <a:r>
              <a:rPr lang="pt-BR" sz="2400" b="0" strike="noStrike" spc="-1" dirty="0">
                <a:solidFill>
                  <a:srgbClr val="000000"/>
                </a:solidFill>
                <a:latin typeface="Calibri"/>
              </a:rPr>
              <a:t>question: </a:t>
            </a:r>
            <a:r>
              <a:rPr lang="pt-BR" sz="2400" b="0" strike="noStrike" spc="-1" dirty="0">
                <a:solidFill>
                  <a:srgbClr val="FF0000"/>
                </a:solidFill>
                <a:latin typeface="Calibri"/>
              </a:rPr>
              <a:t>how many possible IP addresses </a:t>
            </a:r>
            <a:r>
              <a:rPr lang="pt-BR" sz="2400" spc="-1" dirty="0">
                <a:solidFill>
                  <a:srgbClr val="FF0000"/>
                </a:solidFill>
                <a:latin typeface="Calibri"/>
              </a:rPr>
              <a:t>does this </a:t>
            </a:r>
            <a:r>
              <a:rPr lang="pt-BR" sz="2400" b="0" strike="noStrike" spc="-1" dirty="0">
                <a:solidFill>
                  <a:srgbClr val="FF0000"/>
                </a:solidFill>
                <a:latin typeface="Calibri"/>
              </a:rPr>
              <a:t>subnet</a:t>
            </a:r>
            <a:r>
              <a:rPr lang="pt-BR" sz="2400" spc="-1" dirty="0">
                <a:solidFill>
                  <a:srgbClr val="FF0000"/>
                </a:solidFill>
                <a:latin typeface="Calibri"/>
              </a:rPr>
              <a:t> have?</a:t>
            </a:r>
            <a:endParaRPr lang="pt-BR" sz="2400" b="0" strike="noStrike" spc="-1" dirty="0">
              <a:solidFill>
                <a:srgbClr val="FF0000"/>
              </a:solidFill>
              <a:latin typeface="Calibri"/>
            </a:endParaRPr>
          </a:p>
          <a:p>
            <a:pPr lvl="3"/>
            <a:endParaRPr lang="en-US" dirty="0"/>
          </a:p>
        </p:txBody>
      </p:sp>
    </p:spTree>
    <p:extLst>
      <p:ext uri="{BB962C8B-B14F-4D97-AF65-F5344CB8AC3E}">
        <p14:creationId xmlns:p14="http://schemas.microsoft.com/office/powerpoint/2010/main" val="2918755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261441"/>
            <a:ext cx="2840794" cy="563312"/>
          </a:xfrm>
        </p:spPr>
        <p:txBody>
          <a:bodyPr>
            <a:normAutofit/>
          </a:bodyPr>
          <a:lstStyle/>
          <a:p>
            <a:r>
              <a:rPr lang="en-US" sz="3200" b="1" dirty="0">
                <a:latin typeface="+mn-lt"/>
                <a:ea typeface="+mn-ea"/>
                <a:cs typeface="+mn-cs"/>
              </a:rPr>
              <a:t>IP Address</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2659369"/>
          </a:xfrm>
        </p:spPr>
        <p:txBody>
          <a:bodyPr>
            <a:noAutofit/>
          </a:bodyPr>
          <a:lstStyle/>
          <a:p>
            <a:pPr algn="l"/>
            <a:r>
              <a:rPr lang="en-US" sz="2400" dirty="0"/>
              <a:t>An IPv4 address has 4 bytes separated by periods.</a:t>
            </a:r>
          </a:p>
          <a:p>
            <a:pPr lvl="1"/>
            <a:r>
              <a:rPr lang="en-US" dirty="0"/>
              <a:t>t</a:t>
            </a:r>
            <a:r>
              <a:rPr lang="en-US" sz="2400" dirty="0"/>
              <a:t>he first R bits correspond to the network portion. </a:t>
            </a:r>
          </a:p>
          <a:p>
            <a:pPr lvl="1"/>
            <a:r>
              <a:rPr lang="en-US" sz="2400" dirty="0"/>
              <a:t>the remaining H bits are used for the host portion.</a:t>
            </a:r>
          </a:p>
          <a:p>
            <a:pPr lvl="1"/>
            <a:r>
              <a:rPr lang="en-US" dirty="0"/>
              <a:t>subnet mask: determines the values for R and H. </a:t>
            </a:r>
          </a:p>
          <a:p>
            <a:pPr lvl="2"/>
            <a:r>
              <a:rPr lang="en-US" sz="2400" dirty="0"/>
              <a:t>it is used to cluster IP addresses into different subnets. </a:t>
            </a:r>
          </a:p>
          <a:p>
            <a:pPr lvl="3" indent="-228240">
              <a:spcBef>
                <a:spcPts val="499"/>
              </a:spcBef>
              <a:buClr>
                <a:srgbClr val="000000"/>
              </a:buClr>
              <a:buFont typeface="Arial"/>
              <a:buChar char="•"/>
            </a:pPr>
            <a:r>
              <a:rPr lang="pt-BR" sz="2400" spc="-1" dirty="0">
                <a:solidFill>
                  <a:srgbClr val="000000"/>
                </a:solidFill>
                <a:latin typeface="Calibri"/>
              </a:rPr>
              <a:t>e</a:t>
            </a:r>
            <a:r>
              <a:rPr lang="pt-BR" sz="2400" b="0" strike="noStrike" spc="-1" dirty="0">
                <a:solidFill>
                  <a:srgbClr val="000000"/>
                </a:solidFill>
                <a:latin typeface="Calibri"/>
              </a:rPr>
              <a:t>.g., 130.95.141.192 with a subnet mask of 255.255.255.192 </a:t>
            </a:r>
            <a:endParaRPr lang="en-US" sz="2400" b="0" strike="noStrike" spc="-1" dirty="0">
              <a:solidFill>
                <a:srgbClr val="000000"/>
              </a:solidFill>
              <a:latin typeface="Calibri"/>
            </a:endParaRPr>
          </a:p>
          <a:p>
            <a:pPr lvl="3" indent="-228240">
              <a:spcBef>
                <a:spcPts val="499"/>
              </a:spcBef>
              <a:buClr>
                <a:srgbClr val="000000"/>
              </a:buClr>
              <a:buFont typeface="Arial"/>
              <a:buChar char="•"/>
            </a:pPr>
            <a:r>
              <a:rPr lang="pt-BR" sz="2400" b="0" strike="noStrike" spc="-1" dirty="0">
                <a:solidFill>
                  <a:srgbClr val="000000"/>
                </a:solidFill>
                <a:latin typeface="Calibri"/>
              </a:rPr>
              <a:t>question: </a:t>
            </a:r>
            <a:r>
              <a:rPr lang="pt-BR" sz="2400" b="0" strike="noStrike" spc="-1" dirty="0">
                <a:solidFill>
                  <a:srgbClr val="FF0000"/>
                </a:solidFill>
                <a:latin typeface="Calibri"/>
              </a:rPr>
              <a:t>how many possible </a:t>
            </a:r>
            <a:r>
              <a:rPr lang="pt-BR" sz="2400" spc="-1" dirty="0">
                <a:solidFill>
                  <a:srgbClr val="FF0000"/>
                </a:solidFill>
                <a:latin typeface="Calibri"/>
              </a:rPr>
              <a:t>IP</a:t>
            </a:r>
            <a:r>
              <a:rPr lang="pt-BR" sz="2400" b="0" strike="noStrike" spc="-1" dirty="0">
                <a:solidFill>
                  <a:srgbClr val="FF0000"/>
                </a:solidFill>
                <a:latin typeface="Calibri"/>
              </a:rPr>
              <a:t> addresses does this subnet have? </a:t>
            </a:r>
          </a:p>
          <a:p>
            <a:pPr lvl="4" indent="-228240">
              <a:spcBef>
                <a:spcPts val="499"/>
              </a:spcBef>
              <a:buClr>
                <a:srgbClr val="000000"/>
              </a:buClr>
              <a:buFont typeface="Arial"/>
              <a:buChar char="•"/>
            </a:pPr>
            <a:r>
              <a:rPr lang="pt-BR" sz="2400" b="1" strike="noStrike" spc="-1" dirty="0">
                <a:solidFill>
                  <a:srgbClr val="000000"/>
                </a:solidFill>
                <a:latin typeface="Calibri"/>
              </a:rPr>
              <a:t>CIDR notation: 130.95.141.192/26</a:t>
            </a:r>
          </a:p>
          <a:p>
            <a:pPr lvl="4" indent="-228240">
              <a:spcBef>
                <a:spcPts val="499"/>
              </a:spcBef>
              <a:buClr>
                <a:srgbClr val="000000"/>
              </a:buClr>
              <a:buFont typeface="Arial"/>
              <a:buChar char="•"/>
            </a:pPr>
            <a:r>
              <a:rPr lang="pt-BR" sz="2400" spc="-1" dirty="0">
                <a:solidFill>
                  <a:srgbClr val="000000"/>
                </a:solidFill>
                <a:latin typeface="Calibri"/>
              </a:rPr>
              <a:t>IP address number: 2^6 or </a:t>
            </a:r>
            <a:r>
              <a:rPr lang="pt-BR" sz="2400" b="0" strike="noStrike" spc="-1" dirty="0">
                <a:solidFill>
                  <a:srgbClr val="000000"/>
                </a:solidFill>
                <a:latin typeface="Calibri"/>
              </a:rPr>
              <a:t>64</a:t>
            </a:r>
            <a:endParaRPr lang="en-US" sz="2400" b="0" strike="noStrike" spc="-1" dirty="0">
              <a:solidFill>
                <a:srgbClr val="000000"/>
              </a:solidFill>
              <a:latin typeface="Calibri"/>
            </a:endParaRPr>
          </a:p>
          <a:p>
            <a:pPr lvl="3"/>
            <a:endParaRPr lang="en-US" dirty="0"/>
          </a:p>
        </p:txBody>
      </p:sp>
    </p:spTree>
    <p:extLst>
      <p:ext uri="{BB962C8B-B14F-4D97-AF65-F5344CB8AC3E}">
        <p14:creationId xmlns:p14="http://schemas.microsoft.com/office/powerpoint/2010/main" val="4247277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261441"/>
            <a:ext cx="2840794" cy="563312"/>
          </a:xfrm>
        </p:spPr>
        <p:txBody>
          <a:bodyPr>
            <a:normAutofit/>
          </a:bodyPr>
          <a:lstStyle/>
          <a:p>
            <a:r>
              <a:rPr lang="en-US" sz="3200" b="1" dirty="0">
                <a:latin typeface="+mn-lt"/>
                <a:ea typeface="+mn-ea"/>
                <a:cs typeface="+mn-cs"/>
              </a:rPr>
              <a:t>IP Address</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2659369"/>
          </a:xfrm>
        </p:spPr>
        <p:txBody>
          <a:bodyPr>
            <a:noAutofit/>
          </a:bodyPr>
          <a:lstStyle/>
          <a:p>
            <a:pPr algn="l"/>
            <a:r>
              <a:rPr lang="en-US" sz="2400" dirty="0"/>
              <a:t>An IPv4 address has 4 bytes separated by periods.</a:t>
            </a:r>
          </a:p>
          <a:p>
            <a:pPr lvl="1"/>
            <a:r>
              <a:rPr lang="en-AU" dirty="0"/>
              <a:t>e.g.,: 192.168.1.10</a:t>
            </a:r>
          </a:p>
          <a:p>
            <a:pPr lvl="1"/>
            <a:r>
              <a:rPr lang="en-US" dirty="0"/>
              <a:t>t</a:t>
            </a:r>
            <a:r>
              <a:rPr lang="en-US" sz="2400" dirty="0"/>
              <a:t>he first R bits correspond to the network portion. </a:t>
            </a:r>
          </a:p>
          <a:p>
            <a:pPr lvl="1"/>
            <a:r>
              <a:rPr lang="en-US" sz="2400" dirty="0"/>
              <a:t>the remaining H bits are used for the host portion.</a:t>
            </a:r>
          </a:p>
          <a:p>
            <a:pPr lvl="1"/>
            <a:r>
              <a:rPr lang="en-US" dirty="0"/>
              <a:t>subnet mask: determines the values for R and H. </a:t>
            </a:r>
          </a:p>
          <a:p>
            <a:pPr lvl="2"/>
            <a:r>
              <a:rPr lang="en-US" sz="2400" dirty="0"/>
              <a:t>it is used to cluster IP addresses into different subnets. </a:t>
            </a:r>
          </a:p>
          <a:p>
            <a:pPr lvl="3" indent="-228240">
              <a:spcBef>
                <a:spcPts val="499"/>
              </a:spcBef>
              <a:buClr>
                <a:srgbClr val="000000"/>
              </a:buClr>
              <a:buFont typeface="Arial"/>
              <a:buChar char="•"/>
            </a:pPr>
            <a:r>
              <a:rPr lang="pt-BR" sz="2400" spc="-1" dirty="0">
                <a:solidFill>
                  <a:srgbClr val="000000"/>
                </a:solidFill>
                <a:latin typeface="Calibri"/>
              </a:rPr>
              <a:t>e</a:t>
            </a:r>
            <a:r>
              <a:rPr lang="pt-BR" sz="2400" b="0" strike="noStrike" spc="-1" dirty="0">
                <a:solidFill>
                  <a:srgbClr val="000000"/>
                </a:solidFill>
                <a:latin typeface="Calibri"/>
              </a:rPr>
              <a:t>.g., 130.95.141.192 with a subnet mask of 255.255.255.192 </a:t>
            </a:r>
            <a:endParaRPr lang="en-US" sz="2400" b="0" strike="noStrike" spc="-1" dirty="0">
              <a:solidFill>
                <a:srgbClr val="000000"/>
              </a:solidFill>
              <a:latin typeface="Calibri"/>
            </a:endParaRPr>
          </a:p>
          <a:p>
            <a:pPr lvl="3" indent="-228240">
              <a:spcBef>
                <a:spcPts val="499"/>
              </a:spcBef>
              <a:buClr>
                <a:srgbClr val="000000"/>
              </a:buClr>
              <a:buFont typeface="Arial"/>
              <a:buChar char="•"/>
            </a:pPr>
            <a:r>
              <a:rPr lang="pt-BR" sz="2400" b="0" strike="noStrike" spc="-1" dirty="0">
                <a:solidFill>
                  <a:srgbClr val="000000"/>
                </a:solidFill>
                <a:latin typeface="Calibri"/>
              </a:rPr>
              <a:t>question: </a:t>
            </a:r>
            <a:r>
              <a:rPr lang="pt-BR" sz="2400" b="0" strike="noStrike" spc="-1" dirty="0">
                <a:solidFill>
                  <a:srgbClr val="FF0000"/>
                </a:solidFill>
                <a:latin typeface="Calibri"/>
              </a:rPr>
              <a:t>how many possible </a:t>
            </a:r>
            <a:r>
              <a:rPr lang="en-US" altLang="zh-CN" sz="2400" spc="-1" dirty="0">
                <a:solidFill>
                  <a:srgbClr val="FF0000"/>
                </a:solidFill>
                <a:latin typeface="Calibri"/>
              </a:rPr>
              <a:t>hosts </a:t>
            </a:r>
            <a:r>
              <a:rPr lang="pt-BR" sz="2400" b="0" strike="noStrike" spc="-1" dirty="0">
                <a:solidFill>
                  <a:srgbClr val="FF0000"/>
                </a:solidFill>
                <a:latin typeface="Calibri"/>
              </a:rPr>
              <a:t>does this subnet have? </a:t>
            </a:r>
          </a:p>
          <a:p>
            <a:pPr lvl="4" indent="-228240">
              <a:spcBef>
                <a:spcPts val="499"/>
              </a:spcBef>
              <a:buClr>
                <a:srgbClr val="000000"/>
              </a:buClr>
              <a:buFont typeface="Arial"/>
              <a:buChar char="•"/>
            </a:pPr>
            <a:r>
              <a:rPr lang="pt-BR" sz="2400" b="0" strike="noStrike" spc="-1" dirty="0">
                <a:solidFill>
                  <a:srgbClr val="000000"/>
                </a:solidFill>
                <a:latin typeface="Calibri"/>
              </a:rPr>
              <a:t>CIDR notation: 130.95.141.192/26</a:t>
            </a:r>
          </a:p>
          <a:p>
            <a:pPr lvl="3"/>
            <a:endParaRPr lang="en-US" dirty="0"/>
          </a:p>
        </p:txBody>
      </p:sp>
    </p:spTree>
    <p:extLst>
      <p:ext uri="{BB962C8B-B14F-4D97-AF65-F5344CB8AC3E}">
        <p14:creationId xmlns:p14="http://schemas.microsoft.com/office/powerpoint/2010/main" val="1916477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261441"/>
            <a:ext cx="2840794" cy="563312"/>
          </a:xfrm>
        </p:spPr>
        <p:txBody>
          <a:bodyPr>
            <a:normAutofit/>
          </a:bodyPr>
          <a:lstStyle/>
          <a:p>
            <a:r>
              <a:rPr lang="en-US" sz="3200" b="1" dirty="0">
                <a:latin typeface="+mn-lt"/>
                <a:ea typeface="+mn-ea"/>
                <a:cs typeface="+mn-cs"/>
              </a:rPr>
              <a:t>IP Address</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2659369"/>
          </a:xfrm>
        </p:spPr>
        <p:txBody>
          <a:bodyPr>
            <a:noAutofit/>
          </a:bodyPr>
          <a:lstStyle/>
          <a:p>
            <a:pPr algn="l"/>
            <a:r>
              <a:rPr lang="en-US" sz="2400" dirty="0"/>
              <a:t>An IPv4 address has 4 bytes separated by periods.</a:t>
            </a:r>
          </a:p>
          <a:p>
            <a:pPr lvl="1"/>
            <a:r>
              <a:rPr lang="en-AU" dirty="0"/>
              <a:t>e.g.,: 192.168.1.10</a:t>
            </a:r>
          </a:p>
          <a:p>
            <a:pPr lvl="1"/>
            <a:r>
              <a:rPr lang="en-US" dirty="0"/>
              <a:t>t</a:t>
            </a:r>
            <a:r>
              <a:rPr lang="en-US" sz="2400" dirty="0"/>
              <a:t>he first R bits correspond to the network portion. </a:t>
            </a:r>
          </a:p>
          <a:p>
            <a:pPr lvl="1"/>
            <a:r>
              <a:rPr lang="en-US" sz="2400" dirty="0"/>
              <a:t>the remaining H bits are used for the host portion.</a:t>
            </a:r>
          </a:p>
          <a:p>
            <a:pPr lvl="1"/>
            <a:r>
              <a:rPr lang="en-US" dirty="0"/>
              <a:t>subnet mask: determines the values for R and H. </a:t>
            </a:r>
          </a:p>
          <a:p>
            <a:pPr lvl="2"/>
            <a:r>
              <a:rPr lang="en-US" sz="2400" dirty="0"/>
              <a:t>it is used to cluster IP addresses into different subnets. </a:t>
            </a:r>
          </a:p>
          <a:p>
            <a:pPr lvl="3" indent="-228240">
              <a:spcBef>
                <a:spcPts val="499"/>
              </a:spcBef>
              <a:buClr>
                <a:srgbClr val="000000"/>
              </a:buClr>
              <a:buFont typeface="Arial"/>
              <a:buChar char="•"/>
            </a:pPr>
            <a:r>
              <a:rPr lang="pt-BR" sz="2400" spc="-1" dirty="0">
                <a:solidFill>
                  <a:srgbClr val="000000"/>
                </a:solidFill>
                <a:latin typeface="Calibri"/>
              </a:rPr>
              <a:t>e</a:t>
            </a:r>
            <a:r>
              <a:rPr lang="pt-BR" sz="2400" b="0" strike="noStrike" spc="-1" dirty="0">
                <a:solidFill>
                  <a:srgbClr val="000000"/>
                </a:solidFill>
                <a:latin typeface="Calibri"/>
              </a:rPr>
              <a:t>.g., 130.95.141.192 with a subnet mask of 255.255.255.192 </a:t>
            </a:r>
            <a:endParaRPr lang="en-US" sz="2400" b="0" strike="noStrike" spc="-1" dirty="0">
              <a:solidFill>
                <a:srgbClr val="000000"/>
              </a:solidFill>
              <a:latin typeface="Calibri"/>
            </a:endParaRPr>
          </a:p>
          <a:p>
            <a:pPr lvl="3" indent="-228240">
              <a:spcBef>
                <a:spcPts val="499"/>
              </a:spcBef>
              <a:buClr>
                <a:srgbClr val="000000"/>
              </a:buClr>
              <a:buFont typeface="Arial"/>
              <a:buChar char="•"/>
            </a:pPr>
            <a:r>
              <a:rPr lang="pt-BR" sz="2400" b="0" strike="noStrike" spc="-1" dirty="0">
                <a:solidFill>
                  <a:srgbClr val="000000"/>
                </a:solidFill>
                <a:latin typeface="Calibri"/>
              </a:rPr>
              <a:t>question: </a:t>
            </a:r>
            <a:r>
              <a:rPr lang="pt-BR" sz="2400" b="0" strike="noStrike" spc="-1" dirty="0">
                <a:solidFill>
                  <a:srgbClr val="FF0000"/>
                </a:solidFill>
                <a:latin typeface="Calibri"/>
              </a:rPr>
              <a:t>how many possible </a:t>
            </a:r>
            <a:r>
              <a:rPr lang="en-US" altLang="zh-CN" sz="2400" spc="-1" dirty="0">
                <a:solidFill>
                  <a:srgbClr val="FF0000"/>
                </a:solidFill>
                <a:latin typeface="Calibri"/>
              </a:rPr>
              <a:t>hosts </a:t>
            </a:r>
            <a:r>
              <a:rPr lang="pt-BR" sz="2400" b="0" strike="noStrike" spc="-1" dirty="0">
                <a:solidFill>
                  <a:srgbClr val="FF0000"/>
                </a:solidFill>
                <a:latin typeface="Calibri"/>
              </a:rPr>
              <a:t>does this subnet have? </a:t>
            </a:r>
          </a:p>
          <a:p>
            <a:pPr lvl="4" indent="-228240">
              <a:spcBef>
                <a:spcPts val="499"/>
              </a:spcBef>
              <a:buClr>
                <a:srgbClr val="000000"/>
              </a:buClr>
              <a:buFont typeface="Arial"/>
              <a:buChar char="•"/>
            </a:pPr>
            <a:r>
              <a:rPr lang="pt-BR" sz="2400" b="0" strike="noStrike" spc="-1" dirty="0">
                <a:solidFill>
                  <a:srgbClr val="000000"/>
                </a:solidFill>
                <a:latin typeface="Calibri"/>
              </a:rPr>
              <a:t>CIDR notation: 130.95.141.192/26</a:t>
            </a:r>
          </a:p>
          <a:p>
            <a:pPr lvl="4" indent="-228240">
              <a:spcBef>
                <a:spcPts val="499"/>
              </a:spcBef>
              <a:buClr>
                <a:srgbClr val="000000"/>
              </a:buClr>
              <a:buFont typeface="Arial"/>
              <a:buChar char="•"/>
            </a:pPr>
            <a:r>
              <a:rPr lang="en-US" sz="2400" dirty="0"/>
              <a:t>Host number: 62 (Network address </a:t>
            </a:r>
            <a:r>
              <a:rPr lang="en-AU" sz="2400" dirty="0"/>
              <a:t>and broadcast address cannot be assigned to hosts).</a:t>
            </a:r>
          </a:p>
          <a:p>
            <a:pPr lvl="4" indent="-228240">
              <a:spcBef>
                <a:spcPts val="499"/>
              </a:spcBef>
              <a:buClr>
                <a:srgbClr val="000000"/>
              </a:buClr>
              <a:buFont typeface="Arial"/>
              <a:buChar char="•"/>
            </a:pPr>
            <a:r>
              <a:rPr lang="en-AU" sz="2400" strike="noStrike" spc="-1" dirty="0">
                <a:solidFill>
                  <a:srgbClr val="000000"/>
                </a:solidFill>
                <a:latin typeface="Calibri"/>
              </a:rPr>
              <a:t>Network address: </a:t>
            </a:r>
            <a:r>
              <a:rPr lang="en-AU" sz="2400" dirty="0"/>
              <a:t>130.95.141.192</a:t>
            </a:r>
          </a:p>
          <a:p>
            <a:pPr lvl="4" indent="-228240">
              <a:spcBef>
                <a:spcPts val="499"/>
              </a:spcBef>
              <a:buClr>
                <a:srgbClr val="000000"/>
              </a:buClr>
              <a:buFont typeface="Arial"/>
              <a:buChar char="•"/>
            </a:pPr>
            <a:r>
              <a:rPr lang="en-AU" sz="2400" spc="-1" dirty="0">
                <a:solidFill>
                  <a:srgbClr val="000000"/>
                </a:solidFill>
                <a:latin typeface="Calibri"/>
              </a:rPr>
              <a:t>Broadcast address: </a:t>
            </a:r>
            <a:r>
              <a:rPr lang="en-AU" sz="2400" dirty="0"/>
              <a:t>130.95.141.255</a:t>
            </a:r>
            <a:endParaRPr lang="pt-BR" sz="2400" strike="noStrike" spc="-1" dirty="0">
              <a:solidFill>
                <a:srgbClr val="000000"/>
              </a:solidFill>
              <a:latin typeface="Calibri"/>
            </a:endParaRPr>
          </a:p>
          <a:p>
            <a:pPr lvl="3"/>
            <a:endParaRPr lang="en-US" dirty="0"/>
          </a:p>
        </p:txBody>
      </p:sp>
    </p:spTree>
    <p:extLst>
      <p:ext uri="{BB962C8B-B14F-4D97-AF65-F5344CB8AC3E}">
        <p14:creationId xmlns:p14="http://schemas.microsoft.com/office/powerpoint/2010/main" val="2245521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573481-3EBB-4E13-93D6-1974C44C85F9}"/>
              </a:ext>
            </a:extLst>
          </p:cNvPr>
          <p:cNvSpPr txBox="1">
            <a:spLocks/>
          </p:cNvSpPr>
          <p:nvPr/>
        </p:nvSpPr>
        <p:spPr>
          <a:xfrm>
            <a:off x="479347" y="211826"/>
            <a:ext cx="6834192" cy="66642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latin typeface="+mn-lt"/>
                <a:ea typeface="+mn-ea"/>
                <a:cs typeface="+mn-cs"/>
              </a:rPr>
              <a:t>CIDR </a:t>
            </a:r>
            <a:r>
              <a:rPr lang="en-AU" sz="3200" b="1" dirty="0">
                <a:latin typeface="+mn-lt"/>
                <a:ea typeface="+mn-ea"/>
                <a:cs typeface="+mn-cs"/>
              </a:rPr>
              <a:t>Practice</a:t>
            </a:r>
            <a:endParaRPr lang="en-US" sz="3200" b="1" dirty="0">
              <a:latin typeface="+mn-lt"/>
              <a:ea typeface="+mn-ea"/>
              <a:cs typeface="+mn-cs"/>
            </a:endParaRPr>
          </a:p>
        </p:txBody>
      </p:sp>
      <p:sp>
        <p:nvSpPr>
          <p:cNvPr id="5" name="Content Placeholder 2">
            <a:extLst>
              <a:ext uri="{FF2B5EF4-FFF2-40B4-BE49-F238E27FC236}">
                <a16:creationId xmlns:a16="http://schemas.microsoft.com/office/drawing/2014/main" id="{270DB67F-205C-4F61-9C61-9802DC16F050}"/>
              </a:ext>
            </a:extLst>
          </p:cNvPr>
          <p:cNvSpPr txBox="1">
            <a:spLocks/>
          </p:cNvSpPr>
          <p:nvPr/>
        </p:nvSpPr>
        <p:spPr>
          <a:xfrm>
            <a:off x="379828" y="878254"/>
            <a:ext cx="11432344" cy="130256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hr-HR" sz="2400" b="0" strike="noStrike" spc="-1" dirty="0">
                <a:solidFill>
                  <a:srgbClr val="000000"/>
                </a:solidFill>
                <a:latin typeface="Calibri"/>
              </a:rPr>
              <a:t>A: 172.16.17.30/20 </a:t>
            </a:r>
            <a:endParaRPr lang="en-US" sz="2400" spc="-1" dirty="0">
              <a:solidFill>
                <a:srgbClr val="000000"/>
              </a:solidFill>
              <a:latin typeface="Calibri"/>
            </a:endParaRPr>
          </a:p>
          <a:p>
            <a:pPr fontAlgn="auto">
              <a:spcAft>
                <a:spcPts val="0"/>
              </a:spcAft>
              <a:buClrTx/>
              <a:buSzTx/>
            </a:pPr>
            <a:r>
              <a:rPr lang="hr-HR" sz="2400" b="0" strike="noStrike" spc="-1" dirty="0">
                <a:solidFill>
                  <a:srgbClr val="000000"/>
                </a:solidFill>
                <a:latin typeface="Calibri"/>
              </a:rPr>
              <a:t>B: 172.16.28.15/20</a:t>
            </a:r>
            <a:endParaRPr lang="en-AU" sz="2400" b="0" strike="noStrike" spc="-1" dirty="0">
              <a:solidFill>
                <a:srgbClr val="000000"/>
              </a:solidFill>
              <a:latin typeface="Calibri"/>
            </a:endParaRPr>
          </a:p>
          <a:p>
            <a:pPr fontAlgn="auto">
              <a:spcAft>
                <a:spcPts val="0"/>
              </a:spcAft>
              <a:buClrTx/>
              <a:buSzTx/>
            </a:pPr>
            <a:r>
              <a:rPr kumimoji="0" lang="en-US" sz="2400" b="0" i="0" u="none" strike="noStrike" kern="1200" cap="none" spc="-1" normalizeH="0" baseline="0" noProof="0" dirty="0">
                <a:ln>
                  <a:noFill/>
                </a:ln>
                <a:solidFill>
                  <a:srgbClr val="000000"/>
                </a:solidFill>
                <a:effectLst/>
                <a:uLnTx/>
                <a:uFillTx/>
                <a:latin typeface="Calibri"/>
                <a:ea typeface="+mn-ea"/>
                <a:cs typeface="+mn-cs"/>
              </a:rPr>
              <a:t>Question: </a:t>
            </a:r>
            <a:r>
              <a:rPr lang="en-US" sz="2400" spc="-1" dirty="0">
                <a:solidFill>
                  <a:srgbClr val="FF0000"/>
                </a:solidFill>
                <a:latin typeface="Calibri"/>
              </a:rPr>
              <a:t>Is B in </a:t>
            </a:r>
            <a:r>
              <a:rPr kumimoji="0" lang="en-US" sz="2400" b="0" i="0" u="none" strike="noStrike" kern="1200" cap="none" spc="-1" normalizeH="0" baseline="0" noProof="0" dirty="0">
                <a:ln>
                  <a:noFill/>
                </a:ln>
                <a:solidFill>
                  <a:srgbClr val="FF0000"/>
                </a:solidFill>
                <a:effectLst/>
                <a:uLnTx/>
                <a:uFillTx/>
                <a:latin typeface="Calibri"/>
                <a:ea typeface="+mn-ea"/>
                <a:cs typeface="+mn-cs"/>
              </a:rPr>
              <a:t>the same subnet with A? </a:t>
            </a:r>
            <a:r>
              <a:rPr kumimoji="0" lang="en-US" sz="2400" b="0" i="0" u="none" strike="noStrike" kern="1200" cap="none" spc="-1" normalizeH="0" baseline="0" noProof="0" dirty="0">
                <a:ln>
                  <a:noFill/>
                </a:ln>
                <a:effectLst/>
                <a:uLnTx/>
                <a:uFillTx/>
                <a:latin typeface="Calibri"/>
                <a:ea typeface="+mn-ea"/>
                <a:cs typeface="+mn-cs"/>
              </a:rPr>
              <a:t>Justify your answer</a:t>
            </a:r>
            <a:endParaRPr lang="en-US" sz="2400" spc="-1" dirty="0">
              <a:latin typeface="Calibri"/>
            </a:endParaRPr>
          </a:p>
          <a:p>
            <a:pPr fontAlgn="auto">
              <a:spcAft>
                <a:spcPts val="0"/>
              </a:spcAft>
              <a:buClrTx/>
              <a:buSzTx/>
            </a:pPr>
            <a:endParaRPr lang="en-US" sz="2400" b="0" strike="noStrike" spc="-1" dirty="0">
              <a:solidFill>
                <a:srgbClr val="000000"/>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573481-3EBB-4E13-93D6-1974C44C85F9}"/>
              </a:ext>
            </a:extLst>
          </p:cNvPr>
          <p:cNvSpPr txBox="1">
            <a:spLocks/>
          </p:cNvSpPr>
          <p:nvPr/>
        </p:nvSpPr>
        <p:spPr>
          <a:xfrm>
            <a:off x="479347" y="211826"/>
            <a:ext cx="6834192" cy="502278"/>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latin typeface="+mn-lt"/>
                <a:ea typeface="+mn-ea"/>
                <a:cs typeface="+mn-cs"/>
              </a:rPr>
              <a:t>CIDR </a:t>
            </a:r>
            <a:r>
              <a:rPr lang="en-AU" sz="3200" b="1" dirty="0">
                <a:latin typeface="+mn-lt"/>
                <a:ea typeface="+mn-ea"/>
                <a:cs typeface="+mn-cs"/>
              </a:rPr>
              <a:t>Practice</a:t>
            </a:r>
            <a:endParaRPr lang="en-US" sz="3200" b="1" dirty="0">
              <a:latin typeface="+mn-lt"/>
              <a:ea typeface="+mn-ea"/>
              <a:cs typeface="+mn-cs"/>
            </a:endParaRPr>
          </a:p>
        </p:txBody>
      </p:sp>
      <p:sp>
        <p:nvSpPr>
          <p:cNvPr id="5" name="Content Placeholder 2">
            <a:extLst>
              <a:ext uri="{FF2B5EF4-FFF2-40B4-BE49-F238E27FC236}">
                <a16:creationId xmlns:a16="http://schemas.microsoft.com/office/drawing/2014/main" id="{270DB67F-205C-4F61-9C61-9802DC16F050}"/>
              </a:ext>
            </a:extLst>
          </p:cNvPr>
          <p:cNvSpPr txBox="1">
            <a:spLocks/>
          </p:cNvSpPr>
          <p:nvPr/>
        </p:nvSpPr>
        <p:spPr>
          <a:xfrm>
            <a:off x="479347" y="729249"/>
            <a:ext cx="11432344" cy="130256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sz="2400" b="0" strike="noStrike" spc="-1" dirty="0">
                <a:solidFill>
                  <a:srgbClr val="000000"/>
                </a:solidFill>
                <a:ea typeface="Courier New"/>
              </a:rPr>
              <a:t>For A: </a:t>
            </a:r>
          </a:p>
          <a:p>
            <a:pPr lvl="1" fontAlgn="auto">
              <a:spcAft>
                <a:spcPts val="0"/>
              </a:spcAft>
              <a:buClrTx/>
              <a:buSzTx/>
            </a:pPr>
            <a:r>
              <a:rPr lang="en-US" sz="2000" b="0" strike="noStrike" spc="-1" dirty="0">
                <a:solidFill>
                  <a:srgbClr val="000000"/>
                </a:solidFill>
                <a:ea typeface="Courier New"/>
              </a:rPr>
              <a:t>IP address: 172.16.17.30:        10101100.00010000.00010001.00011110 </a:t>
            </a:r>
            <a:endParaRPr lang="en-US" sz="2000" spc="-1" dirty="0">
              <a:solidFill>
                <a:srgbClr val="000000"/>
              </a:solidFill>
            </a:endParaRPr>
          </a:p>
          <a:p>
            <a:pPr lvl="1" fontAlgn="auto">
              <a:spcAft>
                <a:spcPts val="0"/>
              </a:spcAft>
              <a:buClrTx/>
              <a:buSzTx/>
            </a:pPr>
            <a:r>
              <a:rPr lang="en-US" sz="2000" b="0" strike="noStrike" spc="-1" dirty="0">
                <a:solidFill>
                  <a:srgbClr val="000000"/>
                </a:solidFill>
                <a:ea typeface="Courier New"/>
              </a:rPr>
              <a:t>Subnet mask</a:t>
            </a:r>
            <a:r>
              <a:rPr lang="en-US" sz="2000" spc="-1" dirty="0">
                <a:solidFill>
                  <a:srgbClr val="000000"/>
                </a:solidFill>
              </a:rPr>
              <a:t>: 255.255.240.0: </a:t>
            </a:r>
            <a:r>
              <a:rPr lang="en-US" sz="2000" b="1" spc="-1" dirty="0">
                <a:solidFill>
                  <a:srgbClr val="000000"/>
                </a:solidFill>
              </a:rPr>
              <a:t>11111111.11111111.1111</a:t>
            </a:r>
            <a:r>
              <a:rPr lang="en-US" sz="2000" spc="-1" dirty="0">
                <a:solidFill>
                  <a:srgbClr val="000000"/>
                </a:solidFill>
              </a:rPr>
              <a:t>0000.00000000 </a:t>
            </a:r>
          </a:p>
          <a:p>
            <a:pPr lvl="1" fontAlgn="auto">
              <a:spcAft>
                <a:spcPts val="0"/>
              </a:spcAft>
              <a:buClrTx/>
              <a:buSzTx/>
            </a:pPr>
            <a:r>
              <a:rPr lang="en-US" sz="2000" spc="-1" dirty="0">
                <a:solidFill>
                  <a:srgbClr val="000000"/>
                </a:solidFill>
              </a:rPr>
              <a:t>Network portion for this subnet can be done via</a:t>
            </a:r>
            <a:r>
              <a:rPr lang="en-US" sz="2000" b="0" strike="noStrike" spc="-1" dirty="0">
                <a:solidFill>
                  <a:srgbClr val="000000"/>
                </a:solidFill>
                <a:latin typeface="Calibri"/>
              </a:rPr>
              <a:t> a bitwise AND on the IP address and subnet mask</a:t>
            </a:r>
          </a:p>
          <a:p>
            <a:pPr lvl="2" fontAlgn="auto">
              <a:spcAft>
                <a:spcPts val="0"/>
              </a:spcAft>
              <a:buClrTx/>
              <a:buSzTx/>
            </a:pPr>
            <a:r>
              <a:rPr lang="en-US" b="0" strike="noStrike" spc="-1" dirty="0">
                <a:solidFill>
                  <a:srgbClr val="000000"/>
                </a:solidFill>
                <a:ea typeface="Courier New"/>
              </a:rPr>
              <a:t>172.16.17.30:    10101100.00010000.00010001.00011110 </a:t>
            </a:r>
            <a:endParaRPr lang="en-US" spc="-1" dirty="0">
              <a:solidFill>
                <a:srgbClr val="000000"/>
              </a:solidFill>
            </a:endParaRPr>
          </a:p>
          <a:p>
            <a:pPr lvl="2" fontAlgn="auto">
              <a:spcAft>
                <a:spcPts val="0"/>
              </a:spcAft>
              <a:buClrTx/>
              <a:buSzTx/>
            </a:pPr>
            <a:r>
              <a:rPr lang="en-US" b="0" strike="noStrike" spc="-1" dirty="0">
                <a:solidFill>
                  <a:srgbClr val="000000"/>
                </a:solidFill>
                <a:ea typeface="Courier New"/>
              </a:rPr>
              <a:t>255.255.240.0:  11111111.11111111.11110000.00000000 </a:t>
            </a:r>
            <a:endParaRPr lang="en-US" sz="2800" spc="-1" dirty="0">
              <a:solidFill>
                <a:srgbClr val="000000"/>
              </a:solidFill>
            </a:endParaRPr>
          </a:p>
          <a:p>
            <a:pPr marL="2286000" lvl="5" indent="0">
              <a:buNone/>
            </a:pPr>
            <a:r>
              <a:rPr lang="en-US" b="0" strike="noStrike" spc="-1" dirty="0">
                <a:solidFill>
                  <a:srgbClr val="000000"/>
                </a:solidFill>
                <a:ea typeface="Courier New"/>
              </a:rPr>
              <a:t>	 -------------------------|AND|---------------------------</a:t>
            </a:r>
            <a:endParaRPr lang="en-US" sz="2800" spc="-1" dirty="0">
              <a:solidFill>
                <a:srgbClr val="000000"/>
              </a:solidFill>
            </a:endParaRPr>
          </a:p>
          <a:p>
            <a:pPr marL="1144800" lvl="5"/>
            <a:r>
              <a:rPr lang="en-US" sz="2000" b="0" strike="noStrike" spc="-1" dirty="0">
                <a:solidFill>
                  <a:srgbClr val="000000"/>
                </a:solidFill>
                <a:ea typeface="Courier New"/>
              </a:rPr>
              <a:t>                             10101100.00010000.00010000.00000000 = </a:t>
            </a:r>
            <a:r>
              <a:rPr lang="en-US" sz="2000" b="1" strike="noStrike" spc="-1" dirty="0">
                <a:solidFill>
                  <a:srgbClr val="000000"/>
                </a:solidFill>
                <a:ea typeface="Courier New"/>
              </a:rPr>
              <a:t>172.16.16.0</a:t>
            </a:r>
            <a:endParaRPr lang="en-US" sz="2000" spc="-1" dirty="0">
              <a:solidFill>
                <a:srgbClr val="000000"/>
              </a:solidFill>
            </a:endParaRPr>
          </a:p>
          <a:p>
            <a:pPr fontAlgn="auto">
              <a:spcAft>
                <a:spcPts val="0"/>
              </a:spcAft>
              <a:buClrTx/>
              <a:buSzTx/>
            </a:pPr>
            <a:r>
              <a:rPr lang="en-US" sz="2400" b="0" strike="noStrike" spc="-1" dirty="0">
                <a:solidFill>
                  <a:srgbClr val="000000"/>
                </a:solidFill>
                <a:ea typeface="Courier New"/>
              </a:rPr>
              <a:t>For B: </a:t>
            </a:r>
          </a:p>
          <a:p>
            <a:pPr lvl="1" fontAlgn="auto">
              <a:spcAft>
                <a:spcPts val="0"/>
              </a:spcAft>
              <a:buClrTx/>
              <a:buSzTx/>
            </a:pPr>
            <a:r>
              <a:rPr lang="en-US" sz="2000" b="0" strike="noStrike" spc="-1" dirty="0">
                <a:solidFill>
                  <a:srgbClr val="000000"/>
                </a:solidFill>
                <a:ea typeface="Courier New"/>
              </a:rPr>
              <a:t>IP address: 172.16.28.15:        10101100.00010000.00011100.00001111 </a:t>
            </a:r>
            <a:endParaRPr lang="en-US" sz="2000" spc="-1" dirty="0">
              <a:solidFill>
                <a:srgbClr val="000000"/>
              </a:solidFill>
            </a:endParaRPr>
          </a:p>
          <a:p>
            <a:pPr lvl="1" fontAlgn="auto">
              <a:spcAft>
                <a:spcPts val="0"/>
              </a:spcAft>
              <a:buClrTx/>
              <a:buSzTx/>
            </a:pPr>
            <a:r>
              <a:rPr lang="en-US" sz="2000" b="0" strike="noStrike" spc="-1" dirty="0">
                <a:solidFill>
                  <a:srgbClr val="000000"/>
                </a:solidFill>
                <a:ea typeface="Courier New"/>
              </a:rPr>
              <a:t>Subnet mask</a:t>
            </a:r>
            <a:r>
              <a:rPr lang="en-US" sz="2000" spc="-1" dirty="0">
                <a:solidFill>
                  <a:srgbClr val="000000"/>
                </a:solidFill>
              </a:rPr>
              <a:t>: 255.255.240.0: </a:t>
            </a:r>
            <a:r>
              <a:rPr lang="en-US" sz="2000" b="1" spc="-1" dirty="0">
                <a:solidFill>
                  <a:srgbClr val="000000"/>
                </a:solidFill>
              </a:rPr>
              <a:t>11111111.11111111.1111</a:t>
            </a:r>
            <a:r>
              <a:rPr lang="en-US" sz="2000" spc="-1" dirty="0">
                <a:solidFill>
                  <a:srgbClr val="000000"/>
                </a:solidFill>
              </a:rPr>
              <a:t>0000.00000000 </a:t>
            </a:r>
          </a:p>
          <a:p>
            <a:pPr lvl="1" fontAlgn="auto">
              <a:spcAft>
                <a:spcPts val="0"/>
              </a:spcAft>
              <a:buClrTx/>
              <a:buSzTx/>
            </a:pPr>
            <a:r>
              <a:rPr lang="en-US" sz="2000" spc="-1" dirty="0">
                <a:solidFill>
                  <a:srgbClr val="000000"/>
                </a:solidFill>
              </a:rPr>
              <a:t>Network portion for this subnet can be done via</a:t>
            </a:r>
            <a:r>
              <a:rPr lang="en-US" sz="2000" b="0" strike="noStrike" spc="-1" dirty="0">
                <a:solidFill>
                  <a:srgbClr val="000000"/>
                </a:solidFill>
                <a:latin typeface="Calibri"/>
              </a:rPr>
              <a:t> a bitwise AND on the IP address and subnet mask</a:t>
            </a:r>
          </a:p>
          <a:p>
            <a:pPr lvl="2" fontAlgn="auto">
              <a:spcAft>
                <a:spcPts val="0"/>
              </a:spcAft>
              <a:buClrTx/>
              <a:buSzTx/>
            </a:pPr>
            <a:r>
              <a:rPr lang="en-US" b="0" strike="noStrike" spc="-1" dirty="0">
                <a:solidFill>
                  <a:srgbClr val="000000"/>
                </a:solidFill>
                <a:ea typeface="Courier New"/>
              </a:rPr>
              <a:t>172.16.28.15:    </a:t>
            </a:r>
            <a:r>
              <a:rPr lang="en-US" sz="2000" b="0" strike="noStrike" spc="-1" dirty="0">
                <a:solidFill>
                  <a:srgbClr val="000000"/>
                </a:solidFill>
                <a:ea typeface="Courier New"/>
              </a:rPr>
              <a:t>10101100.00010000.00011100.00001111</a:t>
            </a:r>
            <a:r>
              <a:rPr lang="en-US" b="0" strike="noStrike" spc="-1" dirty="0">
                <a:solidFill>
                  <a:srgbClr val="000000"/>
                </a:solidFill>
                <a:ea typeface="Courier New"/>
              </a:rPr>
              <a:t> </a:t>
            </a:r>
            <a:endParaRPr lang="en-US" spc="-1" dirty="0">
              <a:solidFill>
                <a:srgbClr val="000000"/>
              </a:solidFill>
            </a:endParaRPr>
          </a:p>
          <a:p>
            <a:pPr lvl="2" fontAlgn="auto">
              <a:spcAft>
                <a:spcPts val="0"/>
              </a:spcAft>
              <a:buClrTx/>
              <a:buSzTx/>
            </a:pPr>
            <a:r>
              <a:rPr lang="en-US" b="0" strike="noStrike" spc="-1" dirty="0">
                <a:solidFill>
                  <a:srgbClr val="000000"/>
                </a:solidFill>
                <a:ea typeface="Courier New"/>
              </a:rPr>
              <a:t>255.255.240.0:  11111111.11111111.11110000.00000000 </a:t>
            </a:r>
            <a:endParaRPr lang="en-US" sz="2800" spc="-1" dirty="0">
              <a:solidFill>
                <a:srgbClr val="000000"/>
              </a:solidFill>
            </a:endParaRPr>
          </a:p>
          <a:p>
            <a:pPr marL="2286000" lvl="5" indent="0">
              <a:buNone/>
            </a:pPr>
            <a:r>
              <a:rPr lang="en-US" b="0" strike="noStrike" spc="-1" dirty="0">
                <a:solidFill>
                  <a:srgbClr val="000000"/>
                </a:solidFill>
                <a:ea typeface="Courier New"/>
              </a:rPr>
              <a:t>	 -------------------------|AND|---------------------------</a:t>
            </a:r>
            <a:endParaRPr lang="en-US" sz="2800" spc="-1" dirty="0">
              <a:solidFill>
                <a:srgbClr val="000000"/>
              </a:solidFill>
            </a:endParaRPr>
          </a:p>
          <a:p>
            <a:pPr marL="1144800" lvl="5"/>
            <a:r>
              <a:rPr lang="en-US" sz="2000" b="0" strike="noStrike" spc="-1" dirty="0">
                <a:solidFill>
                  <a:srgbClr val="000000"/>
                </a:solidFill>
                <a:ea typeface="Courier New"/>
              </a:rPr>
              <a:t>                             10101100.00010000.00010000.00000000 = </a:t>
            </a:r>
            <a:r>
              <a:rPr lang="en-US" sz="2000" b="1" strike="noStrike" spc="-1" dirty="0">
                <a:solidFill>
                  <a:srgbClr val="000000"/>
                </a:solidFill>
                <a:ea typeface="Courier New"/>
              </a:rPr>
              <a:t>172.16.16.0</a:t>
            </a:r>
            <a:endParaRPr lang="en-US" sz="2000" spc="-1" dirty="0">
              <a:solidFill>
                <a:srgbClr val="000000"/>
              </a:solidFill>
            </a:endParaRPr>
          </a:p>
          <a:p>
            <a:pPr marL="801900" lvl="8" indent="0">
              <a:buNone/>
            </a:pPr>
            <a:endParaRPr lang="en-US" sz="2000" b="0" strike="noStrike" spc="-1" dirty="0">
              <a:solidFill>
                <a:srgbClr val="000000"/>
              </a:solidFill>
            </a:endParaRPr>
          </a:p>
          <a:p>
            <a:pPr marL="457200" lvl="1" indent="0" fontAlgn="auto">
              <a:spcAft>
                <a:spcPts val="0"/>
              </a:spcAft>
              <a:buClrTx/>
              <a:buSzTx/>
              <a:buNone/>
            </a:pPr>
            <a:endParaRPr lang="en-US" sz="2000" spc="-1" dirty="0">
              <a:solidFill>
                <a:srgbClr val="000000"/>
              </a:solidFill>
            </a:endParaRPr>
          </a:p>
          <a:p>
            <a:pPr marL="457200" lvl="1" indent="0" fontAlgn="auto">
              <a:spcAft>
                <a:spcPts val="0"/>
              </a:spcAft>
              <a:buClrTx/>
              <a:buSzTx/>
              <a:buNone/>
            </a:pPr>
            <a:endParaRPr lang="en-US" sz="2000" spc="-1" dirty="0">
              <a:solidFill>
                <a:srgbClr val="000000"/>
              </a:solidFill>
            </a:endParaRPr>
          </a:p>
          <a:p>
            <a:pPr marL="0" indent="0" fontAlgn="auto">
              <a:spcAft>
                <a:spcPts val="0"/>
              </a:spcAft>
              <a:buClrTx/>
              <a:buSzTx/>
              <a:buNone/>
            </a:pPr>
            <a:endParaRPr kumimoji="0" lang="en-US" sz="2400" b="0" i="0" u="none" strike="noStrike" kern="1200" cap="none" spc="-1" normalizeH="0" baseline="0" noProof="0" dirty="0">
              <a:ln>
                <a:noFill/>
              </a:ln>
              <a:solidFill>
                <a:srgbClr val="FF0000"/>
              </a:solidFill>
              <a:effectLst/>
              <a:uLnTx/>
              <a:uFillTx/>
              <a:latin typeface="Calibri"/>
              <a:ea typeface="+mn-ea"/>
              <a:cs typeface="+mn-cs"/>
            </a:endParaRPr>
          </a:p>
          <a:p>
            <a:pPr fontAlgn="auto">
              <a:spcAft>
                <a:spcPts val="0"/>
              </a:spcAft>
              <a:buClrTx/>
              <a:buSzTx/>
            </a:pPr>
            <a:endParaRPr lang="en-US" sz="2400" b="0" strike="noStrike" spc="-1" dirty="0">
              <a:solidFill>
                <a:srgbClr val="000000"/>
              </a:solidFill>
              <a:latin typeface="Calibri"/>
            </a:endParaRPr>
          </a:p>
        </p:txBody>
      </p:sp>
      <p:sp>
        <p:nvSpPr>
          <p:cNvPr id="6" name="Right Brace 5">
            <a:extLst>
              <a:ext uri="{FF2B5EF4-FFF2-40B4-BE49-F238E27FC236}">
                <a16:creationId xmlns:a16="http://schemas.microsoft.com/office/drawing/2014/main" id="{CEE1C6FD-EBE3-4880-89FD-AF8A2885F50F}"/>
              </a:ext>
            </a:extLst>
          </p:cNvPr>
          <p:cNvSpPr/>
          <p:nvPr/>
        </p:nvSpPr>
        <p:spPr>
          <a:xfrm rot="16200000">
            <a:off x="5532450" y="-271905"/>
            <a:ext cx="210057" cy="2596322"/>
          </a:xfrm>
          <a:prstGeom prst="righ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7" name="Rectangle 6">
            <a:extLst>
              <a:ext uri="{FF2B5EF4-FFF2-40B4-BE49-F238E27FC236}">
                <a16:creationId xmlns:a16="http://schemas.microsoft.com/office/drawing/2014/main" id="{0FFC83F0-994F-4CDC-8FB5-2602B92DDDF7}"/>
              </a:ext>
            </a:extLst>
          </p:cNvPr>
          <p:cNvSpPr/>
          <p:nvPr/>
        </p:nvSpPr>
        <p:spPr>
          <a:xfrm>
            <a:off x="5291546" y="540668"/>
            <a:ext cx="712442" cy="382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rgbClr val="C00000"/>
                </a:solidFill>
              </a:rPr>
              <a:t>20</a:t>
            </a:r>
          </a:p>
        </p:txBody>
      </p:sp>
    </p:spTree>
    <p:extLst>
      <p:ext uri="{BB962C8B-B14F-4D97-AF65-F5344CB8AC3E}">
        <p14:creationId xmlns:p14="http://schemas.microsoft.com/office/powerpoint/2010/main" val="3866020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573481-3EBB-4E13-93D6-1974C44C85F9}"/>
              </a:ext>
            </a:extLst>
          </p:cNvPr>
          <p:cNvSpPr txBox="1">
            <a:spLocks/>
          </p:cNvSpPr>
          <p:nvPr/>
        </p:nvSpPr>
        <p:spPr>
          <a:xfrm>
            <a:off x="479347" y="211826"/>
            <a:ext cx="6834192" cy="502278"/>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AU" sz="3200" b="1" dirty="0">
                <a:latin typeface="+mn-lt"/>
                <a:ea typeface="+mn-ea"/>
                <a:cs typeface="+mn-cs"/>
              </a:rPr>
              <a:t>More practice</a:t>
            </a:r>
            <a:endParaRPr lang="en-US" sz="3200" b="1" dirty="0">
              <a:latin typeface="+mn-lt"/>
              <a:ea typeface="+mn-ea"/>
              <a:cs typeface="+mn-cs"/>
            </a:endParaRPr>
          </a:p>
        </p:txBody>
      </p:sp>
      <p:sp>
        <p:nvSpPr>
          <p:cNvPr id="8" name="TextBox 7">
            <a:extLst>
              <a:ext uri="{FF2B5EF4-FFF2-40B4-BE49-F238E27FC236}">
                <a16:creationId xmlns:a16="http://schemas.microsoft.com/office/drawing/2014/main" id="{55B6B504-F562-4798-A6F4-2634DD72903A}"/>
              </a:ext>
            </a:extLst>
          </p:cNvPr>
          <p:cNvSpPr txBox="1"/>
          <p:nvPr/>
        </p:nvSpPr>
        <p:spPr>
          <a:xfrm>
            <a:off x="479347" y="874455"/>
            <a:ext cx="11095075" cy="2923877"/>
          </a:xfrm>
          <a:prstGeom prst="rect">
            <a:avLst/>
          </a:prstGeom>
          <a:noFill/>
        </p:spPr>
        <p:txBody>
          <a:bodyPr wrap="square">
            <a:spAutoFit/>
          </a:bodyPr>
          <a:lstStyle/>
          <a:p>
            <a:pPr algn="l" rtl="0">
              <a:spcBef>
                <a:spcPts val="1200"/>
              </a:spcBef>
              <a:spcAft>
                <a:spcPts val="1200"/>
              </a:spcAft>
            </a:pPr>
            <a:r>
              <a:rPr lang="en-US" sz="2400" spc="-1" dirty="0">
                <a:solidFill>
                  <a:srgbClr val="000000"/>
                </a:solidFill>
                <a:latin typeface="Calibri"/>
              </a:rPr>
              <a:t>Q: Suppose the public IPv4 address has a CIDR notation of 212.114.20.0/24, this specifies the subnet where the IPv4 address resides. How many IPv4 addresses does this subnet have? </a:t>
            </a:r>
          </a:p>
          <a:p>
            <a:pPr algn="l" rtl="0">
              <a:spcBef>
                <a:spcPts val="1200"/>
              </a:spcBef>
              <a:spcAft>
                <a:spcPts val="1200"/>
              </a:spcAft>
            </a:pPr>
            <a:r>
              <a:rPr lang="en-US" sz="2400" spc="-1" dirty="0">
                <a:solidFill>
                  <a:srgbClr val="000000"/>
                </a:solidFill>
                <a:latin typeface="Calibri"/>
              </a:rPr>
              <a:t>If the Internet service provider divides the original /24 subnet using /27, how many small subnets will be created? </a:t>
            </a:r>
          </a:p>
          <a:p>
            <a:pPr algn="l" rtl="0">
              <a:spcBef>
                <a:spcPts val="1200"/>
              </a:spcBef>
              <a:spcAft>
                <a:spcPts val="1200"/>
              </a:spcAft>
            </a:pPr>
            <a:r>
              <a:rPr lang="en-US" sz="2400" spc="-1" dirty="0">
                <a:solidFill>
                  <a:srgbClr val="000000"/>
                </a:solidFill>
                <a:latin typeface="Calibri"/>
              </a:rPr>
              <a:t>For each created subnet, how many IPv4 addresses does it have?</a:t>
            </a:r>
          </a:p>
        </p:txBody>
      </p:sp>
    </p:spTree>
    <p:extLst>
      <p:ext uri="{BB962C8B-B14F-4D97-AF65-F5344CB8AC3E}">
        <p14:creationId xmlns:p14="http://schemas.microsoft.com/office/powerpoint/2010/main" val="748938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573481-3EBB-4E13-93D6-1974C44C85F9}"/>
              </a:ext>
            </a:extLst>
          </p:cNvPr>
          <p:cNvSpPr txBox="1">
            <a:spLocks/>
          </p:cNvSpPr>
          <p:nvPr/>
        </p:nvSpPr>
        <p:spPr>
          <a:xfrm>
            <a:off x="479347" y="211826"/>
            <a:ext cx="6834192" cy="502278"/>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AU" sz="3200" b="1" dirty="0">
                <a:latin typeface="+mn-lt"/>
                <a:ea typeface="+mn-ea"/>
                <a:cs typeface="+mn-cs"/>
              </a:rPr>
              <a:t>More practice</a:t>
            </a:r>
            <a:endParaRPr lang="en-US" sz="3200" b="1" dirty="0">
              <a:latin typeface="+mn-lt"/>
              <a:ea typeface="+mn-ea"/>
              <a:cs typeface="+mn-cs"/>
            </a:endParaRPr>
          </a:p>
        </p:txBody>
      </p:sp>
      <p:sp>
        <p:nvSpPr>
          <p:cNvPr id="8" name="TextBox 7">
            <a:extLst>
              <a:ext uri="{FF2B5EF4-FFF2-40B4-BE49-F238E27FC236}">
                <a16:creationId xmlns:a16="http://schemas.microsoft.com/office/drawing/2014/main" id="{55B6B504-F562-4798-A6F4-2634DD72903A}"/>
              </a:ext>
            </a:extLst>
          </p:cNvPr>
          <p:cNvSpPr txBox="1"/>
          <p:nvPr/>
        </p:nvSpPr>
        <p:spPr>
          <a:xfrm>
            <a:off x="479347" y="874455"/>
            <a:ext cx="11095075" cy="3970318"/>
          </a:xfrm>
          <a:prstGeom prst="rect">
            <a:avLst/>
          </a:prstGeom>
          <a:noFill/>
        </p:spPr>
        <p:txBody>
          <a:bodyPr wrap="square">
            <a:spAutoFit/>
          </a:bodyPr>
          <a:lstStyle/>
          <a:p>
            <a:pPr algn="l" rtl="0">
              <a:spcBef>
                <a:spcPts val="1200"/>
              </a:spcBef>
              <a:spcAft>
                <a:spcPts val="1200"/>
              </a:spcAft>
            </a:pPr>
            <a:r>
              <a:rPr lang="en-US" sz="2400" spc="-1" dirty="0">
                <a:solidFill>
                  <a:srgbClr val="000000"/>
                </a:solidFill>
                <a:latin typeface="Calibri"/>
              </a:rPr>
              <a:t>Q: Suppose the public IPv4 address has a CIDR notation of 212.114.20.0/24, this specifies the subnet where the IPv4 address resides. How many IPv4 addresses does this subnet have? </a:t>
            </a:r>
          </a:p>
          <a:p>
            <a:pPr algn="l" rtl="0">
              <a:spcBef>
                <a:spcPts val="1200"/>
              </a:spcBef>
              <a:spcAft>
                <a:spcPts val="1200"/>
              </a:spcAft>
            </a:pPr>
            <a:endParaRPr lang="en-US" sz="2400" spc="-1" dirty="0">
              <a:solidFill>
                <a:srgbClr val="000000"/>
              </a:solidFill>
              <a:latin typeface="Calibri"/>
            </a:endParaRPr>
          </a:p>
          <a:p>
            <a:pPr algn="l" rtl="0">
              <a:spcBef>
                <a:spcPts val="1200"/>
              </a:spcBef>
              <a:spcAft>
                <a:spcPts val="1200"/>
              </a:spcAft>
            </a:pPr>
            <a:r>
              <a:rPr lang="en-US" sz="2400" b="0" i="0" u="none" strike="noStrike" dirty="0">
                <a:solidFill>
                  <a:srgbClr val="FF0000"/>
                </a:solidFill>
                <a:effectLst/>
                <a:latin typeface="+mn-lt"/>
              </a:rPr>
              <a:t>"/24" indicates </a:t>
            </a:r>
            <a:r>
              <a:rPr lang="en-US" sz="2400" dirty="0">
                <a:solidFill>
                  <a:srgbClr val="FF0000"/>
                </a:solidFill>
                <a:latin typeface="+mn-lt"/>
              </a:rPr>
              <a:t>the network portion </a:t>
            </a:r>
            <a:r>
              <a:rPr lang="en-US" sz="2400" b="0" i="0" u="none" strike="noStrike" dirty="0">
                <a:solidFill>
                  <a:srgbClr val="FF0000"/>
                </a:solidFill>
                <a:effectLst/>
                <a:latin typeface="+mn-lt"/>
              </a:rPr>
              <a:t>of 24 bits, leaving 8 (32-24) bits for the host portion of the IP address. Therefore, the total number of IPv4 addresses is: 2^8 = 256 addresses.  </a:t>
            </a:r>
            <a:endParaRPr lang="en-US" sz="2400" spc="-1" dirty="0">
              <a:solidFill>
                <a:srgbClr val="000000"/>
              </a:solidFill>
              <a:latin typeface="+mn-lt"/>
            </a:endParaRPr>
          </a:p>
          <a:p>
            <a:pPr algn="l" rtl="0">
              <a:spcBef>
                <a:spcPts val="1200"/>
              </a:spcBef>
              <a:spcAft>
                <a:spcPts val="1200"/>
              </a:spcAft>
            </a:pPr>
            <a:endParaRPr lang="en-US" sz="2400" spc="-1" dirty="0">
              <a:solidFill>
                <a:srgbClr val="000000"/>
              </a:solidFill>
              <a:latin typeface="Calibri"/>
            </a:endParaRPr>
          </a:p>
        </p:txBody>
      </p:sp>
    </p:spTree>
    <p:extLst>
      <p:ext uri="{BB962C8B-B14F-4D97-AF65-F5344CB8AC3E}">
        <p14:creationId xmlns:p14="http://schemas.microsoft.com/office/powerpoint/2010/main" val="1569908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573481-3EBB-4E13-93D6-1974C44C85F9}"/>
              </a:ext>
            </a:extLst>
          </p:cNvPr>
          <p:cNvSpPr txBox="1">
            <a:spLocks/>
          </p:cNvSpPr>
          <p:nvPr/>
        </p:nvSpPr>
        <p:spPr>
          <a:xfrm>
            <a:off x="479347" y="211826"/>
            <a:ext cx="6834192" cy="502278"/>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AU" sz="3200" b="1" dirty="0">
                <a:latin typeface="+mn-lt"/>
                <a:ea typeface="+mn-ea"/>
                <a:cs typeface="+mn-cs"/>
              </a:rPr>
              <a:t>More practice</a:t>
            </a:r>
            <a:endParaRPr lang="en-US" sz="3200" b="1" dirty="0">
              <a:latin typeface="+mn-lt"/>
              <a:ea typeface="+mn-ea"/>
              <a:cs typeface="+mn-cs"/>
            </a:endParaRPr>
          </a:p>
        </p:txBody>
      </p:sp>
      <p:sp>
        <p:nvSpPr>
          <p:cNvPr id="8" name="TextBox 7">
            <a:extLst>
              <a:ext uri="{FF2B5EF4-FFF2-40B4-BE49-F238E27FC236}">
                <a16:creationId xmlns:a16="http://schemas.microsoft.com/office/drawing/2014/main" id="{55B6B504-F562-4798-A6F4-2634DD72903A}"/>
              </a:ext>
            </a:extLst>
          </p:cNvPr>
          <p:cNvSpPr txBox="1"/>
          <p:nvPr/>
        </p:nvSpPr>
        <p:spPr>
          <a:xfrm>
            <a:off x="479347" y="874455"/>
            <a:ext cx="11095075" cy="2246769"/>
          </a:xfrm>
          <a:prstGeom prst="rect">
            <a:avLst/>
          </a:prstGeom>
          <a:noFill/>
        </p:spPr>
        <p:txBody>
          <a:bodyPr wrap="square">
            <a:spAutoFit/>
          </a:bodyPr>
          <a:lstStyle/>
          <a:p>
            <a:pPr algn="l" rtl="0">
              <a:spcBef>
                <a:spcPts val="1200"/>
              </a:spcBef>
              <a:spcAft>
                <a:spcPts val="1200"/>
              </a:spcAft>
            </a:pPr>
            <a:r>
              <a:rPr lang="en-US" sz="2400" spc="-1" dirty="0">
                <a:solidFill>
                  <a:srgbClr val="000000"/>
                </a:solidFill>
                <a:latin typeface="Calibri"/>
              </a:rPr>
              <a:t>Q: Suppose the public IPv4 address has a CIDR notation of 212.114.20.0/24, this specifies the subnet where the IPv4 address resides. How many IPv4 addresses does this subnet have? </a:t>
            </a:r>
          </a:p>
          <a:p>
            <a:pPr algn="l" rtl="0">
              <a:spcBef>
                <a:spcPts val="1200"/>
              </a:spcBef>
              <a:spcAft>
                <a:spcPts val="1200"/>
              </a:spcAft>
            </a:pPr>
            <a:r>
              <a:rPr lang="en-US" sz="2400" spc="-1" dirty="0">
                <a:solidFill>
                  <a:srgbClr val="000000"/>
                </a:solidFill>
                <a:latin typeface="Calibri"/>
              </a:rPr>
              <a:t>If the Internet service provider (ISP) divides the original /24 subnet using /27, how many small subnets will be created? </a:t>
            </a:r>
          </a:p>
        </p:txBody>
      </p:sp>
    </p:spTree>
    <p:extLst>
      <p:ext uri="{BB962C8B-B14F-4D97-AF65-F5344CB8AC3E}">
        <p14:creationId xmlns:p14="http://schemas.microsoft.com/office/powerpoint/2010/main" val="3236321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573481-3EBB-4E13-93D6-1974C44C85F9}"/>
              </a:ext>
            </a:extLst>
          </p:cNvPr>
          <p:cNvSpPr txBox="1">
            <a:spLocks/>
          </p:cNvSpPr>
          <p:nvPr/>
        </p:nvSpPr>
        <p:spPr>
          <a:xfrm>
            <a:off x="479347" y="211826"/>
            <a:ext cx="6834192" cy="502278"/>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AU" sz="3200" b="1" dirty="0">
                <a:latin typeface="+mn-lt"/>
                <a:ea typeface="+mn-ea"/>
                <a:cs typeface="+mn-cs"/>
              </a:rPr>
              <a:t>More practice</a:t>
            </a:r>
            <a:endParaRPr lang="en-US" sz="3200" b="1" dirty="0">
              <a:latin typeface="+mn-lt"/>
              <a:ea typeface="+mn-ea"/>
              <a:cs typeface="+mn-cs"/>
            </a:endParaRPr>
          </a:p>
        </p:txBody>
      </p:sp>
      <p:sp>
        <p:nvSpPr>
          <p:cNvPr id="8" name="TextBox 7">
            <a:extLst>
              <a:ext uri="{FF2B5EF4-FFF2-40B4-BE49-F238E27FC236}">
                <a16:creationId xmlns:a16="http://schemas.microsoft.com/office/drawing/2014/main" id="{55B6B504-F562-4798-A6F4-2634DD72903A}"/>
              </a:ext>
            </a:extLst>
          </p:cNvPr>
          <p:cNvSpPr txBox="1"/>
          <p:nvPr/>
        </p:nvSpPr>
        <p:spPr>
          <a:xfrm>
            <a:off x="479347" y="874455"/>
            <a:ext cx="11095075" cy="3970318"/>
          </a:xfrm>
          <a:prstGeom prst="rect">
            <a:avLst/>
          </a:prstGeom>
          <a:noFill/>
        </p:spPr>
        <p:txBody>
          <a:bodyPr wrap="square">
            <a:spAutoFit/>
          </a:bodyPr>
          <a:lstStyle/>
          <a:p>
            <a:pPr algn="l" rtl="0">
              <a:spcBef>
                <a:spcPts val="1200"/>
              </a:spcBef>
              <a:spcAft>
                <a:spcPts val="1200"/>
              </a:spcAft>
            </a:pPr>
            <a:r>
              <a:rPr lang="en-US" sz="2400" spc="-1" dirty="0">
                <a:solidFill>
                  <a:srgbClr val="000000"/>
                </a:solidFill>
                <a:latin typeface="Calibri"/>
              </a:rPr>
              <a:t>Q: Suppose the public IPv4 address has a CIDR notation of 212.114.20.0/24, this specifies the subnet where the IPv4 address resides. How many IPv4 addresses does this subnet have? </a:t>
            </a:r>
          </a:p>
          <a:p>
            <a:pPr algn="l" rtl="0">
              <a:spcBef>
                <a:spcPts val="1200"/>
              </a:spcBef>
              <a:spcAft>
                <a:spcPts val="1200"/>
              </a:spcAft>
            </a:pPr>
            <a:r>
              <a:rPr lang="en-US" sz="2400" spc="-1" dirty="0">
                <a:solidFill>
                  <a:srgbClr val="000000"/>
                </a:solidFill>
                <a:latin typeface="Calibri"/>
              </a:rPr>
              <a:t>If the Internet service provider (ISP) divides the original /24 subnet using /27, how many small subnets will be created? </a:t>
            </a:r>
          </a:p>
          <a:p>
            <a:pPr algn="l" rtl="0">
              <a:spcBef>
                <a:spcPts val="1200"/>
              </a:spcBef>
              <a:spcAft>
                <a:spcPts val="1200"/>
              </a:spcAft>
            </a:pPr>
            <a:endParaRPr lang="en-US" sz="2400" spc="-1" dirty="0">
              <a:solidFill>
                <a:srgbClr val="000000"/>
              </a:solidFill>
              <a:latin typeface="Calibri"/>
            </a:endParaRPr>
          </a:p>
          <a:p>
            <a:pPr algn="l" rtl="0">
              <a:spcBef>
                <a:spcPts val="1200"/>
              </a:spcBef>
              <a:spcAft>
                <a:spcPts val="1200"/>
              </a:spcAft>
            </a:pPr>
            <a:r>
              <a:rPr lang="en-US" sz="2400" b="0" i="0" u="none" strike="noStrike" dirty="0">
                <a:solidFill>
                  <a:srgbClr val="FF0000"/>
                </a:solidFill>
                <a:effectLst/>
                <a:latin typeface="+mn-lt"/>
              </a:rPr>
              <a:t>When dividing a /24 subnet into multiple /27 subnets, the ISP uses additional (27-24) bits to create small subnets. The number of small subnets created: 2^(27 - 24) = 8. </a:t>
            </a:r>
            <a:endParaRPr lang="en-US" sz="2400" spc="-1" dirty="0">
              <a:solidFill>
                <a:srgbClr val="000000"/>
              </a:solidFill>
              <a:latin typeface="+mn-lt"/>
            </a:endParaRPr>
          </a:p>
        </p:txBody>
      </p:sp>
    </p:spTree>
    <p:extLst>
      <p:ext uri="{BB962C8B-B14F-4D97-AF65-F5344CB8AC3E}">
        <p14:creationId xmlns:p14="http://schemas.microsoft.com/office/powerpoint/2010/main" val="2950355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573481-3EBB-4E13-93D6-1974C44C85F9}"/>
              </a:ext>
            </a:extLst>
          </p:cNvPr>
          <p:cNvSpPr txBox="1">
            <a:spLocks/>
          </p:cNvSpPr>
          <p:nvPr/>
        </p:nvSpPr>
        <p:spPr>
          <a:xfrm>
            <a:off x="479347" y="211826"/>
            <a:ext cx="6834192" cy="502278"/>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AU" sz="3200" b="1" dirty="0">
                <a:latin typeface="+mn-lt"/>
                <a:ea typeface="+mn-ea"/>
                <a:cs typeface="+mn-cs"/>
              </a:rPr>
              <a:t>More practice</a:t>
            </a:r>
            <a:endParaRPr lang="en-US" sz="3200" b="1" dirty="0">
              <a:latin typeface="+mn-lt"/>
              <a:ea typeface="+mn-ea"/>
              <a:cs typeface="+mn-cs"/>
            </a:endParaRPr>
          </a:p>
        </p:txBody>
      </p:sp>
      <p:sp>
        <p:nvSpPr>
          <p:cNvPr id="8" name="TextBox 7">
            <a:extLst>
              <a:ext uri="{FF2B5EF4-FFF2-40B4-BE49-F238E27FC236}">
                <a16:creationId xmlns:a16="http://schemas.microsoft.com/office/drawing/2014/main" id="{55B6B504-F562-4798-A6F4-2634DD72903A}"/>
              </a:ext>
            </a:extLst>
          </p:cNvPr>
          <p:cNvSpPr txBox="1"/>
          <p:nvPr/>
        </p:nvSpPr>
        <p:spPr>
          <a:xfrm>
            <a:off x="479347" y="874455"/>
            <a:ext cx="11095075" cy="2923877"/>
          </a:xfrm>
          <a:prstGeom prst="rect">
            <a:avLst/>
          </a:prstGeom>
          <a:noFill/>
        </p:spPr>
        <p:txBody>
          <a:bodyPr wrap="square">
            <a:spAutoFit/>
          </a:bodyPr>
          <a:lstStyle/>
          <a:p>
            <a:pPr algn="l" rtl="0">
              <a:spcBef>
                <a:spcPts val="1200"/>
              </a:spcBef>
              <a:spcAft>
                <a:spcPts val="1200"/>
              </a:spcAft>
            </a:pPr>
            <a:r>
              <a:rPr lang="en-US" sz="2400" spc="-1" dirty="0">
                <a:solidFill>
                  <a:srgbClr val="000000"/>
                </a:solidFill>
                <a:latin typeface="Calibri"/>
              </a:rPr>
              <a:t>Q: Suppose the public IPv4 address has a CIDR notation of 212.114.20.0/24, this specifies the subnet where the IPv4 address resides. How many IPv4 addresses does this subnet have? </a:t>
            </a:r>
          </a:p>
          <a:p>
            <a:pPr algn="l" rtl="0">
              <a:spcBef>
                <a:spcPts val="1200"/>
              </a:spcBef>
              <a:spcAft>
                <a:spcPts val="1200"/>
              </a:spcAft>
            </a:pPr>
            <a:r>
              <a:rPr lang="en-US" sz="2400" spc="-1" dirty="0">
                <a:solidFill>
                  <a:srgbClr val="000000"/>
                </a:solidFill>
                <a:latin typeface="Calibri"/>
              </a:rPr>
              <a:t>If the Internet service provider (ISP) divides the original /24 subnet using /27, how many small subnets will be created? </a:t>
            </a:r>
          </a:p>
          <a:p>
            <a:pPr algn="l" rtl="0">
              <a:spcBef>
                <a:spcPts val="1200"/>
              </a:spcBef>
              <a:spcAft>
                <a:spcPts val="1200"/>
              </a:spcAft>
            </a:pPr>
            <a:r>
              <a:rPr lang="en-US" sz="2400" spc="-1" dirty="0">
                <a:solidFill>
                  <a:srgbClr val="000000"/>
                </a:solidFill>
                <a:latin typeface="Calibri"/>
              </a:rPr>
              <a:t>For each created subnet, how many IPv4 addresses does it have?</a:t>
            </a:r>
          </a:p>
        </p:txBody>
      </p:sp>
    </p:spTree>
    <p:extLst>
      <p:ext uri="{BB962C8B-B14F-4D97-AF65-F5344CB8AC3E}">
        <p14:creationId xmlns:p14="http://schemas.microsoft.com/office/powerpoint/2010/main" val="3817892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573481-3EBB-4E13-93D6-1974C44C85F9}"/>
              </a:ext>
            </a:extLst>
          </p:cNvPr>
          <p:cNvSpPr txBox="1">
            <a:spLocks/>
          </p:cNvSpPr>
          <p:nvPr/>
        </p:nvSpPr>
        <p:spPr>
          <a:xfrm>
            <a:off x="479347" y="211826"/>
            <a:ext cx="6834192" cy="502278"/>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AU" sz="3200" b="1" dirty="0">
                <a:latin typeface="+mn-lt"/>
                <a:ea typeface="+mn-ea"/>
                <a:cs typeface="+mn-cs"/>
              </a:rPr>
              <a:t>More practice</a:t>
            </a:r>
            <a:endParaRPr lang="en-US" sz="3200" b="1" dirty="0">
              <a:latin typeface="+mn-lt"/>
              <a:ea typeface="+mn-ea"/>
              <a:cs typeface="+mn-cs"/>
            </a:endParaRPr>
          </a:p>
        </p:txBody>
      </p:sp>
      <p:sp>
        <p:nvSpPr>
          <p:cNvPr id="8" name="TextBox 7">
            <a:extLst>
              <a:ext uri="{FF2B5EF4-FFF2-40B4-BE49-F238E27FC236}">
                <a16:creationId xmlns:a16="http://schemas.microsoft.com/office/drawing/2014/main" id="{55B6B504-F562-4798-A6F4-2634DD72903A}"/>
              </a:ext>
            </a:extLst>
          </p:cNvPr>
          <p:cNvSpPr txBox="1"/>
          <p:nvPr/>
        </p:nvSpPr>
        <p:spPr>
          <a:xfrm>
            <a:off x="479347" y="874455"/>
            <a:ext cx="11095075" cy="4647426"/>
          </a:xfrm>
          <a:prstGeom prst="rect">
            <a:avLst/>
          </a:prstGeom>
          <a:noFill/>
        </p:spPr>
        <p:txBody>
          <a:bodyPr wrap="square">
            <a:spAutoFit/>
          </a:bodyPr>
          <a:lstStyle/>
          <a:p>
            <a:pPr algn="l" rtl="0">
              <a:spcBef>
                <a:spcPts val="1200"/>
              </a:spcBef>
              <a:spcAft>
                <a:spcPts val="1200"/>
              </a:spcAft>
            </a:pPr>
            <a:r>
              <a:rPr lang="en-US" sz="2400" spc="-1" dirty="0">
                <a:solidFill>
                  <a:srgbClr val="000000"/>
                </a:solidFill>
                <a:latin typeface="Calibri"/>
              </a:rPr>
              <a:t>Q: Suppose the public IPv4 address has a CIDR notation of 212.114.20.0/24, this specifies the subnet where the IPv4 address resides. How many IPv4 addresses does this subnet have? </a:t>
            </a:r>
          </a:p>
          <a:p>
            <a:pPr algn="l" rtl="0">
              <a:spcBef>
                <a:spcPts val="1200"/>
              </a:spcBef>
              <a:spcAft>
                <a:spcPts val="1200"/>
              </a:spcAft>
            </a:pPr>
            <a:r>
              <a:rPr lang="en-US" sz="2400" spc="-1" dirty="0">
                <a:solidFill>
                  <a:srgbClr val="000000"/>
                </a:solidFill>
                <a:latin typeface="Calibri"/>
              </a:rPr>
              <a:t>If the Internet service provider (ISP) divides the original /24 subnet using /27, how many small subnets will be created? </a:t>
            </a:r>
          </a:p>
          <a:p>
            <a:pPr algn="l" rtl="0">
              <a:spcBef>
                <a:spcPts val="1200"/>
              </a:spcBef>
              <a:spcAft>
                <a:spcPts val="1200"/>
              </a:spcAft>
            </a:pPr>
            <a:r>
              <a:rPr lang="en-US" sz="2400" spc="-1" dirty="0">
                <a:solidFill>
                  <a:srgbClr val="000000"/>
                </a:solidFill>
                <a:latin typeface="Calibri"/>
              </a:rPr>
              <a:t>For each created subnet, how many IPv4 addresses does it have?</a:t>
            </a:r>
          </a:p>
          <a:p>
            <a:pPr algn="l" rtl="0">
              <a:spcBef>
                <a:spcPts val="1200"/>
              </a:spcBef>
              <a:spcAft>
                <a:spcPts val="1200"/>
              </a:spcAft>
            </a:pPr>
            <a:endParaRPr lang="en-US" sz="2400" spc="-1" dirty="0">
              <a:solidFill>
                <a:srgbClr val="000000"/>
              </a:solidFill>
              <a:latin typeface="Calibri"/>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2400" b="0" i="0" u="none" strike="noStrike" dirty="0">
                <a:solidFill>
                  <a:srgbClr val="FF0000"/>
                </a:solidFill>
                <a:effectLst/>
                <a:latin typeface="+mn-lt"/>
              </a:rPr>
              <a:t>Within each of the small /27 subnets, (32 - 27) bits are available for the host portion. The total number of IPv4 Addresses is: 2^5 = 32.</a:t>
            </a:r>
            <a:endParaRPr lang="en-AU" sz="2400" b="0" strike="noStrike" spc="-1" dirty="0">
              <a:latin typeface="+mn-lt"/>
            </a:endParaRPr>
          </a:p>
        </p:txBody>
      </p:sp>
    </p:spTree>
    <p:extLst>
      <p:ext uri="{BB962C8B-B14F-4D97-AF65-F5344CB8AC3E}">
        <p14:creationId xmlns:p14="http://schemas.microsoft.com/office/powerpoint/2010/main" val="313702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140671"/>
            <a:ext cx="5780306" cy="563312"/>
          </a:xfrm>
        </p:spPr>
        <p:txBody>
          <a:bodyPr>
            <a:normAutofit/>
          </a:bodyPr>
          <a:lstStyle/>
          <a:p>
            <a:r>
              <a:rPr lang="en-AU" sz="3200" b="1" i="0" u="none" strike="noStrike" baseline="0" dirty="0">
                <a:latin typeface="+mn-lt"/>
              </a:rPr>
              <a:t>Domain Name</a:t>
            </a:r>
            <a:endParaRPr lang="en-US" sz="40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824753"/>
            <a:ext cx="11432344" cy="2368776"/>
          </a:xfrm>
        </p:spPr>
        <p:txBody>
          <a:bodyPr>
            <a:noAutofit/>
          </a:bodyPr>
          <a:lstStyle/>
          <a:p>
            <a:pPr algn="l"/>
            <a:r>
              <a:rPr lang="en-US" sz="2400" dirty="0"/>
              <a:t>It uses alphanumeric characters and symbols separated by periods to create a hierarchical naming structure. This structure is organized from right to left.</a:t>
            </a:r>
          </a:p>
          <a:p>
            <a:pPr lvl="1"/>
            <a:r>
              <a:rPr lang="en-US" dirty="0"/>
              <a:t>For </a:t>
            </a:r>
            <a:r>
              <a:rPr lang="en-US" sz="2400" dirty="0"/>
              <a:t>www.javasoft.com</a:t>
            </a:r>
            <a:endParaRPr lang="en-US" dirty="0"/>
          </a:p>
          <a:p>
            <a:pPr lvl="2"/>
            <a:r>
              <a:rPr lang="en-US" sz="2400" dirty="0"/>
              <a:t>".com" is the top-level domain.</a:t>
            </a:r>
          </a:p>
          <a:p>
            <a:pPr lvl="2"/>
            <a:r>
              <a:rPr lang="en-US" sz="2400" dirty="0"/>
              <a:t>"javasoft.com" is the registered domain.</a:t>
            </a:r>
          </a:p>
          <a:p>
            <a:pPr lvl="2"/>
            <a:r>
              <a:rPr lang="en-US" sz="2400" dirty="0"/>
              <a:t>"www" is a subdomain of "javasoft.com".</a:t>
            </a:r>
          </a:p>
        </p:txBody>
      </p:sp>
    </p:spTree>
    <p:extLst>
      <p:ext uri="{BB962C8B-B14F-4D97-AF65-F5344CB8AC3E}">
        <p14:creationId xmlns:p14="http://schemas.microsoft.com/office/powerpoint/2010/main" val="2414367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140671"/>
            <a:ext cx="5780306" cy="563312"/>
          </a:xfrm>
        </p:spPr>
        <p:txBody>
          <a:bodyPr>
            <a:normAutofit/>
          </a:bodyPr>
          <a:lstStyle/>
          <a:p>
            <a:r>
              <a:rPr lang="en-AU" sz="3200" b="1" i="0" u="none" strike="noStrike" baseline="0" dirty="0">
                <a:latin typeface="+mn-lt"/>
              </a:rPr>
              <a:t>Domain Name</a:t>
            </a:r>
            <a:endParaRPr lang="en-US" sz="40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824753"/>
            <a:ext cx="11432344" cy="2368776"/>
          </a:xfrm>
        </p:spPr>
        <p:txBody>
          <a:bodyPr>
            <a:noAutofit/>
          </a:bodyPr>
          <a:lstStyle/>
          <a:p>
            <a:pPr algn="l"/>
            <a:r>
              <a:rPr lang="en-US" sz="2400" dirty="0"/>
              <a:t>It uses alphanumeric characters and symbols separated by periods to create a hierarchical naming structure. This structure is organized from right to left.</a:t>
            </a:r>
          </a:p>
          <a:p>
            <a:pPr lvl="1"/>
            <a:r>
              <a:rPr lang="en-US" dirty="0"/>
              <a:t>For </a:t>
            </a:r>
            <a:r>
              <a:rPr lang="en-US" sz="2400" dirty="0"/>
              <a:t>www.javasoft.com</a:t>
            </a:r>
            <a:endParaRPr lang="en-US" dirty="0"/>
          </a:p>
          <a:p>
            <a:pPr lvl="2"/>
            <a:r>
              <a:rPr lang="en-US" sz="2400" dirty="0"/>
              <a:t>".com" is the top-level domain.</a:t>
            </a:r>
          </a:p>
          <a:p>
            <a:pPr lvl="2"/>
            <a:r>
              <a:rPr lang="en-US" sz="2400" dirty="0"/>
              <a:t>"javasoft.com" is the registered domain.</a:t>
            </a:r>
          </a:p>
          <a:p>
            <a:pPr lvl="2"/>
            <a:r>
              <a:rPr lang="en-US" sz="2400" dirty="0"/>
              <a:t>"www" is a subdomain of "javasoft.com".</a:t>
            </a:r>
          </a:p>
        </p:txBody>
      </p:sp>
      <p:sp>
        <p:nvSpPr>
          <p:cNvPr id="8" name="Content Placeholder 2">
            <a:extLst>
              <a:ext uri="{FF2B5EF4-FFF2-40B4-BE49-F238E27FC236}">
                <a16:creationId xmlns:a16="http://schemas.microsoft.com/office/drawing/2014/main" id="{4ADE7EAA-214B-4DD8-B3D4-90FBCFCE65ED}"/>
              </a:ext>
            </a:extLst>
          </p:cNvPr>
          <p:cNvSpPr txBox="1">
            <a:spLocks/>
          </p:cNvSpPr>
          <p:nvPr/>
        </p:nvSpPr>
        <p:spPr>
          <a:xfrm>
            <a:off x="576140" y="3992312"/>
            <a:ext cx="11012886" cy="18391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sz="2400" dirty="0">
                <a:latin typeface="+mn-lt"/>
              </a:rPr>
              <a:t>http://www.nab.com.do1n1.eu</a:t>
            </a:r>
            <a:endParaRPr lang="en-AU" sz="2400" dirty="0"/>
          </a:p>
          <a:p>
            <a:pPr lvl="1" fontAlgn="auto">
              <a:spcAft>
                <a:spcPts val="0"/>
              </a:spcAft>
              <a:buClrTx/>
              <a:buSzTx/>
            </a:pPr>
            <a:r>
              <a:rPr lang="en-US" dirty="0"/>
              <a:t>What website will we go to if we click the link? </a:t>
            </a:r>
            <a:r>
              <a:rPr lang="en-AU" b="1" dirty="0"/>
              <a:t>do1n1.eu </a:t>
            </a:r>
            <a:r>
              <a:rPr lang="en-AU" dirty="0"/>
              <a:t>or </a:t>
            </a:r>
            <a:r>
              <a:rPr lang="en-US" sz="2400" b="1" dirty="0">
                <a:latin typeface="+mn-lt"/>
              </a:rPr>
              <a:t>nab.com</a:t>
            </a:r>
            <a:endParaRPr lang="en-US" b="1" dirty="0"/>
          </a:p>
          <a:p>
            <a:pPr fontAlgn="auto">
              <a:spcAft>
                <a:spcPts val="0"/>
              </a:spcAft>
              <a:buClrTx/>
              <a:buSzTx/>
            </a:pPr>
            <a:endParaRPr lang="en-AU" sz="2400" dirty="0"/>
          </a:p>
        </p:txBody>
      </p:sp>
    </p:spTree>
    <p:extLst>
      <p:ext uri="{BB962C8B-B14F-4D97-AF65-F5344CB8AC3E}">
        <p14:creationId xmlns:p14="http://schemas.microsoft.com/office/powerpoint/2010/main" val="1753767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140671"/>
            <a:ext cx="5780306" cy="563312"/>
          </a:xfrm>
        </p:spPr>
        <p:txBody>
          <a:bodyPr>
            <a:normAutofit/>
          </a:bodyPr>
          <a:lstStyle/>
          <a:p>
            <a:r>
              <a:rPr lang="en-AU" sz="3200" b="1" i="0" u="none" strike="noStrike" baseline="0" dirty="0">
                <a:latin typeface="+mn-lt"/>
              </a:rPr>
              <a:t>Domain Name</a:t>
            </a:r>
            <a:endParaRPr lang="en-US" sz="40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824753"/>
            <a:ext cx="11432344" cy="2368776"/>
          </a:xfrm>
        </p:spPr>
        <p:txBody>
          <a:bodyPr>
            <a:noAutofit/>
          </a:bodyPr>
          <a:lstStyle/>
          <a:p>
            <a:pPr algn="l"/>
            <a:r>
              <a:rPr lang="en-US" sz="2400" dirty="0"/>
              <a:t>It uses alphanumeric characters and symbols separated by periods to create a hierarchical naming structure. This structure is organized from right to left.</a:t>
            </a:r>
          </a:p>
          <a:p>
            <a:pPr marL="457200" lvl="1" indent="0">
              <a:buNone/>
            </a:pPr>
            <a:endParaRPr lang="en-US" sz="2400" dirty="0"/>
          </a:p>
        </p:txBody>
      </p:sp>
      <p:sp>
        <p:nvSpPr>
          <p:cNvPr id="4" name="Title 1">
            <a:extLst>
              <a:ext uri="{FF2B5EF4-FFF2-40B4-BE49-F238E27FC236}">
                <a16:creationId xmlns:a16="http://schemas.microsoft.com/office/drawing/2014/main" id="{C68DFEC6-C403-4011-B1F6-1F2EB694D191}"/>
              </a:ext>
            </a:extLst>
          </p:cNvPr>
          <p:cNvSpPr txBox="1">
            <a:spLocks/>
          </p:cNvSpPr>
          <p:nvPr/>
        </p:nvSpPr>
        <p:spPr>
          <a:xfrm>
            <a:off x="576140" y="3313019"/>
            <a:ext cx="5780306" cy="5633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AU" sz="3200" b="1" dirty="0">
                <a:latin typeface="+mn-lt"/>
              </a:rPr>
              <a:t>DNS (Domain Name System)</a:t>
            </a:r>
            <a:endParaRPr lang="en-US" sz="4000" b="1" dirty="0">
              <a:latin typeface="+mn-lt"/>
              <a:ea typeface="+mn-ea"/>
              <a:cs typeface="+mn-cs"/>
            </a:endParaRPr>
          </a:p>
        </p:txBody>
      </p:sp>
      <p:sp>
        <p:nvSpPr>
          <p:cNvPr id="6" name="Content Placeholder 2">
            <a:extLst>
              <a:ext uri="{FF2B5EF4-FFF2-40B4-BE49-F238E27FC236}">
                <a16:creationId xmlns:a16="http://schemas.microsoft.com/office/drawing/2014/main" id="{58B2280D-3390-4255-AF4E-B776324C6446}"/>
              </a:ext>
            </a:extLst>
          </p:cNvPr>
          <p:cNvSpPr txBox="1">
            <a:spLocks/>
          </p:cNvSpPr>
          <p:nvPr/>
        </p:nvSpPr>
        <p:spPr>
          <a:xfrm>
            <a:off x="576140" y="3992312"/>
            <a:ext cx="10051603" cy="18391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sz="2400" dirty="0"/>
              <a:t>Domain names are also known as mnemonic textual Internet addresses</a:t>
            </a:r>
            <a:r>
              <a:rPr lang="en-AU" sz="2400" dirty="0"/>
              <a:t>.</a:t>
            </a:r>
          </a:p>
          <a:p>
            <a:pPr fontAlgn="auto">
              <a:spcAft>
                <a:spcPts val="0"/>
              </a:spcAft>
              <a:buClrTx/>
              <a:buSzTx/>
            </a:pPr>
            <a:r>
              <a:rPr lang="en-US" sz="2400" dirty="0"/>
              <a:t>DNS servers are responsible for translating mnemonic textual Internet addresses into the numeric addresses.</a:t>
            </a:r>
          </a:p>
          <a:p>
            <a:pPr fontAlgn="auto">
              <a:spcAft>
                <a:spcPts val="0"/>
              </a:spcAft>
              <a:buClrTx/>
              <a:buSzTx/>
            </a:pPr>
            <a:endParaRPr lang="en-AU" sz="2400" dirty="0"/>
          </a:p>
        </p:txBody>
      </p:sp>
    </p:spTree>
    <p:extLst>
      <p:ext uri="{BB962C8B-B14F-4D97-AF65-F5344CB8AC3E}">
        <p14:creationId xmlns:p14="http://schemas.microsoft.com/office/powerpoint/2010/main" val="4052147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140671"/>
            <a:ext cx="5780306" cy="563312"/>
          </a:xfrm>
        </p:spPr>
        <p:txBody>
          <a:bodyPr>
            <a:normAutofit/>
          </a:bodyPr>
          <a:lstStyle/>
          <a:p>
            <a:r>
              <a:rPr lang="en-AU" sz="3200" b="1" i="0" u="none" strike="noStrike" baseline="0" dirty="0">
                <a:latin typeface="+mn-lt"/>
              </a:rPr>
              <a:t>Domain Name</a:t>
            </a:r>
            <a:endParaRPr lang="en-US" sz="40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824753"/>
            <a:ext cx="11432344" cy="2368776"/>
          </a:xfrm>
        </p:spPr>
        <p:txBody>
          <a:bodyPr>
            <a:noAutofit/>
          </a:bodyPr>
          <a:lstStyle/>
          <a:p>
            <a:pPr algn="l"/>
            <a:r>
              <a:rPr lang="en-US" sz="2400" dirty="0"/>
              <a:t>It uses alphanumeric characters and symbols separated by periods to create a hierarchical naming structure. This structure is organized from right to left.</a:t>
            </a:r>
          </a:p>
        </p:txBody>
      </p:sp>
      <p:sp>
        <p:nvSpPr>
          <p:cNvPr id="4" name="Title 1">
            <a:extLst>
              <a:ext uri="{FF2B5EF4-FFF2-40B4-BE49-F238E27FC236}">
                <a16:creationId xmlns:a16="http://schemas.microsoft.com/office/drawing/2014/main" id="{C68DFEC6-C403-4011-B1F6-1F2EB694D191}"/>
              </a:ext>
            </a:extLst>
          </p:cNvPr>
          <p:cNvSpPr txBox="1">
            <a:spLocks/>
          </p:cNvSpPr>
          <p:nvPr/>
        </p:nvSpPr>
        <p:spPr>
          <a:xfrm>
            <a:off x="576140" y="3313019"/>
            <a:ext cx="5780306" cy="5633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AU" sz="3200" b="1" dirty="0">
                <a:latin typeface="+mn-lt"/>
              </a:rPr>
              <a:t>DNS (Domain Name System)</a:t>
            </a:r>
            <a:endParaRPr lang="en-US" sz="4000" b="1" dirty="0">
              <a:latin typeface="+mn-lt"/>
              <a:ea typeface="+mn-ea"/>
              <a:cs typeface="+mn-cs"/>
            </a:endParaRPr>
          </a:p>
        </p:txBody>
      </p:sp>
      <p:sp>
        <p:nvSpPr>
          <p:cNvPr id="6" name="Content Placeholder 2">
            <a:extLst>
              <a:ext uri="{FF2B5EF4-FFF2-40B4-BE49-F238E27FC236}">
                <a16:creationId xmlns:a16="http://schemas.microsoft.com/office/drawing/2014/main" id="{58B2280D-3390-4255-AF4E-B776324C6446}"/>
              </a:ext>
            </a:extLst>
          </p:cNvPr>
          <p:cNvSpPr txBox="1">
            <a:spLocks/>
          </p:cNvSpPr>
          <p:nvPr/>
        </p:nvSpPr>
        <p:spPr>
          <a:xfrm>
            <a:off x="576140" y="3876331"/>
            <a:ext cx="10051603" cy="18391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sz="2400" dirty="0"/>
              <a:t>Domain names are also known as mnemonic textual Internet addresses</a:t>
            </a:r>
            <a:r>
              <a:rPr lang="en-AU" sz="2400" dirty="0"/>
              <a:t>.</a:t>
            </a:r>
          </a:p>
          <a:p>
            <a:pPr fontAlgn="auto">
              <a:spcAft>
                <a:spcPts val="0"/>
              </a:spcAft>
              <a:buClrTx/>
              <a:buSzTx/>
            </a:pPr>
            <a:r>
              <a:rPr lang="en-US" sz="2400" dirty="0"/>
              <a:t>DNS servers are responsible for translating mnemonic textual Internet addresses into the numeric addresses.</a:t>
            </a:r>
          </a:p>
          <a:p>
            <a:pPr fontAlgn="auto">
              <a:spcAft>
                <a:spcPts val="0"/>
              </a:spcAft>
              <a:buClrTx/>
              <a:buSzTx/>
            </a:pPr>
            <a:endParaRPr lang="en-US" sz="2400" dirty="0"/>
          </a:p>
          <a:p>
            <a:pPr fontAlgn="auto">
              <a:spcAft>
                <a:spcPts val="0"/>
              </a:spcAft>
              <a:buClrTx/>
              <a:buSzTx/>
            </a:pPr>
            <a:r>
              <a:rPr lang="en-US" sz="2400" dirty="0"/>
              <a:t>Question: </a:t>
            </a:r>
            <a:r>
              <a:rPr lang="en-AU" sz="2400" dirty="0">
                <a:solidFill>
                  <a:srgbClr val="FF0000"/>
                </a:solidFill>
              </a:rPr>
              <a:t>w</a:t>
            </a:r>
            <a:r>
              <a:rPr lang="en-AU" sz="2400" b="0" i="0" u="none" strike="noStrike" baseline="0" dirty="0">
                <a:solidFill>
                  <a:srgbClr val="FF0000"/>
                </a:solidFill>
              </a:rPr>
              <a:t>hat is the difference between a domain name and a URL?</a:t>
            </a:r>
          </a:p>
          <a:p>
            <a:pPr fontAlgn="auto">
              <a:spcAft>
                <a:spcPts val="0"/>
              </a:spcAft>
              <a:buClrTx/>
              <a:buSzTx/>
            </a:pPr>
            <a:endParaRPr lang="en-AU" sz="2400" dirty="0"/>
          </a:p>
        </p:txBody>
      </p:sp>
    </p:spTree>
    <p:extLst>
      <p:ext uri="{BB962C8B-B14F-4D97-AF65-F5344CB8AC3E}">
        <p14:creationId xmlns:p14="http://schemas.microsoft.com/office/powerpoint/2010/main" val="203423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5016726"/>
          </a:xfrm>
        </p:spPr>
        <p:txBody>
          <a:bodyPr>
            <a:noAutofit/>
          </a:bodyPr>
          <a:lstStyle/>
          <a:p>
            <a:pPr algn="l"/>
            <a:r>
              <a:rPr lang="en-US" sz="2400" b="0" i="0" u="none" strike="noStrike" baseline="0" dirty="0"/>
              <a:t>Domain name</a:t>
            </a:r>
            <a:r>
              <a:rPr lang="en-US" sz="2400" dirty="0"/>
              <a:t>: a human-readable hierarchical structure, which consists of alphanumeric characters and symbols separated by periods. </a:t>
            </a:r>
          </a:p>
          <a:p>
            <a:r>
              <a:rPr lang="en-AU" sz="2400" dirty="0"/>
              <a:t>URL (Uniform Resource Locator):</a:t>
            </a:r>
            <a:r>
              <a:rPr lang="en-US" sz="2400" dirty="0"/>
              <a:t> a complete address to locate a specific resource on a given website. It consists of:</a:t>
            </a:r>
          </a:p>
          <a:p>
            <a:pPr lvl="1"/>
            <a:r>
              <a:rPr lang="en-US" dirty="0"/>
              <a:t>a network protocol,</a:t>
            </a:r>
          </a:p>
          <a:p>
            <a:pPr lvl="1"/>
            <a:r>
              <a:rPr lang="en-US" dirty="0"/>
              <a:t>a domain name, </a:t>
            </a:r>
          </a:p>
          <a:p>
            <a:pPr lvl="1"/>
            <a:r>
              <a:rPr lang="en-US" dirty="0"/>
              <a:t>an additional path and/or query parameters.</a:t>
            </a:r>
          </a:p>
          <a:p>
            <a:pPr lvl="1"/>
            <a:r>
              <a:rPr lang="en-US" dirty="0"/>
              <a:t>e.g., </a:t>
            </a:r>
            <a:r>
              <a:rPr lang="en-AU" b="0" i="0" u="sng" dirty="0">
                <a:effectLst/>
                <a:latin typeface="Söhne"/>
              </a:rPr>
              <a:t>https://www.example.com/products/category?id=123&amp;sort=asc</a:t>
            </a:r>
            <a:endParaRPr lang="en-AU" b="0" i="0" dirty="0">
              <a:solidFill>
                <a:srgbClr val="374151"/>
              </a:solidFill>
              <a:effectLst/>
              <a:latin typeface="Söhne"/>
            </a:endParaRPr>
          </a:p>
          <a:p>
            <a:pPr lvl="2"/>
            <a:r>
              <a:rPr lang="en-AU" sz="2400" dirty="0"/>
              <a:t>the protocol is "https", the domain name is </a:t>
            </a:r>
            <a:r>
              <a:rPr lang="en-US" sz="2400" dirty="0"/>
              <a:t>"</a:t>
            </a:r>
            <a:r>
              <a:rPr lang="en-AU" sz="2400" dirty="0"/>
              <a:t>www.example.com</a:t>
            </a:r>
            <a:r>
              <a:rPr lang="en-US" sz="2400" dirty="0"/>
              <a:t>"</a:t>
            </a:r>
            <a:r>
              <a:rPr lang="en-AU" sz="2400" dirty="0"/>
              <a:t>, the path is "/products/category</a:t>
            </a:r>
            <a:r>
              <a:rPr lang="en-US" sz="2400" dirty="0"/>
              <a:t>"</a:t>
            </a:r>
            <a:r>
              <a:rPr lang="en-AU" sz="2400" dirty="0"/>
              <a:t>, </a:t>
            </a:r>
            <a:r>
              <a:rPr lang="en-US" sz="2400" dirty="0"/>
              <a:t>the query parameters are "?id=123&amp;sort=</a:t>
            </a:r>
            <a:r>
              <a:rPr lang="en-US" sz="2400" dirty="0" err="1"/>
              <a:t>asc</a:t>
            </a:r>
            <a:r>
              <a:rPr lang="en-US" sz="2400" dirty="0"/>
              <a:t>"</a:t>
            </a:r>
          </a:p>
        </p:txBody>
      </p:sp>
      <p:sp>
        <p:nvSpPr>
          <p:cNvPr id="7" name="Title 1">
            <a:extLst>
              <a:ext uri="{FF2B5EF4-FFF2-40B4-BE49-F238E27FC236}">
                <a16:creationId xmlns:a16="http://schemas.microsoft.com/office/drawing/2014/main" id="{D7835960-14CA-472F-9745-C4A58D8088E0}"/>
              </a:ext>
            </a:extLst>
          </p:cNvPr>
          <p:cNvSpPr>
            <a:spLocks noGrp="1"/>
          </p:cNvSpPr>
          <p:nvPr>
            <p:ph type="title"/>
          </p:nvPr>
        </p:nvSpPr>
        <p:spPr>
          <a:xfrm>
            <a:off x="512763" y="261938"/>
            <a:ext cx="4353705" cy="563562"/>
          </a:xfrm>
        </p:spPr>
        <p:txBody>
          <a:bodyPr>
            <a:normAutofit/>
          </a:bodyPr>
          <a:lstStyle/>
          <a:p>
            <a:r>
              <a:rPr lang="en-US" sz="3200" b="1" dirty="0">
                <a:latin typeface="+mn-lt"/>
                <a:ea typeface="+mn-ea"/>
                <a:cs typeface="+mn-cs"/>
              </a:rPr>
              <a:t>Domain name and URL</a:t>
            </a:r>
            <a:endParaRPr lang="en-US" sz="2400" b="1" dirty="0">
              <a:latin typeface="+mn-lt"/>
              <a:ea typeface="+mn-ea"/>
              <a:cs typeface="+mn-cs"/>
            </a:endParaRPr>
          </a:p>
        </p:txBody>
      </p:sp>
    </p:spTree>
    <p:extLst>
      <p:ext uri="{BB962C8B-B14F-4D97-AF65-F5344CB8AC3E}">
        <p14:creationId xmlns:p14="http://schemas.microsoft.com/office/powerpoint/2010/main" val="3377207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5016726"/>
          </a:xfrm>
        </p:spPr>
        <p:txBody>
          <a:bodyPr>
            <a:noAutofit/>
          </a:bodyPr>
          <a:lstStyle/>
          <a:p>
            <a:pPr algn="l"/>
            <a:r>
              <a:rPr lang="en-US" sz="2400" b="0" i="0" u="none" strike="noStrike" baseline="0" dirty="0"/>
              <a:t>Domain name</a:t>
            </a:r>
            <a:r>
              <a:rPr lang="en-US" sz="2400" dirty="0"/>
              <a:t>: a human-readable hierarchical structure, which consists of alphanumeric characters and symbols separated by periods. </a:t>
            </a:r>
          </a:p>
          <a:p>
            <a:r>
              <a:rPr lang="en-AU" sz="2400" dirty="0"/>
              <a:t>URL (Uniform Resource Locator):</a:t>
            </a:r>
            <a:r>
              <a:rPr lang="en-US" sz="2400" dirty="0"/>
              <a:t> a complete address to locate a specific resource on a given website. It consists of:</a:t>
            </a:r>
          </a:p>
          <a:p>
            <a:pPr lvl="1"/>
            <a:r>
              <a:rPr lang="en-US" dirty="0"/>
              <a:t>a network protocol,</a:t>
            </a:r>
          </a:p>
          <a:p>
            <a:pPr lvl="1"/>
            <a:r>
              <a:rPr lang="en-US" dirty="0"/>
              <a:t>a domain name, </a:t>
            </a:r>
          </a:p>
          <a:p>
            <a:pPr lvl="1"/>
            <a:r>
              <a:rPr lang="en-US" dirty="0"/>
              <a:t>an additional path and/or query parameters.</a:t>
            </a:r>
          </a:p>
          <a:p>
            <a:pPr lvl="1"/>
            <a:r>
              <a:rPr lang="en-US" dirty="0"/>
              <a:t>e.g., </a:t>
            </a:r>
            <a:r>
              <a:rPr lang="en-AU" b="0" i="0" u="sng" dirty="0">
                <a:effectLst/>
                <a:latin typeface="Söhne"/>
              </a:rPr>
              <a:t>https://www.example.com/products/category?id=123&amp;sort=asc</a:t>
            </a:r>
            <a:endParaRPr lang="en-AU" b="0" i="0" dirty="0">
              <a:solidFill>
                <a:srgbClr val="374151"/>
              </a:solidFill>
              <a:effectLst/>
              <a:latin typeface="Söhne"/>
            </a:endParaRPr>
          </a:p>
          <a:p>
            <a:pPr lvl="2"/>
            <a:r>
              <a:rPr lang="en-AU" sz="2400" dirty="0"/>
              <a:t>the protocol is "https", the domain name is </a:t>
            </a:r>
            <a:r>
              <a:rPr lang="en-US" sz="2400" dirty="0"/>
              <a:t>"</a:t>
            </a:r>
            <a:r>
              <a:rPr lang="en-AU" sz="2400" dirty="0"/>
              <a:t>www.example.com</a:t>
            </a:r>
            <a:r>
              <a:rPr lang="en-US" sz="2400" dirty="0"/>
              <a:t>"</a:t>
            </a:r>
            <a:r>
              <a:rPr lang="en-AU" sz="2400" dirty="0"/>
              <a:t>, the path is "/products/category</a:t>
            </a:r>
            <a:r>
              <a:rPr lang="en-US" sz="2400" dirty="0"/>
              <a:t>"</a:t>
            </a:r>
            <a:r>
              <a:rPr lang="en-AU" sz="2400" dirty="0"/>
              <a:t>;</a:t>
            </a:r>
          </a:p>
          <a:p>
            <a:pPr lvl="2"/>
            <a:r>
              <a:rPr lang="en-US" sz="2400" dirty="0"/>
              <a:t>the query parameters are "?id=123&amp;sort=</a:t>
            </a:r>
            <a:r>
              <a:rPr lang="en-US" sz="2400" dirty="0" err="1"/>
              <a:t>asc</a:t>
            </a:r>
            <a:r>
              <a:rPr lang="en-US" sz="2400" dirty="0"/>
              <a:t>", which requests specific items of the category with "id=123" in an ascending order via "sort=</a:t>
            </a:r>
            <a:r>
              <a:rPr lang="en-US" sz="2400" dirty="0" err="1"/>
              <a:t>asc</a:t>
            </a:r>
            <a:r>
              <a:rPr lang="en-US" sz="2400" dirty="0"/>
              <a:t>".</a:t>
            </a:r>
          </a:p>
          <a:p>
            <a:pPr lvl="2"/>
            <a:endParaRPr lang="en-US" sz="2400" dirty="0"/>
          </a:p>
        </p:txBody>
      </p:sp>
      <p:sp>
        <p:nvSpPr>
          <p:cNvPr id="7" name="Title 1">
            <a:extLst>
              <a:ext uri="{FF2B5EF4-FFF2-40B4-BE49-F238E27FC236}">
                <a16:creationId xmlns:a16="http://schemas.microsoft.com/office/drawing/2014/main" id="{D7835960-14CA-472F-9745-C4A58D8088E0}"/>
              </a:ext>
            </a:extLst>
          </p:cNvPr>
          <p:cNvSpPr>
            <a:spLocks noGrp="1"/>
          </p:cNvSpPr>
          <p:nvPr>
            <p:ph type="title"/>
          </p:nvPr>
        </p:nvSpPr>
        <p:spPr>
          <a:xfrm>
            <a:off x="512763" y="261938"/>
            <a:ext cx="4353705" cy="563562"/>
          </a:xfrm>
        </p:spPr>
        <p:txBody>
          <a:bodyPr>
            <a:normAutofit/>
          </a:bodyPr>
          <a:lstStyle/>
          <a:p>
            <a:r>
              <a:rPr lang="en-US" sz="3200" b="1" dirty="0">
                <a:latin typeface="+mn-lt"/>
                <a:ea typeface="+mn-ea"/>
                <a:cs typeface="+mn-cs"/>
              </a:rPr>
              <a:t>Domain name and URL</a:t>
            </a:r>
            <a:endParaRPr lang="en-US" sz="2400" b="1" dirty="0">
              <a:latin typeface="+mn-lt"/>
              <a:ea typeface="+mn-ea"/>
              <a:cs typeface="+mn-cs"/>
            </a:endParaRPr>
          </a:p>
        </p:txBody>
      </p:sp>
    </p:spTree>
    <p:extLst>
      <p:ext uri="{BB962C8B-B14F-4D97-AF65-F5344CB8AC3E}">
        <p14:creationId xmlns:p14="http://schemas.microsoft.com/office/powerpoint/2010/main" val="292589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1060224"/>
            <a:ext cx="11432344" cy="3718810"/>
          </a:xfrm>
        </p:spPr>
        <p:txBody>
          <a:bodyPr>
            <a:noAutofit/>
          </a:bodyPr>
          <a:lstStyle/>
          <a:p>
            <a:pPr algn="l"/>
            <a:r>
              <a:rPr lang="en-US" sz="2400" dirty="0"/>
              <a:t>An IP address identifies a device on the network.</a:t>
            </a:r>
          </a:p>
          <a:p>
            <a:pPr algn="l"/>
            <a:r>
              <a:rPr lang="en-US" sz="2400" dirty="0"/>
              <a:t>A networked device can run different application protocols</a:t>
            </a:r>
          </a:p>
          <a:p>
            <a:pPr algn="l"/>
            <a:r>
              <a:rPr lang="en-US" sz="2400" dirty="0"/>
              <a:t>An application protocol defines rules for web applications on different devices to communicate over the network.</a:t>
            </a:r>
          </a:p>
          <a:p>
            <a:pPr algn="l"/>
            <a:r>
              <a:rPr lang="en-US" sz="2400" dirty="0"/>
              <a:t>A network port identifies a specific application protocol running on a networked device</a:t>
            </a:r>
            <a:r>
              <a:rPr lang="en-AU" sz="2400" dirty="0"/>
              <a:t>.</a:t>
            </a:r>
          </a:p>
          <a:p>
            <a:pPr lvl="1"/>
            <a:endParaRPr lang="en-AU" dirty="0"/>
          </a:p>
        </p:txBody>
      </p:sp>
      <p:sp>
        <p:nvSpPr>
          <p:cNvPr id="4" name="Title 1">
            <a:extLst>
              <a:ext uri="{FF2B5EF4-FFF2-40B4-BE49-F238E27FC236}">
                <a16:creationId xmlns:a16="http://schemas.microsoft.com/office/drawing/2014/main" id="{0983DB90-3B36-4125-B1B5-B380F2121C18}"/>
              </a:ext>
            </a:extLst>
          </p:cNvPr>
          <p:cNvSpPr txBox="1">
            <a:spLocks/>
          </p:cNvSpPr>
          <p:nvPr/>
        </p:nvSpPr>
        <p:spPr>
          <a:xfrm>
            <a:off x="512006" y="261441"/>
            <a:ext cx="5780306" cy="5633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latin typeface="+mn-lt"/>
                <a:ea typeface="+mn-ea"/>
                <a:cs typeface="+mn-cs"/>
              </a:rPr>
              <a:t>Port</a:t>
            </a:r>
            <a:endParaRPr lang="en-US" sz="2400" b="1" dirty="0">
              <a:latin typeface="+mn-lt"/>
              <a:ea typeface="+mn-ea"/>
              <a:cs typeface="+mn-cs"/>
            </a:endParaRPr>
          </a:p>
        </p:txBody>
      </p:sp>
    </p:spTree>
    <p:extLst>
      <p:ext uri="{BB962C8B-B14F-4D97-AF65-F5344CB8AC3E}">
        <p14:creationId xmlns:p14="http://schemas.microsoft.com/office/powerpoint/2010/main" val="2274899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7" y="1036777"/>
            <a:ext cx="11023502" cy="3718810"/>
          </a:xfrm>
        </p:spPr>
        <p:txBody>
          <a:bodyPr>
            <a:noAutofit/>
          </a:bodyPr>
          <a:lstStyle/>
          <a:p>
            <a:pPr algn="l"/>
            <a:r>
              <a:rPr lang="en-US" sz="2400" dirty="0"/>
              <a:t>A network port is identified by a number, the port number.</a:t>
            </a:r>
          </a:p>
          <a:p>
            <a:pPr algn="l"/>
            <a:r>
              <a:rPr lang="en-US" sz="2400" dirty="0"/>
              <a:t>There are some port numbers which are usually allocated for specific </a:t>
            </a:r>
            <a:r>
              <a:rPr lang="en-AU" sz="2400" dirty="0"/>
              <a:t>application protocols as their destination ports.</a:t>
            </a:r>
          </a:p>
          <a:p>
            <a:pPr lvl="1"/>
            <a:r>
              <a:rPr lang="en-AU" sz="2400" dirty="0"/>
              <a:t>e.g., </a:t>
            </a:r>
          </a:p>
          <a:p>
            <a:pPr lvl="1"/>
            <a:endParaRPr lang="en-AU" dirty="0"/>
          </a:p>
        </p:txBody>
      </p:sp>
      <p:sp>
        <p:nvSpPr>
          <p:cNvPr id="7" name="Title 1">
            <a:extLst>
              <a:ext uri="{FF2B5EF4-FFF2-40B4-BE49-F238E27FC236}">
                <a16:creationId xmlns:a16="http://schemas.microsoft.com/office/drawing/2014/main" id="{3CF6840C-5E0C-4963-ACE7-6189D6179DDD}"/>
              </a:ext>
            </a:extLst>
          </p:cNvPr>
          <p:cNvSpPr txBox="1">
            <a:spLocks/>
          </p:cNvSpPr>
          <p:nvPr/>
        </p:nvSpPr>
        <p:spPr>
          <a:xfrm>
            <a:off x="512006" y="261441"/>
            <a:ext cx="5780306" cy="5633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latin typeface="+mn-lt"/>
                <a:ea typeface="+mn-ea"/>
                <a:cs typeface="+mn-cs"/>
              </a:rPr>
              <a:t>Port</a:t>
            </a:r>
            <a:endParaRPr lang="en-US" sz="2400" b="1" dirty="0">
              <a:latin typeface="+mn-lt"/>
              <a:ea typeface="+mn-ea"/>
              <a:cs typeface="+mn-cs"/>
            </a:endParaRPr>
          </a:p>
        </p:txBody>
      </p:sp>
      <p:graphicFrame>
        <p:nvGraphicFramePr>
          <p:cNvPr id="8" name="Table 3">
            <a:extLst>
              <a:ext uri="{FF2B5EF4-FFF2-40B4-BE49-F238E27FC236}">
                <a16:creationId xmlns:a16="http://schemas.microsoft.com/office/drawing/2014/main" id="{BD05919C-F786-4C8A-B913-A39A2FF556D7}"/>
              </a:ext>
            </a:extLst>
          </p:cNvPr>
          <p:cNvGraphicFramePr>
            <a:graphicFrameLocks noGrp="1"/>
          </p:cNvGraphicFramePr>
          <p:nvPr>
            <p:extLst>
              <p:ext uri="{D42A27DB-BD31-4B8C-83A1-F6EECF244321}">
                <p14:modId xmlns:p14="http://schemas.microsoft.com/office/powerpoint/2010/main" val="912928748"/>
              </p:ext>
            </p:extLst>
          </p:nvPr>
        </p:nvGraphicFramePr>
        <p:xfrm>
          <a:off x="1765300" y="3429000"/>
          <a:ext cx="8128000" cy="200025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098482922"/>
                    </a:ext>
                  </a:extLst>
                </a:gridCol>
                <a:gridCol w="4064000">
                  <a:extLst>
                    <a:ext uri="{9D8B030D-6E8A-4147-A177-3AD203B41FA5}">
                      <a16:colId xmlns:a16="http://schemas.microsoft.com/office/drawing/2014/main" val="24116458"/>
                    </a:ext>
                  </a:extLst>
                </a:gridCol>
              </a:tblGrid>
              <a:tr h="592194">
                <a:tc>
                  <a:txBody>
                    <a:bodyPr/>
                    <a:lstStyle/>
                    <a:p>
                      <a:pPr algn="ctr"/>
                      <a:r>
                        <a:rPr lang="en-AU" sz="2400" b="1" dirty="0">
                          <a:solidFill>
                            <a:schemeClr val="tx1"/>
                          </a:solidFill>
                        </a:rPr>
                        <a:t>Application Protocols</a:t>
                      </a:r>
                      <a:endParaRPr lang="en-AU"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dirty="0">
                          <a:solidFill>
                            <a:schemeClr val="tx1"/>
                          </a:solidFill>
                        </a:rPr>
                        <a:t>Default Port Numbers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2241401"/>
                  </a:ext>
                </a:extLst>
              </a:tr>
              <a:tr h="475428">
                <a:tc>
                  <a:txBody>
                    <a:bodyPr/>
                    <a:lstStyle/>
                    <a:p>
                      <a:pPr algn="ctr"/>
                      <a:r>
                        <a:rPr lang="en-AU" sz="2400" dirty="0"/>
                        <a:t>HTTP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dirty="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64488"/>
                  </a:ext>
                </a:extLst>
              </a:tr>
              <a:tr h="475428">
                <a:tc>
                  <a:txBody>
                    <a:bodyPr/>
                    <a:lstStyle/>
                    <a:p>
                      <a:pPr algn="ctr"/>
                      <a:r>
                        <a:rPr lang="en-AU" sz="2400" dirty="0"/>
                        <a:t>HTTPS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dirty="0"/>
                        <a:t>443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9830111"/>
                  </a:ext>
                </a:extLst>
              </a:tr>
              <a:tr h="436506">
                <a:tc>
                  <a:txBody>
                    <a:bodyPr/>
                    <a:lstStyle/>
                    <a:p>
                      <a:pPr algn="ctr"/>
                      <a:r>
                        <a:rPr lang="en-AU" sz="2400" dirty="0"/>
                        <a:t>SSH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6377719"/>
                  </a:ext>
                </a:extLst>
              </a:tr>
            </a:tbl>
          </a:graphicData>
        </a:graphic>
      </p:graphicFrame>
    </p:spTree>
    <p:extLst>
      <p:ext uri="{BB962C8B-B14F-4D97-AF65-F5344CB8AC3E}">
        <p14:creationId xmlns:p14="http://schemas.microsoft.com/office/powerpoint/2010/main" val="3729574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691570" y="1083670"/>
            <a:ext cx="8851016" cy="3718810"/>
          </a:xfrm>
        </p:spPr>
        <p:txBody>
          <a:bodyPr>
            <a:noAutofit/>
          </a:bodyPr>
          <a:lstStyle/>
          <a:p>
            <a:pPr algn="l"/>
            <a:r>
              <a:rPr lang="en-US" sz="2400" dirty="0"/>
              <a:t>What is a destination port?</a:t>
            </a:r>
          </a:p>
          <a:p>
            <a:pPr lvl="1"/>
            <a:endParaRPr lang="en-US" sz="2200" dirty="0"/>
          </a:p>
          <a:p>
            <a:pPr lvl="1"/>
            <a:endParaRPr lang="en-US" sz="2200" dirty="0"/>
          </a:p>
          <a:p>
            <a:pPr algn="l"/>
            <a:r>
              <a:rPr lang="en-US" sz="2400" dirty="0"/>
              <a:t>A network port number is 16 bits long, i.e., 2 bytes.</a:t>
            </a:r>
          </a:p>
          <a:p>
            <a:pPr lvl="1"/>
            <a:r>
              <a:rPr lang="en-AU" sz="2400" dirty="0"/>
              <a:t>What is the possible port range?</a:t>
            </a:r>
          </a:p>
          <a:p>
            <a:pPr lvl="1"/>
            <a:endParaRPr lang="en-AU" dirty="0"/>
          </a:p>
        </p:txBody>
      </p:sp>
      <p:sp>
        <p:nvSpPr>
          <p:cNvPr id="4" name="TextBox 3">
            <a:extLst>
              <a:ext uri="{FF2B5EF4-FFF2-40B4-BE49-F238E27FC236}">
                <a16:creationId xmlns:a16="http://schemas.microsoft.com/office/drawing/2014/main" id="{8FA09279-36E6-42EE-9508-B99B0178C016}"/>
              </a:ext>
            </a:extLst>
          </p:cNvPr>
          <p:cNvSpPr txBox="1"/>
          <p:nvPr/>
        </p:nvSpPr>
        <p:spPr>
          <a:xfrm>
            <a:off x="511969" y="1632804"/>
            <a:ext cx="8128000" cy="461665"/>
          </a:xfrm>
          <a:prstGeom prst="rect">
            <a:avLst/>
          </a:prstGeom>
          <a:noFill/>
        </p:spPr>
        <p:txBody>
          <a:bodyPr wrap="square">
            <a:spAutoFit/>
          </a:bodyPr>
          <a:lstStyle/>
          <a:p>
            <a:r>
              <a:rPr lang="en-AU" sz="2400" dirty="0"/>
              <a:t>192.168.1.1:9000  -&gt;  210.100.100.1:443</a:t>
            </a:r>
          </a:p>
        </p:txBody>
      </p:sp>
      <p:sp>
        <p:nvSpPr>
          <p:cNvPr id="7" name="Title 1">
            <a:extLst>
              <a:ext uri="{FF2B5EF4-FFF2-40B4-BE49-F238E27FC236}">
                <a16:creationId xmlns:a16="http://schemas.microsoft.com/office/drawing/2014/main" id="{0D9DCFC7-C86B-4667-892E-E9B9A0C4CE71}"/>
              </a:ext>
            </a:extLst>
          </p:cNvPr>
          <p:cNvSpPr txBox="1">
            <a:spLocks/>
          </p:cNvSpPr>
          <p:nvPr/>
        </p:nvSpPr>
        <p:spPr>
          <a:xfrm>
            <a:off x="512006" y="261441"/>
            <a:ext cx="5780306" cy="5633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latin typeface="+mn-lt"/>
                <a:ea typeface="+mn-ea"/>
                <a:cs typeface="+mn-cs"/>
              </a:rPr>
              <a:t>Port</a:t>
            </a:r>
            <a:endParaRPr lang="en-US" sz="2400" b="1" dirty="0">
              <a:latin typeface="+mn-lt"/>
              <a:ea typeface="+mn-ea"/>
              <a:cs typeface="+mn-cs"/>
            </a:endParaRPr>
          </a:p>
        </p:txBody>
      </p:sp>
    </p:spTree>
    <p:extLst>
      <p:ext uri="{BB962C8B-B14F-4D97-AF65-F5344CB8AC3E}">
        <p14:creationId xmlns:p14="http://schemas.microsoft.com/office/powerpoint/2010/main" val="2118485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691570" y="1083670"/>
            <a:ext cx="8851016" cy="3718810"/>
          </a:xfrm>
        </p:spPr>
        <p:txBody>
          <a:bodyPr>
            <a:noAutofit/>
          </a:bodyPr>
          <a:lstStyle/>
          <a:p>
            <a:pPr algn="l"/>
            <a:r>
              <a:rPr lang="en-US" sz="2400" dirty="0"/>
              <a:t>What is a destination port?</a:t>
            </a:r>
          </a:p>
          <a:p>
            <a:pPr lvl="1"/>
            <a:endParaRPr lang="en-US" sz="2200" dirty="0"/>
          </a:p>
          <a:p>
            <a:pPr lvl="1"/>
            <a:endParaRPr lang="en-US" sz="2200" dirty="0"/>
          </a:p>
          <a:p>
            <a:pPr algn="l"/>
            <a:r>
              <a:rPr lang="en-US" sz="2400" dirty="0"/>
              <a:t>A network port number is 16 bits long, i.e., 2 bytes.</a:t>
            </a:r>
          </a:p>
          <a:p>
            <a:pPr lvl="1"/>
            <a:r>
              <a:rPr lang="en-AU" sz="2400" dirty="0"/>
              <a:t>What is the possible port range?</a:t>
            </a:r>
          </a:p>
          <a:p>
            <a:pPr lvl="1"/>
            <a:endParaRPr lang="en-AU" dirty="0"/>
          </a:p>
        </p:txBody>
      </p:sp>
      <p:sp>
        <p:nvSpPr>
          <p:cNvPr id="4" name="TextBox 3">
            <a:extLst>
              <a:ext uri="{FF2B5EF4-FFF2-40B4-BE49-F238E27FC236}">
                <a16:creationId xmlns:a16="http://schemas.microsoft.com/office/drawing/2014/main" id="{8FA09279-36E6-42EE-9508-B99B0178C016}"/>
              </a:ext>
            </a:extLst>
          </p:cNvPr>
          <p:cNvSpPr txBox="1"/>
          <p:nvPr/>
        </p:nvSpPr>
        <p:spPr>
          <a:xfrm>
            <a:off x="511969" y="1632804"/>
            <a:ext cx="8128000" cy="461665"/>
          </a:xfrm>
          <a:prstGeom prst="rect">
            <a:avLst/>
          </a:prstGeom>
          <a:noFill/>
        </p:spPr>
        <p:txBody>
          <a:bodyPr wrap="square">
            <a:spAutoFit/>
          </a:bodyPr>
          <a:lstStyle/>
          <a:p>
            <a:r>
              <a:rPr lang="en-AU" sz="2400" dirty="0"/>
              <a:t>192.168.1.1:9000  -&gt;  210.100.100.1:443</a:t>
            </a:r>
          </a:p>
        </p:txBody>
      </p:sp>
      <p:sp>
        <p:nvSpPr>
          <p:cNvPr id="7" name="Title 1">
            <a:extLst>
              <a:ext uri="{FF2B5EF4-FFF2-40B4-BE49-F238E27FC236}">
                <a16:creationId xmlns:a16="http://schemas.microsoft.com/office/drawing/2014/main" id="{0D9DCFC7-C86B-4667-892E-E9B9A0C4CE71}"/>
              </a:ext>
            </a:extLst>
          </p:cNvPr>
          <p:cNvSpPr txBox="1">
            <a:spLocks/>
          </p:cNvSpPr>
          <p:nvPr/>
        </p:nvSpPr>
        <p:spPr>
          <a:xfrm>
            <a:off x="512006" y="261441"/>
            <a:ext cx="5780306" cy="5633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latin typeface="+mn-lt"/>
                <a:ea typeface="+mn-ea"/>
                <a:cs typeface="+mn-cs"/>
              </a:rPr>
              <a:t>Port</a:t>
            </a:r>
            <a:endParaRPr lang="en-US" sz="2400" b="1" dirty="0">
              <a:latin typeface="+mn-lt"/>
              <a:ea typeface="+mn-ea"/>
              <a:cs typeface="+mn-cs"/>
            </a:endParaRPr>
          </a:p>
        </p:txBody>
      </p:sp>
      <p:pic>
        <p:nvPicPr>
          <p:cNvPr id="9" name="Picture 8">
            <a:extLst>
              <a:ext uri="{FF2B5EF4-FFF2-40B4-BE49-F238E27FC236}">
                <a16:creationId xmlns:a16="http://schemas.microsoft.com/office/drawing/2014/main" id="{A8755D29-7923-433C-A92E-0112CB2801B7}"/>
              </a:ext>
            </a:extLst>
          </p:cNvPr>
          <p:cNvPicPr>
            <a:picLocks noChangeAspect="1"/>
          </p:cNvPicPr>
          <p:nvPr/>
        </p:nvPicPr>
        <p:blipFill>
          <a:blip r:embed="rId3"/>
          <a:stretch>
            <a:fillRect/>
          </a:stretch>
        </p:blipFill>
        <p:spPr>
          <a:xfrm>
            <a:off x="691570" y="3271453"/>
            <a:ext cx="10406028" cy="3233087"/>
          </a:xfrm>
          <a:prstGeom prst="rect">
            <a:avLst/>
          </a:prstGeom>
        </p:spPr>
      </p:pic>
      <p:cxnSp>
        <p:nvCxnSpPr>
          <p:cNvPr id="3" name="Straight Connector 2">
            <a:extLst>
              <a:ext uri="{FF2B5EF4-FFF2-40B4-BE49-F238E27FC236}">
                <a16:creationId xmlns:a16="http://schemas.microsoft.com/office/drawing/2014/main" id="{AACF3D5E-7BA6-4C80-AC9E-9F72FEFA227A}"/>
              </a:ext>
            </a:extLst>
          </p:cNvPr>
          <p:cNvCxnSpPr>
            <a:cxnSpLocks/>
          </p:cNvCxnSpPr>
          <p:nvPr/>
        </p:nvCxnSpPr>
        <p:spPr>
          <a:xfrm>
            <a:off x="7754112" y="6431388"/>
            <a:ext cx="277977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6173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178223"/>
            <a:ext cx="2150983" cy="563312"/>
          </a:xfrm>
        </p:spPr>
        <p:txBody>
          <a:bodyPr>
            <a:normAutofit/>
          </a:bodyPr>
          <a:lstStyle/>
          <a:p>
            <a:r>
              <a:rPr lang="en-US" sz="3200" b="1" dirty="0">
                <a:latin typeface="+mn-lt"/>
                <a:ea typeface="+mn-ea"/>
                <a:cs typeface="+mn-cs"/>
              </a:rPr>
              <a:t>Protocol</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945924"/>
            <a:ext cx="10444752" cy="3302226"/>
          </a:xfrm>
        </p:spPr>
        <p:txBody>
          <a:bodyPr>
            <a:noAutofit/>
          </a:bodyPr>
          <a:lstStyle/>
          <a:p>
            <a:pPr algn="l"/>
            <a:r>
              <a:rPr lang="en-US" sz="2400" dirty="0"/>
              <a:t>A set of rules that govern how data is transmitted over a network.</a:t>
            </a:r>
          </a:p>
          <a:p>
            <a:pPr lvl="1"/>
            <a:r>
              <a:rPr lang="en-US" dirty="0">
                <a:solidFill>
                  <a:srgbClr val="C00000"/>
                </a:solidFill>
              </a:rPr>
              <a:t>Examples: </a:t>
            </a:r>
            <a:r>
              <a:rPr lang="en-US" dirty="0"/>
              <a:t>HTTP (</a:t>
            </a:r>
            <a:r>
              <a:rPr lang="en-AU" dirty="0"/>
              <a:t>Hypertext Transfer Protocol</a:t>
            </a:r>
            <a:r>
              <a:rPr lang="en-US" dirty="0"/>
              <a:t>), TCP (</a:t>
            </a:r>
            <a:r>
              <a:rPr lang="en-AU" dirty="0"/>
              <a:t>Transmission Control Protocol</a:t>
            </a:r>
            <a:r>
              <a:rPr lang="en-US" dirty="0"/>
              <a:t>), IP (</a:t>
            </a:r>
            <a:r>
              <a:rPr lang="en-AU" dirty="0"/>
              <a:t>Internet Protocol</a:t>
            </a:r>
            <a:r>
              <a:rPr lang="en-US" dirty="0"/>
              <a:t>)</a:t>
            </a:r>
            <a:endParaRPr lang="en-AU" dirty="0"/>
          </a:p>
        </p:txBody>
      </p:sp>
    </p:spTree>
    <p:extLst>
      <p:ext uri="{BB962C8B-B14F-4D97-AF65-F5344CB8AC3E}">
        <p14:creationId xmlns:p14="http://schemas.microsoft.com/office/powerpoint/2010/main" val="35806980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178223"/>
            <a:ext cx="2150983" cy="563312"/>
          </a:xfrm>
        </p:spPr>
        <p:txBody>
          <a:bodyPr>
            <a:normAutofit/>
          </a:bodyPr>
          <a:lstStyle/>
          <a:p>
            <a:r>
              <a:rPr lang="en-US" sz="3200" b="1" dirty="0">
                <a:latin typeface="+mn-lt"/>
                <a:ea typeface="+mn-ea"/>
                <a:cs typeface="+mn-cs"/>
              </a:rPr>
              <a:t>Protocol</a:t>
            </a:r>
            <a:endParaRPr lang="en-US" sz="2400" b="1" dirty="0">
              <a:latin typeface="+mn-lt"/>
              <a:ea typeface="+mn-ea"/>
              <a:cs typeface="+mn-cs"/>
            </a:endParaRPr>
          </a:p>
        </p:txBody>
      </p:sp>
      <p:sp>
        <p:nvSpPr>
          <p:cNvPr id="5" name="Content Placeholder 2">
            <a:extLst>
              <a:ext uri="{FF2B5EF4-FFF2-40B4-BE49-F238E27FC236}">
                <a16:creationId xmlns:a16="http://schemas.microsoft.com/office/drawing/2014/main" id="{E7C6157E-10AA-4ED2-A9F4-9BAC1D3A5A7B}"/>
              </a:ext>
            </a:extLst>
          </p:cNvPr>
          <p:cNvSpPr>
            <a:spLocks noGrp="1"/>
          </p:cNvSpPr>
          <p:nvPr>
            <p:ph idx="1"/>
          </p:nvPr>
        </p:nvSpPr>
        <p:spPr>
          <a:xfrm>
            <a:off x="512006" y="945924"/>
            <a:ext cx="10444752" cy="3302226"/>
          </a:xfrm>
        </p:spPr>
        <p:txBody>
          <a:bodyPr>
            <a:noAutofit/>
          </a:bodyPr>
          <a:lstStyle/>
          <a:p>
            <a:pPr algn="l"/>
            <a:r>
              <a:rPr lang="en-US" sz="2400" dirty="0"/>
              <a:t>A set of rules that govern how data is transmitted over a network.</a:t>
            </a:r>
          </a:p>
          <a:p>
            <a:pPr algn="l"/>
            <a:r>
              <a:rPr lang="en-US" sz="2400" b="1" dirty="0"/>
              <a:t>Each protocol is designed based on a layered model</a:t>
            </a:r>
            <a:r>
              <a:rPr lang="en-AU" sz="2400" b="1" dirty="0"/>
              <a:t>.</a:t>
            </a:r>
          </a:p>
          <a:p>
            <a:pPr lvl="1"/>
            <a:r>
              <a:rPr lang="en-US" dirty="0"/>
              <a:t>A real-world </a:t>
            </a:r>
            <a:r>
              <a:rPr lang="en-US" sz="2400" dirty="0"/>
              <a:t>model </a:t>
            </a:r>
            <a:r>
              <a:rPr lang="en-US" dirty="0"/>
              <a:t>: </a:t>
            </a:r>
            <a:r>
              <a:rPr lang="en-US" b="1" dirty="0"/>
              <a:t>TCP/IP</a:t>
            </a:r>
            <a:r>
              <a:rPr lang="en-US" dirty="0"/>
              <a:t>.</a:t>
            </a:r>
          </a:p>
          <a:p>
            <a:pPr lvl="1"/>
            <a:r>
              <a:rPr lang="en-AU" dirty="0"/>
              <a:t>A conceptual </a:t>
            </a:r>
            <a:r>
              <a:rPr lang="en-US" sz="2400" dirty="0"/>
              <a:t>model </a:t>
            </a:r>
            <a:r>
              <a:rPr lang="en-AU" dirty="0"/>
              <a:t>: </a:t>
            </a:r>
            <a:r>
              <a:rPr lang="en-AU" b="1" dirty="0"/>
              <a:t>OSI (Open Systems Interconnection)</a:t>
            </a:r>
            <a:endParaRPr lang="en-US" dirty="0"/>
          </a:p>
          <a:p>
            <a:pPr algn="l"/>
            <a:endParaRPr lang="en-US" dirty="0"/>
          </a:p>
          <a:p>
            <a:pPr lvl="1"/>
            <a:endParaRPr lang="en-US" dirty="0"/>
          </a:p>
          <a:p>
            <a:pPr lvl="1"/>
            <a:endParaRPr lang="en-AU" dirty="0"/>
          </a:p>
        </p:txBody>
      </p:sp>
    </p:spTree>
    <p:extLst>
      <p:ext uri="{BB962C8B-B14F-4D97-AF65-F5344CB8AC3E}">
        <p14:creationId xmlns:p14="http://schemas.microsoft.com/office/powerpoint/2010/main" val="1210084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F89529-CE9A-4E84-8D28-0E88296FF94D}"/>
              </a:ext>
            </a:extLst>
          </p:cNvPr>
          <p:cNvSpPr/>
          <p:nvPr/>
        </p:nvSpPr>
        <p:spPr>
          <a:xfrm>
            <a:off x="5930771" y="1757081"/>
            <a:ext cx="721041" cy="434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dirty="0">
              <a:solidFill>
                <a:schemeClr val="tx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0FFAFAFC-16B3-4E99-B3EA-620AE439D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248" y="383902"/>
            <a:ext cx="6921046" cy="5536836"/>
          </a:xfrm>
          <a:prstGeom prst="rect">
            <a:avLst/>
          </a:prstGeom>
        </p:spPr>
      </p:pic>
    </p:spTree>
    <p:extLst>
      <p:ext uri="{BB962C8B-B14F-4D97-AF65-F5344CB8AC3E}">
        <p14:creationId xmlns:p14="http://schemas.microsoft.com/office/powerpoint/2010/main" val="3548390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F89529-CE9A-4E84-8D28-0E88296FF94D}"/>
              </a:ext>
            </a:extLst>
          </p:cNvPr>
          <p:cNvSpPr/>
          <p:nvPr/>
        </p:nvSpPr>
        <p:spPr>
          <a:xfrm>
            <a:off x="5930771" y="1757081"/>
            <a:ext cx="721041" cy="434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6D693AC9-2791-4458-864A-E86EBB43AC7A}"/>
              </a:ext>
            </a:extLst>
          </p:cNvPr>
          <p:cNvSpPr>
            <a:spLocks noGrp="1"/>
          </p:cNvSpPr>
          <p:nvPr>
            <p:ph type="title"/>
          </p:nvPr>
        </p:nvSpPr>
        <p:spPr>
          <a:xfrm>
            <a:off x="287020" y="142240"/>
            <a:ext cx="7029450" cy="679028"/>
          </a:xfrm>
        </p:spPr>
        <p:txBody>
          <a:bodyPr>
            <a:normAutofit/>
          </a:bodyPr>
          <a:lstStyle/>
          <a:p>
            <a:r>
              <a:rPr lang="en-US" sz="3200" b="1" dirty="0">
                <a:latin typeface="+mn-lt"/>
                <a:ea typeface="+mn-ea"/>
                <a:cs typeface="+mn-cs"/>
              </a:rPr>
              <a:t>5-layer TCP/IP model</a:t>
            </a:r>
            <a:endParaRPr lang="en-US" sz="2400" b="1" dirty="0">
              <a:latin typeface="+mn-lt"/>
              <a:ea typeface="+mn-ea"/>
              <a:cs typeface="+mn-cs"/>
            </a:endParaRPr>
          </a:p>
        </p:txBody>
      </p:sp>
      <p:sp>
        <p:nvSpPr>
          <p:cNvPr id="10" name="Content Placeholder 2">
            <a:extLst>
              <a:ext uri="{FF2B5EF4-FFF2-40B4-BE49-F238E27FC236}">
                <a16:creationId xmlns:a16="http://schemas.microsoft.com/office/drawing/2014/main" id="{F372CEAF-067C-4AC0-84C9-1375F217B7B1}"/>
              </a:ext>
            </a:extLst>
          </p:cNvPr>
          <p:cNvSpPr>
            <a:spLocks noGrp="1"/>
          </p:cNvSpPr>
          <p:nvPr>
            <p:ph idx="1"/>
          </p:nvPr>
        </p:nvSpPr>
        <p:spPr>
          <a:xfrm>
            <a:off x="512005" y="945924"/>
            <a:ext cx="11201773" cy="1245946"/>
          </a:xfrm>
        </p:spPr>
        <p:txBody>
          <a:bodyPr>
            <a:noAutofit/>
          </a:bodyPr>
          <a:lstStyle/>
          <a:p>
            <a:r>
              <a:rPr lang="en-AU" sz="2400" b="1" dirty="0"/>
              <a:t>Application Layer</a:t>
            </a:r>
            <a:r>
              <a:rPr lang="en-US" sz="2400" b="1" dirty="0"/>
              <a:t> </a:t>
            </a:r>
            <a:r>
              <a:rPr lang="en-US" sz="2400" dirty="0"/>
              <a:t>provides network services directly to applications. It hosts various application-specific protocols.</a:t>
            </a:r>
          </a:p>
          <a:p>
            <a:pPr lvl="1"/>
            <a:r>
              <a:rPr lang="en-US" dirty="0">
                <a:solidFill>
                  <a:srgbClr val="C00000"/>
                </a:solidFill>
              </a:rPr>
              <a:t>Examples of protocols for different applications: </a:t>
            </a:r>
            <a:r>
              <a:rPr lang="en-US" dirty="0"/>
              <a:t>HTTP and HTTPS for web browsing</a:t>
            </a:r>
            <a:r>
              <a:rPr lang="en-AU" dirty="0"/>
              <a:t>, and SSH (Secure Shell) for secure remote access. </a:t>
            </a:r>
            <a:endParaRPr lang="en-US" dirty="0"/>
          </a:p>
          <a:p>
            <a:pPr lvl="1"/>
            <a:endParaRPr lang="en-AU" dirty="0"/>
          </a:p>
        </p:txBody>
      </p:sp>
    </p:spTree>
    <p:extLst>
      <p:ext uri="{BB962C8B-B14F-4D97-AF65-F5344CB8AC3E}">
        <p14:creationId xmlns:p14="http://schemas.microsoft.com/office/powerpoint/2010/main" val="1075626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F89529-CE9A-4E84-8D28-0E88296FF94D}"/>
              </a:ext>
            </a:extLst>
          </p:cNvPr>
          <p:cNvSpPr/>
          <p:nvPr/>
        </p:nvSpPr>
        <p:spPr>
          <a:xfrm>
            <a:off x="5930771" y="1757081"/>
            <a:ext cx="721041" cy="434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6D693AC9-2791-4458-864A-E86EBB43AC7A}"/>
              </a:ext>
            </a:extLst>
          </p:cNvPr>
          <p:cNvSpPr>
            <a:spLocks noGrp="1"/>
          </p:cNvSpPr>
          <p:nvPr>
            <p:ph type="title"/>
          </p:nvPr>
        </p:nvSpPr>
        <p:spPr>
          <a:xfrm>
            <a:off x="287020" y="142240"/>
            <a:ext cx="7029450" cy="679028"/>
          </a:xfrm>
        </p:spPr>
        <p:txBody>
          <a:bodyPr>
            <a:normAutofit/>
          </a:bodyPr>
          <a:lstStyle/>
          <a:p>
            <a:r>
              <a:rPr lang="en-US" sz="3200" b="1" dirty="0">
                <a:latin typeface="+mn-lt"/>
                <a:ea typeface="+mn-ea"/>
                <a:cs typeface="+mn-cs"/>
              </a:rPr>
              <a:t>5-layer TCP/IP model</a:t>
            </a:r>
            <a:endParaRPr lang="en-US" sz="2400" b="1" dirty="0">
              <a:latin typeface="+mn-lt"/>
              <a:ea typeface="+mn-ea"/>
              <a:cs typeface="+mn-cs"/>
            </a:endParaRPr>
          </a:p>
        </p:txBody>
      </p:sp>
      <p:sp>
        <p:nvSpPr>
          <p:cNvPr id="10" name="Content Placeholder 2">
            <a:extLst>
              <a:ext uri="{FF2B5EF4-FFF2-40B4-BE49-F238E27FC236}">
                <a16:creationId xmlns:a16="http://schemas.microsoft.com/office/drawing/2014/main" id="{F372CEAF-067C-4AC0-84C9-1375F217B7B1}"/>
              </a:ext>
            </a:extLst>
          </p:cNvPr>
          <p:cNvSpPr>
            <a:spLocks noGrp="1"/>
          </p:cNvSpPr>
          <p:nvPr>
            <p:ph idx="1"/>
          </p:nvPr>
        </p:nvSpPr>
        <p:spPr>
          <a:xfrm>
            <a:off x="512005" y="945924"/>
            <a:ext cx="11201773" cy="3302226"/>
          </a:xfrm>
        </p:spPr>
        <p:txBody>
          <a:bodyPr>
            <a:noAutofit/>
          </a:bodyPr>
          <a:lstStyle/>
          <a:p>
            <a:pPr algn="l"/>
            <a:r>
              <a:rPr lang="en-US" sz="2400" b="1" dirty="0"/>
              <a:t>Transport Layer </a:t>
            </a:r>
            <a:r>
              <a:rPr lang="en-US" sz="2400" dirty="0"/>
              <a:t>establishes and manages the end-to-end data transfer between applications running on different devices. </a:t>
            </a:r>
          </a:p>
          <a:p>
            <a:pPr lvl="1"/>
            <a:r>
              <a:rPr lang="en-US" dirty="0">
                <a:solidFill>
                  <a:srgbClr val="C00000"/>
                </a:solidFill>
              </a:rPr>
              <a:t>Examples of protocols for network connection: </a:t>
            </a:r>
            <a:r>
              <a:rPr lang="en-AU" dirty="0"/>
              <a:t>TCP (Transmission Control Protocol) for reliable connection, </a:t>
            </a:r>
            <a:r>
              <a:rPr lang="en-US" dirty="0"/>
              <a:t>UDP (User Datagram Protocol) for fast communication.</a:t>
            </a:r>
          </a:p>
          <a:p>
            <a:pPr lvl="1"/>
            <a:endParaRPr lang="en-AU" dirty="0"/>
          </a:p>
        </p:txBody>
      </p:sp>
    </p:spTree>
    <p:extLst>
      <p:ext uri="{BB962C8B-B14F-4D97-AF65-F5344CB8AC3E}">
        <p14:creationId xmlns:p14="http://schemas.microsoft.com/office/powerpoint/2010/main" val="518591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F89529-CE9A-4E84-8D28-0E88296FF94D}"/>
              </a:ext>
            </a:extLst>
          </p:cNvPr>
          <p:cNvSpPr/>
          <p:nvPr/>
        </p:nvSpPr>
        <p:spPr>
          <a:xfrm>
            <a:off x="5930771" y="1757081"/>
            <a:ext cx="721041" cy="434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6D693AC9-2791-4458-864A-E86EBB43AC7A}"/>
              </a:ext>
            </a:extLst>
          </p:cNvPr>
          <p:cNvSpPr>
            <a:spLocks noGrp="1"/>
          </p:cNvSpPr>
          <p:nvPr>
            <p:ph type="title"/>
          </p:nvPr>
        </p:nvSpPr>
        <p:spPr>
          <a:xfrm>
            <a:off x="287020" y="142240"/>
            <a:ext cx="7029450" cy="679028"/>
          </a:xfrm>
        </p:spPr>
        <p:txBody>
          <a:bodyPr>
            <a:normAutofit/>
          </a:bodyPr>
          <a:lstStyle/>
          <a:p>
            <a:r>
              <a:rPr lang="en-US" sz="3200" b="1" dirty="0">
                <a:latin typeface="+mn-lt"/>
                <a:ea typeface="+mn-ea"/>
                <a:cs typeface="+mn-cs"/>
              </a:rPr>
              <a:t>5-layer TCP/IP model</a:t>
            </a:r>
            <a:endParaRPr lang="en-US" sz="2400" b="1" dirty="0">
              <a:latin typeface="+mn-lt"/>
              <a:ea typeface="+mn-ea"/>
              <a:cs typeface="+mn-cs"/>
            </a:endParaRPr>
          </a:p>
        </p:txBody>
      </p:sp>
      <p:sp>
        <p:nvSpPr>
          <p:cNvPr id="10" name="Content Placeholder 2">
            <a:extLst>
              <a:ext uri="{FF2B5EF4-FFF2-40B4-BE49-F238E27FC236}">
                <a16:creationId xmlns:a16="http://schemas.microsoft.com/office/drawing/2014/main" id="{F372CEAF-067C-4AC0-84C9-1375F217B7B1}"/>
              </a:ext>
            </a:extLst>
          </p:cNvPr>
          <p:cNvSpPr>
            <a:spLocks noGrp="1"/>
          </p:cNvSpPr>
          <p:nvPr>
            <p:ph idx="1"/>
          </p:nvPr>
        </p:nvSpPr>
        <p:spPr>
          <a:xfrm>
            <a:off x="512005" y="945924"/>
            <a:ext cx="11201773" cy="3302226"/>
          </a:xfrm>
        </p:spPr>
        <p:txBody>
          <a:bodyPr>
            <a:noAutofit/>
          </a:bodyPr>
          <a:lstStyle/>
          <a:p>
            <a:pPr algn="l"/>
            <a:r>
              <a:rPr lang="en-US" sz="2400" b="1" dirty="0"/>
              <a:t>Network Layer </a:t>
            </a:r>
            <a:r>
              <a:rPr lang="en-US" sz="2400" dirty="0"/>
              <a:t>routes packets of data to reach their destination.</a:t>
            </a:r>
          </a:p>
          <a:p>
            <a:pPr lvl="1"/>
            <a:r>
              <a:rPr lang="en-US" dirty="0">
                <a:solidFill>
                  <a:srgbClr val="C00000"/>
                </a:solidFill>
              </a:rPr>
              <a:t>Example of protocols for packet routing: </a:t>
            </a:r>
            <a:r>
              <a:rPr lang="en-AU" dirty="0"/>
              <a:t>IP (Internet Protocol)</a:t>
            </a:r>
            <a:endParaRPr lang="en-US" dirty="0"/>
          </a:p>
          <a:p>
            <a:endParaRPr lang="en-US" dirty="0"/>
          </a:p>
          <a:p>
            <a:pPr lvl="1"/>
            <a:endParaRPr lang="en-US" dirty="0"/>
          </a:p>
          <a:p>
            <a:pPr lvl="1"/>
            <a:endParaRPr lang="en-AU" dirty="0"/>
          </a:p>
        </p:txBody>
      </p:sp>
    </p:spTree>
    <p:extLst>
      <p:ext uri="{BB962C8B-B14F-4D97-AF65-F5344CB8AC3E}">
        <p14:creationId xmlns:p14="http://schemas.microsoft.com/office/powerpoint/2010/main" val="2944549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F89529-CE9A-4E84-8D28-0E88296FF94D}"/>
              </a:ext>
            </a:extLst>
          </p:cNvPr>
          <p:cNvSpPr/>
          <p:nvPr/>
        </p:nvSpPr>
        <p:spPr>
          <a:xfrm>
            <a:off x="5930771" y="1757081"/>
            <a:ext cx="721041" cy="434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6D693AC9-2791-4458-864A-E86EBB43AC7A}"/>
              </a:ext>
            </a:extLst>
          </p:cNvPr>
          <p:cNvSpPr>
            <a:spLocks noGrp="1"/>
          </p:cNvSpPr>
          <p:nvPr>
            <p:ph type="title"/>
          </p:nvPr>
        </p:nvSpPr>
        <p:spPr>
          <a:xfrm>
            <a:off x="287020" y="142240"/>
            <a:ext cx="7029450" cy="679028"/>
          </a:xfrm>
        </p:spPr>
        <p:txBody>
          <a:bodyPr>
            <a:normAutofit/>
          </a:bodyPr>
          <a:lstStyle/>
          <a:p>
            <a:r>
              <a:rPr lang="en-US" sz="3200" b="1" dirty="0">
                <a:latin typeface="+mn-lt"/>
                <a:ea typeface="+mn-ea"/>
                <a:cs typeface="+mn-cs"/>
              </a:rPr>
              <a:t>5-layer TCP/IP model</a:t>
            </a:r>
            <a:endParaRPr lang="en-US" sz="2400" b="1" dirty="0">
              <a:latin typeface="+mn-lt"/>
              <a:ea typeface="+mn-ea"/>
              <a:cs typeface="+mn-cs"/>
            </a:endParaRPr>
          </a:p>
        </p:txBody>
      </p:sp>
      <p:sp>
        <p:nvSpPr>
          <p:cNvPr id="8" name="Content Placeholder 2">
            <a:extLst>
              <a:ext uri="{FF2B5EF4-FFF2-40B4-BE49-F238E27FC236}">
                <a16:creationId xmlns:a16="http://schemas.microsoft.com/office/drawing/2014/main" id="{D22EC736-60D0-4F11-A683-617798D24A47}"/>
              </a:ext>
            </a:extLst>
          </p:cNvPr>
          <p:cNvSpPr>
            <a:spLocks noGrp="1"/>
          </p:cNvSpPr>
          <p:nvPr>
            <p:ph idx="1"/>
          </p:nvPr>
        </p:nvSpPr>
        <p:spPr>
          <a:xfrm>
            <a:off x="512005" y="945924"/>
            <a:ext cx="11201773" cy="3302226"/>
          </a:xfrm>
        </p:spPr>
        <p:txBody>
          <a:bodyPr>
            <a:noAutofit/>
          </a:bodyPr>
          <a:lstStyle/>
          <a:p>
            <a:pPr algn="l"/>
            <a:r>
              <a:rPr lang="en-US" sz="2400" b="1" dirty="0"/>
              <a:t>Data Link Layer </a:t>
            </a:r>
            <a:r>
              <a:rPr lang="en-US" sz="2400" dirty="0"/>
              <a:t>provides node-to-node data transfer.</a:t>
            </a:r>
          </a:p>
          <a:p>
            <a:pPr lvl="1"/>
            <a:r>
              <a:rPr lang="en-US" dirty="0"/>
              <a:t>Particularly, it uses MAC (Media Access Control) addresses to identify </a:t>
            </a:r>
            <a:r>
              <a:rPr lang="en-AU" dirty="0"/>
              <a:t>Network Interface Cards</a:t>
            </a:r>
            <a:r>
              <a:rPr lang="en-AU" b="1" dirty="0"/>
              <a:t> (</a:t>
            </a:r>
            <a:r>
              <a:rPr lang="en-US" dirty="0"/>
              <a:t>NICs).</a:t>
            </a:r>
            <a:endParaRPr lang="en-US" sz="2000" dirty="0"/>
          </a:p>
          <a:p>
            <a:pPr algn="l"/>
            <a:endParaRPr lang="en-US" dirty="0"/>
          </a:p>
          <a:p>
            <a:pPr lvl="1"/>
            <a:endParaRPr lang="en-US" dirty="0"/>
          </a:p>
          <a:p>
            <a:pPr lvl="1"/>
            <a:endParaRPr lang="en-AU" dirty="0"/>
          </a:p>
        </p:txBody>
      </p:sp>
    </p:spTree>
    <p:extLst>
      <p:ext uri="{BB962C8B-B14F-4D97-AF65-F5344CB8AC3E}">
        <p14:creationId xmlns:p14="http://schemas.microsoft.com/office/powerpoint/2010/main" val="3317381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F89529-CE9A-4E84-8D28-0E88296FF94D}"/>
              </a:ext>
            </a:extLst>
          </p:cNvPr>
          <p:cNvSpPr/>
          <p:nvPr/>
        </p:nvSpPr>
        <p:spPr>
          <a:xfrm>
            <a:off x="5930771" y="1757081"/>
            <a:ext cx="721041" cy="434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6D693AC9-2791-4458-864A-E86EBB43AC7A}"/>
              </a:ext>
            </a:extLst>
          </p:cNvPr>
          <p:cNvSpPr>
            <a:spLocks noGrp="1"/>
          </p:cNvSpPr>
          <p:nvPr>
            <p:ph type="title"/>
          </p:nvPr>
        </p:nvSpPr>
        <p:spPr>
          <a:xfrm>
            <a:off x="287020" y="142240"/>
            <a:ext cx="7029450" cy="679028"/>
          </a:xfrm>
        </p:spPr>
        <p:txBody>
          <a:bodyPr>
            <a:normAutofit/>
          </a:bodyPr>
          <a:lstStyle/>
          <a:p>
            <a:r>
              <a:rPr lang="en-US" sz="3200" b="1" dirty="0">
                <a:latin typeface="+mn-lt"/>
                <a:ea typeface="+mn-ea"/>
                <a:cs typeface="+mn-cs"/>
              </a:rPr>
              <a:t>5-layer TCP/IP model</a:t>
            </a:r>
            <a:endParaRPr lang="en-US" sz="2400" b="1" dirty="0">
              <a:latin typeface="+mn-lt"/>
              <a:ea typeface="+mn-ea"/>
              <a:cs typeface="+mn-cs"/>
            </a:endParaRPr>
          </a:p>
        </p:txBody>
      </p:sp>
      <p:sp>
        <p:nvSpPr>
          <p:cNvPr id="10" name="Content Placeholder 2">
            <a:extLst>
              <a:ext uri="{FF2B5EF4-FFF2-40B4-BE49-F238E27FC236}">
                <a16:creationId xmlns:a16="http://schemas.microsoft.com/office/drawing/2014/main" id="{F372CEAF-067C-4AC0-84C9-1375F217B7B1}"/>
              </a:ext>
            </a:extLst>
          </p:cNvPr>
          <p:cNvSpPr>
            <a:spLocks noGrp="1"/>
          </p:cNvSpPr>
          <p:nvPr>
            <p:ph idx="1"/>
          </p:nvPr>
        </p:nvSpPr>
        <p:spPr>
          <a:xfrm>
            <a:off x="512005" y="945924"/>
            <a:ext cx="11201773" cy="3302226"/>
          </a:xfrm>
        </p:spPr>
        <p:txBody>
          <a:bodyPr>
            <a:noAutofit/>
          </a:bodyPr>
          <a:lstStyle/>
          <a:p>
            <a:pPr algn="l"/>
            <a:r>
              <a:rPr lang="en-US" sz="2400" b="1" dirty="0"/>
              <a:t>Data Link Layer </a:t>
            </a:r>
            <a:r>
              <a:rPr lang="en-US" sz="2400" dirty="0"/>
              <a:t>provides node-to-node data transfer.</a:t>
            </a:r>
          </a:p>
          <a:p>
            <a:pPr lvl="1"/>
            <a:r>
              <a:rPr lang="en-US" dirty="0"/>
              <a:t>Particularly, it uses MAC (Media Access Control) addresses to identify </a:t>
            </a:r>
            <a:r>
              <a:rPr lang="en-AU" dirty="0"/>
              <a:t>Network Interface Cards</a:t>
            </a:r>
            <a:r>
              <a:rPr lang="en-AU" b="1" dirty="0"/>
              <a:t> (</a:t>
            </a:r>
            <a:r>
              <a:rPr lang="en-US" dirty="0"/>
              <a:t>NICs).</a:t>
            </a:r>
            <a:endParaRPr lang="en-US" dirty="0">
              <a:solidFill>
                <a:srgbClr val="C00000"/>
              </a:solidFill>
            </a:endParaRPr>
          </a:p>
          <a:p>
            <a:pPr lvl="1"/>
            <a:r>
              <a:rPr lang="en-US" dirty="0">
                <a:solidFill>
                  <a:srgbClr val="C00000"/>
                </a:solidFill>
              </a:rPr>
              <a:t>Examples of protocols for node addressing: </a:t>
            </a:r>
            <a:r>
              <a:rPr lang="en-US" dirty="0"/>
              <a:t>Ethernet, Wi-Fi</a:t>
            </a:r>
          </a:p>
          <a:p>
            <a:pPr lvl="1"/>
            <a:endParaRPr lang="en-US" sz="2000" dirty="0"/>
          </a:p>
          <a:p>
            <a:pPr algn="l"/>
            <a:endParaRPr lang="en-US" dirty="0"/>
          </a:p>
          <a:p>
            <a:pPr lvl="1"/>
            <a:endParaRPr lang="en-US" dirty="0"/>
          </a:p>
          <a:p>
            <a:pPr lvl="1"/>
            <a:endParaRPr lang="en-AU" dirty="0"/>
          </a:p>
        </p:txBody>
      </p:sp>
    </p:spTree>
    <p:extLst>
      <p:ext uri="{BB962C8B-B14F-4D97-AF65-F5344CB8AC3E}">
        <p14:creationId xmlns:p14="http://schemas.microsoft.com/office/powerpoint/2010/main" val="3109562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F89529-CE9A-4E84-8D28-0E88296FF94D}"/>
              </a:ext>
            </a:extLst>
          </p:cNvPr>
          <p:cNvSpPr/>
          <p:nvPr/>
        </p:nvSpPr>
        <p:spPr>
          <a:xfrm>
            <a:off x="5930771" y="1757081"/>
            <a:ext cx="721041" cy="434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6D693AC9-2791-4458-864A-E86EBB43AC7A}"/>
              </a:ext>
            </a:extLst>
          </p:cNvPr>
          <p:cNvSpPr>
            <a:spLocks noGrp="1"/>
          </p:cNvSpPr>
          <p:nvPr>
            <p:ph type="title"/>
          </p:nvPr>
        </p:nvSpPr>
        <p:spPr>
          <a:xfrm>
            <a:off x="287020" y="142240"/>
            <a:ext cx="7029450" cy="679028"/>
          </a:xfrm>
        </p:spPr>
        <p:txBody>
          <a:bodyPr>
            <a:normAutofit/>
          </a:bodyPr>
          <a:lstStyle/>
          <a:p>
            <a:r>
              <a:rPr lang="en-US" sz="3200" b="1" dirty="0">
                <a:latin typeface="+mn-lt"/>
                <a:ea typeface="+mn-ea"/>
                <a:cs typeface="+mn-cs"/>
              </a:rPr>
              <a:t>5-layer TCP/IP model</a:t>
            </a:r>
            <a:endParaRPr lang="en-US" sz="2400" b="1" dirty="0">
              <a:latin typeface="+mn-lt"/>
              <a:ea typeface="+mn-ea"/>
              <a:cs typeface="+mn-cs"/>
            </a:endParaRPr>
          </a:p>
        </p:txBody>
      </p:sp>
      <p:sp>
        <p:nvSpPr>
          <p:cNvPr id="10" name="Content Placeholder 2">
            <a:extLst>
              <a:ext uri="{FF2B5EF4-FFF2-40B4-BE49-F238E27FC236}">
                <a16:creationId xmlns:a16="http://schemas.microsoft.com/office/drawing/2014/main" id="{F372CEAF-067C-4AC0-84C9-1375F217B7B1}"/>
              </a:ext>
            </a:extLst>
          </p:cNvPr>
          <p:cNvSpPr>
            <a:spLocks noGrp="1"/>
          </p:cNvSpPr>
          <p:nvPr>
            <p:ph idx="1"/>
          </p:nvPr>
        </p:nvSpPr>
        <p:spPr>
          <a:xfrm>
            <a:off x="512005" y="945924"/>
            <a:ext cx="11192315" cy="3302226"/>
          </a:xfrm>
        </p:spPr>
        <p:txBody>
          <a:bodyPr>
            <a:noAutofit/>
          </a:bodyPr>
          <a:lstStyle/>
          <a:p>
            <a:endParaRPr lang="en-US" sz="2400" dirty="0"/>
          </a:p>
          <a:p>
            <a:pPr algn="l"/>
            <a:r>
              <a:rPr lang="en-US" sz="2400" b="1" dirty="0"/>
              <a:t>Physical Layer </a:t>
            </a:r>
            <a:r>
              <a:rPr lang="en-US" sz="2400" dirty="0"/>
              <a:t>deals with data transmission over a physical medium.</a:t>
            </a:r>
          </a:p>
          <a:p>
            <a:pPr lvl="1"/>
            <a:r>
              <a:rPr lang="en-US" dirty="0">
                <a:solidFill>
                  <a:srgbClr val="C00000"/>
                </a:solidFill>
              </a:rPr>
              <a:t>Examples of medium: </a:t>
            </a:r>
            <a:r>
              <a:rPr lang="en-US" dirty="0"/>
              <a:t>Optical fibers, Wireless radio waves</a:t>
            </a:r>
          </a:p>
          <a:p>
            <a:pPr algn="l"/>
            <a:endParaRPr lang="en-US" b="0" i="0" dirty="0">
              <a:solidFill>
                <a:srgbClr val="444444"/>
              </a:solidFill>
              <a:effectLst/>
              <a:latin typeface="Helvetica Neue"/>
            </a:endParaRPr>
          </a:p>
          <a:p>
            <a:endParaRPr lang="en-US" dirty="0"/>
          </a:p>
          <a:p>
            <a:pPr lvl="1"/>
            <a:endParaRPr lang="en-US" dirty="0"/>
          </a:p>
          <a:p>
            <a:pPr lvl="1"/>
            <a:endParaRPr lang="en-AU" dirty="0"/>
          </a:p>
        </p:txBody>
      </p:sp>
    </p:spTree>
    <p:extLst>
      <p:ext uri="{BB962C8B-B14F-4D97-AF65-F5344CB8AC3E}">
        <p14:creationId xmlns:p14="http://schemas.microsoft.com/office/powerpoint/2010/main" val="21601965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178222"/>
            <a:ext cx="7271027" cy="595501"/>
          </a:xfrm>
        </p:spPr>
        <p:txBody>
          <a:bodyPr>
            <a:normAutofit/>
          </a:bodyPr>
          <a:lstStyle/>
          <a:p>
            <a:r>
              <a:rPr lang="en-US" sz="3200" b="1" dirty="0">
                <a:latin typeface="+mn-lt"/>
                <a:ea typeface="+mn-ea"/>
                <a:cs typeface="+mn-cs"/>
              </a:rPr>
              <a:t>Transmit Data with TCP/IP model</a:t>
            </a:r>
          </a:p>
        </p:txBody>
      </p:sp>
      <p:pic>
        <p:nvPicPr>
          <p:cNvPr id="9" name="Picture 8">
            <a:extLst>
              <a:ext uri="{FF2B5EF4-FFF2-40B4-BE49-F238E27FC236}">
                <a16:creationId xmlns:a16="http://schemas.microsoft.com/office/drawing/2014/main" id="{9784EF05-2960-4030-BF02-D3CF02CF6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2328" y="951954"/>
            <a:ext cx="7361549" cy="5320225"/>
          </a:xfrm>
          <a:prstGeom prst="rect">
            <a:avLst/>
          </a:prstGeom>
        </p:spPr>
      </p:pic>
      <p:sp>
        <p:nvSpPr>
          <p:cNvPr id="10" name="Rectangle 9">
            <a:extLst>
              <a:ext uri="{FF2B5EF4-FFF2-40B4-BE49-F238E27FC236}">
                <a16:creationId xmlns:a16="http://schemas.microsoft.com/office/drawing/2014/main" id="{6A3605C2-E7E4-4A06-B9DB-D0F53E9DFE8A}"/>
              </a:ext>
            </a:extLst>
          </p:cNvPr>
          <p:cNvSpPr/>
          <p:nvPr/>
        </p:nvSpPr>
        <p:spPr>
          <a:xfrm>
            <a:off x="315164" y="873453"/>
            <a:ext cx="2203938"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Data</a:t>
            </a:r>
            <a:endParaRPr lang="en-AU" sz="3200" dirty="0">
              <a:solidFill>
                <a:schemeClr val="tx1"/>
              </a:solidFill>
            </a:endParaRPr>
          </a:p>
        </p:txBody>
      </p:sp>
      <p:sp>
        <p:nvSpPr>
          <p:cNvPr id="11" name="Rectangle 10">
            <a:extLst>
              <a:ext uri="{FF2B5EF4-FFF2-40B4-BE49-F238E27FC236}">
                <a16:creationId xmlns:a16="http://schemas.microsoft.com/office/drawing/2014/main" id="{E44D1288-C3B2-4ACC-9FE6-380C4CAA54DE}"/>
              </a:ext>
            </a:extLst>
          </p:cNvPr>
          <p:cNvSpPr/>
          <p:nvPr/>
        </p:nvSpPr>
        <p:spPr>
          <a:xfrm>
            <a:off x="-12269" y="2301368"/>
            <a:ext cx="3400782" cy="11276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Segment for TCP</a:t>
            </a:r>
          </a:p>
          <a:p>
            <a:pPr algn="ctr"/>
            <a:r>
              <a:rPr lang="en-AU" sz="2800" dirty="0">
                <a:solidFill>
                  <a:schemeClr val="tx1"/>
                </a:solidFill>
              </a:rPr>
              <a:t>Datagram for UDP</a:t>
            </a:r>
          </a:p>
        </p:txBody>
      </p:sp>
    </p:spTree>
    <p:extLst>
      <p:ext uri="{BB962C8B-B14F-4D97-AF65-F5344CB8AC3E}">
        <p14:creationId xmlns:p14="http://schemas.microsoft.com/office/powerpoint/2010/main" val="2719328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06" y="178222"/>
            <a:ext cx="7271027" cy="595501"/>
          </a:xfrm>
        </p:spPr>
        <p:txBody>
          <a:bodyPr>
            <a:normAutofit/>
          </a:bodyPr>
          <a:lstStyle/>
          <a:p>
            <a:r>
              <a:rPr lang="en-US" sz="3200" b="1" dirty="0">
                <a:latin typeface="+mn-lt"/>
                <a:ea typeface="+mn-ea"/>
                <a:cs typeface="+mn-cs"/>
              </a:rPr>
              <a:t>Transmit Data with TCP/IP model</a:t>
            </a:r>
          </a:p>
        </p:txBody>
      </p:sp>
      <p:pic>
        <p:nvPicPr>
          <p:cNvPr id="9" name="Picture 8">
            <a:extLst>
              <a:ext uri="{FF2B5EF4-FFF2-40B4-BE49-F238E27FC236}">
                <a16:creationId xmlns:a16="http://schemas.microsoft.com/office/drawing/2014/main" id="{9784EF05-2960-4030-BF02-D3CF02CF6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2328" y="951954"/>
            <a:ext cx="7361549" cy="5320225"/>
          </a:xfrm>
          <a:prstGeom prst="rect">
            <a:avLst/>
          </a:prstGeom>
        </p:spPr>
      </p:pic>
      <p:sp>
        <p:nvSpPr>
          <p:cNvPr id="10" name="Rectangle 9">
            <a:extLst>
              <a:ext uri="{FF2B5EF4-FFF2-40B4-BE49-F238E27FC236}">
                <a16:creationId xmlns:a16="http://schemas.microsoft.com/office/drawing/2014/main" id="{6A3605C2-E7E4-4A06-B9DB-D0F53E9DFE8A}"/>
              </a:ext>
            </a:extLst>
          </p:cNvPr>
          <p:cNvSpPr/>
          <p:nvPr/>
        </p:nvSpPr>
        <p:spPr>
          <a:xfrm>
            <a:off x="315164" y="873453"/>
            <a:ext cx="2203938"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Data</a:t>
            </a:r>
            <a:endParaRPr lang="en-AU" sz="3200" dirty="0">
              <a:solidFill>
                <a:schemeClr val="tx1"/>
              </a:solidFill>
            </a:endParaRPr>
          </a:p>
        </p:txBody>
      </p:sp>
      <p:sp>
        <p:nvSpPr>
          <p:cNvPr id="11" name="Rectangle 10">
            <a:extLst>
              <a:ext uri="{FF2B5EF4-FFF2-40B4-BE49-F238E27FC236}">
                <a16:creationId xmlns:a16="http://schemas.microsoft.com/office/drawing/2014/main" id="{E44D1288-C3B2-4ACC-9FE6-380C4CAA54DE}"/>
              </a:ext>
            </a:extLst>
          </p:cNvPr>
          <p:cNvSpPr/>
          <p:nvPr/>
        </p:nvSpPr>
        <p:spPr>
          <a:xfrm>
            <a:off x="-12269" y="2301368"/>
            <a:ext cx="3400782" cy="11276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Segment for TCP</a:t>
            </a:r>
          </a:p>
          <a:p>
            <a:pPr algn="ctr"/>
            <a:r>
              <a:rPr lang="en-AU" sz="2800" dirty="0">
                <a:solidFill>
                  <a:schemeClr val="tx1"/>
                </a:solidFill>
              </a:rPr>
              <a:t>Datagram for UDP</a:t>
            </a:r>
          </a:p>
        </p:txBody>
      </p:sp>
      <p:sp>
        <p:nvSpPr>
          <p:cNvPr id="12" name="Rectangle 11">
            <a:extLst>
              <a:ext uri="{FF2B5EF4-FFF2-40B4-BE49-F238E27FC236}">
                <a16:creationId xmlns:a16="http://schemas.microsoft.com/office/drawing/2014/main" id="{D02A0813-945E-4DCE-B7C1-5D9024D9FAD6}"/>
              </a:ext>
            </a:extLst>
          </p:cNvPr>
          <p:cNvSpPr/>
          <p:nvPr/>
        </p:nvSpPr>
        <p:spPr>
          <a:xfrm>
            <a:off x="512006" y="3829176"/>
            <a:ext cx="1762271" cy="11276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Packet</a:t>
            </a:r>
          </a:p>
        </p:txBody>
      </p:sp>
      <p:sp>
        <p:nvSpPr>
          <p:cNvPr id="13" name="Rectangle 12">
            <a:extLst>
              <a:ext uri="{FF2B5EF4-FFF2-40B4-BE49-F238E27FC236}">
                <a16:creationId xmlns:a16="http://schemas.microsoft.com/office/drawing/2014/main" id="{42415ABB-5232-447F-98A2-80F14E3B5EB7}"/>
              </a:ext>
            </a:extLst>
          </p:cNvPr>
          <p:cNvSpPr/>
          <p:nvPr/>
        </p:nvSpPr>
        <p:spPr>
          <a:xfrm>
            <a:off x="8518786" y="6272179"/>
            <a:ext cx="3137216" cy="5124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Bits: 01011101…</a:t>
            </a:r>
          </a:p>
        </p:txBody>
      </p:sp>
      <p:sp>
        <p:nvSpPr>
          <p:cNvPr id="14" name="Rectangle 13">
            <a:extLst>
              <a:ext uri="{FF2B5EF4-FFF2-40B4-BE49-F238E27FC236}">
                <a16:creationId xmlns:a16="http://schemas.microsoft.com/office/drawing/2014/main" id="{7C5736BD-8E8D-434E-A8E5-7BCBB360664F}"/>
              </a:ext>
            </a:extLst>
          </p:cNvPr>
          <p:cNvSpPr/>
          <p:nvPr/>
        </p:nvSpPr>
        <p:spPr>
          <a:xfrm>
            <a:off x="535998" y="5144547"/>
            <a:ext cx="1762271" cy="11276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Frame</a:t>
            </a:r>
          </a:p>
        </p:txBody>
      </p:sp>
      <p:cxnSp>
        <p:nvCxnSpPr>
          <p:cNvPr id="16" name="Straight Arrow Connector 15">
            <a:extLst>
              <a:ext uri="{FF2B5EF4-FFF2-40B4-BE49-F238E27FC236}">
                <a16:creationId xmlns:a16="http://schemas.microsoft.com/office/drawing/2014/main" id="{6EB3107D-2306-4336-9671-9434F03DCDA9}"/>
              </a:ext>
            </a:extLst>
          </p:cNvPr>
          <p:cNvCxnSpPr>
            <a:cxnSpLocks/>
          </p:cNvCxnSpPr>
          <p:nvPr/>
        </p:nvCxnSpPr>
        <p:spPr>
          <a:xfrm>
            <a:off x="10691446" y="951954"/>
            <a:ext cx="0" cy="4004854"/>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D5D6012-8155-4B31-BAE1-F29EBA2B0637}"/>
              </a:ext>
            </a:extLst>
          </p:cNvPr>
          <p:cNvSpPr/>
          <p:nvPr/>
        </p:nvSpPr>
        <p:spPr>
          <a:xfrm>
            <a:off x="8791218" y="2136218"/>
            <a:ext cx="3400782" cy="11276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data encapsulation</a:t>
            </a:r>
            <a:endParaRPr lang="en-AU" dirty="0">
              <a:solidFill>
                <a:schemeClr val="tx1"/>
              </a:solidFill>
            </a:endParaRPr>
          </a:p>
        </p:txBody>
      </p:sp>
    </p:spTree>
    <p:extLst>
      <p:ext uri="{BB962C8B-B14F-4D97-AF65-F5344CB8AC3E}">
        <p14:creationId xmlns:p14="http://schemas.microsoft.com/office/powerpoint/2010/main" val="18311083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885" y="145940"/>
            <a:ext cx="7601965" cy="825610"/>
          </a:xfrm>
          <a:solidFill>
            <a:schemeClr val="bg1"/>
          </a:solidFill>
        </p:spPr>
        <p:txBody>
          <a:bodyPr>
            <a:normAutofit/>
          </a:bodyPr>
          <a:lstStyle/>
          <a:p>
            <a:r>
              <a:rPr lang="en-US" sz="3200" b="1" dirty="0">
                <a:latin typeface="+mn-lt"/>
                <a:ea typeface="+mn-ea"/>
                <a:cs typeface="+mn-cs"/>
              </a:rPr>
              <a:t>Data encapsulation/</a:t>
            </a:r>
            <a:r>
              <a:rPr lang="en-AU" sz="3200" b="1" dirty="0">
                <a:latin typeface="+mn-lt"/>
                <a:ea typeface="+mn-ea"/>
                <a:cs typeface="+mn-cs"/>
              </a:rPr>
              <a:t>decapsulation in TCP/IP</a:t>
            </a:r>
            <a:endParaRPr lang="en-US" sz="3200" b="1" dirty="0">
              <a:latin typeface="+mn-lt"/>
              <a:ea typeface="+mn-ea"/>
              <a:cs typeface="+mn-cs"/>
            </a:endParaRPr>
          </a:p>
        </p:txBody>
      </p:sp>
      <p:sp>
        <p:nvSpPr>
          <p:cNvPr id="15" name="TextBox 14">
            <a:extLst>
              <a:ext uri="{FF2B5EF4-FFF2-40B4-BE49-F238E27FC236}">
                <a16:creationId xmlns:a16="http://schemas.microsoft.com/office/drawing/2014/main" id="{80B2B9B1-0502-4635-880A-800A266A87E2}"/>
              </a:ext>
            </a:extLst>
          </p:cNvPr>
          <p:cNvSpPr txBox="1"/>
          <p:nvPr/>
        </p:nvSpPr>
        <p:spPr>
          <a:xfrm>
            <a:off x="9132650" y="6480930"/>
            <a:ext cx="3098260" cy="307777"/>
          </a:xfrm>
          <a:prstGeom prst="rect">
            <a:avLst/>
          </a:prstGeom>
          <a:noFill/>
        </p:spPr>
        <p:txBody>
          <a:bodyPr wrap="square">
            <a:spAutoFit/>
          </a:bodyPr>
          <a:lstStyle/>
          <a:p>
            <a:r>
              <a:rPr lang="en-AU" sz="1400" dirty="0">
                <a:latin typeface="+mn-lt"/>
              </a:rPr>
              <a:t>https://nglthu.github.io/Networking/</a:t>
            </a:r>
          </a:p>
        </p:txBody>
      </p:sp>
      <p:pic>
        <p:nvPicPr>
          <p:cNvPr id="4" name="Picture 3">
            <a:extLst>
              <a:ext uri="{FF2B5EF4-FFF2-40B4-BE49-F238E27FC236}">
                <a16:creationId xmlns:a16="http://schemas.microsoft.com/office/drawing/2014/main" id="{DFBF8A8F-88BD-48CD-92F1-CB29E036E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2162" y="1352870"/>
            <a:ext cx="8067675" cy="4630624"/>
          </a:xfrm>
          <a:prstGeom prst="rect">
            <a:avLst/>
          </a:prstGeom>
        </p:spPr>
      </p:pic>
      <p:sp>
        <p:nvSpPr>
          <p:cNvPr id="3" name="Rectangle 2">
            <a:extLst>
              <a:ext uri="{FF2B5EF4-FFF2-40B4-BE49-F238E27FC236}">
                <a16:creationId xmlns:a16="http://schemas.microsoft.com/office/drawing/2014/main" id="{7DA6C2BD-9787-4E27-8DCF-452C50490278}"/>
              </a:ext>
            </a:extLst>
          </p:cNvPr>
          <p:cNvSpPr/>
          <p:nvPr/>
        </p:nvSpPr>
        <p:spPr>
          <a:xfrm>
            <a:off x="7132320" y="4678680"/>
            <a:ext cx="811530" cy="4876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 name="Straight Arrow Connector 5">
            <a:extLst>
              <a:ext uri="{FF2B5EF4-FFF2-40B4-BE49-F238E27FC236}">
                <a16:creationId xmlns:a16="http://schemas.microsoft.com/office/drawing/2014/main" id="{8B9E6946-E142-4533-B0AD-AC0D9A778603}"/>
              </a:ext>
            </a:extLst>
          </p:cNvPr>
          <p:cNvCxnSpPr>
            <a:cxnSpLocks/>
          </p:cNvCxnSpPr>
          <p:nvPr/>
        </p:nvCxnSpPr>
        <p:spPr>
          <a:xfrm>
            <a:off x="7132320" y="4934391"/>
            <a:ext cx="1035368" cy="0"/>
          </a:xfrm>
          <a:prstGeom prst="straightConnector1">
            <a:avLst/>
          </a:prstGeom>
          <a:ln w="25400">
            <a:solidFill>
              <a:schemeClr val="accent1">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481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3F5C5F31-35F1-40AB-9E91-31974E0A64D5}"/>
              </a:ext>
            </a:extLst>
          </p:cNvPr>
          <p:cNvSpPr>
            <a:spLocks noGrp="1"/>
          </p:cNvSpPr>
          <p:nvPr>
            <p:ph idx="1"/>
          </p:nvPr>
        </p:nvSpPr>
        <p:spPr>
          <a:xfrm>
            <a:off x="233287" y="801604"/>
            <a:ext cx="11618053" cy="2001644"/>
          </a:xfrm>
        </p:spPr>
        <p:txBody>
          <a:bodyPr>
            <a:normAutofit/>
          </a:bodyPr>
          <a:lstStyle/>
          <a:p>
            <a:r>
              <a:rPr lang="en-US" sz="2400" dirty="0"/>
              <a:t>ELB serves as the single point of contact for clients, distributing incoming requests across multiple target groups of multiple targets (e.g., EC2 instances and containers).</a:t>
            </a:r>
          </a:p>
          <a:p>
            <a:r>
              <a:rPr lang="en-US" sz="2400" dirty="0"/>
              <a:t>Listener checks for incoming network requests from clients using pre-configured rules. </a:t>
            </a:r>
          </a:p>
        </p:txBody>
      </p:sp>
      <p:pic>
        <p:nvPicPr>
          <p:cNvPr id="5" name="Picture 4">
            <a:extLst>
              <a:ext uri="{FF2B5EF4-FFF2-40B4-BE49-F238E27FC236}">
                <a16:creationId xmlns:a16="http://schemas.microsoft.com/office/drawing/2014/main" id="{361D6BF5-0B9B-4A19-9E34-5F7553F976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1245" y="2803248"/>
            <a:ext cx="8123495" cy="3556773"/>
          </a:xfrm>
          <a:prstGeom prst="rect">
            <a:avLst/>
          </a:prstGeom>
        </p:spPr>
      </p:pic>
      <p:sp>
        <p:nvSpPr>
          <p:cNvPr id="7" name="Title 1">
            <a:extLst>
              <a:ext uri="{FF2B5EF4-FFF2-40B4-BE49-F238E27FC236}">
                <a16:creationId xmlns:a16="http://schemas.microsoft.com/office/drawing/2014/main" id="{29D35F45-FA46-4440-AA48-23573B3897E8}"/>
              </a:ext>
            </a:extLst>
          </p:cNvPr>
          <p:cNvSpPr>
            <a:spLocks noGrp="1"/>
          </p:cNvSpPr>
          <p:nvPr>
            <p:ph type="title"/>
          </p:nvPr>
        </p:nvSpPr>
        <p:spPr>
          <a:xfrm>
            <a:off x="233287" y="93999"/>
            <a:ext cx="5588391" cy="707018"/>
          </a:xfrm>
        </p:spPr>
        <p:txBody>
          <a:bodyPr>
            <a:normAutofit/>
          </a:bodyPr>
          <a:lstStyle/>
          <a:p>
            <a:r>
              <a:rPr lang="en-US" sz="3200" b="1" dirty="0"/>
              <a:t>ELB (</a:t>
            </a:r>
            <a:r>
              <a:rPr lang="en-AU" sz="3200" b="1" dirty="0"/>
              <a:t>Elastic Load Balancing</a:t>
            </a:r>
            <a:r>
              <a:rPr lang="en-US" sz="3200" b="1" dirty="0"/>
              <a:t>) </a:t>
            </a:r>
          </a:p>
        </p:txBody>
      </p:sp>
    </p:spTree>
    <p:extLst>
      <p:ext uri="{BB962C8B-B14F-4D97-AF65-F5344CB8AC3E}">
        <p14:creationId xmlns:p14="http://schemas.microsoft.com/office/powerpoint/2010/main" val="28334247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3F5C5F31-35F1-40AB-9E91-31974E0A64D5}"/>
              </a:ext>
            </a:extLst>
          </p:cNvPr>
          <p:cNvSpPr>
            <a:spLocks noGrp="1"/>
          </p:cNvSpPr>
          <p:nvPr>
            <p:ph idx="1"/>
          </p:nvPr>
        </p:nvSpPr>
        <p:spPr>
          <a:xfrm>
            <a:off x="233287" y="801604"/>
            <a:ext cx="11618053" cy="4075196"/>
          </a:xfrm>
        </p:spPr>
        <p:txBody>
          <a:bodyPr>
            <a:normAutofit/>
          </a:bodyPr>
          <a:lstStyle/>
          <a:p>
            <a:r>
              <a:rPr lang="en-US" sz="2000" dirty="0"/>
              <a:t>Rule 1: If the URL is https://example.com/public/home, the listener routes the request to a specific target group: </a:t>
            </a:r>
            <a:r>
              <a:rPr lang="en-US" sz="2000" dirty="0" err="1"/>
              <a:t>PublicWebServer</a:t>
            </a:r>
            <a:r>
              <a:rPr lang="en-US" sz="2000" dirty="0"/>
              <a:t>.</a:t>
            </a:r>
          </a:p>
          <a:p>
            <a:pPr lvl="1"/>
            <a:endParaRPr lang="en-US" dirty="0"/>
          </a:p>
          <a:p>
            <a:pPr lvl="1"/>
            <a:endParaRPr lang="en-US" dirty="0"/>
          </a:p>
          <a:p>
            <a:pPr lvl="1"/>
            <a:endParaRPr lang="en-US" dirty="0"/>
          </a:p>
          <a:p>
            <a:pPr lvl="1"/>
            <a:endParaRPr lang="en-US" dirty="0"/>
          </a:p>
          <a:p>
            <a:pPr lvl="1"/>
            <a:endParaRPr lang="en-US" dirty="0"/>
          </a:p>
          <a:p>
            <a:pPr marL="0" indent="0">
              <a:buNone/>
            </a:pPr>
            <a:endParaRPr lang="en-US" sz="2000" dirty="0"/>
          </a:p>
          <a:p>
            <a:r>
              <a:rPr lang="en-US" sz="2000" dirty="0"/>
              <a:t>Rule 2: If the URL is https://example.com/admin/settings, the listener routes the request to another target group: </a:t>
            </a:r>
            <a:r>
              <a:rPr lang="en-US" sz="2000" dirty="0" err="1"/>
              <a:t>AdminConsole</a:t>
            </a:r>
            <a:r>
              <a:rPr lang="en-US" sz="2000" dirty="0"/>
              <a:t>.</a:t>
            </a:r>
          </a:p>
        </p:txBody>
      </p:sp>
      <p:sp>
        <p:nvSpPr>
          <p:cNvPr id="7" name="Title 1">
            <a:extLst>
              <a:ext uri="{FF2B5EF4-FFF2-40B4-BE49-F238E27FC236}">
                <a16:creationId xmlns:a16="http://schemas.microsoft.com/office/drawing/2014/main" id="{29D35F45-FA46-4440-AA48-23573B3897E8}"/>
              </a:ext>
            </a:extLst>
          </p:cNvPr>
          <p:cNvSpPr>
            <a:spLocks noGrp="1"/>
          </p:cNvSpPr>
          <p:nvPr>
            <p:ph type="title"/>
          </p:nvPr>
        </p:nvSpPr>
        <p:spPr>
          <a:xfrm>
            <a:off x="233287" y="93999"/>
            <a:ext cx="5588391" cy="707018"/>
          </a:xfrm>
        </p:spPr>
        <p:txBody>
          <a:bodyPr>
            <a:normAutofit/>
          </a:bodyPr>
          <a:lstStyle/>
          <a:p>
            <a:r>
              <a:rPr lang="en-AU" sz="3200" b="1" dirty="0"/>
              <a:t>Example: Path-based routing</a:t>
            </a:r>
            <a:endParaRPr lang="en-US" sz="3200" b="1" dirty="0"/>
          </a:p>
        </p:txBody>
      </p:sp>
      <p:sp>
        <p:nvSpPr>
          <p:cNvPr id="10" name="TextBox 9">
            <a:extLst>
              <a:ext uri="{FF2B5EF4-FFF2-40B4-BE49-F238E27FC236}">
                <a16:creationId xmlns:a16="http://schemas.microsoft.com/office/drawing/2014/main" id="{601701E9-FC3F-4F07-B6D5-1AD889B4CC81}"/>
              </a:ext>
            </a:extLst>
          </p:cNvPr>
          <p:cNvSpPr txBox="1"/>
          <p:nvPr/>
        </p:nvSpPr>
        <p:spPr>
          <a:xfrm>
            <a:off x="2267415" y="1613118"/>
            <a:ext cx="6257925" cy="1815882"/>
          </a:xfrm>
          <a:prstGeom prst="rect">
            <a:avLst/>
          </a:prstGeom>
          <a:solidFill>
            <a:schemeClr val="bg1">
              <a:lumMod val="85000"/>
              <a:alpha val="30000"/>
            </a:schemeClr>
          </a:solidFill>
          <a:ln>
            <a:noFill/>
          </a:ln>
        </p:spPr>
        <p:txBody>
          <a:bodyPr wrap="square" rtlCol="0">
            <a:spAutoFit/>
          </a:bodyPr>
          <a:lstStyle/>
          <a:p>
            <a:pPr marL="49213" lvl="2" algn="l"/>
            <a:r>
              <a:rPr lang="en-AU" sz="1600" b="1" i="0" dirty="0">
                <a:solidFill>
                  <a:srgbClr val="1D8102"/>
                </a:solidFill>
                <a:effectLst/>
                <a:latin typeface="Courier"/>
              </a:rPr>
              <a:t>[ { </a:t>
            </a:r>
          </a:p>
          <a:p>
            <a:pPr marL="49213" lvl="2" algn="l"/>
            <a:r>
              <a:rPr lang="en-AU" sz="1600" b="1" i="0" dirty="0">
                <a:solidFill>
                  <a:srgbClr val="1D8102"/>
                </a:solidFill>
                <a:effectLst/>
                <a:latin typeface="Courier"/>
              </a:rPr>
              <a:t>       </a:t>
            </a:r>
            <a:r>
              <a:rPr lang="en-AU" sz="1600" b="1" i="0" dirty="0">
                <a:solidFill>
                  <a:srgbClr val="986801"/>
                </a:solidFill>
                <a:effectLst/>
                <a:latin typeface="Courier"/>
              </a:rPr>
              <a:t>"Field"</a:t>
            </a:r>
            <a:r>
              <a:rPr lang="en-AU" sz="1600" b="1" i="0" dirty="0">
                <a:solidFill>
                  <a:srgbClr val="1D8102"/>
                </a:solidFill>
                <a:effectLst/>
                <a:latin typeface="Courier"/>
              </a:rPr>
              <a:t>: </a:t>
            </a:r>
            <a:r>
              <a:rPr lang="en-AU" sz="1600" b="1" i="0" dirty="0">
                <a:solidFill>
                  <a:srgbClr val="0B6125"/>
                </a:solidFill>
                <a:effectLst/>
                <a:latin typeface="Courier"/>
              </a:rPr>
              <a:t>"path-pattern"</a:t>
            </a:r>
            <a:r>
              <a:rPr lang="en-AU" sz="1600" b="1" i="0" dirty="0">
                <a:solidFill>
                  <a:srgbClr val="1D8102"/>
                </a:solidFill>
                <a:effectLst/>
                <a:latin typeface="Courier"/>
              </a:rPr>
              <a:t>, </a:t>
            </a:r>
          </a:p>
          <a:p>
            <a:pPr marL="49213" lvl="2" algn="l"/>
            <a:r>
              <a:rPr lang="en-AU" sz="1600" b="1" dirty="0">
                <a:solidFill>
                  <a:srgbClr val="1D8102"/>
                </a:solidFill>
                <a:latin typeface="Courier"/>
              </a:rPr>
              <a:t>       </a:t>
            </a:r>
            <a:r>
              <a:rPr lang="en-AU" sz="1600" b="1" i="0" dirty="0">
                <a:solidFill>
                  <a:srgbClr val="986801"/>
                </a:solidFill>
                <a:effectLst/>
                <a:latin typeface="Courier"/>
              </a:rPr>
              <a:t>"</a:t>
            </a:r>
            <a:r>
              <a:rPr lang="en-AU" sz="1600" b="1" i="0" dirty="0" err="1">
                <a:solidFill>
                  <a:srgbClr val="986801"/>
                </a:solidFill>
                <a:effectLst/>
                <a:latin typeface="Courier"/>
              </a:rPr>
              <a:t>PathPatternConfig</a:t>
            </a:r>
            <a:r>
              <a:rPr lang="en-AU" sz="1600" b="1" i="0" dirty="0">
                <a:solidFill>
                  <a:srgbClr val="986801"/>
                </a:solidFill>
                <a:effectLst/>
                <a:latin typeface="Courier"/>
              </a:rPr>
              <a:t>"</a:t>
            </a:r>
            <a:r>
              <a:rPr lang="en-AU" sz="1600" b="1" i="0" dirty="0">
                <a:solidFill>
                  <a:srgbClr val="1D8102"/>
                </a:solidFill>
                <a:effectLst/>
                <a:latin typeface="Courier"/>
              </a:rPr>
              <a:t>: { </a:t>
            </a:r>
          </a:p>
          <a:p>
            <a:pPr marL="49213" lvl="2" algn="l"/>
            <a:r>
              <a:rPr lang="en-AU" sz="1600" b="1" dirty="0">
                <a:solidFill>
                  <a:srgbClr val="1D8102"/>
                </a:solidFill>
                <a:latin typeface="Courier"/>
              </a:rPr>
              <a:t>          </a:t>
            </a:r>
            <a:r>
              <a:rPr lang="en-AU" sz="1600" b="1" i="0" dirty="0">
                <a:solidFill>
                  <a:srgbClr val="986801"/>
                </a:solidFill>
                <a:effectLst/>
                <a:latin typeface="Courier"/>
              </a:rPr>
              <a:t>"Values"</a:t>
            </a:r>
            <a:r>
              <a:rPr lang="en-AU" sz="1600" b="1" i="0" dirty="0">
                <a:solidFill>
                  <a:srgbClr val="1D8102"/>
                </a:solidFill>
                <a:effectLst/>
                <a:latin typeface="Courier"/>
              </a:rPr>
              <a:t>: [</a:t>
            </a:r>
            <a:r>
              <a:rPr lang="en-AU" sz="1600" b="1" i="0" dirty="0">
                <a:solidFill>
                  <a:srgbClr val="0B6125"/>
                </a:solidFill>
                <a:effectLst/>
                <a:latin typeface="Courier"/>
              </a:rPr>
              <a:t>"/</a:t>
            </a:r>
            <a:r>
              <a:rPr lang="en-AU" sz="1600" b="1" dirty="0">
                <a:solidFill>
                  <a:srgbClr val="0B6125"/>
                </a:solidFill>
                <a:latin typeface="Courier"/>
              </a:rPr>
              <a:t>public</a:t>
            </a:r>
            <a:r>
              <a:rPr lang="en-AU" sz="1600" b="1" i="0" dirty="0">
                <a:solidFill>
                  <a:srgbClr val="0B6125"/>
                </a:solidFill>
                <a:effectLst/>
                <a:latin typeface="Courier"/>
              </a:rPr>
              <a:t>/*"</a:t>
            </a:r>
            <a:r>
              <a:rPr lang="en-AU" sz="1600" b="1" i="0" dirty="0">
                <a:solidFill>
                  <a:srgbClr val="1D8102"/>
                </a:solidFill>
                <a:effectLst/>
                <a:latin typeface="Courier"/>
              </a:rPr>
              <a:t>] </a:t>
            </a:r>
          </a:p>
          <a:p>
            <a:pPr marL="49213" lvl="2" algn="l"/>
            <a:r>
              <a:rPr lang="en-AU" sz="1600" b="1" dirty="0">
                <a:solidFill>
                  <a:srgbClr val="1D8102"/>
                </a:solidFill>
                <a:latin typeface="Courier"/>
              </a:rPr>
              <a:t>       </a:t>
            </a:r>
            <a:r>
              <a:rPr lang="en-AU" sz="1600" b="1" i="0" dirty="0">
                <a:solidFill>
                  <a:srgbClr val="1D8102"/>
                </a:solidFill>
                <a:effectLst/>
                <a:latin typeface="Courier"/>
              </a:rPr>
              <a:t>} </a:t>
            </a:r>
            <a:endParaRPr lang="en-AU" sz="1600" b="1" dirty="0">
              <a:solidFill>
                <a:srgbClr val="1D8102"/>
              </a:solidFill>
              <a:latin typeface="Courier"/>
            </a:endParaRPr>
          </a:p>
          <a:p>
            <a:pPr marL="49213" lvl="2" algn="l"/>
            <a:r>
              <a:rPr lang="en-AU" sz="1600" b="1" i="0" dirty="0">
                <a:solidFill>
                  <a:srgbClr val="1D8102"/>
                </a:solidFill>
                <a:effectLst/>
                <a:latin typeface="Courier"/>
              </a:rPr>
              <a:t>} ]</a:t>
            </a:r>
            <a:endParaRPr lang="en-US" sz="1600" dirty="0">
              <a:latin typeface="Courier"/>
            </a:endParaRPr>
          </a:p>
        </p:txBody>
      </p:sp>
      <p:sp>
        <p:nvSpPr>
          <p:cNvPr id="15" name="TextBox 14">
            <a:extLst>
              <a:ext uri="{FF2B5EF4-FFF2-40B4-BE49-F238E27FC236}">
                <a16:creationId xmlns:a16="http://schemas.microsoft.com/office/drawing/2014/main" id="{6D434E82-4974-42E7-98FA-166E5F50AD70}"/>
              </a:ext>
            </a:extLst>
          </p:cNvPr>
          <p:cNvSpPr txBox="1"/>
          <p:nvPr/>
        </p:nvSpPr>
        <p:spPr>
          <a:xfrm>
            <a:off x="2267415" y="4654195"/>
            <a:ext cx="6257925" cy="1815882"/>
          </a:xfrm>
          <a:prstGeom prst="rect">
            <a:avLst/>
          </a:prstGeom>
          <a:solidFill>
            <a:schemeClr val="bg1">
              <a:lumMod val="85000"/>
              <a:alpha val="30000"/>
            </a:schemeClr>
          </a:solidFill>
          <a:ln>
            <a:noFill/>
          </a:ln>
        </p:spPr>
        <p:txBody>
          <a:bodyPr wrap="square" rtlCol="0">
            <a:spAutoFit/>
          </a:bodyPr>
          <a:lstStyle/>
          <a:p>
            <a:pPr marL="49213" lvl="2" algn="l"/>
            <a:r>
              <a:rPr lang="en-AU" sz="1600" b="1" i="0" dirty="0">
                <a:solidFill>
                  <a:srgbClr val="1D8102"/>
                </a:solidFill>
                <a:effectLst/>
                <a:latin typeface="Courier"/>
              </a:rPr>
              <a:t>[ { </a:t>
            </a:r>
          </a:p>
          <a:p>
            <a:pPr marL="49213" lvl="2" algn="l"/>
            <a:r>
              <a:rPr lang="en-AU" sz="1600" b="1" i="0" dirty="0">
                <a:solidFill>
                  <a:srgbClr val="1D8102"/>
                </a:solidFill>
                <a:effectLst/>
                <a:latin typeface="Courier"/>
              </a:rPr>
              <a:t>       </a:t>
            </a:r>
            <a:r>
              <a:rPr lang="en-AU" sz="1600" b="1" i="0" dirty="0">
                <a:solidFill>
                  <a:srgbClr val="986801"/>
                </a:solidFill>
                <a:effectLst/>
                <a:latin typeface="Courier"/>
              </a:rPr>
              <a:t>"Field"</a:t>
            </a:r>
            <a:r>
              <a:rPr lang="en-AU" sz="1600" b="1" i="0" dirty="0">
                <a:solidFill>
                  <a:srgbClr val="1D8102"/>
                </a:solidFill>
                <a:effectLst/>
                <a:latin typeface="Courier"/>
              </a:rPr>
              <a:t>: </a:t>
            </a:r>
            <a:r>
              <a:rPr lang="en-AU" sz="1600" b="1" i="0" dirty="0">
                <a:solidFill>
                  <a:srgbClr val="0B6125"/>
                </a:solidFill>
                <a:effectLst/>
                <a:latin typeface="Courier"/>
              </a:rPr>
              <a:t>"path-pattern"</a:t>
            </a:r>
            <a:r>
              <a:rPr lang="en-AU" sz="1600" b="1" i="0" dirty="0">
                <a:solidFill>
                  <a:srgbClr val="1D8102"/>
                </a:solidFill>
                <a:effectLst/>
                <a:latin typeface="Courier"/>
              </a:rPr>
              <a:t>, </a:t>
            </a:r>
          </a:p>
          <a:p>
            <a:pPr marL="49213" lvl="2" algn="l"/>
            <a:r>
              <a:rPr lang="en-AU" sz="1600" b="1" dirty="0">
                <a:solidFill>
                  <a:srgbClr val="1D8102"/>
                </a:solidFill>
                <a:latin typeface="Courier"/>
              </a:rPr>
              <a:t>       </a:t>
            </a:r>
            <a:r>
              <a:rPr lang="en-AU" sz="1600" b="1" i="0" dirty="0">
                <a:solidFill>
                  <a:srgbClr val="986801"/>
                </a:solidFill>
                <a:effectLst/>
                <a:latin typeface="Courier"/>
              </a:rPr>
              <a:t>"</a:t>
            </a:r>
            <a:r>
              <a:rPr lang="en-AU" sz="1600" b="1" i="0" dirty="0" err="1">
                <a:solidFill>
                  <a:srgbClr val="986801"/>
                </a:solidFill>
                <a:effectLst/>
                <a:latin typeface="Courier"/>
              </a:rPr>
              <a:t>PathPatternConfig</a:t>
            </a:r>
            <a:r>
              <a:rPr lang="en-AU" sz="1600" b="1" i="0" dirty="0">
                <a:solidFill>
                  <a:srgbClr val="986801"/>
                </a:solidFill>
                <a:effectLst/>
                <a:latin typeface="Courier"/>
              </a:rPr>
              <a:t>"</a:t>
            </a:r>
            <a:r>
              <a:rPr lang="en-AU" sz="1600" b="1" i="0" dirty="0">
                <a:solidFill>
                  <a:srgbClr val="1D8102"/>
                </a:solidFill>
                <a:effectLst/>
                <a:latin typeface="Courier"/>
              </a:rPr>
              <a:t>: { </a:t>
            </a:r>
          </a:p>
          <a:p>
            <a:pPr marL="49213" lvl="2" algn="l"/>
            <a:r>
              <a:rPr lang="en-AU" sz="1600" b="1" dirty="0">
                <a:solidFill>
                  <a:srgbClr val="1D8102"/>
                </a:solidFill>
                <a:latin typeface="Courier"/>
              </a:rPr>
              <a:t>          </a:t>
            </a:r>
            <a:r>
              <a:rPr lang="en-AU" sz="1600" b="1" i="0" dirty="0">
                <a:solidFill>
                  <a:srgbClr val="986801"/>
                </a:solidFill>
                <a:effectLst/>
                <a:latin typeface="Courier"/>
              </a:rPr>
              <a:t>"Values"</a:t>
            </a:r>
            <a:r>
              <a:rPr lang="en-AU" sz="1600" b="1" i="0" dirty="0">
                <a:solidFill>
                  <a:srgbClr val="1D8102"/>
                </a:solidFill>
                <a:effectLst/>
                <a:latin typeface="Courier"/>
              </a:rPr>
              <a:t>: [</a:t>
            </a:r>
            <a:r>
              <a:rPr lang="en-AU" sz="1600" b="1" i="0" dirty="0">
                <a:solidFill>
                  <a:srgbClr val="0B6125"/>
                </a:solidFill>
                <a:effectLst/>
                <a:latin typeface="Courier"/>
              </a:rPr>
              <a:t>"/</a:t>
            </a:r>
            <a:r>
              <a:rPr lang="en-AU" sz="1600" b="1" dirty="0">
                <a:solidFill>
                  <a:srgbClr val="0B6125"/>
                </a:solidFill>
                <a:latin typeface="Courier"/>
              </a:rPr>
              <a:t>admin</a:t>
            </a:r>
            <a:r>
              <a:rPr lang="en-AU" sz="1600" b="1" i="0" dirty="0">
                <a:solidFill>
                  <a:srgbClr val="0B6125"/>
                </a:solidFill>
                <a:effectLst/>
                <a:latin typeface="Courier"/>
              </a:rPr>
              <a:t>/*"</a:t>
            </a:r>
            <a:r>
              <a:rPr lang="en-AU" sz="1600" b="1" i="0" dirty="0">
                <a:solidFill>
                  <a:srgbClr val="1D8102"/>
                </a:solidFill>
                <a:effectLst/>
                <a:latin typeface="Courier"/>
              </a:rPr>
              <a:t>] </a:t>
            </a:r>
          </a:p>
          <a:p>
            <a:pPr marL="49213" lvl="2" algn="l"/>
            <a:r>
              <a:rPr lang="en-AU" sz="1600" b="1" dirty="0">
                <a:solidFill>
                  <a:srgbClr val="1D8102"/>
                </a:solidFill>
                <a:latin typeface="Courier"/>
              </a:rPr>
              <a:t>       </a:t>
            </a:r>
            <a:r>
              <a:rPr lang="en-AU" sz="1600" b="1" i="0" dirty="0">
                <a:solidFill>
                  <a:srgbClr val="1D8102"/>
                </a:solidFill>
                <a:effectLst/>
                <a:latin typeface="Courier"/>
              </a:rPr>
              <a:t>} </a:t>
            </a:r>
            <a:r>
              <a:rPr lang="en-AU" sz="1600" b="1" dirty="0">
                <a:solidFill>
                  <a:srgbClr val="1D8102"/>
                </a:solidFill>
                <a:latin typeface="Courier"/>
              </a:rPr>
              <a:t>   </a:t>
            </a:r>
          </a:p>
          <a:p>
            <a:pPr marL="49213" lvl="2" algn="l"/>
            <a:r>
              <a:rPr lang="en-AU" sz="1600" b="1" i="0" dirty="0">
                <a:solidFill>
                  <a:srgbClr val="1D8102"/>
                </a:solidFill>
                <a:effectLst/>
                <a:latin typeface="Courier"/>
              </a:rPr>
              <a:t>} ]</a:t>
            </a:r>
            <a:endParaRPr lang="en-US" sz="1600" dirty="0">
              <a:latin typeface="Courier"/>
            </a:endParaRPr>
          </a:p>
        </p:txBody>
      </p:sp>
    </p:spTree>
    <p:extLst>
      <p:ext uri="{BB962C8B-B14F-4D97-AF65-F5344CB8AC3E}">
        <p14:creationId xmlns:p14="http://schemas.microsoft.com/office/powerpoint/2010/main" val="24066482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1FF6D3-1A20-48C2-8B57-BA7A1ACB1481}"/>
              </a:ext>
            </a:extLst>
          </p:cNvPr>
          <p:cNvSpPr txBox="1">
            <a:spLocks/>
          </p:cNvSpPr>
          <p:nvPr/>
        </p:nvSpPr>
        <p:spPr>
          <a:xfrm>
            <a:off x="153379" y="225020"/>
            <a:ext cx="2778853" cy="5635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t>Benefits of ELB</a:t>
            </a:r>
          </a:p>
        </p:txBody>
      </p:sp>
      <p:sp>
        <p:nvSpPr>
          <p:cNvPr id="5" name="TextShape 2">
            <a:extLst>
              <a:ext uri="{FF2B5EF4-FFF2-40B4-BE49-F238E27FC236}">
                <a16:creationId xmlns:a16="http://schemas.microsoft.com/office/drawing/2014/main" id="{2538E0A8-6550-4D8B-BC73-6F11D5BA3394}"/>
              </a:ext>
            </a:extLst>
          </p:cNvPr>
          <p:cNvSpPr txBox="1"/>
          <p:nvPr/>
        </p:nvSpPr>
        <p:spPr>
          <a:xfrm>
            <a:off x="218719" y="788603"/>
            <a:ext cx="11456688" cy="2233489"/>
          </a:xfrm>
          <a:prstGeom prst="rect">
            <a:avLst/>
          </a:prstGeom>
          <a:noFill/>
          <a:ln>
            <a:noFill/>
          </a:ln>
        </p:spPr>
        <p:txBody>
          <a:bodyPr>
            <a:normAutofit/>
          </a:bodyPr>
          <a:lstStyle/>
          <a:p>
            <a:pPr marL="228600" indent="-228240" algn="l">
              <a:lnSpc>
                <a:spcPct val="90000"/>
              </a:lnSpc>
              <a:spcBef>
                <a:spcPts val="1001"/>
              </a:spcBef>
              <a:buClr>
                <a:srgbClr val="000000"/>
              </a:buClr>
              <a:buSzPct val="100000"/>
              <a:buFont typeface="Arial"/>
              <a:buChar char="•"/>
            </a:pPr>
            <a:r>
              <a:rPr lang="en-AU" sz="2400" b="0" strike="noStrike" spc="-1" dirty="0">
                <a:solidFill>
                  <a:srgbClr val="000000"/>
                </a:solidFill>
                <a:latin typeface="+mn-lt"/>
              </a:rPr>
              <a:t>Increases the </a:t>
            </a:r>
            <a:r>
              <a:rPr lang="en-US" altLang="zh-CN" sz="2400" b="0" strike="noStrike" spc="-1" dirty="0">
                <a:solidFill>
                  <a:srgbClr val="000000"/>
                </a:solidFill>
                <a:latin typeface="+mn-lt"/>
              </a:rPr>
              <a:t>scalability</a:t>
            </a:r>
            <a:r>
              <a:rPr lang="en-AU" sz="2400" b="0" strike="noStrike" spc="-1" dirty="0">
                <a:solidFill>
                  <a:srgbClr val="000000"/>
                </a:solidFill>
                <a:latin typeface="+mn-lt"/>
              </a:rPr>
              <a:t> and fault tolerance of web applications.</a:t>
            </a:r>
          </a:p>
          <a:p>
            <a:pPr marL="685800" lvl="1" indent="-228240" algn="l">
              <a:lnSpc>
                <a:spcPct val="90000"/>
              </a:lnSpc>
              <a:spcBef>
                <a:spcPts val="1001"/>
              </a:spcBef>
              <a:buClr>
                <a:srgbClr val="000000"/>
              </a:buClr>
              <a:buSzPct val="100000"/>
              <a:buFont typeface="Arial"/>
              <a:buChar char="•"/>
            </a:pPr>
            <a:r>
              <a:rPr lang="en-US" sz="2400" dirty="0">
                <a:solidFill>
                  <a:srgbClr val="16191F"/>
                </a:solidFill>
                <a:latin typeface="Amazon Ember"/>
              </a:rPr>
              <a:t>More </a:t>
            </a:r>
            <a:r>
              <a:rPr lang="en-AU" sz="2400" spc="-1" dirty="0">
                <a:solidFill>
                  <a:srgbClr val="000000"/>
                </a:solidFill>
                <a:latin typeface="+mn-lt"/>
              </a:rPr>
              <a:t>virtual servers </a:t>
            </a:r>
            <a:r>
              <a:rPr lang="en-US" sz="2400" b="0" i="0" dirty="0">
                <a:solidFill>
                  <a:srgbClr val="16191F"/>
                </a:solidFill>
                <a:effectLst/>
                <a:latin typeface="Amazon Ember"/>
              </a:rPr>
              <a:t>are registered as targets </a:t>
            </a:r>
            <a:r>
              <a:rPr lang="en-US" sz="2400" b="1" i="0" dirty="0">
                <a:solidFill>
                  <a:srgbClr val="16191F"/>
                </a:solidFill>
                <a:effectLst/>
                <a:latin typeface="Amazon Ember"/>
              </a:rPr>
              <a:t>(</a:t>
            </a:r>
            <a:r>
              <a:rPr lang="en-AU" sz="2400" b="1" strike="noStrike" spc="-1" dirty="0">
                <a:solidFill>
                  <a:srgbClr val="000000"/>
                </a:solidFill>
                <a:latin typeface="+mn-lt"/>
              </a:rPr>
              <a:t>horizontal scaling)</a:t>
            </a:r>
            <a:endParaRPr lang="en-US" sz="2400" b="1" i="0" dirty="0">
              <a:solidFill>
                <a:srgbClr val="16191F"/>
              </a:solidFill>
              <a:effectLst/>
              <a:latin typeface="Amazon Ember"/>
            </a:endParaRPr>
          </a:p>
          <a:p>
            <a:pPr marL="685800" lvl="1" indent="-228240" algn="l">
              <a:lnSpc>
                <a:spcPct val="90000"/>
              </a:lnSpc>
              <a:spcBef>
                <a:spcPts val="1001"/>
              </a:spcBef>
              <a:buClr>
                <a:srgbClr val="000000"/>
              </a:buClr>
              <a:buSzPct val="100000"/>
              <a:buFont typeface="Arial"/>
              <a:buChar char="•"/>
            </a:pPr>
            <a:endParaRPr lang="en-AU" sz="2400" b="0" strike="noStrike" spc="-1" dirty="0">
              <a:solidFill>
                <a:srgbClr val="000000"/>
              </a:solidFill>
              <a:latin typeface="+mn-lt"/>
            </a:endParaRPr>
          </a:p>
        </p:txBody>
      </p:sp>
    </p:spTree>
    <p:extLst>
      <p:ext uri="{BB962C8B-B14F-4D97-AF65-F5344CB8AC3E}">
        <p14:creationId xmlns:p14="http://schemas.microsoft.com/office/powerpoint/2010/main" val="37486178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1FF6D3-1A20-48C2-8B57-BA7A1ACB1481}"/>
              </a:ext>
            </a:extLst>
          </p:cNvPr>
          <p:cNvSpPr txBox="1">
            <a:spLocks/>
          </p:cNvSpPr>
          <p:nvPr/>
        </p:nvSpPr>
        <p:spPr>
          <a:xfrm>
            <a:off x="153379" y="225020"/>
            <a:ext cx="2778853" cy="5635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t>Benefits of ELB</a:t>
            </a:r>
          </a:p>
        </p:txBody>
      </p:sp>
      <p:sp>
        <p:nvSpPr>
          <p:cNvPr id="5" name="TextShape 2">
            <a:extLst>
              <a:ext uri="{FF2B5EF4-FFF2-40B4-BE49-F238E27FC236}">
                <a16:creationId xmlns:a16="http://schemas.microsoft.com/office/drawing/2014/main" id="{2538E0A8-6550-4D8B-BC73-6F11D5BA3394}"/>
              </a:ext>
            </a:extLst>
          </p:cNvPr>
          <p:cNvSpPr txBox="1"/>
          <p:nvPr/>
        </p:nvSpPr>
        <p:spPr>
          <a:xfrm>
            <a:off x="218719" y="788603"/>
            <a:ext cx="11456688" cy="2233489"/>
          </a:xfrm>
          <a:prstGeom prst="rect">
            <a:avLst/>
          </a:prstGeom>
          <a:noFill/>
          <a:ln>
            <a:noFill/>
          </a:ln>
        </p:spPr>
        <p:txBody>
          <a:bodyPr>
            <a:normAutofit/>
          </a:bodyPr>
          <a:lstStyle/>
          <a:p>
            <a:pPr marL="228600" indent="-228240" algn="l">
              <a:lnSpc>
                <a:spcPct val="90000"/>
              </a:lnSpc>
              <a:spcBef>
                <a:spcPts val="1001"/>
              </a:spcBef>
              <a:buClr>
                <a:srgbClr val="000000"/>
              </a:buClr>
              <a:buSzPct val="100000"/>
              <a:buFont typeface="Arial"/>
              <a:buChar char="•"/>
            </a:pPr>
            <a:r>
              <a:rPr lang="en-AU" sz="2400" b="0" strike="noStrike" spc="-1" dirty="0">
                <a:solidFill>
                  <a:srgbClr val="000000"/>
                </a:solidFill>
                <a:latin typeface="+mn-lt"/>
              </a:rPr>
              <a:t>Increases the </a:t>
            </a:r>
            <a:r>
              <a:rPr lang="en-US" altLang="zh-CN" sz="2400" b="0" strike="noStrike" spc="-1" dirty="0">
                <a:solidFill>
                  <a:srgbClr val="000000"/>
                </a:solidFill>
                <a:latin typeface="+mn-lt"/>
              </a:rPr>
              <a:t>scalability</a:t>
            </a:r>
            <a:r>
              <a:rPr lang="en-AU" sz="2400" b="0" strike="noStrike" spc="-1" dirty="0">
                <a:solidFill>
                  <a:srgbClr val="000000"/>
                </a:solidFill>
                <a:latin typeface="+mn-lt"/>
              </a:rPr>
              <a:t> and fault tolerance of web applications.</a:t>
            </a:r>
          </a:p>
          <a:p>
            <a:pPr marL="685800" lvl="1" indent="-228240" algn="l">
              <a:lnSpc>
                <a:spcPct val="90000"/>
              </a:lnSpc>
              <a:spcBef>
                <a:spcPts val="1001"/>
              </a:spcBef>
              <a:buClr>
                <a:srgbClr val="000000"/>
              </a:buClr>
              <a:buSzPct val="100000"/>
              <a:buFont typeface="Arial"/>
              <a:buChar char="•"/>
            </a:pPr>
            <a:r>
              <a:rPr lang="en-US" sz="2400" dirty="0">
                <a:solidFill>
                  <a:srgbClr val="16191F"/>
                </a:solidFill>
                <a:latin typeface="Amazon Ember"/>
              </a:rPr>
              <a:t>More </a:t>
            </a:r>
            <a:r>
              <a:rPr lang="en-AU" sz="2400" spc="-1" dirty="0">
                <a:solidFill>
                  <a:srgbClr val="000000"/>
                </a:solidFill>
                <a:latin typeface="+mn-lt"/>
              </a:rPr>
              <a:t>virtual servers </a:t>
            </a:r>
            <a:r>
              <a:rPr lang="en-US" sz="2400" b="0" i="0" dirty="0">
                <a:solidFill>
                  <a:srgbClr val="16191F"/>
                </a:solidFill>
                <a:effectLst/>
                <a:latin typeface="Amazon Ember"/>
              </a:rPr>
              <a:t>are registered as targets </a:t>
            </a:r>
            <a:r>
              <a:rPr lang="en-US" sz="2400" b="1" i="0" dirty="0">
                <a:solidFill>
                  <a:srgbClr val="16191F"/>
                </a:solidFill>
                <a:effectLst/>
                <a:latin typeface="Amazon Ember"/>
              </a:rPr>
              <a:t>(</a:t>
            </a:r>
            <a:r>
              <a:rPr lang="en-AU" sz="2400" b="1" strike="noStrike" spc="-1" dirty="0">
                <a:solidFill>
                  <a:srgbClr val="000000"/>
                </a:solidFill>
                <a:latin typeface="+mn-lt"/>
              </a:rPr>
              <a:t>horizontal scaling)</a:t>
            </a:r>
            <a:endParaRPr lang="en-US" sz="2400" b="1" i="0" dirty="0">
              <a:solidFill>
                <a:srgbClr val="16191F"/>
              </a:solidFill>
              <a:effectLst/>
              <a:latin typeface="Amazon Ember"/>
            </a:endParaRPr>
          </a:p>
          <a:p>
            <a:pPr marL="685800" lvl="1" indent="-228240" algn="l">
              <a:lnSpc>
                <a:spcPct val="90000"/>
              </a:lnSpc>
              <a:spcBef>
                <a:spcPts val="1001"/>
              </a:spcBef>
              <a:buClr>
                <a:srgbClr val="000000"/>
              </a:buClr>
              <a:buSzPct val="100000"/>
              <a:buFont typeface="Arial"/>
              <a:buChar char="•"/>
            </a:pPr>
            <a:r>
              <a:rPr lang="en-AU" sz="2400" b="0" strike="noStrike" spc="-1" dirty="0">
                <a:solidFill>
                  <a:srgbClr val="FF0000"/>
                </a:solidFill>
                <a:latin typeface="+mn-lt"/>
              </a:rPr>
              <a:t>What are horizonal scaling and vertical scaling?</a:t>
            </a:r>
            <a:endParaRPr lang="en-AU" sz="2400" b="0" strike="noStrike" spc="-1" dirty="0">
              <a:solidFill>
                <a:srgbClr val="000000"/>
              </a:solidFill>
              <a:latin typeface="+mn-lt"/>
            </a:endParaRPr>
          </a:p>
          <a:p>
            <a:pPr marL="685800" lvl="1" indent="-228240" algn="l">
              <a:lnSpc>
                <a:spcPct val="90000"/>
              </a:lnSpc>
              <a:spcBef>
                <a:spcPts val="1001"/>
              </a:spcBef>
              <a:buClr>
                <a:srgbClr val="000000"/>
              </a:buClr>
              <a:buSzPct val="100000"/>
              <a:buFont typeface="Arial"/>
              <a:buChar char="•"/>
            </a:pPr>
            <a:endParaRPr lang="en-AU" sz="2400" b="0" strike="noStrike" spc="-1" dirty="0">
              <a:solidFill>
                <a:srgbClr val="000000"/>
              </a:solidFill>
              <a:latin typeface="+mn-lt"/>
            </a:endParaRPr>
          </a:p>
        </p:txBody>
      </p:sp>
      <p:pic>
        <p:nvPicPr>
          <p:cNvPr id="6" name="Picture 5">
            <a:extLst>
              <a:ext uri="{FF2B5EF4-FFF2-40B4-BE49-F238E27FC236}">
                <a16:creationId xmlns:a16="http://schemas.microsoft.com/office/drawing/2014/main" id="{17EA6635-F684-4720-B24D-9D0D33971B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5315" y="2512624"/>
            <a:ext cx="8123495" cy="3556773"/>
          </a:xfrm>
          <a:prstGeom prst="rect">
            <a:avLst/>
          </a:prstGeom>
        </p:spPr>
      </p:pic>
    </p:spTree>
    <p:extLst>
      <p:ext uri="{BB962C8B-B14F-4D97-AF65-F5344CB8AC3E}">
        <p14:creationId xmlns:p14="http://schemas.microsoft.com/office/powerpoint/2010/main" val="26462929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1FF6D3-1A20-48C2-8B57-BA7A1ACB1481}"/>
              </a:ext>
            </a:extLst>
          </p:cNvPr>
          <p:cNvSpPr txBox="1">
            <a:spLocks/>
          </p:cNvSpPr>
          <p:nvPr/>
        </p:nvSpPr>
        <p:spPr>
          <a:xfrm>
            <a:off x="302316" y="425911"/>
            <a:ext cx="2778853" cy="5635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t>Benefits of ELB</a:t>
            </a:r>
          </a:p>
        </p:txBody>
      </p:sp>
      <p:sp>
        <p:nvSpPr>
          <p:cNvPr id="5" name="TextShape 2">
            <a:extLst>
              <a:ext uri="{FF2B5EF4-FFF2-40B4-BE49-F238E27FC236}">
                <a16:creationId xmlns:a16="http://schemas.microsoft.com/office/drawing/2014/main" id="{2538E0A8-6550-4D8B-BC73-6F11D5BA3394}"/>
              </a:ext>
            </a:extLst>
          </p:cNvPr>
          <p:cNvSpPr txBox="1"/>
          <p:nvPr/>
        </p:nvSpPr>
        <p:spPr>
          <a:xfrm>
            <a:off x="367656" y="989494"/>
            <a:ext cx="11456688" cy="2233489"/>
          </a:xfrm>
          <a:prstGeom prst="rect">
            <a:avLst/>
          </a:prstGeom>
          <a:noFill/>
          <a:ln>
            <a:noFill/>
          </a:ln>
        </p:spPr>
        <p:txBody>
          <a:bodyPr>
            <a:normAutofit/>
          </a:bodyPr>
          <a:lstStyle/>
          <a:p>
            <a:pPr marL="228600" indent="-228240" algn="l">
              <a:lnSpc>
                <a:spcPct val="90000"/>
              </a:lnSpc>
              <a:spcBef>
                <a:spcPts val="1001"/>
              </a:spcBef>
              <a:buClr>
                <a:srgbClr val="000000"/>
              </a:buClr>
              <a:buSzPct val="100000"/>
              <a:buFont typeface="Arial"/>
              <a:buChar char="•"/>
            </a:pPr>
            <a:r>
              <a:rPr lang="en-AU" sz="2400" b="0" strike="noStrike" spc="-1" dirty="0">
                <a:solidFill>
                  <a:srgbClr val="000000"/>
                </a:solidFill>
                <a:latin typeface="+mn-lt"/>
              </a:rPr>
              <a:t>Increases the </a:t>
            </a:r>
            <a:r>
              <a:rPr lang="en-US" altLang="zh-CN" sz="2400" b="0" strike="noStrike" spc="-1" dirty="0">
                <a:solidFill>
                  <a:srgbClr val="000000"/>
                </a:solidFill>
                <a:latin typeface="+mn-lt"/>
              </a:rPr>
              <a:t>scalability</a:t>
            </a:r>
            <a:r>
              <a:rPr lang="en-AU" sz="2400" b="0" strike="noStrike" spc="-1" dirty="0">
                <a:solidFill>
                  <a:srgbClr val="000000"/>
                </a:solidFill>
                <a:latin typeface="+mn-lt"/>
              </a:rPr>
              <a:t> and fault tolerance of web applications.</a:t>
            </a:r>
          </a:p>
          <a:p>
            <a:pPr marL="228600" indent="-228240" algn="l">
              <a:lnSpc>
                <a:spcPct val="90000"/>
              </a:lnSpc>
              <a:spcBef>
                <a:spcPts val="1001"/>
              </a:spcBef>
              <a:buClr>
                <a:srgbClr val="000000"/>
              </a:buClr>
              <a:buSzPct val="100000"/>
              <a:buFont typeface="Arial"/>
              <a:buChar char="•"/>
            </a:pPr>
            <a:r>
              <a:rPr lang="en-AU" sz="2400" spc="-1" dirty="0">
                <a:solidFill>
                  <a:srgbClr val="000000"/>
                </a:solidFill>
                <a:latin typeface="+mn-lt"/>
              </a:rPr>
              <a:t>Enables health check of registered targets.</a:t>
            </a:r>
          </a:p>
          <a:p>
            <a:pPr marL="685800" lvl="1" indent="-228240" algn="l">
              <a:lnSpc>
                <a:spcPct val="90000"/>
              </a:lnSpc>
              <a:spcBef>
                <a:spcPts val="1001"/>
              </a:spcBef>
              <a:buClr>
                <a:srgbClr val="000000"/>
              </a:buClr>
              <a:buSzPct val="100000"/>
              <a:buFont typeface="Arial"/>
              <a:buChar char="•"/>
            </a:pPr>
            <a:r>
              <a:rPr lang="en-AU" sz="2400" spc="-1" dirty="0">
                <a:solidFill>
                  <a:srgbClr val="000000"/>
                </a:solidFill>
                <a:latin typeface="+mn-lt"/>
              </a:rPr>
              <a:t>Healthy: a target is responsive and functioning as expected.</a:t>
            </a:r>
          </a:p>
          <a:p>
            <a:pPr marL="685800" lvl="1" indent="-228240" algn="l">
              <a:lnSpc>
                <a:spcPct val="90000"/>
              </a:lnSpc>
              <a:spcBef>
                <a:spcPts val="1001"/>
              </a:spcBef>
              <a:buClr>
                <a:srgbClr val="000000"/>
              </a:buClr>
              <a:buSzPct val="100000"/>
              <a:buFont typeface="Arial"/>
              <a:buChar char="•"/>
            </a:pPr>
            <a:endParaRPr lang="en-AU" sz="2400" b="0" strike="noStrike" spc="-1" dirty="0">
              <a:solidFill>
                <a:srgbClr val="000000"/>
              </a:solidFill>
              <a:latin typeface="+mn-lt"/>
            </a:endParaRPr>
          </a:p>
        </p:txBody>
      </p:sp>
      <p:pic>
        <p:nvPicPr>
          <p:cNvPr id="6" name="Picture 5">
            <a:extLst>
              <a:ext uri="{FF2B5EF4-FFF2-40B4-BE49-F238E27FC236}">
                <a16:creationId xmlns:a16="http://schemas.microsoft.com/office/drawing/2014/main" id="{C7AA98EB-AF96-43A8-BB22-EDB0E191EA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742" y="2679681"/>
            <a:ext cx="8123495" cy="3556773"/>
          </a:xfrm>
          <a:prstGeom prst="rect">
            <a:avLst/>
          </a:prstGeom>
        </p:spPr>
      </p:pic>
    </p:spTree>
    <p:extLst>
      <p:ext uri="{BB962C8B-B14F-4D97-AF65-F5344CB8AC3E}">
        <p14:creationId xmlns:p14="http://schemas.microsoft.com/office/powerpoint/2010/main" val="21416497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5" y="208252"/>
            <a:ext cx="6361127" cy="679868"/>
          </a:xfrm>
        </p:spPr>
        <p:txBody>
          <a:bodyPr>
            <a:normAutofit fontScale="90000"/>
          </a:bodyPr>
          <a:lstStyle/>
          <a:p>
            <a:r>
              <a:rPr lang="en-US" sz="3200" b="1" dirty="0"/>
              <a:t>Set up an ALB (Application Load Balancer) </a:t>
            </a:r>
          </a:p>
        </p:txBody>
      </p:sp>
      <p:sp>
        <p:nvSpPr>
          <p:cNvPr id="3" name="Content Placeholder 2"/>
          <p:cNvSpPr>
            <a:spLocks noGrp="1"/>
          </p:cNvSpPr>
          <p:nvPr>
            <p:ph idx="1"/>
          </p:nvPr>
        </p:nvSpPr>
        <p:spPr>
          <a:xfrm>
            <a:off x="448236" y="888120"/>
            <a:ext cx="9182553" cy="4936210"/>
          </a:xfrm>
        </p:spPr>
        <p:txBody>
          <a:bodyPr>
            <a:normAutofit/>
          </a:bodyPr>
          <a:lstStyle/>
          <a:p>
            <a:r>
              <a:rPr lang="en-AU" sz="2400" dirty="0"/>
              <a:t>Navigate to EC2 Dashboard and Click “Load balancers”</a:t>
            </a:r>
          </a:p>
          <a:p>
            <a:pPr lvl="1">
              <a:buFont typeface="Courier New" panose="02070309020205020404" pitchFamily="49" charset="0"/>
              <a:buChar char="o"/>
            </a:pPr>
            <a:endParaRPr lang="en-US" sz="2200" dirty="0"/>
          </a:p>
        </p:txBody>
      </p:sp>
      <p:pic>
        <p:nvPicPr>
          <p:cNvPr id="8" name="Picture 7">
            <a:extLst>
              <a:ext uri="{FF2B5EF4-FFF2-40B4-BE49-F238E27FC236}">
                <a16:creationId xmlns:a16="http://schemas.microsoft.com/office/drawing/2014/main" id="{87D773C7-5EAA-4602-833A-1D7146F07546}"/>
              </a:ext>
            </a:extLst>
          </p:cNvPr>
          <p:cNvPicPr>
            <a:picLocks noChangeAspect="1"/>
          </p:cNvPicPr>
          <p:nvPr/>
        </p:nvPicPr>
        <p:blipFill>
          <a:blip r:embed="rId3"/>
          <a:stretch>
            <a:fillRect/>
          </a:stretch>
        </p:blipFill>
        <p:spPr>
          <a:xfrm>
            <a:off x="2070846" y="1699688"/>
            <a:ext cx="7867542" cy="3458624"/>
          </a:xfrm>
          <a:prstGeom prst="rect">
            <a:avLst/>
          </a:prstGeom>
        </p:spPr>
      </p:pic>
    </p:spTree>
    <p:extLst>
      <p:ext uri="{BB962C8B-B14F-4D97-AF65-F5344CB8AC3E}">
        <p14:creationId xmlns:p14="http://schemas.microsoft.com/office/powerpoint/2010/main" val="33047536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5" y="208252"/>
            <a:ext cx="3245223" cy="679868"/>
          </a:xfrm>
        </p:spPr>
        <p:txBody>
          <a:bodyPr>
            <a:normAutofit/>
          </a:bodyPr>
          <a:lstStyle/>
          <a:p>
            <a:r>
              <a:rPr lang="en-US" sz="3200" b="1" dirty="0"/>
              <a:t>Set up an ALB</a:t>
            </a:r>
          </a:p>
        </p:txBody>
      </p:sp>
      <p:sp>
        <p:nvSpPr>
          <p:cNvPr id="3" name="Content Placeholder 2"/>
          <p:cNvSpPr>
            <a:spLocks noGrp="1"/>
          </p:cNvSpPr>
          <p:nvPr>
            <p:ph idx="1"/>
          </p:nvPr>
        </p:nvSpPr>
        <p:spPr>
          <a:xfrm>
            <a:off x="448236" y="888120"/>
            <a:ext cx="9182553" cy="4936210"/>
          </a:xfrm>
        </p:spPr>
        <p:txBody>
          <a:bodyPr>
            <a:normAutofit/>
          </a:bodyPr>
          <a:lstStyle/>
          <a:p>
            <a:r>
              <a:rPr lang="en-AU" sz="2400" dirty="0"/>
              <a:t>Basic configuration</a:t>
            </a:r>
          </a:p>
          <a:p>
            <a:pPr lvl="1">
              <a:buFont typeface="Courier New" panose="02070309020205020404" pitchFamily="49" charset="0"/>
              <a:buChar char="o"/>
            </a:pPr>
            <a:endParaRPr lang="en-US" sz="2200" dirty="0"/>
          </a:p>
        </p:txBody>
      </p:sp>
      <p:pic>
        <p:nvPicPr>
          <p:cNvPr id="5" name="Picture 4">
            <a:extLst>
              <a:ext uri="{FF2B5EF4-FFF2-40B4-BE49-F238E27FC236}">
                <a16:creationId xmlns:a16="http://schemas.microsoft.com/office/drawing/2014/main" id="{3BC61882-1FC4-44D1-9DD1-8785B3EC0F65}"/>
              </a:ext>
            </a:extLst>
          </p:cNvPr>
          <p:cNvPicPr>
            <a:picLocks noChangeAspect="1"/>
          </p:cNvPicPr>
          <p:nvPr/>
        </p:nvPicPr>
        <p:blipFill>
          <a:blip r:embed="rId3"/>
          <a:stretch>
            <a:fillRect/>
          </a:stretch>
        </p:blipFill>
        <p:spPr>
          <a:xfrm>
            <a:off x="1649535" y="1644188"/>
            <a:ext cx="7602011" cy="3829584"/>
          </a:xfrm>
          <a:prstGeom prst="rect">
            <a:avLst/>
          </a:prstGeom>
        </p:spPr>
      </p:pic>
      <p:sp>
        <p:nvSpPr>
          <p:cNvPr id="4" name="Rectangle 3">
            <a:extLst>
              <a:ext uri="{FF2B5EF4-FFF2-40B4-BE49-F238E27FC236}">
                <a16:creationId xmlns:a16="http://schemas.microsoft.com/office/drawing/2014/main" id="{E59195BF-FEF4-45A7-A2C1-B0FA99F88707}"/>
              </a:ext>
            </a:extLst>
          </p:cNvPr>
          <p:cNvSpPr/>
          <p:nvPr/>
        </p:nvSpPr>
        <p:spPr>
          <a:xfrm>
            <a:off x="1392382" y="2660073"/>
            <a:ext cx="7859164" cy="1475509"/>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563614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262040"/>
            <a:ext cx="2330824" cy="679868"/>
          </a:xfrm>
        </p:spPr>
        <p:txBody>
          <a:bodyPr>
            <a:normAutofit/>
          </a:bodyPr>
          <a:lstStyle/>
          <a:p>
            <a:r>
              <a:rPr lang="en-US" sz="3200" b="1" dirty="0"/>
              <a:t>Scheme</a:t>
            </a:r>
            <a:endParaRPr lang="en-US" b="1" dirty="0"/>
          </a:p>
        </p:txBody>
      </p:sp>
      <p:sp>
        <p:nvSpPr>
          <p:cNvPr id="3" name="Content Placeholder 2"/>
          <p:cNvSpPr>
            <a:spLocks noGrp="1"/>
          </p:cNvSpPr>
          <p:nvPr>
            <p:ph idx="1"/>
          </p:nvPr>
        </p:nvSpPr>
        <p:spPr>
          <a:xfrm>
            <a:off x="448235" y="1195911"/>
            <a:ext cx="6828865" cy="960337"/>
          </a:xfrm>
          <a:ln w="12700">
            <a:solidFill>
              <a:schemeClr val="tx1"/>
            </a:solidFill>
          </a:ln>
        </p:spPr>
        <p:txBody>
          <a:bodyPr>
            <a:normAutofit fontScale="92500"/>
          </a:bodyPr>
          <a:lstStyle/>
          <a:p>
            <a:r>
              <a:rPr lang="en-AU" sz="2400" dirty="0"/>
              <a:t>Internet-facing indicates the ALB has a </a:t>
            </a:r>
            <a:r>
              <a:rPr lang="en-AU" sz="2400" b="1" dirty="0"/>
              <a:t>public IP address</a:t>
            </a:r>
            <a:r>
              <a:rPr lang="en-AU" sz="2400" dirty="0"/>
              <a:t>.</a:t>
            </a:r>
          </a:p>
          <a:p>
            <a:r>
              <a:rPr lang="en-AU" sz="2400" dirty="0"/>
              <a:t>Internal means the ALB has a </a:t>
            </a:r>
            <a:r>
              <a:rPr lang="en-AU" sz="2400" b="1" dirty="0"/>
              <a:t>private IP address</a:t>
            </a:r>
            <a:r>
              <a:rPr lang="en-AU" sz="2400" dirty="0"/>
              <a:t>.</a:t>
            </a:r>
          </a:p>
          <a:p>
            <a:endParaRPr lang="en-AU" sz="2400" dirty="0"/>
          </a:p>
          <a:p>
            <a:pPr lvl="1">
              <a:buFont typeface="Courier New" panose="02070309020205020404" pitchFamily="49" charset="0"/>
              <a:buChar char="o"/>
            </a:pPr>
            <a:endParaRPr lang="en-US" sz="2200" dirty="0"/>
          </a:p>
        </p:txBody>
      </p:sp>
      <p:pic>
        <p:nvPicPr>
          <p:cNvPr id="7" name="Picture 6">
            <a:extLst>
              <a:ext uri="{FF2B5EF4-FFF2-40B4-BE49-F238E27FC236}">
                <a16:creationId xmlns:a16="http://schemas.microsoft.com/office/drawing/2014/main" id="{FAD5F65D-0C25-4000-A50B-692955D97DB3}"/>
              </a:ext>
            </a:extLst>
          </p:cNvPr>
          <p:cNvPicPr>
            <a:picLocks noChangeAspect="1"/>
          </p:cNvPicPr>
          <p:nvPr/>
        </p:nvPicPr>
        <p:blipFill>
          <a:blip r:embed="rId3"/>
          <a:stretch>
            <a:fillRect/>
          </a:stretch>
        </p:blipFill>
        <p:spPr>
          <a:xfrm>
            <a:off x="7515927" y="2354735"/>
            <a:ext cx="3871136" cy="3706906"/>
          </a:xfrm>
          <a:prstGeom prst="rect">
            <a:avLst/>
          </a:prstGeom>
        </p:spPr>
      </p:pic>
      <p:cxnSp>
        <p:nvCxnSpPr>
          <p:cNvPr id="8" name="Straight Arrow Connector 7">
            <a:extLst>
              <a:ext uri="{FF2B5EF4-FFF2-40B4-BE49-F238E27FC236}">
                <a16:creationId xmlns:a16="http://schemas.microsoft.com/office/drawing/2014/main" id="{09C02251-521F-48C0-A1B0-9571B6DE079F}"/>
              </a:ext>
            </a:extLst>
          </p:cNvPr>
          <p:cNvCxnSpPr>
            <a:cxnSpLocks/>
            <a:stCxn id="3" idx="2"/>
          </p:cNvCxnSpPr>
          <p:nvPr/>
        </p:nvCxnSpPr>
        <p:spPr>
          <a:xfrm>
            <a:off x="3862668" y="2156248"/>
            <a:ext cx="5299261" cy="1728468"/>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0DFEC4A0-345F-49D0-AB22-6D6C3FA45E1E}"/>
              </a:ext>
            </a:extLst>
          </p:cNvPr>
          <p:cNvSpPr txBox="1">
            <a:spLocks/>
          </p:cNvSpPr>
          <p:nvPr/>
        </p:nvSpPr>
        <p:spPr>
          <a:xfrm>
            <a:off x="448235" y="4305300"/>
            <a:ext cx="6505015" cy="824171"/>
          </a:xfrm>
          <a:prstGeom prst="rect">
            <a:avLst/>
          </a:prstGeom>
          <a:ln w="1270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AU" sz="2200" dirty="0"/>
              <a:t>Both schemes route the client’s requests to targets’ </a:t>
            </a:r>
            <a:r>
              <a:rPr lang="en-AU" sz="2200" b="1" dirty="0"/>
              <a:t>private IP addresses</a:t>
            </a:r>
            <a:r>
              <a:rPr lang="en-AU" sz="2200" dirty="0"/>
              <a:t>. </a:t>
            </a:r>
          </a:p>
        </p:txBody>
      </p:sp>
      <p:cxnSp>
        <p:nvCxnSpPr>
          <p:cNvPr id="12" name="Straight Arrow Connector 11">
            <a:extLst>
              <a:ext uri="{FF2B5EF4-FFF2-40B4-BE49-F238E27FC236}">
                <a16:creationId xmlns:a16="http://schemas.microsoft.com/office/drawing/2014/main" id="{74AD3689-4B46-470F-B957-319623A7763F}"/>
              </a:ext>
            </a:extLst>
          </p:cNvPr>
          <p:cNvCxnSpPr>
            <a:cxnSpLocks/>
            <a:stCxn id="10" idx="3"/>
          </p:cNvCxnSpPr>
          <p:nvPr/>
        </p:nvCxnSpPr>
        <p:spPr>
          <a:xfrm flipV="1">
            <a:off x="6953250" y="4591052"/>
            <a:ext cx="2208679" cy="126334"/>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6AED6D21-587D-48B0-98DF-668410470DFC}"/>
              </a:ext>
            </a:extLst>
          </p:cNvPr>
          <p:cNvSpPr txBox="1">
            <a:spLocks/>
          </p:cNvSpPr>
          <p:nvPr/>
        </p:nvSpPr>
        <p:spPr>
          <a:xfrm>
            <a:off x="448234" y="5621682"/>
            <a:ext cx="6505015" cy="824171"/>
          </a:xfrm>
          <a:prstGeom prst="rect">
            <a:avLst/>
          </a:prstGeom>
          <a:ln w="1270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AU" sz="2200" dirty="0"/>
              <a:t>Targets do not need public IP addresses to receive requests from the ALB. </a:t>
            </a:r>
          </a:p>
        </p:txBody>
      </p:sp>
      <p:cxnSp>
        <p:nvCxnSpPr>
          <p:cNvPr id="24" name="Straight Arrow Connector 23">
            <a:extLst>
              <a:ext uri="{FF2B5EF4-FFF2-40B4-BE49-F238E27FC236}">
                <a16:creationId xmlns:a16="http://schemas.microsoft.com/office/drawing/2014/main" id="{0EFD28FA-336D-4045-BCCD-94AD40FD6134}"/>
              </a:ext>
            </a:extLst>
          </p:cNvPr>
          <p:cNvCxnSpPr>
            <a:cxnSpLocks/>
            <a:stCxn id="23" idx="3"/>
          </p:cNvCxnSpPr>
          <p:nvPr/>
        </p:nvCxnSpPr>
        <p:spPr>
          <a:xfrm flipV="1">
            <a:off x="6953249" y="5621682"/>
            <a:ext cx="1104340" cy="412086"/>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350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5" y="208252"/>
            <a:ext cx="3245223" cy="679868"/>
          </a:xfrm>
        </p:spPr>
        <p:txBody>
          <a:bodyPr>
            <a:normAutofit/>
          </a:bodyPr>
          <a:lstStyle/>
          <a:p>
            <a:r>
              <a:rPr lang="en-US" sz="3200" b="1" dirty="0"/>
              <a:t>Set up an ALB</a:t>
            </a:r>
          </a:p>
        </p:txBody>
      </p:sp>
      <p:sp>
        <p:nvSpPr>
          <p:cNvPr id="3" name="Content Placeholder 2"/>
          <p:cNvSpPr>
            <a:spLocks noGrp="1"/>
          </p:cNvSpPr>
          <p:nvPr>
            <p:ph idx="1"/>
          </p:nvPr>
        </p:nvSpPr>
        <p:spPr>
          <a:xfrm>
            <a:off x="448236" y="888120"/>
            <a:ext cx="9182553" cy="4936210"/>
          </a:xfrm>
        </p:spPr>
        <p:txBody>
          <a:bodyPr>
            <a:normAutofit/>
          </a:bodyPr>
          <a:lstStyle/>
          <a:p>
            <a:r>
              <a:rPr lang="en-AU" sz="2400" dirty="0"/>
              <a:t>Basic configuration</a:t>
            </a:r>
          </a:p>
          <a:p>
            <a:pPr lvl="1">
              <a:buFont typeface="Courier New" panose="02070309020205020404" pitchFamily="49" charset="0"/>
              <a:buChar char="o"/>
            </a:pPr>
            <a:endParaRPr lang="en-US" sz="2200" dirty="0"/>
          </a:p>
        </p:txBody>
      </p:sp>
      <p:pic>
        <p:nvPicPr>
          <p:cNvPr id="5" name="Picture 4">
            <a:extLst>
              <a:ext uri="{FF2B5EF4-FFF2-40B4-BE49-F238E27FC236}">
                <a16:creationId xmlns:a16="http://schemas.microsoft.com/office/drawing/2014/main" id="{3BC61882-1FC4-44D1-9DD1-8785B3EC0F65}"/>
              </a:ext>
            </a:extLst>
          </p:cNvPr>
          <p:cNvPicPr>
            <a:picLocks noChangeAspect="1"/>
          </p:cNvPicPr>
          <p:nvPr/>
        </p:nvPicPr>
        <p:blipFill>
          <a:blip r:embed="rId3"/>
          <a:stretch>
            <a:fillRect/>
          </a:stretch>
        </p:blipFill>
        <p:spPr>
          <a:xfrm>
            <a:off x="1649535" y="1644188"/>
            <a:ext cx="7602011" cy="3829584"/>
          </a:xfrm>
          <a:prstGeom prst="rect">
            <a:avLst/>
          </a:prstGeom>
        </p:spPr>
      </p:pic>
      <p:sp>
        <p:nvSpPr>
          <p:cNvPr id="6" name="Rectangle 5">
            <a:extLst>
              <a:ext uri="{FF2B5EF4-FFF2-40B4-BE49-F238E27FC236}">
                <a16:creationId xmlns:a16="http://schemas.microsoft.com/office/drawing/2014/main" id="{05AAADFB-851F-44C8-A05D-8287C8876F10}"/>
              </a:ext>
            </a:extLst>
          </p:cNvPr>
          <p:cNvSpPr/>
          <p:nvPr/>
        </p:nvSpPr>
        <p:spPr>
          <a:xfrm>
            <a:off x="1475510" y="4069632"/>
            <a:ext cx="7859164" cy="1475509"/>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066981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262040"/>
            <a:ext cx="3414432" cy="679868"/>
          </a:xfrm>
        </p:spPr>
        <p:txBody>
          <a:bodyPr>
            <a:normAutofit/>
          </a:bodyPr>
          <a:lstStyle/>
          <a:p>
            <a:r>
              <a:rPr lang="en-US" sz="3200" b="1" dirty="0"/>
              <a:t>IP address type</a:t>
            </a:r>
          </a:p>
        </p:txBody>
      </p:sp>
      <p:sp>
        <p:nvSpPr>
          <p:cNvPr id="3" name="Content Placeholder 2"/>
          <p:cNvSpPr>
            <a:spLocks noGrp="1"/>
          </p:cNvSpPr>
          <p:nvPr>
            <p:ph idx="1"/>
          </p:nvPr>
        </p:nvSpPr>
        <p:spPr>
          <a:xfrm>
            <a:off x="448235" y="1195911"/>
            <a:ext cx="11191315" cy="4576239"/>
          </a:xfrm>
          <a:ln w="12700">
            <a:noFill/>
          </a:ln>
        </p:spPr>
        <p:txBody>
          <a:bodyPr>
            <a:normAutofit/>
          </a:bodyPr>
          <a:lstStyle/>
          <a:p>
            <a:r>
              <a:rPr lang="en-AU" sz="2400" dirty="0"/>
              <a:t>IPv4 (Internet Protocol version 4) </a:t>
            </a:r>
          </a:p>
          <a:p>
            <a:r>
              <a:rPr lang="en-AU" sz="2400" dirty="0" err="1"/>
              <a:t>Dualstack</a:t>
            </a:r>
            <a:r>
              <a:rPr lang="en-AU" sz="2400" dirty="0"/>
              <a:t> includes IPv4 and IPv6 (Internet Protocol version 6)</a:t>
            </a:r>
          </a:p>
          <a:p>
            <a:endParaRPr lang="en-AU" sz="2400" dirty="0"/>
          </a:p>
          <a:p>
            <a:r>
              <a:rPr lang="en-AU" sz="2400" dirty="0"/>
              <a:t>IPv4:</a:t>
            </a:r>
            <a:r>
              <a:rPr lang="zh-CN" altLang="en-US" sz="2400" dirty="0"/>
              <a:t> </a:t>
            </a:r>
            <a:r>
              <a:rPr lang="en-AU" altLang="zh-CN" sz="2400" dirty="0"/>
              <a:t>it is widely used in real-world.</a:t>
            </a:r>
          </a:p>
          <a:p>
            <a:pPr lvl="1"/>
            <a:r>
              <a:rPr lang="en-AU" dirty="0">
                <a:solidFill>
                  <a:srgbClr val="C00000"/>
                </a:solidFill>
              </a:rPr>
              <a:t>What is the main reason why IPv6 is needed?</a:t>
            </a:r>
          </a:p>
          <a:p>
            <a:endParaRPr lang="en-AU" sz="2400" dirty="0"/>
          </a:p>
          <a:p>
            <a:endParaRPr lang="en-AU" sz="2400" dirty="0"/>
          </a:p>
          <a:p>
            <a:pPr marL="0" indent="0">
              <a:buNone/>
            </a:pPr>
            <a:endParaRPr lang="en-AU" sz="2400" dirty="0"/>
          </a:p>
          <a:p>
            <a:endParaRPr lang="en-AU" sz="2400" dirty="0"/>
          </a:p>
          <a:p>
            <a:pPr lvl="1">
              <a:buFont typeface="Courier New" panose="02070309020205020404" pitchFamily="49" charset="0"/>
              <a:buChar char="o"/>
            </a:pPr>
            <a:endParaRPr lang="en-US" sz="2200" dirty="0"/>
          </a:p>
        </p:txBody>
      </p:sp>
    </p:spTree>
    <p:extLst>
      <p:ext uri="{BB962C8B-B14F-4D97-AF65-F5344CB8AC3E}">
        <p14:creationId xmlns:p14="http://schemas.microsoft.com/office/powerpoint/2010/main" val="4095571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262040"/>
            <a:ext cx="3414432" cy="679868"/>
          </a:xfrm>
        </p:spPr>
        <p:txBody>
          <a:bodyPr>
            <a:normAutofit/>
          </a:bodyPr>
          <a:lstStyle/>
          <a:p>
            <a:r>
              <a:rPr lang="en-US" sz="3200" b="1" dirty="0"/>
              <a:t>IP address type</a:t>
            </a:r>
          </a:p>
        </p:txBody>
      </p:sp>
      <p:sp>
        <p:nvSpPr>
          <p:cNvPr id="3" name="Content Placeholder 2"/>
          <p:cNvSpPr>
            <a:spLocks noGrp="1"/>
          </p:cNvSpPr>
          <p:nvPr>
            <p:ph idx="1"/>
          </p:nvPr>
        </p:nvSpPr>
        <p:spPr>
          <a:xfrm>
            <a:off x="448235" y="1195911"/>
            <a:ext cx="11591365" cy="4576239"/>
          </a:xfrm>
          <a:ln w="12700">
            <a:noFill/>
          </a:ln>
        </p:spPr>
        <p:txBody>
          <a:bodyPr>
            <a:normAutofit/>
          </a:bodyPr>
          <a:lstStyle/>
          <a:p>
            <a:r>
              <a:rPr lang="en-AU" sz="2400" dirty="0"/>
              <a:t>IPv4:</a:t>
            </a:r>
            <a:r>
              <a:rPr lang="zh-CN" altLang="en-US" sz="2400" dirty="0"/>
              <a:t> </a:t>
            </a:r>
            <a:r>
              <a:rPr lang="en-AU" altLang="zh-CN" sz="2400" dirty="0"/>
              <a:t>it is widely used in real-world.</a:t>
            </a:r>
          </a:p>
          <a:p>
            <a:pPr lvl="1"/>
            <a:r>
              <a:rPr lang="en-AU" dirty="0">
                <a:solidFill>
                  <a:srgbClr val="C00000"/>
                </a:solidFill>
              </a:rPr>
              <a:t>What is the main reason why IPv6 is needed?</a:t>
            </a:r>
          </a:p>
          <a:p>
            <a:pPr lvl="2"/>
            <a:r>
              <a:rPr lang="en-AU" altLang="zh-CN" sz="2400" dirty="0"/>
              <a:t>IPv4 uses an address format with 4 bytes (32 bits)</a:t>
            </a:r>
            <a:endParaRPr lang="en-AU" sz="2400" dirty="0"/>
          </a:p>
          <a:p>
            <a:pPr lvl="2"/>
            <a:r>
              <a:rPr lang="en-AU" altLang="zh-CN" sz="2400" dirty="0"/>
              <a:t>IPv4</a:t>
            </a:r>
            <a:r>
              <a:rPr lang="en-AU" sz="2400" dirty="0"/>
              <a:t> allows for </a:t>
            </a:r>
            <a:r>
              <a:rPr lang="en-US" sz="2400" dirty="0"/>
              <a:t>about 4.3 billion addresses: 2^32= 2^32</a:t>
            </a:r>
          </a:p>
          <a:p>
            <a:pPr lvl="2"/>
            <a:r>
              <a:rPr lang="en-US" sz="2400" dirty="0"/>
              <a:t>The number of internet-connected devices has been increasing all the time.</a:t>
            </a:r>
          </a:p>
          <a:p>
            <a:pPr lvl="2"/>
            <a:endParaRPr lang="en-AU" altLang="zh-CN" sz="2400" dirty="0"/>
          </a:p>
          <a:p>
            <a:pPr lvl="2"/>
            <a:r>
              <a:rPr lang="en-AU" altLang="zh-CN" sz="2400" dirty="0"/>
              <a:t>IPv6 uses an address format with 16 bytes (128 bits)</a:t>
            </a:r>
            <a:endParaRPr lang="en-AU" sz="2400" dirty="0"/>
          </a:p>
          <a:p>
            <a:pPr lvl="2"/>
            <a:r>
              <a:rPr lang="en-AU" altLang="zh-CN" sz="2400" dirty="0"/>
              <a:t>IPv4</a:t>
            </a:r>
            <a:r>
              <a:rPr lang="en-AU" sz="2400" dirty="0"/>
              <a:t> allows for </a:t>
            </a:r>
            <a:r>
              <a:rPr lang="en-US" sz="2400" dirty="0"/>
              <a:t>a much larger of number of addresses: 2^128</a:t>
            </a:r>
          </a:p>
          <a:p>
            <a:pPr marL="914400" lvl="2" indent="0">
              <a:buNone/>
            </a:pPr>
            <a:endParaRPr lang="en-AU" sz="2400" dirty="0"/>
          </a:p>
          <a:p>
            <a:pPr marL="914400" lvl="2" indent="0">
              <a:buNone/>
            </a:pPr>
            <a:endParaRPr lang="en-AU" sz="2400" dirty="0"/>
          </a:p>
          <a:p>
            <a:endParaRPr lang="en-AU" sz="2400" dirty="0"/>
          </a:p>
          <a:p>
            <a:endParaRPr lang="en-AU" sz="2400" dirty="0"/>
          </a:p>
          <a:p>
            <a:pPr marL="0" indent="0">
              <a:buNone/>
            </a:pPr>
            <a:endParaRPr lang="en-AU" sz="2400" dirty="0"/>
          </a:p>
          <a:p>
            <a:endParaRPr lang="en-AU" sz="2400" dirty="0"/>
          </a:p>
          <a:p>
            <a:pPr lvl="1">
              <a:buFont typeface="Courier New" panose="02070309020205020404" pitchFamily="49" charset="0"/>
              <a:buChar char="o"/>
            </a:pPr>
            <a:endParaRPr lang="en-US" sz="2200" dirty="0"/>
          </a:p>
        </p:txBody>
      </p:sp>
    </p:spTree>
    <p:extLst>
      <p:ext uri="{BB962C8B-B14F-4D97-AF65-F5344CB8AC3E}">
        <p14:creationId xmlns:p14="http://schemas.microsoft.com/office/powerpoint/2010/main" val="1198827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262040"/>
            <a:ext cx="3414432" cy="679868"/>
          </a:xfrm>
        </p:spPr>
        <p:txBody>
          <a:bodyPr>
            <a:normAutofit/>
          </a:bodyPr>
          <a:lstStyle/>
          <a:p>
            <a:r>
              <a:rPr lang="en-US" sz="3200" b="1" dirty="0"/>
              <a:t>IP address type</a:t>
            </a:r>
          </a:p>
        </p:txBody>
      </p:sp>
      <p:sp>
        <p:nvSpPr>
          <p:cNvPr id="3" name="Content Placeholder 2"/>
          <p:cNvSpPr>
            <a:spLocks noGrp="1"/>
          </p:cNvSpPr>
          <p:nvPr>
            <p:ph idx="1"/>
          </p:nvPr>
        </p:nvSpPr>
        <p:spPr>
          <a:xfrm>
            <a:off x="448235" y="1195911"/>
            <a:ext cx="11591365" cy="2233089"/>
          </a:xfrm>
          <a:ln w="12700">
            <a:noFill/>
          </a:ln>
        </p:spPr>
        <p:txBody>
          <a:bodyPr>
            <a:normAutofit/>
          </a:bodyPr>
          <a:lstStyle/>
          <a:p>
            <a:pPr lvl="1"/>
            <a:endParaRPr lang="en-AU" dirty="0">
              <a:solidFill>
                <a:srgbClr val="C00000"/>
              </a:solidFill>
            </a:endParaRPr>
          </a:p>
          <a:p>
            <a:pPr lvl="1"/>
            <a:r>
              <a:rPr lang="en-AU" dirty="0">
                <a:solidFill>
                  <a:srgbClr val="C00000"/>
                </a:solidFill>
              </a:rPr>
              <a:t>How</a:t>
            </a:r>
            <a:r>
              <a:rPr lang="zh-CN" altLang="en-US" dirty="0">
                <a:solidFill>
                  <a:srgbClr val="C00000"/>
                </a:solidFill>
              </a:rPr>
              <a:t> </a:t>
            </a:r>
            <a:r>
              <a:rPr lang="en-AU" altLang="zh-CN" dirty="0">
                <a:solidFill>
                  <a:srgbClr val="C00000"/>
                </a:solidFill>
              </a:rPr>
              <a:t>to</a:t>
            </a:r>
            <a:r>
              <a:rPr lang="zh-CN" altLang="en-US" dirty="0">
                <a:solidFill>
                  <a:srgbClr val="C00000"/>
                </a:solidFill>
              </a:rPr>
              <a:t> </a:t>
            </a:r>
            <a:r>
              <a:rPr lang="en-AU" altLang="zh-CN" dirty="0">
                <a:solidFill>
                  <a:srgbClr val="C00000"/>
                </a:solidFill>
              </a:rPr>
              <a:t>address</a:t>
            </a:r>
            <a:r>
              <a:rPr lang="zh-CN" altLang="en-US" dirty="0">
                <a:solidFill>
                  <a:srgbClr val="C00000"/>
                </a:solidFill>
              </a:rPr>
              <a:t> </a:t>
            </a:r>
            <a:r>
              <a:rPr lang="en-AU" altLang="zh-CN" dirty="0">
                <a:solidFill>
                  <a:srgbClr val="C00000"/>
                </a:solidFill>
              </a:rPr>
              <a:t>the IPv4</a:t>
            </a:r>
            <a:r>
              <a:rPr lang="zh-CN" altLang="en-US" dirty="0">
                <a:solidFill>
                  <a:srgbClr val="C00000"/>
                </a:solidFill>
              </a:rPr>
              <a:t> </a:t>
            </a:r>
            <a:r>
              <a:rPr lang="en-AU" altLang="zh-CN" dirty="0">
                <a:solidFill>
                  <a:srgbClr val="C00000"/>
                </a:solidFill>
              </a:rPr>
              <a:t>exhaustion problem? </a:t>
            </a:r>
          </a:p>
          <a:p>
            <a:pPr lvl="2"/>
            <a:r>
              <a:rPr lang="en-AU" sz="2400" dirty="0"/>
              <a:t>Effective solution: IPv6</a:t>
            </a:r>
            <a:r>
              <a:rPr lang="en-US" sz="2400" dirty="0"/>
              <a:t>.</a:t>
            </a:r>
          </a:p>
          <a:p>
            <a:pPr lvl="2"/>
            <a:r>
              <a:rPr lang="en-US" sz="2400" dirty="0"/>
              <a:t>Mitigation: network address translation (NAT) and private IPv4 address ranges. </a:t>
            </a:r>
          </a:p>
          <a:p>
            <a:pPr marL="914400" lvl="2" indent="0">
              <a:buNone/>
            </a:pPr>
            <a:endParaRPr lang="en-AU" sz="2400" dirty="0"/>
          </a:p>
          <a:p>
            <a:pPr marL="914400" lvl="2" indent="0">
              <a:buNone/>
            </a:pPr>
            <a:endParaRPr lang="en-AU" sz="2400" dirty="0"/>
          </a:p>
          <a:p>
            <a:endParaRPr lang="en-AU" sz="2400" dirty="0"/>
          </a:p>
          <a:p>
            <a:endParaRPr lang="en-AU" sz="2400" dirty="0"/>
          </a:p>
          <a:p>
            <a:pPr marL="0" indent="0">
              <a:buNone/>
            </a:pPr>
            <a:endParaRPr lang="en-AU" sz="2400" dirty="0"/>
          </a:p>
          <a:p>
            <a:endParaRPr lang="en-AU" sz="2400" dirty="0"/>
          </a:p>
          <a:p>
            <a:pPr lvl="1">
              <a:buFont typeface="Courier New" panose="02070309020205020404" pitchFamily="49" charset="0"/>
              <a:buChar char="o"/>
            </a:pPr>
            <a:endParaRPr lang="en-US" sz="2200" dirty="0"/>
          </a:p>
        </p:txBody>
      </p:sp>
    </p:spTree>
    <p:extLst>
      <p:ext uri="{BB962C8B-B14F-4D97-AF65-F5344CB8AC3E}">
        <p14:creationId xmlns:p14="http://schemas.microsoft.com/office/powerpoint/2010/main" val="3306575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262039"/>
            <a:ext cx="7019364" cy="671411"/>
          </a:xfrm>
        </p:spPr>
        <p:txBody>
          <a:bodyPr>
            <a:normAutofit/>
          </a:bodyPr>
          <a:lstStyle/>
          <a:p>
            <a:r>
              <a:rPr lang="en-US" sz="3200" b="1" dirty="0"/>
              <a:t>NAT and private IP address range</a:t>
            </a:r>
          </a:p>
        </p:txBody>
      </p:sp>
      <p:sp>
        <p:nvSpPr>
          <p:cNvPr id="3" name="Content Placeholder 2"/>
          <p:cNvSpPr>
            <a:spLocks noGrp="1"/>
          </p:cNvSpPr>
          <p:nvPr>
            <p:ph idx="1"/>
          </p:nvPr>
        </p:nvSpPr>
        <p:spPr>
          <a:xfrm>
            <a:off x="448236" y="933450"/>
            <a:ext cx="10315015" cy="4576239"/>
          </a:xfrm>
          <a:ln w="12700">
            <a:noFill/>
          </a:ln>
        </p:spPr>
        <p:txBody>
          <a:bodyPr>
            <a:normAutofit/>
          </a:bodyPr>
          <a:lstStyle/>
          <a:p>
            <a:r>
              <a:rPr lang="en-US" sz="2400" dirty="0"/>
              <a:t>NAT: it is a way to map multiple private IPv4 addresses inside an internal network to a public IPv4 address before transmitting data to the internet.</a:t>
            </a:r>
          </a:p>
          <a:p>
            <a:pPr marL="685800" lvl="1" indent="-228240">
              <a:lnSpc>
                <a:spcPct val="90000"/>
              </a:lnSpc>
              <a:spcBef>
                <a:spcPts val="499"/>
              </a:spcBef>
              <a:buClr>
                <a:srgbClr val="000000"/>
              </a:buClr>
              <a:buFont typeface="Arial"/>
              <a:buChar char="•"/>
            </a:pPr>
            <a:r>
              <a:rPr lang="en-US" dirty="0"/>
              <a:t>All the devices in an internal network </a:t>
            </a:r>
            <a:r>
              <a:rPr lang="en-US" b="1" dirty="0"/>
              <a:t>use a single public IPv4 address</a:t>
            </a:r>
            <a:r>
              <a:rPr lang="en-US" dirty="0"/>
              <a:t>.</a:t>
            </a:r>
          </a:p>
          <a:p>
            <a:pPr marL="457200" lvl="1" indent="0">
              <a:buNone/>
            </a:pPr>
            <a:endParaRPr lang="en-US" dirty="0"/>
          </a:p>
          <a:p>
            <a:r>
              <a:rPr lang="en-US" sz="2400" dirty="0"/>
              <a:t>Private IPv4 address range: it is a reserved IP address block that is not routable on the internet. </a:t>
            </a:r>
          </a:p>
          <a:p>
            <a:pPr lvl="1"/>
            <a:r>
              <a:rPr lang="en-AU" dirty="0"/>
              <a:t>It is used for </a:t>
            </a:r>
            <a:r>
              <a:rPr lang="en-US" dirty="0"/>
              <a:t>internal communication among devices within the same internal/private network.</a:t>
            </a:r>
          </a:p>
          <a:p>
            <a:pPr lvl="1"/>
            <a:r>
              <a:rPr lang="en-US" dirty="0"/>
              <a:t>Three address ranges:</a:t>
            </a:r>
            <a:endParaRPr lang="en-AU" dirty="0"/>
          </a:p>
          <a:p>
            <a:endParaRPr lang="en-AU" sz="2400" dirty="0"/>
          </a:p>
          <a:p>
            <a:endParaRPr lang="en-AU" sz="2400" dirty="0"/>
          </a:p>
          <a:p>
            <a:pPr marL="0" indent="0">
              <a:buNone/>
            </a:pPr>
            <a:endParaRPr lang="en-AU" sz="2400" dirty="0"/>
          </a:p>
          <a:p>
            <a:endParaRPr lang="en-AU" sz="2400" dirty="0"/>
          </a:p>
          <a:p>
            <a:pPr lvl="1">
              <a:buFont typeface="Courier New" panose="02070309020205020404" pitchFamily="49" charset="0"/>
              <a:buChar char="o"/>
            </a:pPr>
            <a:endParaRPr lang="en-US" sz="2200" dirty="0"/>
          </a:p>
        </p:txBody>
      </p:sp>
      <p:graphicFrame>
        <p:nvGraphicFramePr>
          <p:cNvPr id="5" name="Table 3">
            <a:extLst>
              <a:ext uri="{FF2B5EF4-FFF2-40B4-BE49-F238E27FC236}">
                <a16:creationId xmlns:a16="http://schemas.microsoft.com/office/drawing/2014/main" id="{19264D81-7A43-4018-9DE7-F578D104DEC2}"/>
              </a:ext>
            </a:extLst>
          </p:cNvPr>
          <p:cNvGraphicFramePr/>
          <p:nvPr>
            <p:extLst>
              <p:ext uri="{D42A27DB-BD31-4B8C-83A1-F6EECF244321}">
                <p14:modId xmlns:p14="http://schemas.microsoft.com/office/powerpoint/2010/main" val="4197299257"/>
              </p:ext>
            </p:extLst>
          </p:nvPr>
        </p:nvGraphicFramePr>
        <p:xfrm>
          <a:off x="1934778" y="4697900"/>
          <a:ext cx="7712142" cy="1483200"/>
        </p:xfrm>
        <a:graphic>
          <a:graphicData uri="http://schemas.openxmlformats.org/drawingml/2006/table">
            <a:tbl>
              <a:tblPr/>
              <a:tblGrid>
                <a:gridCol w="3695454">
                  <a:extLst>
                    <a:ext uri="{9D8B030D-6E8A-4147-A177-3AD203B41FA5}">
                      <a16:colId xmlns:a16="http://schemas.microsoft.com/office/drawing/2014/main" val="20000"/>
                    </a:ext>
                  </a:extLst>
                </a:gridCol>
                <a:gridCol w="1932077">
                  <a:extLst>
                    <a:ext uri="{9D8B030D-6E8A-4147-A177-3AD203B41FA5}">
                      <a16:colId xmlns:a16="http://schemas.microsoft.com/office/drawing/2014/main" val="4006141556"/>
                    </a:ext>
                  </a:extLst>
                </a:gridCol>
                <a:gridCol w="2084611">
                  <a:extLst>
                    <a:ext uri="{9D8B030D-6E8A-4147-A177-3AD203B41FA5}">
                      <a16:colId xmlns:a16="http://schemas.microsoft.com/office/drawing/2014/main" val="20001"/>
                    </a:ext>
                  </a:extLst>
                </a:gridCol>
              </a:tblGrid>
              <a:tr h="370800">
                <a:tc>
                  <a:txBody>
                    <a:bodyPr/>
                    <a:lstStyle/>
                    <a:p>
                      <a:pPr>
                        <a:lnSpc>
                          <a:spcPct val="100000"/>
                        </a:lnSpc>
                      </a:pPr>
                      <a:r>
                        <a:rPr lang="en-US" sz="1800" b="1" strike="noStrike" spc="-1" dirty="0">
                          <a:solidFill>
                            <a:schemeClr val="tx1"/>
                          </a:solidFill>
                          <a:latin typeface="Calibri"/>
                        </a:rPr>
                        <a:t>Range</a:t>
                      </a:r>
                      <a:endParaRPr lang="en-AU" sz="1800" b="0" strike="noStrike" spc="-1" dirty="0">
                        <a:solidFill>
                          <a:schemeClr val="tx1"/>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pPr>
                      <a:r>
                        <a:rPr lang="en-AU" sz="1800" b="1" strike="noStrike" kern="1200" spc="-1" dirty="0">
                          <a:solidFill>
                            <a:schemeClr val="tx1"/>
                          </a:solidFill>
                          <a:latin typeface="Calibri"/>
                          <a:ea typeface="+mn-ea"/>
                          <a:cs typeface="+mn-cs"/>
                        </a:rPr>
                        <a:t>CIDR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pPr>
                      <a:r>
                        <a:rPr lang="en-US" sz="1800" b="1" strike="noStrike" spc="-1" dirty="0">
                          <a:solidFill>
                            <a:schemeClr val="tx1"/>
                          </a:solidFill>
                          <a:latin typeface="Calibri"/>
                        </a:rPr>
                        <a:t>Total Addresses</a:t>
                      </a:r>
                      <a:endParaRPr lang="en-AU" sz="1800" b="0" strike="noStrike" spc="-1" dirty="0">
                        <a:solidFill>
                          <a:schemeClr val="tx1"/>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00">
                <a:tc>
                  <a:txBody>
                    <a:bodyPr/>
                    <a:lstStyle/>
                    <a:p>
                      <a:pPr>
                        <a:lnSpc>
                          <a:spcPct val="100000"/>
                        </a:lnSpc>
                      </a:pPr>
                      <a:r>
                        <a:rPr lang="en-US" sz="1800" b="0" strike="noStrike" spc="-1">
                          <a:solidFill>
                            <a:srgbClr val="000000"/>
                          </a:solidFill>
                          <a:latin typeface="Calibri"/>
                        </a:rPr>
                        <a:t>10.0.0.0         to     10.255.255.255</a:t>
                      </a:r>
                      <a:endParaRPr lang="en-AU" sz="1800" b="0" strike="noStrike" spc="-1">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pPr>
                      <a:r>
                        <a:rPr lang="en-AU" sz="1800" b="0" i="0" kern="1200" dirty="0">
                          <a:solidFill>
                            <a:schemeClr val="tx1"/>
                          </a:solidFill>
                          <a:effectLst/>
                          <a:latin typeface="+mn-lt"/>
                          <a:ea typeface="+mn-ea"/>
                          <a:cs typeface="+mn-cs"/>
                        </a:rPr>
                        <a:t>10.0.0.0/8</a:t>
                      </a:r>
                      <a:endParaRPr lang="en-AU" sz="1800" b="0" strike="noStrike" spc="-1" dirty="0">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pPr>
                      <a:r>
                        <a:rPr lang="en-US" sz="1800" b="0" strike="noStrike" spc="-1" dirty="0">
                          <a:solidFill>
                            <a:srgbClr val="000000"/>
                          </a:solidFill>
                          <a:latin typeface="Calibri"/>
                        </a:rPr>
                        <a:t>2^24 (24 = 32 – 8)</a:t>
                      </a:r>
                      <a:endParaRPr lang="en-AU" sz="1800" b="0" strike="noStrike" spc="-1" dirty="0">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00">
                <a:tc>
                  <a:txBody>
                    <a:bodyPr/>
                    <a:lstStyle/>
                    <a:p>
                      <a:pPr>
                        <a:lnSpc>
                          <a:spcPct val="100000"/>
                        </a:lnSpc>
                      </a:pPr>
                      <a:r>
                        <a:rPr lang="en-US" sz="1800" b="0" strike="noStrike" spc="-1" dirty="0">
                          <a:solidFill>
                            <a:srgbClr val="000000"/>
                          </a:solidFill>
                          <a:latin typeface="Calibri"/>
                        </a:rPr>
                        <a:t>172.16.0.0     to    172.31.255.255</a:t>
                      </a:r>
                      <a:endParaRPr lang="en-AU" sz="1800" b="0" strike="noStrike" spc="-1" dirty="0">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pPr>
                      <a:r>
                        <a:rPr lang="en-AU" sz="1800" b="0" i="0" kern="1200" dirty="0">
                          <a:solidFill>
                            <a:schemeClr val="tx1"/>
                          </a:solidFill>
                          <a:effectLst/>
                          <a:latin typeface="+mn-lt"/>
                          <a:ea typeface="+mn-ea"/>
                          <a:cs typeface="+mn-cs"/>
                        </a:rPr>
                        <a:t>172.16.0.0/12</a:t>
                      </a:r>
                      <a:endParaRPr lang="en-AU" sz="1800" b="0" strike="noStrike" spc="-1" dirty="0">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tabLst>
                          <a:tab pos="0" algn="l"/>
                        </a:tabLst>
                      </a:pPr>
                      <a:r>
                        <a:rPr lang="en-US" sz="1800" b="0" strike="noStrike" spc="-1" dirty="0">
                          <a:solidFill>
                            <a:srgbClr val="000000"/>
                          </a:solidFill>
                          <a:latin typeface="Calibri"/>
                        </a:rPr>
                        <a:t>2^20 (20 = </a:t>
                      </a:r>
                      <a:r>
                        <a:rPr lang="en-US" sz="1800" b="0" strike="noStrike" spc="-1" dirty="0">
                          <a:solidFill>
                            <a:srgbClr val="000000"/>
                          </a:solidFill>
                          <a:latin typeface="+mn-lt"/>
                        </a:rPr>
                        <a:t>32 – 12</a:t>
                      </a:r>
                      <a:r>
                        <a:rPr lang="en-US" sz="1800" b="0" strike="noStrike" spc="-1" dirty="0">
                          <a:solidFill>
                            <a:srgbClr val="000000"/>
                          </a:solidFill>
                          <a:latin typeface="Calibri"/>
                        </a:rPr>
                        <a:t>)</a:t>
                      </a:r>
                      <a:endParaRPr lang="en-AU" sz="1800" b="0" strike="noStrike" spc="-1" dirty="0">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00">
                <a:tc>
                  <a:txBody>
                    <a:bodyPr/>
                    <a:lstStyle/>
                    <a:p>
                      <a:pPr>
                        <a:lnSpc>
                          <a:spcPct val="100000"/>
                        </a:lnSpc>
                      </a:pPr>
                      <a:r>
                        <a:rPr lang="en-US" sz="1800" b="0" strike="noStrike" spc="-1">
                          <a:solidFill>
                            <a:srgbClr val="000000"/>
                          </a:solidFill>
                          <a:latin typeface="Calibri"/>
                        </a:rPr>
                        <a:t>192.168.0.0   to    192.168.255.255</a:t>
                      </a:r>
                      <a:endParaRPr lang="en-AU" sz="1800" b="0" strike="noStrike" spc="-1">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pPr>
                      <a:r>
                        <a:rPr lang="en-AU" sz="1800" b="0" i="0" kern="1200" dirty="0">
                          <a:solidFill>
                            <a:schemeClr val="tx1"/>
                          </a:solidFill>
                          <a:effectLst/>
                          <a:latin typeface="+mn-lt"/>
                          <a:ea typeface="+mn-ea"/>
                          <a:cs typeface="+mn-cs"/>
                        </a:rPr>
                        <a:t>192.168.0.0/16</a:t>
                      </a:r>
                      <a:endParaRPr lang="en-AU" sz="1800" b="0" strike="noStrike" spc="-1" dirty="0">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tabLst>
                          <a:tab pos="0" algn="l"/>
                        </a:tabLst>
                      </a:pPr>
                      <a:r>
                        <a:rPr lang="en-US" sz="1800" b="0" strike="noStrike" spc="-1" dirty="0">
                          <a:solidFill>
                            <a:srgbClr val="000000"/>
                          </a:solidFill>
                          <a:latin typeface="Calibri"/>
                        </a:rPr>
                        <a:t>2^16 (16 = 32 – 16)</a:t>
                      </a:r>
                      <a:endParaRPr lang="en-AU" sz="1800" b="0" strike="noStrike" spc="-1" dirty="0">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509596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7D219E-61D1-4414-AF55-4282B7699B64}"/>
              </a:ext>
            </a:extLst>
          </p:cNvPr>
          <p:cNvSpPr txBox="1">
            <a:spLocks/>
          </p:cNvSpPr>
          <p:nvPr/>
        </p:nvSpPr>
        <p:spPr>
          <a:xfrm>
            <a:off x="448236" y="262039"/>
            <a:ext cx="7019364" cy="67141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t>How NAT works</a:t>
            </a:r>
          </a:p>
        </p:txBody>
      </p:sp>
      <p:pic>
        <p:nvPicPr>
          <p:cNvPr id="3" name="Picture 2">
            <a:extLst>
              <a:ext uri="{FF2B5EF4-FFF2-40B4-BE49-F238E27FC236}">
                <a16:creationId xmlns:a16="http://schemas.microsoft.com/office/drawing/2014/main" id="{78CDF2A3-5613-4CFA-82BA-A01B9F39C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9968" y="1165766"/>
            <a:ext cx="8832063" cy="5209850"/>
          </a:xfrm>
          <a:prstGeom prst="rect">
            <a:avLst/>
          </a:prstGeom>
        </p:spPr>
      </p:pic>
      <p:sp>
        <p:nvSpPr>
          <p:cNvPr id="2" name="Rectangle 1">
            <a:extLst>
              <a:ext uri="{FF2B5EF4-FFF2-40B4-BE49-F238E27FC236}">
                <a16:creationId xmlns:a16="http://schemas.microsoft.com/office/drawing/2014/main" id="{DD2AB1AF-DB5B-46A1-A64C-C8978E69F9F3}"/>
              </a:ext>
            </a:extLst>
          </p:cNvPr>
          <p:cNvSpPr/>
          <p:nvPr/>
        </p:nvSpPr>
        <p:spPr>
          <a:xfrm>
            <a:off x="2003892" y="1053371"/>
            <a:ext cx="907808" cy="4168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C8E957D2-41D2-4782-A24D-AECEF88664A0}"/>
              </a:ext>
            </a:extLst>
          </p:cNvPr>
          <p:cNvSpPr/>
          <p:nvPr/>
        </p:nvSpPr>
        <p:spPr>
          <a:xfrm flipV="1">
            <a:off x="1963252" y="4368799"/>
            <a:ext cx="1084748" cy="1645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Connector: Curved 10">
            <a:extLst>
              <a:ext uri="{FF2B5EF4-FFF2-40B4-BE49-F238E27FC236}">
                <a16:creationId xmlns:a16="http://schemas.microsoft.com/office/drawing/2014/main" id="{B940C86E-9D6C-4ED3-AC0B-E29CB4ED8B2B}"/>
              </a:ext>
            </a:extLst>
          </p:cNvPr>
          <p:cNvCxnSpPr>
            <a:cxnSpLocks/>
          </p:cNvCxnSpPr>
          <p:nvPr/>
        </p:nvCxnSpPr>
        <p:spPr>
          <a:xfrm rot="16200000" flipH="1">
            <a:off x="660399" y="3789680"/>
            <a:ext cx="3901444" cy="873761"/>
          </a:xfrm>
          <a:prstGeom prst="curvedConnector3">
            <a:avLst>
              <a:gd name="adj1" fmla="val 10052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5" y="208252"/>
            <a:ext cx="3245223" cy="679868"/>
          </a:xfrm>
        </p:spPr>
        <p:txBody>
          <a:bodyPr>
            <a:normAutofit/>
          </a:bodyPr>
          <a:lstStyle/>
          <a:p>
            <a:r>
              <a:rPr lang="en-US" sz="3200" b="1" dirty="0"/>
              <a:t>Set up an ALB</a:t>
            </a:r>
          </a:p>
        </p:txBody>
      </p:sp>
      <p:sp>
        <p:nvSpPr>
          <p:cNvPr id="3" name="Content Placeholder 2"/>
          <p:cNvSpPr>
            <a:spLocks noGrp="1"/>
          </p:cNvSpPr>
          <p:nvPr>
            <p:ph idx="1"/>
          </p:nvPr>
        </p:nvSpPr>
        <p:spPr>
          <a:xfrm>
            <a:off x="448236" y="888120"/>
            <a:ext cx="9182553" cy="4936210"/>
          </a:xfrm>
        </p:spPr>
        <p:txBody>
          <a:bodyPr>
            <a:normAutofit/>
          </a:bodyPr>
          <a:lstStyle/>
          <a:p>
            <a:r>
              <a:rPr lang="en-AU" sz="2400" dirty="0"/>
              <a:t>Basic configuration</a:t>
            </a:r>
          </a:p>
          <a:p>
            <a:pPr lvl="1">
              <a:buFont typeface="Courier New" panose="02070309020205020404" pitchFamily="49" charset="0"/>
              <a:buChar char="o"/>
            </a:pPr>
            <a:endParaRPr lang="en-US" sz="2200" dirty="0"/>
          </a:p>
        </p:txBody>
      </p:sp>
      <p:pic>
        <p:nvPicPr>
          <p:cNvPr id="5" name="Picture 4">
            <a:extLst>
              <a:ext uri="{FF2B5EF4-FFF2-40B4-BE49-F238E27FC236}">
                <a16:creationId xmlns:a16="http://schemas.microsoft.com/office/drawing/2014/main" id="{3BC61882-1FC4-44D1-9DD1-8785B3EC0F65}"/>
              </a:ext>
            </a:extLst>
          </p:cNvPr>
          <p:cNvPicPr>
            <a:picLocks noChangeAspect="1"/>
          </p:cNvPicPr>
          <p:nvPr/>
        </p:nvPicPr>
        <p:blipFill>
          <a:blip r:embed="rId3"/>
          <a:stretch>
            <a:fillRect/>
          </a:stretch>
        </p:blipFill>
        <p:spPr>
          <a:xfrm>
            <a:off x="1649535" y="1644188"/>
            <a:ext cx="7602011" cy="3829584"/>
          </a:xfrm>
          <a:prstGeom prst="rect">
            <a:avLst/>
          </a:prstGeom>
        </p:spPr>
      </p:pic>
      <p:sp>
        <p:nvSpPr>
          <p:cNvPr id="4" name="Rectangle 3">
            <a:extLst>
              <a:ext uri="{FF2B5EF4-FFF2-40B4-BE49-F238E27FC236}">
                <a16:creationId xmlns:a16="http://schemas.microsoft.com/office/drawing/2014/main" id="{E59195BF-FEF4-45A7-A2C1-B0FA99F88707}"/>
              </a:ext>
            </a:extLst>
          </p:cNvPr>
          <p:cNvSpPr/>
          <p:nvPr/>
        </p:nvSpPr>
        <p:spPr>
          <a:xfrm>
            <a:off x="1392382" y="3601616"/>
            <a:ext cx="7859164" cy="533966"/>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2615344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193776"/>
            <a:ext cx="2843605" cy="541556"/>
          </a:xfrm>
        </p:spPr>
        <p:txBody>
          <a:bodyPr>
            <a:normAutofit/>
          </a:bodyPr>
          <a:lstStyle/>
          <a:p>
            <a:r>
              <a:rPr lang="en-US" sz="3200" b="1" dirty="0"/>
              <a:t>Set up an ALB</a:t>
            </a:r>
          </a:p>
        </p:txBody>
      </p:sp>
      <p:sp>
        <p:nvSpPr>
          <p:cNvPr id="3" name="Content Placeholder 2"/>
          <p:cNvSpPr>
            <a:spLocks noGrp="1"/>
          </p:cNvSpPr>
          <p:nvPr>
            <p:ph idx="1"/>
          </p:nvPr>
        </p:nvSpPr>
        <p:spPr>
          <a:xfrm>
            <a:off x="448236" y="888120"/>
            <a:ext cx="9182553" cy="4936210"/>
          </a:xfrm>
        </p:spPr>
        <p:txBody>
          <a:bodyPr>
            <a:normAutofit/>
          </a:bodyPr>
          <a:lstStyle/>
          <a:p>
            <a:r>
              <a:rPr lang="en-AU" sz="2000" dirty="0"/>
              <a:t>Network configuration</a:t>
            </a:r>
          </a:p>
          <a:p>
            <a:pPr lvl="1">
              <a:buFont typeface="Courier New" panose="02070309020205020404" pitchFamily="49" charset="0"/>
              <a:buChar char="o"/>
            </a:pPr>
            <a:endParaRPr lang="en-US" sz="2200" dirty="0"/>
          </a:p>
        </p:txBody>
      </p:sp>
      <p:pic>
        <p:nvPicPr>
          <p:cNvPr id="5" name="Picture 4">
            <a:extLst>
              <a:ext uri="{FF2B5EF4-FFF2-40B4-BE49-F238E27FC236}">
                <a16:creationId xmlns:a16="http://schemas.microsoft.com/office/drawing/2014/main" id="{4A122B5D-D2A0-4D79-84BE-3A9B7E49B2EB}"/>
              </a:ext>
            </a:extLst>
          </p:cNvPr>
          <p:cNvPicPr>
            <a:picLocks noChangeAspect="1"/>
          </p:cNvPicPr>
          <p:nvPr/>
        </p:nvPicPr>
        <p:blipFill>
          <a:blip r:embed="rId3"/>
          <a:stretch>
            <a:fillRect/>
          </a:stretch>
        </p:blipFill>
        <p:spPr>
          <a:xfrm>
            <a:off x="2314144" y="1475332"/>
            <a:ext cx="8060261" cy="4348998"/>
          </a:xfrm>
          <a:prstGeom prst="rect">
            <a:avLst/>
          </a:prstGeom>
        </p:spPr>
      </p:pic>
      <p:sp>
        <p:nvSpPr>
          <p:cNvPr id="4" name="Rectangle 3">
            <a:extLst>
              <a:ext uri="{FF2B5EF4-FFF2-40B4-BE49-F238E27FC236}">
                <a16:creationId xmlns:a16="http://schemas.microsoft.com/office/drawing/2014/main" id="{FEAF0211-8385-4B24-A901-7585FE6A530F}"/>
              </a:ext>
            </a:extLst>
          </p:cNvPr>
          <p:cNvSpPr/>
          <p:nvPr/>
        </p:nvSpPr>
        <p:spPr>
          <a:xfrm>
            <a:off x="2048256" y="2139696"/>
            <a:ext cx="8503920" cy="1380744"/>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461605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193776"/>
            <a:ext cx="2843605" cy="541556"/>
          </a:xfrm>
        </p:spPr>
        <p:txBody>
          <a:bodyPr>
            <a:normAutofit/>
          </a:bodyPr>
          <a:lstStyle/>
          <a:p>
            <a:r>
              <a:rPr lang="en-US" sz="3200" b="1" dirty="0"/>
              <a:t>VPC</a:t>
            </a:r>
          </a:p>
        </p:txBody>
      </p:sp>
      <p:sp>
        <p:nvSpPr>
          <p:cNvPr id="3" name="Content Placeholder 2"/>
          <p:cNvSpPr>
            <a:spLocks noGrp="1"/>
          </p:cNvSpPr>
          <p:nvPr>
            <p:ph idx="1"/>
          </p:nvPr>
        </p:nvSpPr>
        <p:spPr>
          <a:xfrm>
            <a:off x="448236" y="888120"/>
            <a:ext cx="11134164" cy="3398130"/>
          </a:xfrm>
        </p:spPr>
        <p:txBody>
          <a:bodyPr>
            <a:normAutofit/>
          </a:bodyPr>
          <a:lstStyle/>
          <a:p>
            <a:r>
              <a:rPr lang="en-AU" sz="2400" b="1" dirty="0"/>
              <a:t>VPC</a:t>
            </a:r>
            <a:r>
              <a:rPr lang="en-US" sz="2400" b="1" dirty="0"/>
              <a:t> (virtual private cloud)</a:t>
            </a:r>
            <a:r>
              <a:rPr lang="en-US" sz="2400" dirty="0"/>
              <a:t>: it is a virtual network dedicated to an AWS account.</a:t>
            </a:r>
          </a:p>
          <a:p>
            <a:pPr lvl="1"/>
            <a:r>
              <a:rPr lang="en-US" dirty="0"/>
              <a:t>It is logically isolated from other virtual networks in the AWS Cloud.</a:t>
            </a:r>
          </a:p>
          <a:p>
            <a:r>
              <a:rPr lang="en-US" sz="2400" b="1" dirty="0"/>
              <a:t>Internet gateway</a:t>
            </a:r>
            <a:r>
              <a:rPr lang="en-US" sz="2400" dirty="0"/>
              <a:t>: provides VPC with internet access</a:t>
            </a:r>
          </a:p>
          <a:p>
            <a:pPr lvl="1"/>
            <a:r>
              <a:rPr lang="en-US" dirty="0"/>
              <a:t>Manage outbound traffic to the internet and inbound traffic to the AWS resources.</a:t>
            </a:r>
            <a:endParaRPr lang="en-AU" dirty="0"/>
          </a:p>
          <a:p>
            <a:r>
              <a:rPr lang="en-AU" sz="2400" b="1" dirty="0"/>
              <a:t>Subnet</a:t>
            </a:r>
            <a:r>
              <a:rPr lang="en-AU" sz="2400" dirty="0"/>
              <a:t>: it </a:t>
            </a:r>
            <a:r>
              <a:rPr lang="en-US" sz="2400" dirty="0"/>
              <a:t>is a range of IP addresses in a VPC.</a:t>
            </a:r>
            <a:r>
              <a:rPr lang="en-AU" sz="2400" dirty="0"/>
              <a:t> </a:t>
            </a:r>
          </a:p>
          <a:p>
            <a:pPr lvl="1"/>
            <a:r>
              <a:rPr lang="en-AU" dirty="0"/>
              <a:t>It is </a:t>
            </a:r>
            <a:r>
              <a:rPr lang="en-US" dirty="0"/>
              <a:t>used to divide a VPC into multiple logical sub-networks. </a:t>
            </a:r>
          </a:p>
          <a:p>
            <a:pPr lvl="1"/>
            <a:r>
              <a:rPr lang="en-US" dirty="0"/>
              <a:t>It can be either public or private sub-network. </a:t>
            </a:r>
          </a:p>
          <a:p>
            <a:pPr lvl="1"/>
            <a:r>
              <a:rPr lang="en-US" dirty="0"/>
              <a:t>It must reside entirely within one Availability Zone.</a:t>
            </a:r>
          </a:p>
        </p:txBody>
      </p:sp>
    </p:spTree>
    <p:extLst>
      <p:ext uri="{BB962C8B-B14F-4D97-AF65-F5344CB8AC3E}">
        <p14:creationId xmlns:p14="http://schemas.microsoft.com/office/powerpoint/2010/main" val="10545356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386" y="187546"/>
            <a:ext cx="2843605" cy="541556"/>
          </a:xfrm>
        </p:spPr>
        <p:txBody>
          <a:bodyPr>
            <a:normAutofit/>
          </a:bodyPr>
          <a:lstStyle/>
          <a:p>
            <a:r>
              <a:rPr lang="en-US" sz="3200" b="1" dirty="0"/>
              <a:t>An example</a:t>
            </a:r>
          </a:p>
        </p:txBody>
      </p:sp>
      <p:pic>
        <p:nvPicPr>
          <p:cNvPr id="1026" name="Picture 2" descr="Example of an Amazon Virtual Private Cloud (VPC) setup">
            <a:extLst>
              <a:ext uri="{FF2B5EF4-FFF2-40B4-BE49-F238E27FC236}">
                <a16:creationId xmlns:a16="http://schemas.microsoft.com/office/drawing/2014/main" id="{BCEE3964-80FC-40E5-9B26-29A1FC689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607" y="778447"/>
            <a:ext cx="7150785" cy="589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6436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386" y="187546"/>
            <a:ext cx="2843605" cy="541556"/>
          </a:xfrm>
        </p:spPr>
        <p:txBody>
          <a:bodyPr>
            <a:normAutofit/>
          </a:bodyPr>
          <a:lstStyle/>
          <a:p>
            <a:r>
              <a:rPr lang="en-US" sz="3200" b="1" dirty="0"/>
              <a:t>An example</a:t>
            </a:r>
          </a:p>
        </p:txBody>
      </p:sp>
      <p:pic>
        <p:nvPicPr>
          <p:cNvPr id="1026" name="Picture 2" descr="Example of an Amazon Virtual Private Cloud (VPC) setup">
            <a:extLst>
              <a:ext uri="{FF2B5EF4-FFF2-40B4-BE49-F238E27FC236}">
                <a16:creationId xmlns:a16="http://schemas.microsoft.com/office/drawing/2014/main" id="{BCEE3964-80FC-40E5-9B26-29A1FC689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607" y="614802"/>
            <a:ext cx="7150785" cy="425075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395E60E5-38FE-4E1B-AAF2-DE102BD93CAE}"/>
              </a:ext>
            </a:extLst>
          </p:cNvPr>
          <p:cNvSpPr txBox="1">
            <a:spLocks/>
          </p:cNvSpPr>
          <p:nvPr/>
        </p:nvSpPr>
        <p:spPr>
          <a:xfrm>
            <a:off x="1789043" y="5123551"/>
            <a:ext cx="8348870" cy="1376639"/>
          </a:xfrm>
          <a:prstGeom prst="rect">
            <a:avLst/>
          </a:prstGeom>
          <a:ln w="12700">
            <a:noFill/>
          </a:ln>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AU" altLang="zh-CN" sz="2400" dirty="0">
                <a:solidFill>
                  <a:srgbClr val="C00000"/>
                </a:solidFill>
              </a:rPr>
              <a:t>The Web Server EC2 </a:t>
            </a:r>
            <a:r>
              <a:rPr lang="en-US" altLang="zh-CN" sz="2400" dirty="0">
                <a:solidFill>
                  <a:srgbClr val="C00000"/>
                </a:solidFill>
              </a:rPr>
              <a:t>with elastic IP</a:t>
            </a:r>
            <a:r>
              <a:rPr lang="en-US" sz="1600" dirty="0"/>
              <a:t> </a:t>
            </a:r>
            <a:r>
              <a:rPr lang="en-US" sz="2400" dirty="0">
                <a:solidFill>
                  <a:srgbClr val="C00000"/>
                </a:solidFill>
              </a:rPr>
              <a:t>accepts Internet-initiated traffic through the Internet Gateway.</a:t>
            </a:r>
            <a:endParaRPr lang="en-AU" altLang="zh-CN" sz="2400" dirty="0">
              <a:solidFill>
                <a:srgbClr val="C00000"/>
              </a:solidFill>
            </a:endParaRPr>
          </a:p>
          <a:p>
            <a:pPr fontAlgn="auto">
              <a:spcAft>
                <a:spcPts val="0"/>
              </a:spcAft>
              <a:buClrTx/>
              <a:buSzTx/>
            </a:pPr>
            <a:endParaRPr lang="en-AU" sz="2400" dirty="0">
              <a:solidFill>
                <a:srgbClr val="C00000"/>
              </a:solidFill>
            </a:endParaRPr>
          </a:p>
          <a:p>
            <a:pPr fontAlgn="auto">
              <a:spcAft>
                <a:spcPts val="0"/>
              </a:spcAft>
              <a:buClrTx/>
              <a:buSzTx/>
            </a:pPr>
            <a:r>
              <a:rPr lang="en-AU" sz="2400" dirty="0">
                <a:solidFill>
                  <a:srgbClr val="C00000"/>
                </a:solidFill>
              </a:rPr>
              <a:t>Does NAT gateway also accepts </a:t>
            </a:r>
            <a:r>
              <a:rPr lang="en-US" sz="2400" dirty="0">
                <a:solidFill>
                  <a:srgbClr val="C00000"/>
                </a:solidFill>
              </a:rPr>
              <a:t>Internet-initiated traffic</a:t>
            </a:r>
            <a:r>
              <a:rPr lang="en-AU" sz="2400" dirty="0">
                <a:solidFill>
                  <a:srgbClr val="C00000"/>
                </a:solidFill>
              </a:rPr>
              <a:t>? Why?</a:t>
            </a:r>
          </a:p>
          <a:p>
            <a:pPr marL="0" indent="0" fontAlgn="auto">
              <a:spcAft>
                <a:spcPts val="0"/>
              </a:spcAft>
              <a:buClrTx/>
              <a:buSzTx/>
              <a:buFont typeface="Arial" panose="020B0604020202020204" pitchFamily="34" charset="0"/>
              <a:buNone/>
            </a:pPr>
            <a:endParaRPr lang="en-AU" sz="2400" dirty="0"/>
          </a:p>
          <a:p>
            <a:pPr fontAlgn="auto">
              <a:spcAft>
                <a:spcPts val="0"/>
              </a:spcAft>
              <a:buClrTx/>
              <a:buSzTx/>
            </a:pPr>
            <a:endParaRPr lang="en-AU" sz="2400" dirty="0"/>
          </a:p>
          <a:p>
            <a:pPr lvl="1" fontAlgn="auto">
              <a:spcAft>
                <a:spcPts val="0"/>
              </a:spcAft>
              <a:buClrTx/>
              <a:buSzTx/>
              <a:buFont typeface="Courier New" panose="02070309020205020404" pitchFamily="49" charset="0"/>
              <a:buChar char="o"/>
            </a:pPr>
            <a:endParaRPr lang="en-US" sz="2200" dirty="0"/>
          </a:p>
        </p:txBody>
      </p:sp>
    </p:spTree>
    <p:extLst>
      <p:ext uri="{BB962C8B-B14F-4D97-AF65-F5344CB8AC3E}">
        <p14:creationId xmlns:p14="http://schemas.microsoft.com/office/powerpoint/2010/main" val="35786600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193776"/>
            <a:ext cx="2843605" cy="541556"/>
          </a:xfrm>
        </p:spPr>
        <p:txBody>
          <a:bodyPr>
            <a:normAutofit/>
          </a:bodyPr>
          <a:lstStyle/>
          <a:p>
            <a:r>
              <a:rPr lang="en-US" sz="3200" b="1" dirty="0"/>
              <a:t>Set up an ALB</a:t>
            </a:r>
          </a:p>
        </p:txBody>
      </p:sp>
      <p:sp>
        <p:nvSpPr>
          <p:cNvPr id="3" name="Content Placeholder 2"/>
          <p:cNvSpPr>
            <a:spLocks noGrp="1"/>
          </p:cNvSpPr>
          <p:nvPr>
            <p:ph idx="1"/>
          </p:nvPr>
        </p:nvSpPr>
        <p:spPr>
          <a:xfrm>
            <a:off x="448236" y="888120"/>
            <a:ext cx="9182553" cy="4936210"/>
          </a:xfrm>
        </p:spPr>
        <p:txBody>
          <a:bodyPr>
            <a:normAutofit/>
          </a:bodyPr>
          <a:lstStyle/>
          <a:p>
            <a:r>
              <a:rPr lang="en-AU" sz="2000" dirty="0"/>
              <a:t>Network configuration</a:t>
            </a:r>
          </a:p>
          <a:p>
            <a:pPr lvl="1">
              <a:buFont typeface="Courier New" panose="02070309020205020404" pitchFamily="49" charset="0"/>
              <a:buChar char="o"/>
            </a:pPr>
            <a:endParaRPr lang="en-US" sz="2200" dirty="0"/>
          </a:p>
        </p:txBody>
      </p:sp>
      <p:pic>
        <p:nvPicPr>
          <p:cNvPr id="5" name="Picture 4">
            <a:extLst>
              <a:ext uri="{FF2B5EF4-FFF2-40B4-BE49-F238E27FC236}">
                <a16:creationId xmlns:a16="http://schemas.microsoft.com/office/drawing/2014/main" id="{4A122B5D-D2A0-4D79-84BE-3A9B7E49B2EB}"/>
              </a:ext>
            </a:extLst>
          </p:cNvPr>
          <p:cNvPicPr>
            <a:picLocks noChangeAspect="1"/>
          </p:cNvPicPr>
          <p:nvPr/>
        </p:nvPicPr>
        <p:blipFill>
          <a:blip r:embed="rId3"/>
          <a:stretch>
            <a:fillRect/>
          </a:stretch>
        </p:blipFill>
        <p:spPr>
          <a:xfrm>
            <a:off x="2314144" y="1475332"/>
            <a:ext cx="8060261" cy="4348998"/>
          </a:xfrm>
          <a:prstGeom prst="rect">
            <a:avLst/>
          </a:prstGeom>
        </p:spPr>
      </p:pic>
      <p:sp>
        <p:nvSpPr>
          <p:cNvPr id="4" name="Rectangle 3">
            <a:extLst>
              <a:ext uri="{FF2B5EF4-FFF2-40B4-BE49-F238E27FC236}">
                <a16:creationId xmlns:a16="http://schemas.microsoft.com/office/drawing/2014/main" id="{FEAF0211-8385-4B24-A901-7585FE6A530F}"/>
              </a:ext>
            </a:extLst>
          </p:cNvPr>
          <p:cNvSpPr/>
          <p:nvPr/>
        </p:nvSpPr>
        <p:spPr>
          <a:xfrm>
            <a:off x="2092314" y="3429000"/>
            <a:ext cx="8409839" cy="181586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0397573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193776"/>
            <a:ext cx="2843605" cy="541556"/>
          </a:xfrm>
        </p:spPr>
        <p:txBody>
          <a:bodyPr>
            <a:normAutofit/>
          </a:bodyPr>
          <a:lstStyle/>
          <a:p>
            <a:r>
              <a:rPr lang="en-US" sz="3200" b="1" dirty="0"/>
              <a:t>Security group</a:t>
            </a:r>
          </a:p>
        </p:txBody>
      </p:sp>
      <p:pic>
        <p:nvPicPr>
          <p:cNvPr id="5" name="Picture 4">
            <a:extLst>
              <a:ext uri="{FF2B5EF4-FFF2-40B4-BE49-F238E27FC236}">
                <a16:creationId xmlns:a16="http://schemas.microsoft.com/office/drawing/2014/main" id="{E1A4CB97-9A73-47AE-851A-DD3097187094}"/>
              </a:ext>
            </a:extLst>
          </p:cNvPr>
          <p:cNvPicPr>
            <a:picLocks noChangeAspect="1"/>
          </p:cNvPicPr>
          <p:nvPr/>
        </p:nvPicPr>
        <p:blipFill>
          <a:blip r:embed="rId3"/>
          <a:stretch>
            <a:fillRect/>
          </a:stretch>
        </p:blipFill>
        <p:spPr>
          <a:xfrm>
            <a:off x="448236" y="999826"/>
            <a:ext cx="10742987" cy="2429174"/>
          </a:xfrm>
          <a:prstGeom prst="rect">
            <a:avLst/>
          </a:prstGeom>
        </p:spPr>
      </p:pic>
      <p:cxnSp>
        <p:nvCxnSpPr>
          <p:cNvPr id="8" name="Straight Connector 7">
            <a:extLst>
              <a:ext uri="{FF2B5EF4-FFF2-40B4-BE49-F238E27FC236}">
                <a16:creationId xmlns:a16="http://schemas.microsoft.com/office/drawing/2014/main" id="{C1444F4E-9418-42B9-8CBC-08074CCB0A79}"/>
              </a:ext>
            </a:extLst>
          </p:cNvPr>
          <p:cNvCxnSpPr/>
          <p:nvPr/>
        </p:nvCxnSpPr>
        <p:spPr>
          <a:xfrm>
            <a:off x="8953500" y="1714500"/>
            <a:ext cx="2104373"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43909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86883"/>
            <a:ext cx="2843605" cy="541556"/>
          </a:xfrm>
        </p:spPr>
        <p:txBody>
          <a:bodyPr>
            <a:normAutofit/>
          </a:bodyPr>
          <a:lstStyle/>
          <a:p>
            <a:r>
              <a:rPr lang="en-US" sz="3200" b="1" dirty="0"/>
              <a:t>Security group</a:t>
            </a:r>
          </a:p>
        </p:txBody>
      </p:sp>
      <p:pic>
        <p:nvPicPr>
          <p:cNvPr id="9" name="Picture 8">
            <a:extLst>
              <a:ext uri="{FF2B5EF4-FFF2-40B4-BE49-F238E27FC236}">
                <a16:creationId xmlns:a16="http://schemas.microsoft.com/office/drawing/2014/main" id="{AAAE55A7-2EA8-4A5D-A609-E321EB31B31B}"/>
              </a:ext>
            </a:extLst>
          </p:cNvPr>
          <p:cNvPicPr>
            <a:picLocks noChangeAspect="1"/>
          </p:cNvPicPr>
          <p:nvPr/>
        </p:nvPicPr>
        <p:blipFill>
          <a:blip r:embed="rId3"/>
          <a:stretch>
            <a:fillRect/>
          </a:stretch>
        </p:blipFill>
        <p:spPr>
          <a:xfrm>
            <a:off x="448236" y="771264"/>
            <a:ext cx="10431331" cy="4458322"/>
          </a:xfrm>
          <a:prstGeom prst="rect">
            <a:avLst/>
          </a:prstGeom>
        </p:spPr>
      </p:pic>
    </p:spTree>
    <p:extLst>
      <p:ext uri="{BB962C8B-B14F-4D97-AF65-F5344CB8AC3E}">
        <p14:creationId xmlns:p14="http://schemas.microsoft.com/office/powerpoint/2010/main" val="22291181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86883"/>
            <a:ext cx="2843605" cy="541556"/>
          </a:xfrm>
        </p:spPr>
        <p:txBody>
          <a:bodyPr>
            <a:normAutofit/>
          </a:bodyPr>
          <a:lstStyle/>
          <a:p>
            <a:r>
              <a:rPr lang="en-US" sz="3200" b="1" dirty="0"/>
              <a:t>Security group</a:t>
            </a:r>
          </a:p>
        </p:txBody>
      </p:sp>
      <p:pic>
        <p:nvPicPr>
          <p:cNvPr id="9" name="Picture 8">
            <a:extLst>
              <a:ext uri="{FF2B5EF4-FFF2-40B4-BE49-F238E27FC236}">
                <a16:creationId xmlns:a16="http://schemas.microsoft.com/office/drawing/2014/main" id="{AAAE55A7-2EA8-4A5D-A609-E321EB31B31B}"/>
              </a:ext>
            </a:extLst>
          </p:cNvPr>
          <p:cNvPicPr>
            <a:picLocks noChangeAspect="1"/>
          </p:cNvPicPr>
          <p:nvPr/>
        </p:nvPicPr>
        <p:blipFill>
          <a:blip r:embed="rId3"/>
          <a:stretch>
            <a:fillRect/>
          </a:stretch>
        </p:blipFill>
        <p:spPr>
          <a:xfrm>
            <a:off x="448236" y="771264"/>
            <a:ext cx="10431331" cy="4458322"/>
          </a:xfrm>
          <a:prstGeom prst="rect">
            <a:avLst/>
          </a:prstGeom>
        </p:spPr>
      </p:pic>
      <p:sp>
        <p:nvSpPr>
          <p:cNvPr id="3" name="Rectangle 2">
            <a:extLst>
              <a:ext uri="{FF2B5EF4-FFF2-40B4-BE49-F238E27FC236}">
                <a16:creationId xmlns:a16="http://schemas.microsoft.com/office/drawing/2014/main" id="{943002DC-45CF-4847-90EE-C763F83D6E96}"/>
              </a:ext>
            </a:extLst>
          </p:cNvPr>
          <p:cNvSpPr/>
          <p:nvPr/>
        </p:nvSpPr>
        <p:spPr>
          <a:xfrm>
            <a:off x="685797" y="1663585"/>
            <a:ext cx="914400" cy="200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solidFill>
                  <a:srgbClr val="FF0000"/>
                </a:solidFill>
              </a:rPr>
              <a:t>HTTP</a:t>
            </a:r>
          </a:p>
        </p:txBody>
      </p:sp>
    </p:spTree>
    <p:extLst>
      <p:ext uri="{BB962C8B-B14F-4D97-AF65-F5344CB8AC3E}">
        <p14:creationId xmlns:p14="http://schemas.microsoft.com/office/powerpoint/2010/main" val="6678833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362CBCB-5144-4FED-AC09-7685ED21F89A}"/>
              </a:ext>
            </a:extLst>
          </p:cNvPr>
          <p:cNvPicPr>
            <a:picLocks noChangeAspect="1"/>
          </p:cNvPicPr>
          <p:nvPr/>
        </p:nvPicPr>
        <p:blipFill>
          <a:blip r:embed="rId3"/>
          <a:stretch>
            <a:fillRect/>
          </a:stretch>
        </p:blipFill>
        <p:spPr>
          <a:xfrm>
            <a:off x="1751382" y="2769009"/>
            <a:ext cx="8726118" cy="3372321"/>
          </a:xfrm>
          <a:prstGeom prst="rect">
            <a:avLst/>
          </a:prstGeom>
        </p:spPr>
      </p:pic>
      <p:sp>
        <p:nvSpPr>
          <p:cNvPr id="2" name="Title 1"/>
          <p:cNvSpPr>
            <a:spLocks noGrp="1"/>
          </p:cNvSpPr>
          <p:nvPr>
            <p:ph type="title"/>
          </p:nvPr>
        </p:nvSpPr>
        <p:spPr>
          <a:xfrm>
            <a:off x="448236" y="95614"/>
            <a:ext cx="3723714" cy="703401"/>
          </a:xfrm>
        </p:spPr>
        <p:txBody>
          <a:bodyPr>
            <a:normAutofit/>
          </a:bodyPr>
          <a:lstStyle/>
          <a:p>
            <a:r>
              <a:rPr lang="en-US" sz="3200" b="1" dirty="0"/>
              <a:t>Listeners and routing</a:t>
            </a:r>
          </a:p>
        </p:txBody>
      </p:sp>
      <p:sp>
        <p:nvSpPr>
          <p:cNvPr id="11" name="Content Placeholder 2">
            <a:extLst>
              <a:ext uri="{FF2B5EF4-FFF2-40B4-BE49-F238E27FC236}">
                <a16:creationId xmlns:a16="http://schemas.microsoft.com/office/drawing/2014/main" id="{67F8BF2B-60FD-4D71-8C93-E96916C7C202}"/>
              </a:ext>
            </a:extLst>
          </p:cNvPr>
          <p:cNvSpPr>
            <a:spLocks noGrp="1"/>
          </p:cNvSpPr>
          <p:nvPr>
            <p:ph idx="1"/>
          </p:nvPr>
        </p:nvSpPr>
        <p:spPr>
          <a:xfrm>
            <a:off x="448236" y="888120"/>
            <a:ext cx="11134164" cy="1702680"/>
          </a:xfrm>
        </p:spPr>
        <p:txBody>
          <a:bodyPr>
            <a:normAutofit/>
          </a:bodyPr>
          <a:lstStyle/>
          <a:p>
            <a:r>
              <a:rPr lang="en-US" sz="2400" b="0" i="0" u="none" strike="noStrike" dirty="0">
                <a:solidFill>
                  <a:srgbClr val="16191F"/>
                </a:solidFill>
                <a:effectLst/>
                <a:latin typeface="+mn-lt"/>
              </a:rPr>
              <a:t>A Listener in ALB supports protocols and ports:</a:t>
            </a:r>
          </a:p>
          <a:p>
            <a:pPr marL="800100" lvl="1" indent="-342900" algn="l">
              <a:buClr>
                <a:schemeClr val="tx1"/>
              </a:buClr>
              <a:buSzPct val="100000"/>
              <a:buFont typeface="Arial" panose="020B0604020202020204" pitchFamily="34" charset="0"/>
              <a:buChar char="•"/>
            </a:pPr>
            <a:r>
              <a:rPr lang="en-US" sz="2400" dirty="0">
                <a:latin typeface="+mn-lt"/>
              </a:rPr>
              <a:t>Protocols: HTTP, HTTPS with Ports: 1-65535</a:t>
            </a:r>
          </a:p>
          <a:p>
            <a:endParaRPr lang="en-US" sz="2400" dirty="0"/>
          </a:p>
        </p:txBody>
      </p:sp>
      <p:cxnSp>
        <p:nvCxnSpPr>
          <p:cNvPr id="14" name="Straight Connector 13">
            <a:extLst>
              <a:ext uri="{FF2B5EF4-FFF2-40B4-BE49-F238E27FC236}">
                <a16:creationId xmlns:a16="http://schemas.microsoft.com/office/drawing/2014/main" id="{9366FDCC-5817-4621-9B55-31127995E3E7}"/>
              </a:ext>
            </a:extLst>
          </p:cNvPr>
          <p:cNvCxnSpPr/>
          <p:nvPr/>
        </p:nvCxnSpPr>
        <p:spPr>
          <a:xfrm>
            <a:off x="4452609" y="4611300"/>
            <a:ext cx="2104373"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01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736" y="152401"/>
            <a:ext cx="3723714" cy="609600"/>
          </a:xfrm>
        </p:spPr>
        <p:txBody>
          <a:bodyPr>
            <a:normAutofit/>
          </a:bodyPr>
          <a:lstStyle/>
          <a:p>
            <a:r>
              <a:rPr lang="en-US" sz="3200" b="1" dirty="0"/>
              <a:t>Create target group</a:t>
            </a:r>
          </a:p>
        </p:txBody>
      </p:sp>
      <p:pic>
        <p:nvPicPr>
          <p:cNvPr id="7" name="Picture 6">
            <a:extLst>
              <a:ext uri="{FF2B5EF4-FFF2-40B4-BE49-F238E27FC236}">
                <a16:creationId xmlns:a16="http://schemas.microsoft.com/office/drawing/2014/main" id="{1908590E-368D-4A6A-88FD-225A3152A99C}"/>
              </a:ext>
            </a:extLst>
          </p:cNvPr>
          <p:cNvPicPr>
            <a:picLocks noChangeAspect="1"/>
          </p:cNvPicPr>
          <p:nvPr/>
        </p:nvPicPr>
        <p:blipFill>
          <a:blip r:embed="rId3"/>
          <a:stretch>
            <a:fillRect/>
          </a:stretch>
        </p:blipFill>
        <p:spPr>
          <a:xfrm>
            <a:off x="2119593" y="1014168"/>
            <a:ext cx="7746712" cy="3223548"/>
          </a:xfrm>
          <a:prstGeom prst="rect">
            <a:avLst/>
          </a:prstGeom>
        </p:spPr>
      </p:pic>
      <p:sp>
        <p:nvSpPr>
          <p:cNvPr id="15" name="Content Placeholder 2">
            <a:extLst>
              <a:ext uri="{FF2B5EF4-FFF2-40B4-BE49-F238E27FC236}">
                <a16:creationId xmlns:a16="http://schemas.microsoft.com/office/drawing/2014/main" id="{ABC358D2-6329-4219-AFC2-381EBB8EA576}"/>
              </a:ext>
            </a:extLst>
          </p:cNvPr>
          <p:cNvSpPr txBox="1">
            <a:spLocks/>
          </p:cNvSpPr>
          <p:nvPr/>
        </p:nvSpPr>
        <p:spPr>
          <a:xfrm>
            <a:off x="1381686" y="4742802"/>
            <a:ext cx="10388782" cy="1758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sz="2400" dirty="0"/>
              <a:t>Instance: specify targets via EC2 instance IDs.</a:t>
            </a:r>
          </a:p>
          <a:p>
            <a:pPr fontAlgn="auto">
              <a:spcAft>
                <a:spcPts val="0"/>
              </a:spcAft>
              <a:buClrTx/>
              <a:buSzTx/>
            </a:pPr>
            <a:r>
              <a:rPr lang="en-US" sz="2400" dirty="0"/>
              <a:t>IP Address: specify targets via IP addresses or IP address ranges.</a:t>
            </a:r>
            <a:endParaRPr lang="en-US" dirty="0"/>
          </a:p>
        </p:txBody>
      </p:sp>
    </p:spTree>
    <p:extLst>
      <p:ext uri="{BB962C8B-B14F-4D97-AF65-F5344CB8AC3E}">
        <p14:creationId xmlns:p14="http://schemas.microsoft.com/office/powerpoint/2010/main" val="4249100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4E14A3-55AA-46F9-AC0D-AE6A10AB53D6}"/>
              </a:ext>
            </a:extLst>
          </p:cNvPr>
          <p:cNvPicPr>
            <a:picLocks noChangeAspect="1"/>
          </p:cNvPicPr>
          <p:nvPr/>
        </p:nvPicPr>
        <p:blipFill>
          <a:blip r:embed="rId3"/>
          <a:stretch>
            <a:fillRect/>
          </a:stretch>
        </p:blipFill>
        <p:spPr>
          <a:xfrm>
            <a:off x="614293" y="180876"/>
            <a:ext cx="10440593" cy="3067478"/>
          </a:xfrm>
          <a:prstGeom prst="rect">
            <a:avLst/>
          </a:prstGeom>
        </p:spPr>
      </p:pic>
      <p:pic>
        <p:nvPicPr>
          <p:cNvPr id="7" name="Picture 6">
            <a:extLst>
              <a:ext uri="{FF2B5EF4-FFF2-40B4-BE49-F238E27FC236}">
                <a16:creationId xmlns:a16="http://schemas.microsoft.com/office/drawing/2014/main" id="{839A76B7-657D-48EA-BF67-AC8325C8AF43}"/>
              </a:ext>
            </a:extLst>
          </p:cNvPr>
          <p:cNvPicPr>
            <a:picLocks noChangeAspect="1"/>
          </p:cNvPicPr>
          <p:nvPr/>
        </p:nvPicPr>
        <p:blipFill>
          <a:blip r:embed="rId4"/>
          <a:stretch>
            <a:fillRect/>
          </a:stretch>
        </p:blipFill>
        <p:spPr>
          <a:xfrm>
            <a:off x="614293" y="3429000"/>
            <a:ext cx="10440593" cy="3171576"/>
          </a:xfrm>
          <a:prstGeom prst="rect">
            <a:avLst/>
          </a:prstGeom>
        </p:spPr>
      </p:pic>
    </p:spTree>
    <p:extLst>
      <p:ext uri="{BB962C8B-B14F-4D97-AF65-F5344CB8AC3E}">
        <p14:creationId xmlns:p14="http://schemas.microsoft.com/office/powerpoint/2010/main" val="13233414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6D16D35-39A6-4904-9EE8-02E451E3962E}"/>
              </a:ext>
            </a:extLst>
          </p:cNvPr>
          <p:cNvPicPr>
            <a:picLocks noChangeAspect="1"/>
          </p:cNvPicPr>
          <p:nvPr/>
        </p:nvPicPr>
        <p:blipFill>
          <a:blip r:embed="rId3"/>
          <a:stretch>
            <a:fillRect/>
          </a:stretch>
        </p:blipFill>
        <p:spPr>
          <a:xfrm>
            <a:off x="386173" y="366012"/>
            <a:ext cx="4389027" cy="1263311"/>
          </a:xfrm>
          <a:prstGeom prst="rect">
            <a:avLst/>
          </a:prstGeom>
        </p:spPr>
      </p:pic>
      <p:pic>
        <p:nvPicPr>
          <p:cNvPr id="8" name="Picture 7">
            <a:extLst>
              <a:ext uri="{FF2B5EF4-FFF2-40B4-BE49-F238E27FC236}">
                <a16:creationId xmlns:a16="http://schemas.microsoft.com/office/drawing/2014/main" id="{72C1E45C-1BF5-4769-83DD-924FBC54264A}"/>
              </a:ext>
            </a:extLst>
          </p:cNvPr>
          <p:cNvPicPr>
            <a:picLocks noChangeAspect="1"/>
          </p:cNvPicPr>
          <p:nvPr/>
        </p:nvPicPr>
        <p:blipFill>
          <a:blip r:embed="rId4"/>
          <a:stretch>
            <a:fillRect/>
          </a:stretch>
        </p:blipFill>
        <p:spPr>
          <a:xfrm>
            <a:off x="1505840" y="2360698"/>
            <a:ext cx="9993120" cy="3450822"/>
          </a:xfrm>
          <a:prstGeom prst="rect">
            <a:avLst/>
          </a:prstGeom>
        </p:spPr>
      </p:pic>
      <p:cxnSp>
        <p:nvCxnSpPr>
          <p:cNvPr id="9" name="Straight Connector 8">
            <a:extLst>
              <a:ext uri="{FF2B5EF4-FFF2-40B4-BE49-F238E27FC236}">
                <a16:creationId xmlns:a16="http://schemas.microsoft.com/office/drawing/2014/main" id="{F28AABD2-C42F-4E80-8623-109DD9C12CD2}"/>
              </a:ext>
            </a:extLst>
          </p:cNvPr>
          <p:cNvCxnSpPr/>
          <p:nvPr/>
        </p:nvCxnSpPr>
        <p:spPr>
          <a:xfrm>
            <a:off x="5409528" y="5610124"/>
            <a:ext cx="2104373"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7953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28133" y="157644"/>
            <a:ext cx="4101776" cy="942975"/>
          </a:xfrm>
        </p:spPr>
        <p:txBody>
          <a:bodyPr>
            <a:normAutofit/>
          </a:bodyPr>
          <a:lstStyle/>
          <a:p>
            <a:r>
              <a:rPr lang="en-AU" sz="3200" b="1" dirty="0"/>
              <a:t>Practice Question</a:t>
            </a:r>
          </a:p>
        </p:txBody>
      </p:sp>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728132" y="1100618"/>
            <a:ext cx="10735735" cy="177593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400" dirty="0"/>
              <a:t>Q: </a:t>
            </a:r>
            <a:r>
              <a:rPr lang="en-US" sz="2400" dirty="0"/>
              <a:t>Discuss 3 reasons why you would use Application Load Balancing to load balance a Python Django application.</a:t>
            </a:r>
          </a:p>
        </p:txBody>
      </p:sp>
    </p:spTree>
    <p:extLst>
      <p:ext uri="{BB962C8B-B14F-4D97-AF65-F5344CB8AC3E}">
        <p14:creationId xmlns:p14="http://schemas.microsoft.com/office/powerpoint/2010/main" val="22493812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534838" y="730861"/>
            <a:ext cx="10735735" cy="177593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400" dirty="0"/>
              <a:t>Q: </a:t>
            </a:r>
            <a:r>
              <a:rPr lang="en-US" sz="2400" dirty="0"/>
              <a:t>Discuss 3 reasons why you would use Application Load Balancing to load balance a Python Django application.</a:t>
            </a:r>
          </a:p>
        </p:txBody>
      </p:sp>
      <p:sp>
        <p:nvSpPr>
          <p:cNvPr id="5" name="Content Placeholder 1">
            <a:extLst>
              <a:ext uri="{FF2B5EF4-FFF2-40B4-BE49-F238E27FC236}">
                <a16:creationId xmlns:a16="http://schemas.microsoft.com/office/drawing/2014/main" id="{15E6312D-6B47-4DBF-8C0B-B16D8756760B}"/>
              </a:ext>
            </a:extLst>
          </p:cNvPr>
          <p:cNvSpPr txBox="1">
            <a:spLocks/>
          </p:cNvSpPr>
          <p:nvPr/>
        </p:nvSpPr>
        <p:spPr>
          <a:xfrm>
            <a:off x="534838" y="2506792"/>
            <a:ext cx="11474282" cy="30631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ClrTx/>
              <a:buSzTx/>
              <a:buNone/>
            </a:pPr>
            <a:endParaRPr lang="en-AU" sz="2200" dirty="0"/>
          </a:p>
          <a:p>
            <a:pPr fontAlgn="auto">
              <a:spcAft>
                <a:spcPts val="0"/>
              </a:spcAft>
              <a:buClrTx/>
              <a:buSzTx/>
            </a:pPr>
            <a:r>
              <a:rPr lang="en-US" altLang="zh-CN" sz="2400" b="1" dirty="0"/>
              <a:t>High fault-tolerance</a:t>
            </a:r>
            <a:r>
              <a:rPr lang="en-US" sz="2400" b="1" dirty="0"/>
              <a:t>: </a:t>
            </a:r>
            <a:r>
              <a:rPr lang="en-US" sz="2400" dirty="0"/>
              <a:t>the</a:t>
            </a:r>
            <a:r>
              <a:rPr lang="en-US" sz="2400" b="1" dirty="0"/>
              <a:t> </a:t>
            </a:r>
            <a:r>
              <a:rPr lang="en-US" sz="2400" dirty="0"/>
              <a:t>ALB can distribute traffic to multiple targets in multiple groups, making the Django application healthy and improving its fault-tolerance.</a:t>
            </a:r>
          </a:p>
          <a:p>
            <a:pPr fontAlgn="auto">
              <a:spcAft>
                <a:spcPts val="0"/>
              </a:spcAft>
              <a:buClrTx/>
              <a:buSzTx/>
            </a:pPr>
            <a:r>
              <a:rPr lang="en-US" sz="2400" b="1" dirty="0"/>
              <a:t>High scalability</a:t>
            </a:r>
            <a:r>
              <a:rPr lang="en-US" sz="2400" dirty="0"/>
              <a:t>: As the ALB can distribute traffic evenly, the Django application can be scaled horizontally. For example, when traffic increases, more targets can be added, and the ALB can distribute traffic to them.</a:t>
            </a:r>
          </a:p>
          <a:p>
            <a:pPr fontAlgn="auto">
              <a:spcAft>
                <a:spcPts val="0"/>
              </a:spcAft>
              <a:buClrTx/>
              <a:buSzTx/>
            </a:pPr>
            <a:r>
              <a:rPr lang="en-US" sz="2400" b="1" dirty="0"/>
              <a:t>Well aligned</a:t>
            </a:r>
            <a:r>
              <a:rPr lang="en-US" sz="2400" dirty="0">
                <a:latin typeface="+mn-lt"/>
              </a:rPr>
              <a:t>: </a:t>
            </a:r>
            <a:r>
              <a:rPr lang="en-US" sz="2400" dirty="0"/>
              <a:t>Django is a web framework accepting http and https requests. The main responsibility of ALB is to optimize http and https traffic. </a:t>
            </a:r>
          </a:p>
        </p:txBody>
      </p:sp>
      <p:sp>
        <p:nvSpPr>
          <p:cNvPr id="6" name="Title 3">
            <a:extLst>
              <a:ext uri="{FF2B5EF4-FFF2-40B4-BE49-F238E27FC236}">
                <a16:creationId xmlns:a16="http://schemas.microsoft.com/office/drawing/2014/main" id="{0BFB496C-290C-49AF-B63E-70DA9DDF7B4B}"/>
              </a:ext>
            </a:extLst>
          </p:cNvPr>
          <p:cNvSpPr txBox="1">
            <a:spLocks/>
          </p:cNvSpPr>
          <p:nvPr/>
        </p:nvSpPr>
        <p:spPr>
          <a:xfrm>
            <a:off x="779891" y="1851636"/>
            <a:ext cx="4101776" cy="655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AU" sz="3200" b="1" dirty="0"/>
              <a:t>R</a:t>
            </a:r>
            <a:r>
              <a:rPr lang="en-US" altLang="zh-CN" sz="3200" b="1" dirty="0" err="1"/>
              <a:t>easons</a:t>
            </a:r>
            <a:endParaRPr lang="en-AU" sz="3200" b="1" dirty="0"/>
          </a:p>
        </p:txBody>
      </p:sp>
    </p:spTree>
    <p:extLst>
      <p:ext uri="{BB962C8B-B14F-4D97-AF65-F5344CB8AC3E}">
        <p14:creationId xmlns:p14="http://schemas.microsoft.com/office/powerpoint/2010/main" val="2021689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3727</Words>
  <Application>Microsoft Office PowerPoint</Application>
  <PresentationFormat>Widescreen</PresentationFormat>
  <Paragraphs>527</Paragraphs>
  <Slides>71</Slides>
  <Notes>71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71</vt:i4>
      </vt:variant>
    </vt:vector>
  </HeadingPairs>
  <TitlesOfParts>
    <vt:vector size="83" baseType="lpstr">
      <vt:lpstr>Amazon Ember</vt:lpstr>
      <vt:lpstr>Courier</vt:lpstr>
      <vt:lpstr>Helvetica Neue</vt:lpstr>
      <vt:lpstr>Söhne</vt:lpstr>
      <vt:lpstr>Arial</vt:lpstr>
      <vt:lpstr>Calibri</vt:lpstr>
      <vt:lpstr>Calibri Light</vt:lpstr>
      <vt:lpstr>Courier New</vt:lpstr>
      <vt:lpstr>Tahoma</vt:lpstr>
      <vt:lpstr>Times New Roman</vt:lpstr>
      <vt:lpstr>Wingdings</vt:lpstr>
      <vt:lpstr>Office Theme</vt:lpstr>
      <vt:lpstr>Week 7 Networking</vt:lpstr>
      <vt:lpstr>PowerPoint Presentation</vt:lpstr>
      <vt:lpstr>PowerPoint Presentation</vt:lpstr>
      <vt:lpstr>Overview</vt:lpstr>
      <vt:lpstr>Network</vt:lpstr>
      <vt:lpstr>IP Address</vt:lpstr>
      <vt:lpstr>IP Address</vt:lpstr>
      <vt:lpstr>IP Address</vt:lpstr>
      <vt:lpstr>IP Address</vt:lpstr>
      <vt:lpstr>IP Address</vt:lpstr>
      <vt:lpstr>IP Address</vt:lpstr>
      <vt:lpstr>IP Address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Domain Name</vt:lpstr>
      <vt:lpstr>Domain Name</vt:lpstr>
      <vt:lpstr>Domain Name</vt:lpstr>
      <vt:lpstr>Domain Name</vt:lpstr>
      <vt:lpstr>Domain name and URL</vt:lpstr>
      <vt:lpstr>Domain name and URL</vt:lpstr>
      <vt:lpstr>PowerPoint Presentation</vt:lpstr>
      <vt:lpstr>PowerPoint Presentation</vt:lpstr>
      <vt:lpstr>PowerPoint Presentation</vt:lpstr>
      <vt:lpstr>PowerPoint Presentation</vt:lpstr>
      <vt:lpstr>Protocol</vt:lpstr>
      <vt:lpstr>Protocol</vt:lpstr>
      <vt:lpstr>PowerPoint Presentation</vt:lpstr>
      <vt:lpstr>5-layer TCP/IP model</vt:lpstr>
      <vt:lpstr>5-layer TCP/IP model</vt:lpstr>
      <vt:lpstr>5-layer TCP/IP model</vt:lpstr>
      <vt:lpstr>5-layer TCP/IP model</vt:lpstr>
      <vt:lpstr>5-layer TCP/IP model</vt:lpstr>
      <vt:lpstr>5-layer TCP/IP model</vt:lpstr>
      <vt:lpstr>Transmit Data with TCP/IP model</vt:lpstr>
      <vt:lpstr>Transmit Data with TCP/IP model</vt:lpstr>
      <vt:lpstr>Data encapsulation/decapsulation in TCP/IP</vt:lpstr>
      <vt:lpstr>ELB (Elastic Load Balancing) </vt:lpstr>
      <vt:lpstr>Example: Path-based routing</vt:lpstr>
      <vt:lpstr>PowerPoint Presentation</vt:lpstr>
      <vt:lpstr>PowerPoint Presentation</vt:lpstr>
      <vt:lpstr>PowerPoint Presentation</vt:lpstr>
      <vt:lpstr>Set up an ALB (Application Load Balancer) </vt:lpstr>
      <vt:lpstr>Set up an ALB</vt:lpstr>
      <vt:lpstr>Scheme</vt:lpstr>
      <vt:lpstr>Set up an ALB</vt:lpstr>
      <vt:lpstr>IP address type</vt:lpstr>
      <vt:lpstr>IP address type</vt:lpstr>
      <vt:lpstr>IP address type</vt:lpstr>
      <vt:lpstr>NAT and private IP address range</vt:lpstr>
      <vt:lpstr>PowerPoint Presentation</vt:lpstr>
      <vt:lpstr>Set up an ALB</vt:lpstr>
      <vt:lpstr>Set up an ALB</vt:lpstr>
      <vt:lpstr>VPC</vt:lpstr>
      <vt:lpstr>An example</vt:lpstr>
      <vt:lpstr>An example</vt:lpstr>
      <vt:lpstr>Set up an ALB</vt:lpstr>
      <vt:lpstr>Security group</vt:lpstr>
      <vt:lpstr>Security group</vt:lpstr>
      <vt:lpstr>Security group</vt:lpstr>
      <vt:lpstr>Listeners and routing</vt:lpstr>
      <vt:lpstr>Create target group</vt:lpstr>
      <vt:lpstr>PowerPoint Presentation</vt:lpstr>
      <vt:lpstr>PowerPoint Presentation</vt:lpstr>
      <vt:lpstr>Practice Question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2026-09-07T04:13:27Z</dcterms:created>
  <dcterms:modified xsi:type="dcterms:W3CDTF">2026-09-07T04:13:46Z</dcterms:modified>
  <cp:category/>
</cp:coreProperties>
</file>