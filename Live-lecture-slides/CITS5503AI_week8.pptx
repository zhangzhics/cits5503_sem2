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94" r:id="rId1"/>
  </p:sldMasterIdLst>
  <p:notesMasterIdLst>
    <p:notesMasterId r:id="rId36"/>
  </p:notesMasterIdLst>
  <p:handoutMasterIdLst>
    <p:handoutMasterId r:id="rId37"/>
  </p:handoutMasterIdLst>
  <p:sldIdLst>
    <p:sldId id="1352" r:id="rId2"/>
    <p:sldId id="1368" r:id="rId3"/>
    <p:sldId id="1369" r:id="rId4"/>
    <p:sldId id="1393" r:id="rId5"/>
    <p:sldId id="1395" r:id="rId6"/>
    <p:sldId id="1436" r:id="rId7"/>
    <p:sldId id="275" r:id="rId8"/>
    <p:sldId id="1397" r:id="rId9"/>
    <p:sldId id="1439" r:id="rId10"/>
    <p:sldId id="1440" r:id="rId11"/>
    <p:sldId id="1398" r:id="rId12"/>
    <p:sldId id="1437" r:id="rId13"/>
    <p:sldId id="1438" r:id="rId14"/>
    <p:sldId id="1345" r:id="rId15"/>
    <p:sldId id="1402" r:id="rId16"/>
    <p:sldId id="1403" r:id="rId17"/>
    <p:sldId id="1404" r:id="rId18"/>
    <p:sldId id="1414" r:id="rId19"/>
    <p:sldId id="1417" r:id="rId20"/>
    <p:sldId id="1441" r:id="rId21"/>
    <p:sldId id="1442" r:id="rId22"/>
    <p:sldId id="1443" r:id="rId23"/>
    <p:sldId id="1444" r:id="rId24"/>
    <p:sldId id="1445" r:id="rId25"/>
    <p:sldId id="1446" r:id="rId26"/>
    <p:sldId id="1447" r:id="rId27"/>
    <p:sldId id="1448" r:id="rId28"/>
    <p:sldId id="1364" r:id="rId29"/>
    <p:sldId id="1408" r:id="rId30"/>
    <p:sldId id="1406" r:id="rId31"/>
    <p:sldId id="1410" r:id="rId32"/>
    <p:sldId id="1411" r:id="rId33"/>
    <p:sldId id="1412" r:id="rId34"/>
    <p:sldId id="1430" r:id="rId35"/>
  </p:sldIdLst>
  <p:sldSz cx="12192000" cy="6858000"/>
  <p:notesSz cx="9601200" cy="7315200"/>
  <p:defaultTextStyle>
    <a:defPPr>
      <a:defRPr lang="en-US"/>
    </a:defPPr>
    <a:lvl1pPr algn="ctr" rtl="0" fontAlgn="base">
      <a:spcBef>
        <a:spcPct val="20000"/>
      </a:spcBef>
      <a:spcAft>
        <a:spcPct val="0"/>
      </a:spcAft>
      <a:buClr>
        <a:schemeClr val="hlink"/>
      </a:buClr>
      <a:buSzPct val="55000"/>
      <a:buFont typeface="Wingdings" pitchFamily="2" charset="2"/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ctr" rtl="0" fontAlgn="base">
      <a:spcBef>
        <a:spcPct val="20000"/>
      </a:spcBef>
      <a:spcAft>
        <a:spcPct val="0"/>
      </a:spcAft>
      <a:buClr>
        <a:schemeClr val="hlink"/>
      </a:buClr>
      <a:buSzPct val="55000"/>
      <a:buFont typeface="Wingdings" pitchFamily="2" charset="2"/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ctr" rtl="0" fontAlgn="base">
      <a:spcBef>
        <a:spcPct val="20000"/>
      </a:spcBef>
      <a:spcAft>
        <a:spcPct val="0"/>
      </a:spcAft>
      <a:buClr>
        <a:schemeClr val="hlink"/>
      </a:buClr>
      <a:buSzPct val="55000"/>
      <a:buFont typeface="Wingdings" pitchFamily="2" charset="2"/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ctr" rtl="0" fontAlgn="base">
      <a:spcBef>
        <a:spcPct val="20000"/>
      </a:spcBef>
      <a:spcAft>
        <a:spcPct val="0"/>
      </a:spcAft>
      <a:buClr>
        <a:schemeClr val="hlink"/>
      </a:buClr>
      <a:buSzPct val="55000"/>
      <a:buFont typeface="Wingdings" pitchFamily="2" charset="2"/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ctr" rtl="0" fontAlgn="base">
      <a:spcBef>
        <a:spcPct val="20000"/>
      </a:spcBef>
      <a:spcAft>
        <a:spcPct val="0"/>
      </a:spcAft>
      <a:buClr>
        <a:schemeClr val="hlink"/>
      </a:buClr>
      <a:buSzPct val="55000"/>
      <a:buFont typeface="Wingdings" pitchFamily="2" charset="2"/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 userDrawn="1">
          <p15:clr>
            <a:srgbClr val="A4A3A4"/>
          </p15:clr>
        </p15:guide>
        <p15:guide id="2" pos="73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304">
          <p15:clr>
            <a:srgbClr val="A4A3A4"/>
          </p15:clr>
        </p15:guide>
        <p15:guide id="2" pos="302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ndreas Haeberlen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99"/>
    <a:srgbClr val="FF3300"/>
    <a:srgbClr val="33CC33"/>
    <a:srgbClr val="FF9900"/>
    <a:srgbClr val="66FFFF"/>
    <a:srgbClr val="00FFFF"/>
    <a:srgbClr val="00CC00"/>
    <a:srgbClr val="FF3399"/>
    <a:srgbClr val="66FF33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72" autoAdjust="0"/>
    <p:restoredTop sz="96925" autoAdjust="0"/>
  </p:normalViewPr>
  <p:slideViewPr>
    <p:cSldViewPr snapToGrid="0">
      <p:cViewPr varScale="1">
        <p:scale>
          <a:sx n="121" d="100"/>
          <a:sy n="121" d="100"/>
        </p:scale>
        <p:origin x="416" y="168"/>
      </p:cViewPr>
      <p:guideLst>
        <p:guide orient="horz" pos="3888"/>
        <p:guide pos="73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-1344" y="-96"/>
      </p:cViewPr>
      <p:guideLst>
        <p:guide orient="horz" pos="2304"/>
        <p:guide pos="302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4160973" cy="365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endParaRPr lang="de-DE"/>
          </a:p>
        </p:txBody>
      </p:sp>
      <p:sp>
        <p:nvSpPr>
          <p:cNvPr id="5416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440230" y="1"/>
            <a:ext cx="4160972" cy="365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endParaRPr lang="de-DE"/>
          </a:p>
        </p:txBody>
      </p:sp>
      <p:sp>
        <p:nvSpPr>
          <p:cNvPr id="5417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6950145"/>
            <a:ext cx="4160973" cy="365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endParaRPr lang="de-DE"/>
          </a:p>
        </p:txBody>
      </p:sp>
      <p:sp>
        <p:nvSpPr>
          <p:cNvPr id="5417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440230" y="6950145"/>
            <a:ext cx="4160972" cy="365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fld id="{66017A74-8498-4425-B905-56B59BE89ABC}" type="slidenum">
              <a:rPr lang="de-DE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42088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4160973" cy="365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440230" y="1"/>
            <a:ext cx="4160972" cy="365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362200" y="549275"/>
            <a:ext cx="4876800" cy="2743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33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79256" y="3475660"/>
            <a:ext cx="7042689" cy="32901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3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6950145"/>
            <a:ext cx="4160973" cy="365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440230" y="6950145"/>
            <a:ext cx="4160972" cy="365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fld id="{D37F8DB4-A4FF-4A8B-9A85-9B1874A58FC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8116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E9513-4198-BE4B-823C-2718B4D196C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0338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BFC76-A687-7B4B-B7C4-626092A4E7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7D0C56-5CE4-974A-9396-D3EB55B4D7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DA849-C6BE-0D42-92BA-360B93EE9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ABF25-8788-5642-919E-5D2C177A1448}" type="datetime1">
              <a:rPr lang="en-AU" smtClean="0"/>
              <a:t>13/9/2026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B5C5E-AC5B-A14E-A301-AD633DC7D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D572F-30CF-9840-9A79-9226228BE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06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378CA-57F7-834F-A3B8-2F41FDE55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E7C3A-CA92-5142-9827-289275BFE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6E172-3480-524D-A4CE-62BEC772E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5EAE3-43A8-F442-93AA-2A7484E791DA}" type="datetime1">
              <a:rPr lang="en-AU" smtClean="0"/>
              <a:t>13/9/2026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CCA29-E44B-4C43-BD55-3FCD251CD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14242-6B07-8543-919A-1FC4E1ADF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9467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ACDA5-F91D-D044-B783-1882CD742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0242B5-90F0-4E4A-AAB6-B12084FC31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F56A0-C271-B245-A1C9-25A589EF5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29D29-B239-3044-9AA5-663F9633C666}" type="datetime1">
              <a:rPr lang="en-AU" smtClean="0"/>
              <a:t>13/9/2026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6E697-8320-434A-86D9-AAC230922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EB4B91-4A86-974C-8CCB-8A3EB058B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6896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B212B-8369-DA4C-BABB-1A078941E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90E38-4CB2-584D-B9E8-A2B2094BF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6C5A60-5C7D-254F-9697-BF3AEA3A3A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CFB941-C882-CC41-A9CF-2E02FA3FC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0B245-5457-9C47-B120-B1247AD8D2D4}" type="datetime1">
              <a:rPr lang="en-AU" smtClean="0"/>
              <a:t>13/9/2026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9EE5D5-3BD1-6B4E-B031-3D61A515D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F84497-F0E4-324C-96C4-4BDF38002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9670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9C25F-5F64-AB4A-BBF5-77AF58584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848DA2-5CA8-1F4E-9841-4BBF63574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3FFDB4-FED0-1C4F-8D7D-17B0867BD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BD7F3F-2DF5-3447-AAF3-1776599017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613463-9787-6941-B670-25EC1557F0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10F4E8-78E2-3747-80C1-43D61721C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6253E-DD44-C047-96B5-DDC24EE47453}" type="datetime1">
              <a:rPr lang="en-AU" smtClean="0"/>
              <a:t>13/9/2026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C262F4-0E96-6C4F-B0F2-DF033F911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680677-D036-7543-8C21-49D40D16F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3045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5E4D1-730E-504F-9683-098495A95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4C212F-EA7C-C045-BCB8-108319BCD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94459-AE93-244F-AF95-04F31972AD84}" type="datetime1">
              <a:rPr lang="en-AU" smtClean="0"/>
              <a:t>13/9/2026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36530A-03A9-CA4D-B18F-9C4F56378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73F1B-9FF0-8641-9282-74CC1E49A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463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740EEF-C38B-144B-821E-4975E49F3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4C1C5-0011-0C40-AD09-AC2752EC2BC3}" type="datetime1">
              <a:rPr lang="en-AU" smtClean="0"/>
              <a:t>13/9/2026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ABF87A-B408-1D4E-A728-89D503529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4A79A3-BC23-5049-AB5A-EEBEFC1DD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9640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8979A-65AB-B347-9E09-756CA6284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05E94-A13D-4147-89EB-2AE179F7E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5A8F7D-3AD4-1D43-A088-C33A031872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D2DD2C-19B1-0A43-9570-9A1842C00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B8EC8-F207-6644-B7D1-D9D82C4EE398}" type="datetime1">
              <a:rPr lang="en-AU" smtClean="0"/>
              <a:t>13/9/2026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8A2C57-1FDB-C346-95CB-FA52DB282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896CB0-35B3-1D4E-8AD4-4B0E0C05C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4505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DD222-4F45-014E-98B9-BC327CE71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ECB534-A460-C74C-B118-2356A474DA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56C72C-FBD3-8440-AED3-C06C44303E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971F36-EF5A-5F46-9C28-6E6A7D474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6959C-3CC2-8E46-AE05-ACA5275D4B1D}" type="datetime1">
              <a:rPr lang="en-AU" smtClean="0"/>
              <a:t>13/9/2026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3FA358-451B-7942-B0C1-D0B7B9D6D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C32310-9E80-224C-B30E-CC263F97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1300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C5363-015D-7D4B-BAFF-135F6C4F8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1C766A-A719-2A44-9699-E3C404432B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1E4ADE-3ECD-8641-9FE0-CD597AA3D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45644-0FE9-1C43-9909-3D699EBC7636}" type="datetime1">
              <a:rPr lang="en-AU" smtClean="0"/>
              <a:t>13/9/2026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53541-5822-2348-8881-F75DD26C0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F7EAC-E5FB-A241-A525-745F31899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4430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E3AC36-B8F3-904D-9D44-3800404FE9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B37D3E-B28E-E04C-B298-29CCA5D7CE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93EA0-EACD-4649-BF69-F205284D4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F0F5D-3E86-144E-87D7-EC598A34CB70}" type="datetime1">
              <a:rPr lang="en-AU" smtClean="0"/>
              <a:t>13/9/2026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7CA7A-55ED-7443-A196-4D2842C27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9D338-29CC-A549-9D40-63A8AB4F7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76506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2685" y="1990725"/>
            <a:ext cx="10390716" cy="990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Rectangle 111"/>
          <p:cNvSpPr>
            <a:spLocks noChangeArrowheads="1"/>
          </p:cNvSpPr>
          <p:nvPr userDrawn="1"/>
        </p:nvSpPr>
        <p:spPr bwMode="auto">
          <a:xfrm>
            <a:off x="406400" y="838200"/>
            <a:ext cx="1049867" cy="3429000"/>
          </a:xfrm>
          <a:prstGeom prst="rect">
            <a:avLst/>
          </a:prstGeom>
          <a:gradFill rotWithShape="0">
            <a:gsLst>
              <a:gs pos="0">
                <a:srgbClr val="708FE6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6" name="Line 110"/>
          <p:cNvSpPr>
            <a:spLocks noChangeShapeType="1"/>
          </p:cNvSpPr>
          <p:nvPr userDrawn="1"/>
        </p:nvSpPr>
        <p:spPr bwMode="auto">
          <a:xfrm>
            <a:off x="1123951" y="1143000"/>
            <a:ext cx="0" cy="28956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18217" y="3944938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10" name="Rectangle 11"/>
          <p:cNvSpPr>
            <a:spLocks noChangeArrowheads="1"/>
          </p:cNvSpPr>
          <p:nvPr userDrawn="1"/>
        </p:nvSpPr>
        <p:spPr bwMode="auto">
          <a:xfrm flipV="1">
            <a:off x="268817" y="3011488"/>
            <a:ext cx="11590867" cy="55562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2000"/>
          </a:p>
        </p:txBody>
      </p:sp>
      <p:pic>
        <p:nvPicPr>
          <p:cNvPr id="11" name="Picture 10" descr="Penn shield.gif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1061" y="2612508"/>
            <a:ext cx="878809" cy="740196"/>
          </a:xfrm>
          <a:prstGeom prst="rect">
            <a:avLst/>
          </a:prstGeom>
        </p:spPr>
      </p:pic>
      <p:sp>
        <p:nvSpPr>
          <p:cNvPr id="12" name="Rectangle 32"/>
          <p:cNvSpPr>
            <a:spLocks noChangeArrowheads="1"/>
          </p:cNvSpPr>
          <p:nvPr userDrawn="1"/>
        </p:nvSpPr>
        <p:spPr bwMode="auto">
          <a:xfrm>
            <a:off x="1" y="6605588"/>
            <a:ext cx="2331217" cy="252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900"/>
              <a:t>© 2013 A. Haeberlen, Z. Ives</a:t>
            </a:r>
            <a:endParaRPr lang="en-GB" sz="9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9D4BDC-9DBC-F647-991C-B00D6C38D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B5DE1C-9DB9-0E43-B50B-973E8289E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81C8A-F206-BA43-8D7E-04234D39F2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ED2999-BC77-D74A-9D97-0EC9FEEA7BF3}" type="datetime1">
              <a:rPr lang="en-AU" smtClean="0"/>
              <a:t>13/9/2026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3EDD4-9495-C047-B664-F26C636480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8D715-2296-A64B-AA69-3A1F4CFB77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1058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658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 title="intersecting circles">
            <a:extLst>
              <a:ext uri="{FF2B5EF4-FFF2-40B4-BE49-F238E27FC236}">
                <a16:creationId xmlns:a16="http://schemas.microsoft.com/office/drawing/2014/main" id="{D2C4BFA1-2075-4901-9E24-E41D1FDD51FD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5481" y="498348"/>
            <a:ext cx="9902663" cy="5861304"/>
            <a:chOff x="1155481" y="498348"/>
            <a:chExt cx="9902663" cy="5861304"/>
          </a:xfrm>
        </p:grpSpPr>
        <p:sp>
          <p:nvSpPr>
            <p:cNvPr id="11" name="Oval 5">
              <a:extLst>
                <a:ext uri="{FF2B5EF4-FFF2-40B4-BE49-F238E27FC236}">
                  <a16:creationId xmlns:a16="http://schemas.microsoft.com/office/drawing/2014/main" id="{985A7375-E3AF-4F5C-85AE-17E8832952CA}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0307F65-8304-4FA8-A841-D4D7625411BE}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3" name="Oval 5">
              <a:extLst>
                <a:ext uri="{FF2B5EF4-FFF2-40B4-BE49-F238E27FC236}">
                  <a16:creationId xmlns:a16="http://schemas.microsoft.com/office/drawing/2014/main" id="{C8B8394C-136F-4E05-A002-D93A5E79CD50}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5" name="Rectangle 14" title="ribbon">
            <a:extLst>
              <a:ext uri="{FF2B5EF4-FFF2-40B4-BE49-F238E27FC236}">
                <a16:creationId xmlns:a16="http://schemas.microsoft.com/office/drawing/2014/main" id="{053FB2EE-284F-4C87-AB3D-BBF87A9FAB9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CD35F9-E618-B145-AD1E-3210B3E57C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76538"/>
            <a:ext cx="9144000" cy="1381188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chemeClr val="bg2"/>
                </a:solidFill>
              </a:rPr>
              <a:t>AI and AWS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93D8A4-21A0-DA4D-A8B5-FC198272F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05072F42-4DFA-4725-86F9-7594E4AB4EB5}" type="slidenum">
              <a:rPr lang="en-GB">
                <a:solidFill>
                  <a:schemeClr val="tx1"/>
                </a:solidFill>
              </a:rPr>
              <a:pPr/>
              <a:t>1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3DC589-C325-07E3-37E1-5FF16ED9A1C1}"/>
              </a:ext>
            </a:extLst>
          </p:cNvPr>
          <p:cNvSpPr txBox="1"/>
          <p:nvPr/>
        </p:nvSpPr>
        <p:spPr>
          <a:xfrm>
            <a:off x="436647" y="6063962"/>
            <a:ext cx="34475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/>
              <a:t>Larry Huynh </a:t>
            </a:r>
            <a:br>
              <a:rPr lang="en-US" sz="1600" dirty="0"/>
            </a:br>
            <a:r>
              <a:rPr lang="en-US" sz="1600" dirty="0"/>
              <a:t>CITS5503, S2 2026</a:t>
            </a:r>
          </a:p>
        </p:txBody>
      </p:sp>
    </p:spTree>
    <p:extLst>
      <p:ext uri="{BB962C8B-B14F-4D97-AF65-F5344CB8AC3E}">
        <p14:creationId xmlns:p14="http://schemas.microsoft.com/office/powerpoint/2010/main" val="10994187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6B0735-2550-ED22-D83B-E0AF851574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0020"/>
            <a:ext cx="10515600" cy="269151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AU" sz="3200" b="0" i="0" dirty="0">
                <a:solidFill>
                  <a:srgbClr val="374151"/>
                </a:solidFill>
                <a:effectLst/>
                <a:latin typeface="Söhne"/>
              </a:rPr>
              <a:t>Is AI taking over human jobs? Is it true that AI is becoming the dominant form of intelligence on Earth? Will it take control of the planet?</a:t>
            </a:r>
            <a:endParaRPr lang="en-AU" sz="4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1029FA-E9C5-7F1D-4DAD-B42B9592F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2</a:t>
            </a:fld>
            <a:endParaRPr lang="en-GB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116F028-CC2A-3EE5-2088-A86567D31C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06"/>
          <a:stretch/>
        </p:blipFill>
        <p:spPr bwMode="auto">
          <a:xfrm>
            <a:off x="2844027" y="2176977"/>
            <a:ext cx="6503945" cy="4361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3083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08DCA-B9BA-619A-CA44-FA8EBED16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is AI?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DDE1B2-DE61-2780-BBB9-E87B78895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E73798-D4AA-87F9-F87A-01309A733887}"/>
              </a:ext>
            </a:extLst>
          </p:cNvPr>
          <p:cNvSpPr txBox="1"/>
          <p:nvPr/>
        </p:nvSpPr>
        <p:spPr>
          <a:xfrm>
            <a:off x="6189077" y="2054824"/>
            <a:ext cx="5511800" cy="3859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AU" sz="2400" b="1" i="0" dirty="0">
                <a:solidFill>
                  <a:schemeClr val="accent2">
                    <a:lumMod val="75000"/>
                  </a:schemeClr>
                </a:solidFill>
                <a:effectLst/>
                <a:latin typeface="Söhne"/>
              </a:rPr>
              <a:t>AI:</a:t>
            </a:r>
            <a:r>
              <a:rPr lang="en-AU" sz="2400" b="0" i="0" dirty="0">
                <a:solidFill>
                  <a:schemeClr val="accent2">
                    <a:lumMod val="75000"/>
                  </a:schemeClr>
                </a:solidFill>
                <a:effectLst/>
                <a:latin typeface="Söhne"/>
              </a:rPr>
              <a:t> is about making machines act like humans.</a:t>
            </a:r>
          </a:p>
          <a:p>
            <a:pPr algn="l"/>
            <a:br>
              <a:rPr lang="en-AU" sz="2400" dirty="0">
                <a:solidFill>
                  <a:srgbClr val="374151"/>
                </a:solidFill>
                <a:latin typeface="Söhne"/>
              </a:rPr>
            </a:br>
            <a:r>
              <a:rPr lang="en-AU" sz="2400" b="1" i="0" dirty="0">
                <a:solidFill>
                  <a:schemeClr val="accent6">
                    <a:lumMod val="75000"/>
                  </a:schemeClr>
                </a:solidFill>
                <a:effectLst/>
                <a:latin typeface="Söhne"/>
              </a:rPr>
              <a:t>Machine Learning</a:t>
            </a:r>
            <a:r>
              <a:rPr lang="en-AU" sz="2400" b="1" dirty="0">
                <a:solidFill>
                  <a:schemeClr val="accent6">
                    <a:lumMod val="75000"/>
                  </a:schemeClr>
                </a:solidFill>
                <a:latin typeface="Söhne"/>
              </a:rPr>
              <a:t>: </a:t>
            </a:r>
            <a:r>
              <a:rPr lang="en-AU" sz="2400" i="0" dirty="0">
                <a:solidFill>
                  <a:schemeClr val="accent6">
                    <a:lumMod val="75000"/>
                  </a:schemeClr>
                </a:solidFill>
                <a:effectLst/>
                <a:latin typeface="Söhne"/>
              </a:rPr>
              <a:t>extract knowledge from data and learn from it autonomously.</a:t>
            </a:r>
            <a:br>
              <a:rPr lang="en-AU" sz="2400" b="1" i="0" dirty="0">
                <a:effectLst/>
              </a:rPr>
            </a:br>
            <a:br>
              <a:rPr lang="en-AU" sz="2400" b="1" i="0" dirty="0">
                <a:effectLst/>
              </a:rPr>
            </a:br>
            <a:r>
              <a:rPr lang="en-AU" sz="2400" b="1" i="0" dirty="0">
                <a:solidFill>
                  <a:schemeClr val="accent1">
                    <a:lumMod val="75000"/>
                  </a:schemeClr>
                </a:solidFill>
                <a:effectLst/>
                <a:latin typeface="Söhne"/>
              </a:rPr>
              <a:t>Deep Learning:</a:t>
            </a:r>
            <a:r>
              <a:rPr lang="en-AU" sz="2400" i="0" dirty="0">
                <a:solidFill>
                  <a:schemeClr val="accent1">
                    <a:lumMod val="75000"/>
                  </a:schemeClr>
                </a:solidFill>
                <a:effectLst/>
                <a:latin typeface="Söhne"/>
              </a:rPr>
              <a:t> uses </a:t>
            </a:r>
            <a:r>
              <a:rPr lang="en-AU" sz="2400" i="0" u="sng" dirty="0">
                <a:solidFill>
                  <a:schemeClr val="accent1">
                    <a:lumMod val="75000"/>
                  </a:schemeClr>
                </a:solidFill>
                <a:effectLst/>
                <a:latin typeface="Söhne"/>
              </a:rPr>
              <a:t>neural network models</a:t>
            </a:r>
            <a:r>
              <a:rPr lang="en-AU" sz="2400" i="0" dirty="0">
                <a:solidFill>
                  <a:schemeClr val="accent1">
                    <a:lumMod val="75000"/>
                  </a:schemeClr>
                </a:solidFill>
                <a:effectLst/>
                <a:latin typeface="Söhne"/>
              </a:rPr>
              <a:t> that mimic biological </a:t>
            </a:r>
            <a:r>
              <a:rPr lang="en-AU" sz="2400" dirty="0">
                <a:solidFill>
                  <a:schemeClr val="accent1">
                    <a:lumMod val="75000"/>
                  </a:schemeClr>
                </a:solidFill>
                <a:latin typeface="Söhne"/>
              </a:rPr>
              <a:t>brain structures and</a:t>
            </a:r>
            <a:r>
              <a:rPr lang="en-AU" sz="2400" i="0" dirty="0">
                <a:solidFill>
                  <a:schemeClr val="accent1">
                    <a:lumMod val="75000"/>
                  </a:schemeClr>
                </a:solidFill>
                <a:effectLst/>
                <a:latin typeface="Söhne"/>
              </a:rPr>
              <a:t> </a:t>
            </a:r>
            <a:r>
              <a:rPr lang="en-AU" sz="2400" b="0" i="0" dirty="0">
                <a:solidFill>
                  <a:schemeClr val="accent1">
                    <a:lumMod val="75000"/>
                  </a:schemeClr>
                </a:solidFill>
                <a:effectLst/>
                <a:latin typeface="Söhne"/>
              </a:rPr>
              <a:t>enhance the automation of training AI models.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07A8479-D79D-EC92-B04B-285221207589}"/>
              </a:ext>
            </a:extLst>
          </p:cNvPr>
          <p:cNvSpPr/>
          <p:nvPr/>
        </p:nvSpPr>
        <p:spPr>
          <a:xfrm>
            <a:off x="331740" y="1832769"/>
            <a:ext cx="5511800" cy="43815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8969BDB-CE73-2025-72AE-47882DB2C367}"/>
              </a:ext>
            </a:extLst>
          </p:cNvPr>
          <p:cNvSpPr/>
          <p:nvPr/>
        </p:nvSpPr>
        <p:spPr>
          <a:xfrm>
            <a:off x="830728" y="3090069"/>
            <a:ext cx="4513824" cy="297180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62B6B0-6ECE-4A7A-9B5C-A3F0074F61AE}"/>
              </a:ext>
            </a:extLst>
          </p:cNvPr>
          <p:cNvSpPr txBox="1"/>
          <p:nvPr/>
        </p:nvSpPr>
        <p:spPr>
          <a:xfrm>
            <a:off x="1893840" y="2013654"/>
            <a:ext cx="2387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Artificial Intelligence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F13198-B8D8-701B-A3E0-067D534F8447}"/>
              </a:ext>
            </a:extLst>
          </p:cNvPr>
          <p:cNvSpPr txBox="1"/>
          <p:nvPr/>
        </p:nvSpPr>
        <p:spPr>
          <a:xfrm>
            <a:off x="1893840" y="3331021"/>
            <a:ext cx="238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Machine Learning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EA4A64E-097F-3C25-4630-96AF3D112E50}"/>
              </a:ext>
            </a:extLst>
          </p:cNvPr>
          <p:cNvSpPr/>
          <p:nvPr/>
        </p:nvSpPr>
        <p:spPr>
          <a:xfrm>
            <a:off x="1327872" y="4275286"/>
            <a:ext cx="3519536" cy="1549400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1F8549-ED1C-4A39-25BB-615692111A7B}"/>
              </a:ext>
            </a:extLst>
          </p:cNvPr>
          <p:cNvSpPr txBox="1"/>
          <p:nvPr/>
        </p:nvSpPr>
        <p:spPr>
          <a:xfrm>
            <a:off x="1893840" y="4588321"/>
            <a:ext cx="238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3792339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FFE0A7-AA73-9DF3-9620-619C804A3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fld id="{05072F42-4DFA-4725-86F9-7594E4AB4EB5}" type="slidenum">
              <a:rPr lang="en-US">
                <a:solidFill>
                  <a:srgbClr val="FFFFFF"/>
                </a:solidFill>
                <a:latin typeface="+mn-lt"/>
              </a:rPr>
              <a:pPr/>
              <a:t>4</a:t>
            </a:fld>
            <a:endParaRPr lang="en-US">
              <a:solidFill>
                <a:srgbClr val="FFFFFF"/>
              </a:solidFill>
              <a:latin typeface="+mn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1E52ED-C9E9-87B0-1290-9D47FC51B734}"/>
              </a:ext>
            </a:extLst>
          </p:cNvPr>
          <p:cNvSpPr/>
          <p:nvPr/>
        </p:nvSpPr>
        <p:spPr>
          <a:xfrm>
            <a:off x="9944759" y="840095"/>
            <a:ext cx="1591056" cy="597408"/>
          </a:xfrm>
          <a:prstGeom prst="rect">
            <a:avLst/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Question Answering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5C2E25-25C4-6FB9-D2C8-25FF8ECD9EF0}"/>
              </a:ext>
            </a:extLst>
          </p:cNvPr>
          <p:cNvSpPr/>
          <p:nvPr/>
        </p:nvSpPr>
        <p:spPr>
          <a:xfrm>
            <a:off x="9935615" y="5393807"/>
            <a:ext cx="1591056" cy="597408"/>
          </a:xfrm>
          <a:prstGeom prst="rect">
            <a:avLst/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Instruction Following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699098-8A56-C3FC-95BE-4E81F0B027CE}"/>
              </a:ext>
            </a:extLst>
          </p:cNvPr>
          <p:cNvSpPr/>
          <p:nvPr/>
        </p:nvSpPr>
        <p:spPr>
          <a:xfrm>
            <a:off x="9944759" y="1775831"/>
            <a:ext cx="1591056" cy="597408"/>
          </a:xfrm>
          <a:prstGeom prst="rect">
            <a:avLst/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Sentiment Analysis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ED66F5-9061-00E5-F55B-065630C33124}"/>
              </a:ext>
            </a:extLst>
          </p:cNvPr>
          <p:cNvSpPr/>
          <p:nvPr/>
        </p:nvSpPr>
        <p:spPr>
          <a:xfrm>
            <a:off x="9935615" y="2607935"/>
            <a:ext cx="1591056" cy="597408"/>
          </a:xfrm>
          <a:prstGeom prst="rect">
            <a:avLst/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Information Extraction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E31B33-2AD9-17E8-291A-EF2461E98055}"/>
              </a:ext>
            </a:extLst>
          </p:cNvPr>
          <p:cNvSpPr/>
          <p:nvPr/>
        </p:nvSpPr>
        <p:spPr>
          <a:xfrm>
            <a:off x="9938663" y="3601583"/>
            <a:ext cx="1591056" cy="597408"/>
          </a:xfrm>
          <a:prstGeom prst="rect">
            <a:avLst/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Image Caption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D2354C-D41E-1D7A-04B8-7040BC4CB8E3}"/>
              </a:ext>
            </a:extLst>
          </p:cNvPr>
          <p:cNvSpPr/>
          <p:nvPr/>
        </p:nvSpPr>
        <p:spPr>
          <a:xfrm>
            <a:off x="9938663" y="4497695"/>
            <a:ext cx="1591056" cy="597408"/>
          </a:xfrm>
          <a:prstGeom prst="rect">
            <a:avLst/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Object Recognition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5BBC601-5A6C-31A0-92EF-193BCD341498}"/>
              </a:ext>
            </a:extLst>
          </p:cNvPr>
          <p:cNvSpPr/>
          <p:nvPr/>
        </p:nvSpPr>
        <p:spPr>
          <a:xfrm>
            <a:off x="771700" y="1291199"/>
            <a:ext cx="1591056" cy="59740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Text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03B67E-C04E-32B3-5D1D-E65F37EE920A}"/>
              </a:ext>
            </a:extLst>
          </p:cNvPr>
          <p:cNvSpPr/>
          <p:nvPr/>
        </p:nvSpPr>
        <p:spPr>
          <a:xfrm>
            <a:off x="771700" y="2226935"/>
            <a:ext cx="1591056" cy="59740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Images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E73EB0-A53F-1227-D5A9-1BBEEA10142E}"/>
              </a:ext>
            </a:extLst>
          </p:cNvPr>
          <p:cNvSpPr/>
          <p:nvPr/>
        </p:nvSpPr>
        <p:spPr>
          <a:xfrm>
            <a:off x="762556" y="3059039"/>
            <a:ext cx="1591056" cy="59740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Speech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21ED59-4451-C48F-7B13-9D79846F4696}"/>
              </a:ext>
            </a:extLst>
          </p:cNvPr>
          <p:cNvSpPr/>
          <p:nvPr/>
        </p:nvSpPr>
        <p:spPr>
          <a:xfrm>
            <a:off x="765604" y="4077072"/>
            <a:ext cx="1591056" cy="59740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Tabular Data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8FAFFE-3B5A-D6FF-E027-E288DBCF0ED2}"/>
              </a:ext>
            </a:extLst>
          </p:cNvPr>
          <p:cNvSpPr/>
          <p:nvPr/>
        </p:nvSpPr>
        <p:spPr>
          <a:xfrm>
            <a:off x="765604" y="4948799"/>
            <a:ext cx="1591056" cy="59740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3D signals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40182F9-01F1-A197-F4F0-FF4994A67647}"/>
              </a:ext>
            </a:extLst>
          </p:cNvPr>
          <p:cNvSpPr/>
          <p:nvPr/>
        </p:nvSpPr>
        <p:spPr>
          <a:xfrm>
            <a:off x="5309946" y="2892606"/>
            <a:ext cx="1371600" cy="886968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Model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B55FFDD-26B9-F153-DB98-8208A2A33B39}"/>
              </a:ext>
            </a:extLst>
          </p:cNvPr>
          <p:cNvCxnSpPr>
            <a:cxnSpLocks/>
          </p:cNvCxnSpPr>
          <p:nvPr/>
        </p:nvCxnSpPr>
        <p:spPr>
          <a:xfrm>
            <a:off x="2903838" y="3336090"/>
            <a:ext cx="23512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D01907D-59BA-C8D0-567C-0F0F9900B94C}"/>
              </a:ext>
            </a:extLst>
          </p:cNvPr>
          <p:cNvCxnSpPr>
            <a:cxnSpLocks/>
          </p:cNvCxnSpPr>
          <p:nvPr/>
        </p:nvCxnSpPr>
        <p:spPr>
          <a:xfrm>
            <a:off x="6681546" y="3336090"/>
            <a:ext cx="25316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BDA718B-24A6-0711-AADD-0FABB060CD27}"/>
              </a:ext>
            </a:extLst>
          </p:cNvPr>
          <p:cNvCxnSpPr>
            <a:cxnSpLocks/>
          </p:cNvCxnSpPr>
          <p:nvPr/>
        </p:nvCxnSpPr>
        <p:spPr>
          <a:xfrm>
            <a:off x="9188855" y="1125083"/>
            <a:ext cx="24384" cy="4567428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2EBE78F-5319-9AB4-B5D5-63E629883FA5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9188855" y="1125083"/>
            <a:ext cx="755904" cy="1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BE4CD18-EAFC-AF53-9F41-A32D14D984CF}"/>
              </a:ext>
            </a:extLst>
          </p:cNvPr>
          <p:cNvCxnSpPr>
            <a:cxnSpLocks/>
          </p:cNvCxnSpPr>
          <p:nvPr/>
        </p:nvCxnSpPr>
        <p:spPr>
          <a:xfrm>
            <a:off x="9213239" y="2068947"/>
            <a:ext cx="755904" cy="1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57E3505-3ECE-7D68-6D2B-4CCD06789AA3}"/>
              </a:ext>
            </a:extLst>
          </p:cNvPr>
          <p:cNvCxnSpPr>
            <a:cxnSpLocks/>
          </p:cNvCxnSpPr>
          <p:nvPr/>
        </p:nvCxnSpPr>
        <p:spPr>
          <a:xfrm>
            <a:off x="9197999" y="2926705"/>
            <a:ext cx="755904" cy="1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A262FD0-3CBD-70E5-DE8B-E6D72FDB1C40}"/>
              </a:ext>
            </a:extLst>
          </p:cNvPr>
          <p:cNvCxnSpPr>
            <a:cxnSpLocks/>
          </p:cNvCxnSpPr>
          <p:nvPr/>
        </p:nvCxnSpPr>
        <p:spPr>
          <a:xfrm>
            <a:off x="9213239" y="3958707"/>
            <a:ext cx="755904" cy="1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24" name="Straight Arrow Connector 1023">
            <a:extLst>
              <a:ext uri="{FF2B5EF4-FFF2-40B4-BE49-F238E27FC236}">
                <a16:creationId xmlns:a16="http://schemas.microsoft.com/office/drawing/2014/main" id="{1D1475D1-D1A5-6110-2ED9-DAEE5F332A2E}"/>
              </a:ext>
            </a:extLst>
          </p:cNvPr>
          <p:cNvCxnSpPr>
            <a:cxnSpLocks/>
          </p:cNvCxnSpPr>
          <p:nvPr/>
        </p:nvCxnSpPr>
        <p:spPr>
          <a:xfrm>
            <a:off x="9213239" y="4812909"/>
            <a:ext cx="755904" cy="1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25" name="Straight Arrow Connector 1024">
            <a:extLst>
              <a:ext uri="{FF2B5EF4-FFF2-40B4-BE49-F238E27FC236}">
                <a16:creationId xmlns:a16="http://schemas.microsoft.com/office/drawing/2014/main" id="{26E865B2-16BF-1580-2207-BE3BE8363158}"/>
              </a:ext>
            </a:extLst>
          </p:cNvPr>
          <p:cNvCxnSpPr>
            <a:cxnSpLocks/>
          </p:cNvCxnSpPr>
          <p:nvPr/>
        </p:nvCxnSpPr>
        <p:spPr>
          <a:xfrm>
            <a:off x="9213239" y="5697845"/>
            <a:ext cx="755904" cy="1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29" name="Straight Connector 1028">
            <a:extLst>
              <a:ext uri="{FF2B5EF4-FFF2-40B4-BE49-F238E27FC236}">
                <a16:creationId xmlns:a16="http://schemas.microsoft.com/office/drawing/2014/main" id="{6CD103D9-A1E7-7F4A-020A-CD3A33E05DA6}"/>
              </a:ext>
            </a:extLst>
          </p:cNvPr>
          <p:cNvCxnSpPr/>
          <p:nvPr/>
        </p:nvCxnSpPr>
        <p:spPr>
          <a:xfrm>
            <a:off x="3021124" y="1589903"/>
            <a:ext cx="0" cy="3657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4" name="Straight Connector 1033">
            <a:extLst>
              <a:ext uri="{FF2B5EF4-FFF2-40B4-BE49-F238E27FC236}">
                <a16:creationId xmlns:a16="http://schemas.microsoft.com/office/drawing/2014/main" id="{04DA06F9-6B51-C99E-FDC6-C6E9E08E15EE}"/>
              </a:ext>
            </a:extLst>
          </p:cNvPr>
          <p:cNvCxnSpPr>
            <a:stCxn id="13" idx="3"/>
          </p:cNvCxnSpPr>
          <p:nvPr/>
        </p:nvCxnSpPr>
        <p:spPr>
          <a:xfrm>
            <a:off x="2362756" y="1589903"/>
            <a:ext cx="6583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6" name="Straight Connector 1035">
            <a:extLst>
              <a:ext uri="{FF2B5EF4-FFF2-40B4-BE49-F238E27FC236}">
                <a16:creationId xmlns:a16="http://schemas.microsoft.com/office/drawing/2014/main" id="{5104B7F2-6748-74D6-2A3D-A75C6928BEFF}"/>
              </a:ext>
            </a:extLst>
          </p:cNvPr>
          <p:cNvCxnSpPr/>
          <p:nvPr/>
        </p:nvCxnSpPr>
        <p:spPr>
          <a:xfrm>
            <a:off x="2353612" y="2525639"/>
            <a:ext cx="6583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8" name="Straight Connector 1037">
            <a:extLst>
              <a:ext uri="{FF2B5EF4-FFF2-40B4-BE49-F238E27FC236}">
                <a16:creationId xmlns:a16="http://schemas.microsoft.com/office/drawing/2014/main" id="{A5B585FE-4F8B-4FF9-6E8F-3DB377DE019E}"/>
              </a:ext>
            </a:extLst>
          </p:cNvPr>
          <p:cNvCxnSpPr/>
          <p:nvPr/>
        </p:nvCxnSpPr>
        <p:spPr>
          <a:xfrm>
            <a:off x="2362756" y="3336090"/>
            <a:ext cx="6583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1" name="Straight Connector 1040">
            <a:extLst>
              <a:ext uri="{FF2B5EF4-FFF2-40B4-BE49-F238E27FC236}">
                <a16:creationId xmlns:a16="http://schemas.microsoft.com/office/drawing/2014/main" id="{0271C67D-B753-2181-C9E4-B40C7E6BBACE}"/>
              </a:ext>
            </a:extLst>
          </p:cNvPr>
          <p:cNvCxnSpPr/>
          <p:nvPr/>
        </p:nvCxnSpPr>
        <p:spPr>
          <a:xfrm>
            <a:off x="2353612" y="4357487"/>
            <a:ext cx="6583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3" name="Straight Connector 1042">
            <a:extLst>
              <a:ext uri="{FF2B5EF4-FFF2-40B4-BE49-F238E27FC236}">
                <a16:creationId xmlns:a16="http://schemas.microsoft.com/office/drawing/2014/main" id="{2062B3A9-1ED4-C544-AB6C-2E7C2156F299}"/>
              </a:ext>
            </a:extLst>
          </p:cNvPr>
          <p:cNvCxnSpPr/>
          <p:nvPr/>
        </p:nvCxnSpPr>
        <p:spPr>
          <a:xfrm>
            <a:off x="2353612" y="5247503"/>
            <a:ext cx="6583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4" name="TextBox 1043">
            <a:extLst>
              <a:ext uri="{FF2B5EF4-FFF2-40B4-BE49-F238E27FC236}">
                <a16:creationId xmlns:a16="http://schemas.microsoft.com/office/drawing/2014/main" id="{8BFBC239-FE90-74CC-C319-20DB847A41BE}"/>
              </a:ext>
            </a:extLst>
          </p:cNvPr>
          <p:cNvSpPr txBox="1"/>
          <p:nvPr/>
        </p:nvSpPr>
        <p:spPr>
          <a:xfrm>
            <a:off x="3598980" y="2940421"/>
            <a:ext cx="10782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Training</a:t>
            </a:r>
          </a:p>
        </p:txBody>
      </p:sp>
      <p:sp>
        <p:nvSpPr>
          <p:cNvPr id="1045" name="TextBox 1044">
            <a:extLst>
              <a:ext uri="{FF2B5EF4-FFF2-40B4-BE49-F238E27FC236}">
                <a16:creationId xmlns:a16="http://schemas.microsoft.com/office/drawing/2014/main" id="{909769D9-00BD-CDAD-8689-2203A9A6CF22}"/>
              </a:ext>
            </a:extLst>
          </p:cNvPr>
          <p:cNvSpPr txBox="1"/>
          <p:nvPr/>
        </p:nvSpPr>
        <p:spPr>
          <a:xfrm>
            <a:off x="7245116" y="2941253"/>
            <a:ext cx="14045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Adaptation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B1C4C399-84C9-BC8E-81C1-7ABA8C50E9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2525" y="4429937"/>
            <a:ext cx="1173942" cy="1178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9A7191F5-6EF2-0306-16BB-6ADB5FFCCA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0611" y="4386606"/>
            <a:ext cx="1437842" cy="1259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diagram of a network&#10;&#10;Description automatically generated">
            <a:extLst>
              <a:ext uri="{FF2B5EF4-FFF2-40B4-BE49-F238E27FC236}">
                <a16:creationId xmlns:a16="http://schemas.microsoft.com/office/drawing/2014/main" id="{5598B7A8-B641-CF71-690F-739ACD4C5F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0577" y="4497148"/>
            <a:ext cx="1454933" cy="102443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7B0DAD7-B278-65AA-3B7F-D43AF5157380}"/>
              </a:ext>
            </a:extLst>
          </p:cNvPr>
          <p:cNvSpPr txBox="1"/>
          <p:nvPr/>
        </p:nvSpPr>
        <p:spPr>
          <a:xfrm>
            <a:off x="3243348" y="5681306"/>
            <a:ext cx="15922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Support Vector </a:t>
            </a:r>
            <a:br>
              <a:rPr lang="en-AU" sz="1600" dirty="0"/>
            </a:br>
            <a:r>
              <a:rPr lang="en-AU" sz="1600" dirty="0"/>
              <a:t>Machine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FFB266E-92C9-6EC4-BDBD-5F5C5FA547F6}"/>
              </a:ext>
            </a:extLst>
          </p:cNvPr>
          <p:cNvSpPr txBox="1"/>
          <p:nvPr/>
        </p:nvSpPr>
        <p:spPr>
          <a:xfrm>
            <a:off x="5093109" y="5699759"/>
            <a:ext cx="9298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Random</a:t>
            </a:r>
            <a:br>
              <a:rPr lang="en-AU" sz="1600" dirty="0"/>
            </a:br>
            <a:r>
              <a:rPr lang="en-AU" sz="1600" dirty="0"/>
              <a:t>Forest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E5A6A14-3116-6091-8E5C-2BEC83127EC2}"/>
              </a:ext>
            </a:extLst>
          </p:cNvPr>
          <p:cNvSpPr txBox="1"/>
          <p:nvPr/>
        </p:nvSpPr>
        <p:spPr>
          <a:xfrm>
            <a:off x="7382061" y="5710425"/>
            <a:ext cx="1072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b="1" dirty="0"/>
              <a:t>Neural</a:t>
            </a:r>
            <a:br>
              <a:rPr lang="en-AU" sz="1600" b="1" dirty="0"/>
            </a:br>
            <a:r>
              <a:rPr lang="en-AU" sz="1600" b="1" dirty="0"/>
              <a:t>Network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899A8D-4EBC-743C-6987-201A6E361EAB}"/>
              </a:ext>
            </a:extLst>
          </p:cNvPr>
          <p:cNvSpPr txBox="1"/>
          <p:nvPr/>
        </p:nvSpPr>
        <p:spPr>
          <a:xfrm>
            <a:off x="6500856" y="4674480"/>
            <a:ext cx="5196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/>
              <a:t>…</a:t>
            </a:r>
          </a:p>
        </p:txBody>
      </p:sp>
      <p:sp>
        <p:nvSpPr>
          <p:cNvPr id="28" name="Left Brace 27">
            <a:extLst>
              <a:ext uri="{FF2B5EF4-FFF2-40B4-BE49-F238E27FC236}">
                <a16:creationId xmlns:a16="http://schemas.microsoft.com/office/drawing/2014/main" id="{2D839089-9148-0186-3CA5-D38927F3B1E7}"/>
              </a:ext>
            </a:extLst>
          </p:cNvPr>
          <p:cNvSpPr/>
          <p:nvPr/>
        </p:nvSpPr>
        <p:spPr>
          <a:xfrm rot="5400000">
            <a:off x="5871156" y="1425258"/>
            <a:ext cx="303644" cy="530362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564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9" name="Rectangle 1036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FB5713-AF3C-1C7A-B53F-7EACC469D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-85537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 sz="5400" dirty="0">
                <a:solidFill>
                  <a:srgbClr val="595959"/>
                </a:solidFill>
              </a:rPr>
              <a:t>Types of Machine Learning </a:t>
            </a:r>
            <a:endParaRPr lang="en-US" sz="5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C45423-F57C-E0B0-75B0-89F032AF5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fld id="{05072F42-4DFA-4725-86F9-7594E4AB4EB5}" type="slidenum">
              <a:rPr lang="en-US" smtClean="0">
                <a:latin typeface="+mn-lt"/>
              </a:rPr>
              <a:pPr/>
              <a:t>5</a:t>
            </a:fld>
            <a:endParaRPr lang="en-US">
              <a:latin typeface="+mn-lt"/>
            </a:endParaRP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2941C644-6D36-D7D2-593F-BA142842CF2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52900" y="3276600"/>
            <a:ext cx="2095500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B3E569EA-6CF7-B687-84C3-B40AD0D74F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857" y="1169055"/>
            <a:ext cx="10701943" cy="5187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7479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B5713-AF3C-1C7A-B53F-7EACC469D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Neural Network </a:t>
            </a:r>
            <a:r>
              <a:rPr lang="en-US" sz="5200" dirty="0"/>
              <a:t>Infrastructure </a:t>
            </a:r>
            <a:endParaRPr lang="en-US" sz="5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032" name="Picture 8" descr="Feed forward networks">
            <a:extLst>
              <a:ext uri="{FF2B5EF4-FFF2-40B4-BE49-F238E27FC236}">
                <a16:creationId xmlns:a16="http://schemas.microsoft.com/office/drawing/2014/main" id="{E78B488A-F241-65D0-B9F3-7D525E7B44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35129" y="1845426"/>
            <a:ext cx="7918688" cy="4450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C45423-F57C-E0B0-75B0-89F032AF5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fld id="{05072F42-4DFA-4725-86F9-7594E4AB4EB5}" type="slidenum">
              <a:rPr lang="en-US" smtClean="0">
                <a:latin typeface="+mn-lt"/>
              </a:rPr>
              <a:pPr/>
              <a:t>6</a:t>
            </a:fld>
            <a:endParaRPr lang="en-US">
              <a:latin typeface="+mn-lt"/>
            </a:endParaRP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2941C644-6D36-D7D2-593F-BA142842CF2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52900" y="3276600"/>
            <a:ext cx="2095500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1270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9" name="Picture 4" descr="f(x) = \frac{1}{1 + \mathrm e^{-x}} ">
            <a:extLst>
              <a:ext uri="{FF2B5EF4-FFF2-40B4-BE49-F238E27FC236}">
                <a16:creationId xmlns:a16="http://schemas.microsoft.com/office/drawing/2014/main" id="{EB9E4FF3-76C0-674D-AA70-A58F8133D6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6589" y="815546"/>
            <a:ext cx="1684545" cy="561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6" descr="http://upload.wikimedia.org/wikipedia/commons/thumb/8/88/Logistic-curve.svg/480px-Logistic-curve.svg.png">
            <a:extLst>
              <a:ext uri="{FF2B5EF4-FFF2-40B4-BE49-F238E27FC236}">
                <a16:creationId xmlns:a16="http://schemas.microsoft.com/office/drawing/2014/main" id="{CDFCF0A3-1F4C-3F42-9BEA-6E6AEC6103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7026" y="1377061"/>
            <a:ext cx="3048000" cy="202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B60961BF-5919-4D48-9BEE-77E9C09BB84E}"/>
              </a:ext>
            </a:extLst>
          </p:cNvPr>
          <p:cNvSpPr/>
          <p:nvPr/>
        </p:nvSpPr>
        <p:spPr>
          <a:xfrm>
            <a:off x="2355374" y="3350058"/>
            <a:ext cx="609600" cy="63730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  <a:r>
              <a:rPr lang="en-US" baseline="-25000" dirty="0"/>
              <a:t>1</a:t>
            </a:r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80E4725-2B69-1F4D-A30C-97FD53E43B57}"/>
              </a:ext>
            </a:extLst>
          </p:cNvPr>
          <p:cNvSpPr/>
          <p:nvPr/>
        </p:nvSpPr>
        <p:spPr>
          <a:xfrm>
            <a:off x="2355374" y="4264458"/>
            <a:ext cx="609600" cy="63730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  <a:r>
              <a:rPr lang="en-US" baseline="-25000" dirty="0"/>
              <a:t>2</a:t>
            </a:r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2FE967F-8375-8B43-86F3-E838BC96C9F7}"/>
              </a:ext>
            </a:extLst>
          </p:cNvPr>
          <p:cNvSpPr/>
          <p:nvPr/>
        </p:nvSpPr>
        <p:spPr>
          <a:xfrm>
            <a:off x="2383083" y="5178858"/>
            <a:ext cx="609600" cy="63730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  <a:r>
              <a:rPr lang="en-US" baseline="-25000" dirty="0"/>
              <a:t>3</a:t>
            </a:r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1FD36DB-C2ED-2E41-974B-A68FDCA2029C}"/>
              </a:ext>
            </a:extLst>
          </p:cNvPr>
          <p:cNvSpPr/>
          <p:nvPr/>
        </p:nvSpPr>
        <p:spPr>
          <a:xfrm>
            <a:off x="4544341" y="3100675"/>
            <a:ext cx="3103318" cy="299258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B893F4A-5DB5-D747-8ECC-EE84E33D50A3}"/>
              </a:ext>
            </a:extLst>
          </p:cNvPr>
          <p:cNvCxnSpPr>
            <a:cxnSpLocks/>
            <a:stCxn id="17" idx="0"/>
          </p:cNvCxnSpPr>
          <p:nvPr/>
        </p:nvCxnSpPr>
        <p:spPr>
          <a:xfrm>
            <a:off x="6096000" y="3100675"/>
            <a:ext cx="0" cy="2992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B31A0C-9250-1041-B4AC-C9CA3F581FDE}"/>
              </a:ext>
            </a:extLst>
          </p:cNvPr>
          <p:cNvCxnSpPr>
            <a:cxnSpLocks/>
          </p:cNvCxnSpPr>
          <p:nvPr/>
        </p:nvCxnSpPr>
        <p:spPr>
          <a:xfrm>
            <a:off x="6866058" y="4264459"/>
            <a:ext cx="0" cy="6373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8E04FCB-F3F2-1842-B4F9-BDEADD1B3C6B}"/>
              </a:ext>
            </a:extLst>
          </p:cNvPr>
          <p:cNvCxnSpPr>
            <a:cxnSpLocks/>
          </p:cNvCxnSpPr>
          <p:nvPr/>
        </p:nvCxnSpPr>
        <p:spPr>
          <a:xfrm>
            <a:off x="6464275" y="4901768"/>
            <a:ext cx="84512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reeform 18">
            <a:extLst>
              <a:ext uri="{FF2B5EF4-FFF2-40B4-BE49-F238E27FC236}">
                <a16:creationId xmlns:a16="http://schemas.microsoft.com/office/drawing/2014/main" id="{4669586F-CF7A-6044-824A-EF6FFBFA1F20}"/>
              </a:ext>
            </a:extLst>
          </p:cNvPr>
          <p:cNvSpPr/>
          <p:nvPr/>
        </p:nvSpPr>
        <p:spPr>
          <a:xfrm>
            <a:off x="6318803" y="4264458"/>
            <a:ext cx="990599" cy="637310"/>
          </a:xfrm>
          <a:custGeom>
            <a:avLst/>
            <a:gdLst>
              <a:gd name="connsiteX0" fmla="*/ 0 w 1094509"/>
              <a:gd name="connsiteY0" fmla="*/ 757478 h 757478"/>
              <a:gd name="connsiteX1" fmla="*/ 457200 w 1094509"/>
              <a:gd name="connsiteY1" fmla="*/ 646641 h 757478"/>
              <a:gd name="connsiteX2" fmla="*/ 692728 w 1094509"/>
              <a:gd name="connsiteY2" fmla="*/ 106314 h 757478"/>
              <a:gd name="connsiteX3" fmla="*/ 1025237 w 1094509"/>
              <a:gd name="connsiteY3" fmla="*/ 9332 h 757478"/>
              <a:gd name="connsiteX4" fmla="*/ 1094509 w 1094509"/>
              <a:gd name="connsiteY4" fmla="*/ 9332 h 757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4509" h="757478">
                <a:moveTo>
                  <a:pt x="0" y="757478"/>
                </a:moveTo>
                <a:cubicBezTo>
                  <a:pt x="170872" y="756323"/>
                  <a:pt x="341745" y="755168"/>
                  <a:pt x="457200" y="646641"/>
                </a:cubicBezTo>
                <a:cubicBezTo>
                  <a:pt x="572655" y="538114"/>
                  <a:pt x="598055" y="212532"/>
                  <a:pt x="692728" y="106314"/>
                </a:cubicBezTo>
                <a:cubicBezTo>
                  <a:pt x="787401" y="96"/>
                  <a:pt x="958274" y="25496"/>
                  <a:pt x="1025237" y="9332"/>
                </a:cubicBezTo>
                <a:cubicBezTo>
                  <a:pt x="1092200" y="-6832"/>
                  <a:pt x="1093354" y="1250"/>
                  <a:pt x="1094509" y="9332"/>
                </a:cubicBezTo>
              </a:path>
            </a:pathLst>
          </a:custGeom>
          <a:noFill/>
          <a:ln w="222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688D752-1738-474C-925E-CA77EF5FD694}"/>
              </a:ext>
            </a:extLst>
          </p:cNvPr>
          <p:cNvCxnSpPr>
            <a:stCxn id="3" idx="6"/>
            <a:endCxn id="17" idx="2"/>
          </p:cNvCxnSpPr>
          <p:nvPr/>
        </p:nvCxnSpPr>
        <p:spPr>
          <a:xfrm>
            <a:off x="2964974" y="3668713"/>
            <a:ext cx="1579367" cy="9282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2B1EB51-6722-5648-A043-503F2935F0D9}"/>
              </a:ext>
            </a:extLst>
          </p:cNvPr>
          <p:cNvCxnSpPr>
            <a:stCxn id="14" idx="6"/>
            <a:endCxn id="17" idx="2"/>
          </p:cNvCxnSpPr>
          <p:nvPr/>
        </p:nvCxnSpPr>
        <p:spPr>
          <a:xfrm>
            <a:off x="2964974" y="4583113"/>
            <a:ext cx="1579367" cy="138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4B90A2C-FD85-A742-A5BB-EDBC1EA7A917}"/>
              </a:ext>
            </a:extLst>
          </p:cNvPr>
          <p:cNvCxnSpPr>
            <a:stCxn id="15" idx="6"/>
            <a:endCxn id="17" idx="2"/>
          </p:cNvCxnSpPr>
          <p:nvPr/>
        </p:nvCxnSpPr>
        <p:spPr>
          <a:xfrm flipV="1">
            <a:off x="2992683" y="4596967"/>
            <a:ext cx="1551658" cy="9005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ED129E9-D762-EC44-915F-21441D5B7FE9}"/>
              </a:ext>
            </a:extLst>
          </p:cNvPr>
          <p:cNvCxnSpPr>
            <a:stCxn id="17" idx="6"/>
          </p:cNvCxnSpPr>
          <p:nvPr/>
        </p:nvCxnSpPr>
        <p:spPr>
          <a:xfrm flipV="1">
            <a:off x="7647659" y="4583113"/>
            <a:ext cx="1695926" cy="138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B374B51-A70C-D540-AAA2-647DAC90D4EE}"/>
                  </a:ext>
                </a:extLst>
              </p:cNvPr>
              <p:cNvSpPr txBox="1"/>
              <p:nvPr/>
            </p:nvSpPr>
            <p:spPr>
              <a:xfrm>
                <a:off x="4595400" y="4215451"/>
                <a:ext cx="1454116" cy="8376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𝑤𝑥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B374B51-A70C-D540-AAA2-647DAC90D4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5400" y="4215451"/>
                <a:ext cx="1454116" cy="837602"/>
              </a:xfrm>
              <a:prstGeom prst="rect">
                <a:avLst/>
              </a:prstGeom>
              <a:blipFill>
                <a:blip r:embed="rId5"/>
                <a:stretch>
                  <a:fillRect l="-57759" t="-127273" b="-17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178530F-FD82-1F4B-A42E-AD7B5B0E13C7}"/>
                  </a:ext>
                </a:extLst>
              </p:cNvPr>
              <p:cNvSpPr txBox="1"/>
              <p:nvPr/>
            </p:nvSpPr>
            <p:spPr>
              <a:xfrm>
                <a:off x="9440869" y="4367668"/>
                <a:ext cx="2882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AU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178530F-FD82-1F4B-A42E-AD7B5B0E13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0869" y="4367668"/>
                <a:ext cx="288284" cy="430887"/>
              </a:xfrm>
              <a:prstGeom prst="rect">
                <a:avLst/>
              </a:prstGeom>
              <a:blipFill>
                <a:blip r:embed="rId6"/>
                <a:stretch>
                  <a:fillRect l="-45833" t="-14286" r="-4167" b="-2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392148A-4225-EA4E-950D-9CE67694ADA4}"/>
                  </a:ext>
                </a:extLst>
              </p:cNvPr>
              <p:cNvSpPr txBox="1"/>
              <p:nvPr/>
            </p:nvSpPr>
            <p:spPr>
              <a:xfrm>
                <a:off x="3522685" y="3724223"/>
                <a:ext cx="3171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392148A-4225-EA4E-950D-9CE67694AD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2685" y="3724223"/>
                <a:ext cx="317138" cy="276999"/>
              </a:xfrm>
              <a:prstGeom prst="rect">
                <a:avLst/>
              </a:prstGeom>
              <a:blipFill>
                <a:blip r:embed="rId7"/>
                <a:stretch>
                  <a:fillRect l="-26923" b="-36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1443D4E-5AE9-2E40-B1BC-2EE8C5E392A5}"/>
                  </a:ext>
                </a:extLst>
              </p:cNvPr>
              <p:cNvSpPr txBox="1"/>
              <p:nvPr/>
            </p:nvSpPr>
            <p:spPr>
              <a:xfrm>
                <a:off x="3522685" y="4257484"/>
                <a:ext cx="32246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1443D4E-5AE9-2E40-B1BC-2EE8C5E392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2685" y="4257484"/>
                <a:ext cx="322461" cy="276999"/>
              </a:xfrm>
              <a:prstGeom prst="rect">
                <a:avLst/>
              </a:prstGeom>
              <a:blipFill>
                <a:blip r:embed="rId8"/>
                <a:stretch>
                  <a:fillRect l="-26923" b="-2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DF0EFCD-46A3-D547-B4A1-405C309F983D}"/>
                  </a:ext>
                </a:extLst>
              </p:cNvPr>
              <p:cNvSpPr txBox="1"/>
              <p:nvPr/>
            </p:nvSpPr>
            <p:spPr>
              <a:xfrm>
                <a:off x="3522685" y="4743182"/>
                <a:ext cx="32246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DF0EFCD-46A3-D547-B4A1-405C309F98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2685" y="4743182"/>
                <a:ext cx="322461" cy="276999"/>
              </a:xfrm>
              <a:prstGeom prst="rect">
                <a:avLst/>
              </a:prstGeom>
              <a:blipFill>
                <a:blip r:embed="rId9"/>
                <a:stretch>
                  <a:fillRect l="-26923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itle 1">
            <a:extLst>
              <a:ext uri="{FF2B5EF4-FFF2-40B4-BE49-F238E27FC236}">
                <a16:creationId xmlns:a16="http://schemas.microsoft.com/office/drawing/2014/main" id="{B9DFDF5F-3360-8346-AC9C-E03B8CBA4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262" y="91836"/>
            <a:ext cx="10515600" cy="1325563"/>
          </a:xfrm>
        </p:spPr>
        <p:txBody>
          <a:bodyPr/>
          <a:lstStyle/>
          <a:p>
            <a:r>
              <a:rPr lang="en-US" altLang="en-US" dirty="0"/>
              <a:t>Perceptron (Single node neural network)</a:t>
            </a:r>
          </a:p>
        </p:txBody>
      </p:sp>
      <p:cxnSp>
        <p:nvCxnSpPr>
          <p:cNvPr id="34" name="Curved Connector 33">
            <a:extLst>
              <a:ext uri="{FF2B5EF4-FFF2-40B4-BE49-F238E27FC236}">
                <a16:creationId xmlns:a16="http://schemas.microsoft.com/office/drawing/2014/main" id="{5FEE326E-8DE4-1642-B269-1EC9DAC6C2DD}"/>
              </a:ext>
            </a:extLst>
          </p:cNvPr>
          <p:cNvCxnSpPr>
            <a:cxnSpLocks/>
            <a:stCxn id="9220" idx="2"/>
          </p:cNvCxnSpPr>
          <p:nvPr/>
        </p:nvCxnSpPr>
        <p:spPr>
          <a:xfrm rot="5400000">
            <a:off x="8805309" y="2311765"/>
            <a:ext cx="851596" cy="3039839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02963EBF-74F7-DD4B-854A-73B24AD438ED}"/>
              </a:ext>
            </a:extLst>
          </p:cNvPr>
          <p:cNvSpPr txBox="1"/>
          <p:nvPr/>
        </p:nvSpPr>
        <p:spPr>
          <a:xfrm>
            <a:off x="6318803" y="1813406"/>
            <a:ext cx="25297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 Non-linear</a:t>
            </a:r>
            <a:br>
              <a:rPr lang="en-US" dirty="0"/>
            </a:br>
            <a:r>
              <a:rPr lang="en-US" dirty="0"/>
              <a:t>Transformation</a:t>
            </a:r>
            <a:br>
              <a:rPr lang="en-US" dirty="0"/>
            </a:br>
            <a:r>
              <a:rPr lang="en-US" dirty="0"/>
              <a:t>(Activation Function)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50CA021-D1F0-B246-85D1-EDEFA9CBE14C}"/>
              </a:ext>
            </a:extLst>
          </p:cNvPr>
          <p:cNvCxnSpPr>
            <a:cxnSpLocks/>
          </p:cNvCxnSpPr>
          <p:nvPr/>
        </p:nvCxnSpPr>
        <p:spPr>
          <a:xfrm>
            <a:off x="5966544" y="4645972"/>
            <a:ext cx="4977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3043403-C9BD-4A71-2D23-82091EAA2A9E}"/>
                  </a:ext>
                </a:extLst>
              </p:cNvPr>
              <p:cNvSpPr txBox="1"/>
              <p:nvPr/>
            </p:nvSpPr>
            <p:spPr>
              <a:xfrm>
                <a:off x="3477000" y="1810898"/>
                <a:ext cx="1970218" cy="18224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US" dirty="0"/>
                  <a:t>1. Linear</a:t>
                </a:r>
                <a:br>
                  <a:rPr lang="en-US" dirty="0"/>
                </a:br>
                <a:r>
                  <a:rPr lang="en-US" dirty="0"/>
                  <a:t>Transformation:</a:t>
                </a:r>
                <a:br>
                  <a:rPr lang="en-US" dirty="0"/>
                </a:br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AU" b="1" i="1" smtClean="0">
                              <a:latin typeface="Cambria Math" panose="02040503050406030204" pitchFamily="18" charset="0"/>
                            </a:rPr>
                            <m:t>𝒘𝒙</m:t>
                          </m:r>
                          <m:r>
                            <a:rPr lang="en-AU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nary>
                    </m:oMath>
                  </m:oMathPara>
                </a14:m>
                <a:endParaRPr lang="en-US" b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3043403-C9BD-4A71-2D23-82091EAA2A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7000" y="1810898"/>
                <a:ext cx="1970218" cy="1822487"/>
              </a:xfrm>
              <a:prstGeom prst="rect">
                <a:avLst/>
              </a:prstGeom>
              <a:blipFill>
                <a:blip r:embed="rId10"/>
                <a:stretch>
                  <a:fillRect l="-28662" t="-24138" r="-2548" b="-6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82F4CE1C-028C-1EED-38F4-FC5CDB85BD80}"/>
              </a:ext>
            </a:extLst>
          </p:cNvPr>
          <p:cNvSpPr txBox="1"/>
          <p:nvPr/>
        </p:nvSpPr>
        <p:spPr>
          <a:xfrm>
            <a:off x="9994369" y="4389426"/>
            <a:ext cx="12990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Prediction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CB54A1-471F-2E72-A6DD-B09B58C50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6009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34D54-A070-3379-F834-540501476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Calculating the Loss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682AE3-6275-24ED-99E3-93643ED82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8</a:t>
            </a:fld>
            <a:endParaRPr lang="en-GB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8D554E73-D862-3972-DBCA-AFD0625CD71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345" y="1879381"/>
            <a:ext cx="5948655" cy="3880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78C17E4-633B-59C2-5AE0-C178B7B610E7}"/>
                  </a:ext>
                </a:extLst>
              </p:cNvPr>
              <p:cNvSpPr txBox="1"/>
              <p:nvPr/>
            </p:nvSpPr>
            <p:spPr>
              <a:xfrm>
                <a:off x="9518389" y="4696938"/>
                <a:ext cx="16701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AU" sz="2400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𝐶𝑜𝑠𝑡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78C17E4-633B-59C2-5AE0-C178B7B610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8389" y="4696938"/>
                <a:ext cx="1670137" cy="461665"/>
              </a:xfrm>
              <a:prstGeom prst="rect">
                <a:avLst/>
              </a:prstGeom>
              <a:blipFill>
                <a:blip r:embed="rId3"/>
                <a:stretch>
                  <a:fillRect b="-236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89977A1F-7DE9-C62A-679F-740F17BA331A}"/>
              </a:ext>
            </a:extLst>
          </p:cNvPr>
          <p:cNvSpPr txBox="1"/>
          <p:nvPr/>
        </p:nvSpPr>
        <p:spPr>
          <a:xfrm>
            <a:off x="6016752" y="1408790"/>
            <a:ext cx="594865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Loss</a:t>
            </a:r>
            <a:r>
              <a:rPr lang="en-US" dirty="0"/>
              <a:t>: the difference between the prediction and the actual value for the individual data instance.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Example </a:t>
            </a:r>
            <a:r>
              <a:rPr lang="en-US" b="1" dirty="0"/>
              <a:t>Loss Function</a:t>
            </a:r>
            <a:r>
              <a:rPr lang="en-US" dirty="0"/>
              <a:t>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Cost</a:t>
            </a:r>
            <a:r>
              <a:rPr lang="en-US" dirty="0"/>
              <a:t>: The aggregate of the losses of all data instances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Example </a:t>
            </a:r>
            <a:r>
              <a:rPr lang="en-US" b="1" dirty="0"/>
              <a:t>Cost Function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r>
              <a:rPr lang="en-AU" dirty="0" err="1"/>
              <a:t>θ</a:t>
            </a:r>
            <a:r>
              <a:rPr lang="en-US" dirty="0"/>
              <a:t> are all the </a:t>
            </a:r>
            <a:r>
              <a:rPr lang="en-US" b="1" dirty="0"/>
              <a:t>model parameters: w’s and b’s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Goal</a:t>
            </a:r>
            <a:r>
              <a:rPr lang="en-US" dirty="0"/>
              <a:t> in training the model: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03F6236-5333-CBFA-C612-DCF1A1648004}"/>
                  </a:ext>
                </a:extLst>
              </p:cNvPr>
              <p:cNvSpPr txBox="1"/>
              <p:nvPr/>
            </p:nvSpPr>
            <p:spPr>
              <a:xfrm>
                <a:off x="9378552" y="2397705"/>
                <a:ext cx="2347235" cy="392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𝑙</m:t>
                      </m:r>
                      <m:d>
                        <m:d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AU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AU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AU" b="0" i="1" baseline="3000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baseline="30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03F6236-5333-CBFA-C612-DCF1A16480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8552" y="2397705"/>
                <a:ext cx="2347235" cy="392993"/>
              </a:xfrm>
              <a:prstGeom prst="rect">
                <a:avLst/>
              </a:prstGeom>
              <a:blipFill>
                <a:blip r:embed="rId4"/>
                <a:stretch>
                  <a:fillRect t="-3125" b="-21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6DAB76D5-3A1A-565C-F899-A17481C7D88C}"/>
              </a:ext>
            </a:extLst>
          </p:cNvPr>
          <p:cNvSpPr/>
          <p:nvPr/>
        </p:nvSpPr>
        <p:spPr>
          <a:xfrm>
            <a:off x="4404332" y="3819525"/>
            <a:ext cx="1860330" cy="3530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A823034-F873-D6A0-DF96-F8FD79514A2B}"/>
                  </a:ext>
                </a:extLst>
              </p:cNvPr>
              <p:cNvSpPr txBox="1"/>
              <p:nvPr/>
            </p:nvSpPr>
            <p:spPr>
              <a:xfrm>
                <a:off x="4032345" y="3784987"/>
                <a:ext cx="2252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AU" sz="1800" b="0" i="1" smtClean="0">
                          <a:latin typeface="Cambria Math" panose="02040503050406030204" pitchFamily="18" charset="0"/>
                        </a:rPr>
                        <m:t>𝐿𝑜𝑠𝑠</m:t>
                      </m:r>
                      <m:r>
                        <a:rPr lang="en-AU" sz="1800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AU" sz="1800" b="0" i="1" smtClean="0">
                          <a:latin typeface="Cambria Math" panose="02040503050406030204" pitchFamily="18" charset="0"/>
                        </a:rPr>
                        <m:t>𝑙</m:t>
                      </m:r>
                      <m:d>
                        <m:dPr>
                          <m:ctrlPr>
                            <a:rPr lang="en-AU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AU" sz="1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AU" sz="1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AU" sz="18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AU" sz="1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A823034-F873-D6A0-DF96-F8FD79514A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2345" y="3784987"/>
                <a:ext cx="2252841" cy="369332"/>
              </a:xfrm>
              <a:prstGeom prst="rect">
                <a:avLst/>
              </a:prstGeom>
              <a:blipFill>
                <a:blip r:embed="rId5"/>
                <a:stretch>
                  <a:fillRect b="-20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4C3957C-3708-116B-7751-57B11595EB7A}"/>
                  </a:ext>
                </a:extLst>
              </p:cNvPr>
              <p:cNvSpPr txBox="1"/>
              <p:nvPr/>
            </p:nvSpPr>
            <p:spPr>
              <a:xfrm>
                <a:off x="8597809" y="3120536"/>
                <a:ext cx="4126001" cy="9578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AU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ctrlPr>
                                <a:rPr lang="en-A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AU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AU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AU" i="1" baseline="-2500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𝑦𝑖</m:t>
                              </m:r>
                            </m:e>
                          </m:d>
                          <m:r>
                            <a:rPr lang="en-AU" i="1" baseline="30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4C3957C-3708-116B-7751-57B11595EB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7809" y="3120536"/>
                <a:ext cx="4126001" cy="957826"/>
              </a:xfrm>
              <a:prstGeom prst="rect">
                <a:avLst/>
              </a:prstGeom>
              <a:blipFill>
                <a:blip r:embed="rId6"/>
                <a:stretch>
                  <a:fillRect t="-97403" b="-1506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5631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BDAE7-55D4-FF06-EBA9-095AFCE65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4000" i="0" strike="noStrike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Classification metrics</a:t>
            </a:r>
            <a:endParaRPr lang="en-AU" sz="4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9BEC3-D29B-19AB-91B0-6B0309F995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599" cy="4743341"/>
          </a:xfrm>
        </p:spPr>
        <p:txBody>
          <a:bodyPr>
            <a:normAutofit/>
          </a:bodyPr>
          <a:lstStyle/>
          <a:p>
            <a:r>
              <a:rPr lang="en-AU" b="1" i="0" dirty="0">
                <a:effectLst/>
                <a:latin typeface="Söhne"/>
              </a:rPr>
              <a:t>Accuracy</a:t>
            </a:r>
            <a:r>
              <a:rPr lang="en-AU" b="0" i="0" dirty="0">
                <a:effectLst/>
                <a:latin typeface="Söhne"/>
              </a:rPr>
              <a:t>: </a:t>
            </a:r>
            <a:endParaRPr lang="en-AU" dirty="0">
              <a:latin typeface="Söhne"/>
            </a:endParaRPr>
          </a:p>
          <a:p>
            <a:pPr lvl="1"/>
            <a:r>
              <a:rPr lang="en-AU" b="0" i="0" dirty="0">
                <a:effectLst/>
                <a:latin typeface="Söhne"/>
              </a:rPr>
              <a:t>Measure the percentage of correctly classified instances. </a:t>
            </a:r>
          </a:p>
          <a:p>
            <a:r>
              <a:rPr lang="en-AU" b="1" i="0" dirty="0">
                <a:effectLst/>
                <a:latin typeface="Söhne"/>
              </a:rPr>
              <a:t>Precision:</a:t>
            </a:r>
          </a:p>
          <a:p>
            <a:pPr lvl="1"/>
            <a:r>
              <a:rPr lang="en-AU" dirty="0">
                <a:latin typeface="Söhne"/>
              </a:rPr>
              <a:t>Proportion of true positive predictions among all positive predictions.</a:t>
            </a:r>
          </a:p>
          <a:p>
            <a:pPr lvl="1"/>
            <a:r>
              <a:rPr lang="en-AU" dirty="0">
                <a:latin typeface="Söhne"/>
              </a:rPr>
              <a:t>“Out of all positive predictions, how many were correct?”</a:t>
            </a:r>
          </a:p>
          <a:p>
            <a:r>
              <a:rPr lang="en-AU" b="1" i="0" dirty="0">
                <a:effectLst/>
                <a:latin typeface="Söhne"/>
              </a:rPr>
              <a:t>Recall:</a:t>
            </a:r>
          </a:p>
          <a:p>
            <a:pPr lvl="1"/>
            <a:r>
              <a:rPr lang="en-AU" dirty="0">
                <a:latin typeface="Söhne"/>
              </a:rPr>
              <a:t>Proportion of true positive predictions among all actual positive instances.</a:t>
            </a:r>
          </a:p>
          <a:p>
            <a:pPr lvl="1"/>
            <a:r>
              <a:rPr lang="en-AU" dirty="0">
                <a:latin typeface="Söhne"/>
              </a:rPr>
              <a:t>“Out of all actual positives, how many were correctly identified?”</a:t>
            </a:r>
          </a:p>
          <a:p>
            <a:r>
              <a:rPr lang="en-AU" b="1" i="0" dirty="0">
                <a:effectLst/>
                <a:latin typeface="Söhne"/>
              </a:rPr>
              <a:t>F1 Score:</a:t>
            </a:r>
          </a:p>
          <a:p>
            <a:pPr lvl="1"/>
            <a:r>
              <a:rPr lang="en-AU" b="0" i="0" dirty="0">
                <a:effectLst/>
                <a:latin typeface="Söhne"/>
              </a:rPr>
              <a:t>Harmonic mean of precision and recall, balancing both metrics.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B9907C-8E01-2369-CC66-8FBE3710D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6357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BDAE7-55D4-FF06-EBA9-095AFCE65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71912"/>
            <a:ext cx="10515600" cy="1325563"/>
          </a:xfrm>
        </p:spPr>
        <p:txBody>
          <a:bodyPr>
            <a:normAutofit/>
          </a:bodyPr>
          <a:lstStyle/>
          <a:p>
            <a:r>
              <a:rPr lang="en-AU" sz="4000" i="0" strike="noStrike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Metrics for Monitoring Model Performance</a:t>
            </a:r>
            <a:endParaRPr lang="en-AU" sz="4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B9907C-8E01-2369-CC66-8FBE3710D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1EDD1E-E19A-F1AC-F8EE-38CFB0E0770B}"/>
              </a:ext>
            </a:extLst>
          </p:cNvPr>
          <p:cNvSpPr txBox="1"/>
          <p:nvPr/>
        </p:nvSpPr>
        <p:spPr>
          <a:xfrm>
            <a:off x="4624552" y="1371775"/>
            <a:ext cx="7178565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A </a:t>
            </a:r>
            <a:r>
              <a:rPr lang="en-US" b="1" dirty="0"/>
              <a:t>confusion matrix</a:t>
            </a:r>
            <a:r>
              <a:rPr lang="en-US" dirty="0"/>
              <a:t> is useful for calculating these metrics.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Example with 100 instances: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Accuracy</a:t>
            </a:r>
            <a:r>
              <a:rPr lang="en-US" dirty="0"/>
              <a:t> = TP + TN / (TP + FP + FN + TN)</a:t>
            </a:r>
          </a:p>
          <a:p>
            <a:pPr algn="l"/>
            <a:r>
              <a:rPr lang="en-US" dirty="0"/>
              <a:t>	= 85 / 100 = 85%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dirty="0"/>
              <a:t>Precision</a:t>
            </a:r>
            <a:r>
              <a:rPr lang="en-US" dirty="0"/>
              <a:t> = TP / (TP + FP)</a:t>
            </a:r>
          </a:p>
          <a:p>
            <a:pPr algn="l"/>
            <a:r>
              <a:rPr lang="en-US" dirty="0"/>
              <a:t>	= 45 / 55 = 81.82%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dirty="0"/>
              <a:t>Recall</a:t>
            </a:r>
            <a:r>
              <a:rPr lang="en-US" dirty="0"/>
              <a:t> = TP / (TP + FN)</a:t>
            </a:r>
          </a:p>
          <a:p>
            <a:pPr algn="l"/>
            <a:r>
              <a:rPr lang="en-US" dirty="0"/>
              <a:t>	= 45 / 50 = 90%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dirty="0"/>
              <a:t>F1 Score</a:t>
            </a:r>
            <a:r>
              <a:rPr lang="en-US" dirty="0"/>
              <a:t> = 2 * Precision * Recall / (Precision + Recall)</a:t>
            </a:r>
          </a:p>
          <a:p>
            <a:pPr algn="l"/>
            <a:r>
              <a:rPr lang="en-US" dirty="0"/>
              <a:t>	= 2 * 0.8182 * 0.90 / (0.90 + 0.8182)</a:t>
            </a:r>
          </a:p>
          <a:p>
            <a:pPr algn="l"/>
            <a:r>
              <a:rPr lang="en-US" dirty="0"/>
              <a:t>	= 85.71%</a:t>
            </a:r>
          </a:p>
        </p:txBody>
      </p:sp>
      <p:pic>
        <p:nvPicPr>
          <p:cNvPr id="12" name="Picture 11" descr="A diagram of negative outcomes&#10;&#10;Description automatically generated">
            <a:extLst>
              <a:ext uri="{FF2B5EF4-FFF2-40B4-BE49-F238E27FC236}">
                <a16:creationId xmlns:a16="http://schemas.microsoft.com/office/drawing/2014/main" id="{503B723E-BFBF-1AB6-F36B-969F5F9025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971" y="852557"/>
            <a:ext cx="3030574" cy="2925514"/>
          </a:xfrm>
          <a:prstGeom prst="rect">
            <a:avLst/>
          </a:prstGeom>
        </p:spPr>
      </p:pic>
      <p:pic>
        <p:nvPicPr>
          <p:cNvPr id="14" name="Picture 13" descr="A diagram of a number of outcomes&#10;&#10;Description automatically generated with medium confidence">
            <a:extLst>
              <a:ext uri="{FF2B5EF4-FFF2-40B4-BE49-F238E27FC236}">
                <a16:creationId xmlns:a16="http://schemas.microsoft.com/office/drawing/2014/main" id="{C438CA40-6F21-F47A-FBEA-656C64642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647" y="3795960"/>
            <a:ext cx="3055177" cy="2925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2592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BDAE7-55D4-FF06-EBA9-095AFCE65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4000" i="0" strike="noStrike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Regression and validation metrics</a:t>
            </a:r>
            <a:endParaRPr lang="en-AU" sz="4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9BEC3-D29B-19AB-91B0-6B0309F995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24751" cy="4351338"/>
          </a:xfrm>
        </p:spPr>
        <p:txBody>
          <a:bodyPr>
            <a:normAutofit/>
          </a:bodyPr>
          <a:lstStyle/>
          <a:p>
            <a:r>
              <a:rPr lang="en-AU" sz="2400" b="1" i="0" dirty="0">
                <a:effectLst/>
                <a:latin typeface="Söhne"/>
              </a:rPr>
              <a:t>Mean Absolute Error (MAE)</a:t>
            </a:r>
            <a:r>
              <a:rPr lang="en-AU" sz="2400" b="0" i="0" dirty="0">
                <a:effectLst/>
                <a:latin typeface="Söhne"/>
              </a:rPr>
              <a:t>: </a:t>
            </a:r>
          </a:p>
          <a:p>
            <a:pPr lvl="1"/>
            <a:r>
              <a:rPr lang="en-AU" sz="2000" b="0" i="0" dirty="0">
                <a:effectLst/>
                <a:latin typeface="Söhne"/>
              </a:rPr>
              <a:t>Commonly used for regression tasks, it measures the average absolute difference between predicted and actual values.</a:t>
            </a:r>
          </a:p>
          <a:p>
            <a:r>
              <a:rPr lang="en-AU" sz="2400" b="1" i="0" dirty="0">
                <a:effectLst/>
                <a:latin typeface="Söhne"/>
              </a:rPr>
              <a:t>Mean Squared Error (MSE)</a:t>
            </a:r>
            <a:r>
              <a:rPr lang="en-AU" sz="2400" b="0" i="0" dirty="0">
                <a:effectLst/>
                <a:latin typeface="Söhne"/>
              </a:rPr>
              <a:t>: </a:t>
            </a:r>
          </a:p>
          <a:p>
            <a:pPr lvl="1"/>
            <a:r>
              <a:rPr lang="en-AU" sz="2000" b="0" i="0" dirty="0">
                <a:effectLst/>
                <a:latin typeface="Söhne"/>
              </a:rPr>
              <a:t>Another regression metric, measures the average squared difference between predicted and actual values, giving higher weight to larger errors.</a:t>
            </a:r>
          </a:p>
          <a:p>
            <a:r>
              <a:rPr lang="en-AU" sz="2400" b="1" i="0" dirty="0">
                <a:effectLst/>
                <a:latin typeface="Söhne"/>
              </a:rPr>
              <a:t>Cross-Validation Scores</a:t>
            </a:r>
            <a:r>
              <a:rPr lang="en-AU" sz="2400" b="0" i="0" dirty="0">
                <a:effectLst/>
                <a:latin typeface="Söhne"/>
              </a:rPr>
              <a:t>: </a:t>
            </a:r>
          </a:p>
          <a:p>
            <a:pPr lvl="1"/>
            <a:r>
              <a:rPr lang="en-AU" sz="2000" b="0" i="0" dirty="0">
                <a:effectLst/>
                <a:latin typeface="Söhne"/>
              </a:rPr>
              <a:t>Assess model performance on multiple subsets of the data to check for overfitting and assess generalization.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B9907C-8E01-2369-CC66-8FBE3710D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11</a:t>
            </a:fld>
            <a:endParaRPr lang="en-GB"/>
          </a:p>
        </p:txBody>
      </p:sp>
      <p:pic>
        <p:nvPicPr>
          <p:cNvPr id="6" name="Picture 5" descr="A mathematical equations with numbers and symbols&#10;&#10;Description automatically generated">
            <a:extLst>
              <a:ext uri="{FF2B5EF4-FFF2-40B4-BE49-F238E27FC236}">
                <a16:creationId xmlns:a16="http://schemas.microsoft.com/office/drawing/2014/main" id="{C3E1F431-3938-1747-3F26-889F2FCED9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0134" y="1825625"/>
            <a:ext cx="3908335" cy="2403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752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BDAE7-55D4-FF06-EBA9-095AFCE65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4000" i="0" strike="noStrike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Metrics for Monitoring Model Performance</a:t>
            </a:r>
            <a:endParaRPr lang="en-AU" sz="4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B9907C-8E01-2369-CC66-8FBE3710D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12</a:t>
            </a:fld>
            <a:endParaRPr lang="en-GB" dirty="0"/>
          </a:p>
        </p:txBody>
      </p:sp>
      <p:pic>
        <p:nvPicPr>
          <p:cNvPr id="6" name="Picture 5" descr="A mathematical equations with numbers and symbols&#10;&#10;Description automatically generated">
            <a:extLst>
              <a:ext uri="{FF2B5EF4-FFF2-40B4-BE49-F238E27FC236}">
                <a16:creationId xmlns:a16="http://schemas.microsoft.com/office/drawing/2014/main" id="{C3E1F431-3938-1747-3F26-889F2FCED9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0134" y="1825625"/>
            <a:ext cx="3908335" cy="2403626"/>
          </a:xfrm>
          <a:prstGeom prst="rect">
            <a:avLst/>
          </a:prstGeom>
        </p:spPr>
      </p:pic>
      <p:pic>
        <p:nvPicPr>
          <p:cNvPr id="9" name="Picture 8" descr="A line graph with dots and circles&#10;&#10;Description automatically generated">
            <a:extLst>
              <a:ext uri="{FF2B5EF4-FFF2-40B4-BE49-F238E27FC236}">
                <a16:creationId xmlns:a16="http://schemas.microsoft.com/office/drawing/2014/main" id="{146C3544-0A5A-0239-3C9F-6890C23312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807" y="1981616"/>
            <a:ext cx="6297099" cy="477790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76984D4-DADA-60E9-330F-157CA9EAF67F}"/>
              </a:ext>
            </a:extLst>
          </p:cNvPr>
          <p:cNvSpPr txBox="1"/>
          <p:nvPr/>
        </p:nvSpPr>
        <p:spPr>
          <a:xfrm>
            <a:off x="6342553" y="4538748"/>
            <a:ext cx="5726761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Example regression problem: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Dots are actual data points.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Line is the learned function (“line of best fit”).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X are the intercepts.</a:t>
            </a:r>
          </a:p>
        </p:txBody>
      </p:sp>
    </p:spTree>
    <p:extLst>
      <p:ext uri="{BB962C8B-B14F-4D97-AF65-F5344CB8AC3E}">
        <p14:creationId xmlns:p14="http://schemas.microsoft.com/office/powerpoint/2010/main" val="32515173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BDAE7-55D4-FF06-EBA9-095AFCE65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4000" i="0" strike="noStrike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Metrics for Monitoring Model Performance</a:t>
            </a:r>
            <a:endParaRPr lang="en-AU" sz="4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B9907C-8E01-2369-CC66-8FBE3710D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13</a:t>
            </a:fld>
            <a:endParaRPr lang="en-GB"/>
          </a:p>
        </p:txBody>
      </p:sp>
      <p:pic>
        <p:nvPicPr>
          <p:cNvPr id="6" name="Picture 5" descr="A mathematical equations with numbers and symbols&#10;&#10;Description automatically generated">
            <a:extLst>
              <a:ext uri="{FF2B5EF4-FFF2-40B4-BE49-F238E27FC236}">
                <a16:creationId xmlns:a16="http://schemas.microsoft.com/office/drawing/2014/main" id="{C3E1F431-3938-1747-3F26-889F2FCED9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0134" y="1825625"/>
            <a:ext cx="3908335" cy="2403626"/>
          </a:xfrm>
          <a:prstGeom prst="rect">
            <a:avLst/>
          </a:prstGeom>
        </p:spPr>
      </p:pic>
      <p:pic>
        <p:nvPicPr>
          <p:cNvPr id="4" name="Picture 3" descr="A diagram of a line graph&#10;&#10;Description automatically generated">
            <a:extLst>
              <a:ext uri="{FF2B5EF4-FFF2-40B4-BE49-F238E27FC236}">
                <a16:creationId xmlns:a16="http://schemas.microsoft.com/office/drawing/2014/main" id="{0E0EA039-9E94-2F76-0A17-B0DF9986EC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410" y="2045425"/>
            <a:ext cx="7010912" cy="48125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1A91D6-3046-A492-5918-B05342818529}"/>
              </a:ext>
            </a:extLst>
          </p:cNvPr>
          <p:cNvSpPr txBox="1"/>
          <p:nvPr/>
        </p:nvSpPr>
        <p:spPr>
          <a:xfrm>
            <a:off x="6521229" y="4700528"/>
            <a:ext cx="516627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Errors </a:t>
            </a:r>
            <a:r>
              <a:rPr lang="en-US" b="1" dirty="0"/>
              <a:t>e</a:t>
            </a:r>
            <a:r>
              <a:rPr lang="en-US" dirty="0"/>
              <a:t> are the differences between the actual </a:t>
            </a:r>
            <a:r>
              <a:rPr lang="en-US" b="1" dirty="0"/>
              <a:t>y</a:t>
            </a:r>
            <a:r>
              <a:rPr lang="en-US" dirty="0"/>
              <a:t> and the predicted </a:t>
            </a:r>
            <a:r>
              <a:rPr lang="cy-GB" b="1" dirty="0"/>
              <a:t>ŷ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You can see how the MSE </a:t>
            </a:r>
            <a:r>
              <a:rPr lang="en-US" dirty="0" err="1"/>
              <a:t>penalises</a:t>
            </a:r>
            <a:r>
              <a:rPr lang="en-US" dirty="0"/>
              <a:t> larger errors.</a:t>
            </a:r>
          </a:p>
        </p:txBody>
      </p:sp>
    </p:spTree>
    <p:extLst>
      <p:ext uri="{BB962C8B-B14F-4D97-AF65-F5344CB8AC3E}">
        <p14:creationId xmlns:p14="http://schemas.microsoft.com/office/powerpoint/2010/main" val="39457944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9013E-51FC-F146-BB1D-7728E3484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The machine learning lifecycle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D8E87-485E-A44A-83CF-B5EB0412E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b="0" dirty="0">
                <a:latin typeface="Söhne"/>
              </a:rPr>
              <a:t>Prepare the environment</a:t>
            </a:r>
            <a:endParaRPr lang="en-AU" dirty="0"/>
          </a:p>
          <a:p>
            <a:pPr marL="514350" indent="-514350">
              <a:buFont typeface="+mj-lt"/>
              <a:buAutoNum type="arabicPeriod"/>
            </a:pPr>
            <a:r>
              <a:rPr lang="en-AU" b="0" dirty="0">
                <a:latin typeface="Söhne"/>
              </a:rPr>
              <a:t>Define the task and prepare the data</a:t>
            </a:r>
            <a:endParaRPr lang="en-AU" dirty="0"/>
          </a:p>
          <a:p>
            <a:pPr marL="514350" indent="-514350">
              <a:buFont typeface="+mj-lt"/>
              <a:buAutoNum type="arabicPeriod"/>
            </a:pPr>
            <a:r>
              <a:rPr lang="en-AU" b="0" dirty="0">
                <a:latin typeface="Söhne"/>
              </a:rPr>
              <a:t>Select the model</a:t>
            </a:r>
            <a:endParaRPr lang="en-AU" dirty="0"/>
          </a:p>
          <a:p>
            <a:pPr marL="514350" indent="-514350">
              <a:buFont typeface="+mj-lt"/>
              <a:buAutoNum type="arabicPeriod"/>
            </a:pPr>
            <a:r>
              <a:rPr lang="en-AU" b="0" dirty="0">
                <a:latin typeface="Söhne"/>
              </a:rPr>
              <a:t>Preprocess the data</a:t>
            </a:r>
            <a:endParaRPr lang="en-AU" dirty="0"/>
          </a:p>
          <a:p>
            <a:pPr marL="514350" indent="-514350">
              <a:buFont typeface="+mj-lt"/>
              <a:buAutoNum type="arabicPeriod"/>
            </a:pPr>
            <a:r>
              <a:rPr lang="en-AU" b="0" dirty="0">
                <a:latin typeface="Söhne"/>
              </a:rPr>
              <a:t>Train and configure hyperparameters</a:t>
            </a:r>
            <a:endParaRPr lang="en-AU" dirty="0"/>
          </a:p>
          <a:p>
            <a:pPr marL="514350" indent="-514350">
              <a:buFont typeface="+mj-lt"/>
              <a:buAutoNum type="arabicPeriod"/>
            </a:pPr>
            <a:r>
              <a:rPr lang="en-AU" b="0" dirty="0">
                <a:latin typeface="Söhne"/>
              </a:rPr>
              <a:t>Evaluate the model</a:t>
            </a:r>
            <a:endParaRPr lang="en-AU" dirty="0"/>
          </a:p>
          <a:p>
            <a:pPr marL="514350" indent="-514350">
              <a:buFont typeface="+mj-lt"/>
              <a:buAutoNum type="arabicPeriod"/>
            </a:pPr>
            <a:r>
              <a:rPr lang="en-AU" b="0" dirty="0">
                <a:latin typeface="Söhne"/>
              </a:rPr>
              <a:t>Deploy the model and run inference</a:t>
            </a:r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88F32C-9A06-544D-B91A-956C227FE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72821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BDAE7-55D4-FF06-EBA9-095AFCE65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4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</a:t>
            </a:r>
            <a:r>
              <a:rPr lang="en-AU" sz="4000" i="0" strike="noStrike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wnership of the ML lifecycle</a:t>
            </a:r>
            <a:endParaRPr lang="en-AU" sz="4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9BEC3-D29B-19AB-91B0-6B0309F99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b="1" dirty="0">
                <a:latin typeface="Söhne"/>
              </a:rPr>
              <a:t>Demo 1: consume a trained capability</a:t>
            </a:r>
            <a:endParaRPr lang="en-AU" dirty="0"/>
          </a:p>
          <a:p>
            <a:pPr lvl="1"/>
            <a:r>
              <a:rPr lang="en-AU" b="0" dirty="0">
                <a:latin typeface="Söhne"/>
              </a:rPr>
              <a:t>Rekognition: AWS owns the model lifecycle; we supply the input and use the result.</a:t>
            </a:r>
            <a:endParaRPr lang="en-AU" dirty="0"/>
          </a:p>
          <a:p>
            <a:r>
              <a:rPr lang="en-AU" b="1" dirty="0">
                <a:latin typeface="Söhne"/>
              </a:rPr>
              <a:t>Demo 2: configure a general-purpose model</a:t>
            </a:r>
            <a:endParaRPr lang="en-AU" dirty="0"/>
          </a:p>
          <a:p>
            <a:pPr lvl="1"/>
            <a:r>
              <a:rPr lang="en-AU" b="0" dirty="0">
                <a:latin typeface="Söhne"/>
              </a:rPr>
              <a:t>Bedrock: we select a model, design prompts, and evaluate its responses.</a:t>
            </a:r>
            <a:endParaRPr lang="en-AU" dirty="0"/>
          </a:p>
          <a:p>
            <a:r>
              <a:rPr lang="en-AU" b="1" dirty="0">
                <a:latin typeface="Söhne"/>
              </a:rPr>
              <a:t>Demo 3: build and operate a custom model</a:t>
            </a:r>
            <a:endParaRPr lang="en-AU" dirty="0"/>
          </a:p>
          <a:p>
            <a:pPr lvl="1"/>
            <a:r>
              <a:rPr lang="en-AU" b="0" dirty="0">
                <a:latin typeface="Söhne"/>
              </a:rPr>
              <a:t>SageMaker AI: we take responsibility for data, training, evaluation, and deployment.</a:t>
            </a:r>
            <a:br>
              <a:rPr lang="en-AU" b="0" dirty="0">
                <a:latin typeface="Söhne"/>
              </a:rPr>
            </a:br>
            <a:endParaRPr lang="en-AU" dirty="0"/>
          </a:p>
          <a:p>
            <a:pPr marL="0" indent="0">
              <a:buNone/>
            </a:pPr>
            <a:r>
              <a:rPr lang="en-AU" sz="2400" dirty="0">
                <a:latin typeface="Söhne"/>
              </a:rPr>
              <a:t>Across the demos, more of the ML lifecycle becomes our responsibility.</a:t>
            </a:r>
            <a:endParaRPr lang="en-AU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B9907C-8E01-2369-CC66-8FBE3710D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1772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BDAE7-55D4-FF06-EBA9-095AFCE65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Demo 1: Consume a managed AI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9BEC3-D29B-19AB-91B0-6B0309F99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250" b="1" dirty="0">
                <a:latin typeface="Söhne"/>
              </a:rPr>
              <a:t>Architecture: S3, Lambda, Rekognition, DynamoDB, CloudWatch.</a:t>
            </a:r>
            <a:endParaRPr lang="en-AU" sz="2250" dirty="0"/>
          </a:p>
          <a:p>
            <a:r>
              <a:rPr lang="en-AU" sz="2200" b="0" dirty="0">
                <a:latin typeface="Söhne"/>
              </a:rPr>
              <a:t>Demo action: upload an image to S3 and inspect the labels stored by the triggered workflow.</a:t>
            </a:r>
            <a:endParaRPr lang="en-AU" sz="2200" dirty="0"/>
          </a:p>
          <a:p>
            <a:r>
              <a:rPr lang="en-AU" sz="2200" b="0" dirty="0">
                <a:latin typeface="Söhne"/>
              </a:rPr>
              <a:t>We own: the event flow, application logic, data storage, and interpretation of the result.</a:t>
            </a:r>
            <a:endParaRPr lang="en-AU" sz="2200" dirty="0"/>
          </a:p>
          <a:p>
            <a:r>
              <a:rPr lang="en-AU" sz="2200" b="0" dirty="0">
                <a:latin typeface="Söhne"/>
              </a:rPr>
              <a:t>AWS manages: model development, training, tuning, hosting, and scaling.</a:t>
            </a:r>
            <a:endParaRPr lang="en-AU" sz="2200" dirty="0"/>
          </a:p>
          <a:p>
            <a:r>
              <a:rPr lang="en-AU" sz="2200" b="0" dirty="0">
                <a:latin typeface="Söhne"/>
              </a:rPr>
              <a:t>Lifecycle view: we begin near deployment and inference; most earlier stages are hidden.</a:t>
            </a:r>
            <a:endParaRPr lang="en-AU" sz="2200" dirty="0"/>
          </a:p>
          <a:p>
            <a:r>
              <a:rPr lang="en-AU" sz="2250" b="1" dirty="0">
                <a:latin typeface="Söhne"/>
              </a:rPr>
              <a:t>Key idea: We are consuming a trained capability, not building a model.</a:t>
            </a:r>
            <a:endParaRPr lang="en-AU" sz="225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B9907C-8E01-2369-CC66-8FBE3710D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99761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49560-7780-E39E-C00C-5ED7673C0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0" i="0" dirty="0">
                <a:solidFill>
                  <a:srgbClr val="242424"/>
                </a:solidFill>
                <a:effectLst/>
              </a:rPr>
              <a:t>Foundation models and prompting</a:t>
            </a:r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B10B33-6E8B-5E03-9649-20D0EE900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17</a:t>
            </a:fld>
            <a:endParaRPr lang="en-GB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67CD57E-26AF-097E-5C84-736405F9C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005945" cy="4667250"/>
          </a:xfrm>
        </p:spPr>
        <p:txBody>
          <a:bodyPr>
            <a:normAutofit/>
          </a:bodyPr>
          <a:lstStyle/>
          <a:p>
            <a:r>
              <a:rPr lang="en-AU" sz="2250" b="0" dirty="0">
                <a:latin typeface="Söhne"/>
              </a:rPr>
              <a:t>Transformers use attention to model relationships across a sequence.</a:t>
            </a:r>
            <a:endParaRPr lang="en-AU" sz="2250"/>
          </a:p>
          <a:p>
            <a:r>
              <a:rPr lang="en-AU" sz="2250" b="0" dirty="0">
                <a:latin typeface="Söhne"/>
              </a:rPr>
              <a:t>Foundation models train on broad datasets and can support many downstream tasks.</a:t>
            </a:r>
            <a:endParaRPr lang="en-AU" sz="2250"/>
          </a:p>
          <a:p>
            <a:r>
              <a:rPr lang="en-AU" sz="2250" b="0" dirty="0">
                <a:latin typeface="Söhne"/>
              </a:rPr>
              <a:t>Applications usually begin by selecting a model and designing prompts.</a:t>
            </a:r>
            <a:endParaRPr lang="en-AU" sz="2250"/>
          </a:p>
          <a:p>
            <a:r>
              <a:rPr lang="en-AU" sz="2250" b="1" dirty="0">
                <a:latin typeface="Söhne"/>
              </a:rPr>
              <a:t>Prompting changes the model's instructions and context; it does not change the model weights.</a:t>
            </a:r>
            <a:endParaRPr lang="en-AU" sz="225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A54A5C1-92D8-ADEF-9200-76E9AED048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620" y="1825625"/>
            <a:ext cx="4807671" cy="3242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99567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9013E-51FC-F146-BB1D-7728E3484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Demo 2: Configure a foundation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D8E87-485E-A44A-83CF-B5EB0412E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2979"/>
            <a:ext cx="10515600" cy="4673984"/>
          </a:xfrm>
        </p:spPr>
        <p:txBody>
          <a:bodyPr>
            <a:normAutofit/>
          </a:bodyPr>
          <a:lstStyle/>
          <a:p>
            <a:r>
              <a:rPr lang="en-AU" sz="2250" b="1" dirty="0">
                <a:latin typeface="Söhne"/>
              </a:rPr>
              <a:t>Application path: client request, API Gateway, Lambda, Amazon Bedrock.</a:t>
            </a:r>
            <a:endParaRPr lang="en-AU" sz="2250"/>
          </a:p>
          <a:p>
            <a:r>
              <a:rPr lang="en-AU" sz="2250" b="0" dirty="0">
                <a:latin typeface="Söhne"/>
              </a:rPr>
              <a:t>We own: model choice, prompt design, application logic, and response evaluation.</a:t>
            </a:r>
            <a:endParaRPr lang="en-AU" sz="2250"/>
          </a:p>
          <a:p>
            <a:r>
              <a:rPr lang="en-AU" sz="2250" b="0" dirty="0">
                <a:latin typeface="Söhne"/>
              </a:rPr>
              <a:t>AWS manages: pre-training, model hosting, infrastructure, and scaling.</a:t>
            </a:r>
            <a:endParaRPr lang="en-AU" sz="2250"/>
          </a:p>
          <a:p>
            <a:r>
              <a:rPr lang="en-AU" sz="2150" b="0" dirty="0">
                <a:latin typeface="Söhne"/>
              </a:rPr>
              <a:t>Lifecycle view: model selection and evaluation become more visible, but we still do not train the model.</a:t>
            </a:r>
            <a:endParaRPr lang="en-AU" sz="2150"/>
          </a:p>
          <a:p>
            <a:r>
              <a:rPr lang="en-AU" sz="2150" b="1" dirty="0">
                <a:latin typeface="Söhne"/>
              </a:rPr>
              <a:t>Key idea: A foundation model is flexible, but it remains a managed component in this demo.</a:t>
            </a:r>
            <a:endParaRPr lang="en-AU" sz="215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88F32C-9A06-544D-B91A-956C227FE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24261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9013E-51FC-F146-BB1D-7728E3484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Demo 3: Build and operate a custom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D8E87-485E-A44A-83CF-B5EB0412E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6041"/>
            <a:ext cx="10515600" cy="4673984"/>
          </a:xfrm>
        </p:spPr>
        <p:txBody>
          <a:bodyPr>
            <a:normAutofit/>
          </a:bodyPr>
          <a:lstStyle/>
          <a:p>
            <a:r>
              <a:rPr lang="en-AU" sz="2200" b="1" dirty="0">
                <a:latin typeface="Söhne"/>
              </a:rPr>
              <a:t>Workflow: S3, SageMaker hyperparameter tuning, model artifact, endpoint.</a:t>
            </a:r>
            <a:endParaRPr lang="en-AU" sz="2200"/>
          </a:p>
          <a:p>
            <a:r>
              <a:rPr lang="en-AU" sz="2200" b="0" dirty="0">
                <a:latin typeface="Söhne"/>
              </a:rPr>
              <a:t>Store prepared training and validation data in S3.</a:t>
            </a:r>
            <a:endParaRPr lang="en-AU" sz="2200"/>
          </a:p>
          <a:p>
            <a:r>
              <a:rPr lang="en-AU" sz="2200" b="0" dirty="0">
                <a:latin typeface="Söhne"/>
              </a:rPr>
              <a:t>Launch several training jobs across a hyperparameter search space.</a:t>
            </a:r>
            <a:endParaRPr lang="en-AU" sz="2200"/>
          </a:p>
          <a:p>
            <a:r>
              <a:rPr lang="en-AU" sz="2200" b="0" dirty="0">
                <a:latin typeface="Söhne"/>
              </a:rPr>
              <a:t>Compare jobs using one objective metric and select the best model artifact.</a:t>
            </a:r>
            <a:endParaRPr lang="en-AU" sz="2200"/>
          </a:p>
          <a:p>
            <a:r>
              <a:rPr lang="en-AU" sz="2200" b="0" dirty="0">
                <a:latin typeface="Söhne"/>
              </a:rPr>
              <a:t>Deploy the selected model to an endpoint and invoke it with new data.</a:t>
            </a:r>
            <a:endParaRPr lang="en-AU" sz="2200"/>
          </a:p>
          <a:p>
            <a:r>
              <a:rPr lang="en-AU" sz="2050" b="1" dirty="0">
                <a:latin typeface="Söhne"/>
              </a:rPr>
              <a:t>Lifecycle view: We now own the decisions across the complete ML lifecycle.</a:t>
            </a:r>
            <a:endParaRPr lang="en-AU" sz="205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88F32C-9A06-544D-B91A-956C227FE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23778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9013E-51FC-F146-BB1D-7728E3484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Preparing your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D8E87-485E-A44A-83CF-B5EB0412E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6041"/>
            <a:ext cx="10515600" cy="4673984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AU" b="1" i="0" dirty="0">
                <a:effectLst/>
              </a:rPr>
              <a:t>Hardware and Software Requirements:</a:t>
            </a:r>
            <a:r>
              <a:rPr lang="en-AU" b="0" i="0" dirty="0">
                <a:effectLst/>
              </a:rPr>
              <a:t> Ensure you have access to a suitable environment for training. </a:t>
            </a:r>
          </a:p>
          <a:p>
            <a:pPr lvl="1"/>
            <a:r>
              <a:rPr lang="en-AU" i="0" dirty="0">
                <a:effectLst/>
              </a:rPr>
              <a:t>AWS EC2 Instances, S3 buckets, EBS</a:t>
            </a:r>
            <a:r>
              <a:rPr lang="en-AU" dirty="0"/>
              <a:t>, etc., and associated policies.</a:t>
            </a:r>
            <a:r>
              <a:rPr lang="en-AU" i="0" dirty="0">
                <a:effectLst/>
              </a:rPr>
              <a:t> </a:t>
            </a:r>
          </a:p>
          <a:p>
            <a:pPr lvl="1"/>
            <a:r>
              <a:rPr lang="en-AU" i="0" dirty="0">
                <a:effectLst/>
              </a:rPr>
              <a:t>Amazon Elastic Inference: Elastic Inference allows you to attach low-cost GPU-powered inference acceleration to your EC2 instances.</a:t>
            </a:r>
          </a:p>
          <a:p>
            <a:pPr lvl="1"/>
            <a:r>
              <a:rPr lang="en-AU" i="0" dirty="0">
                <a:effectLst/>
              </a:rPr>
              <a:t>Amazon CloudWatch: CloudWatch provides monitoring and logging</a:t>
            </a:r>
          </a:p>
          <a:p>
            <a:pPr algn="l"/>
            <a:r>
              <a:rPr lang="en-AU" b="1" i="0" dirty="0">
                <a:effectLst/>
              </a:rPr>
              <a:t>Install Required Libraries:</a:t>
            </a:r>
            <a:r>
              <a:rPr lang="en-AU" dirty="0"/>
              <a:t> </a:t>
            </a:r>
            <a:r>
              <a:rPr lang="en-AU" i="0" dirty="0">
                <a:effectLst/>
              </a:rPr>
              <a:t>Use Pip to install the necessary Python libraries. Common libraries:</a:t>
            </a:r>
          </a:p>
          <a:p>
            <a:pPr lvl="1"/>
            <a:r>
              <a:rPr lang="en-AU" b="0" i="0" dirty="0">
                <a:effectLst/>
              </a:rPr>
              <a:t>NumPy and Pandas</a:t>
            </a:r>
            <a:r>
              <a:rPr lang="en-AU" dirty="0"/>
              <a:t> (data manipulation)</a:t>
            </a:r>
            <a:endParaRPr lang="en-AU" b="0" i="0" dirty="0">
              <a:effectLst/>
            </a:endParaRPr>
          </a:p>
          <a:p>
            <a:pPr lvl="1"/>
            <a:r>
              <a:rPr lang="en-AU" b="0" i="0" dirty="0">
                <a:effectLst/>
              </a:rPr>
              <a:t>Matplotlib and Seaborn (visualisation)</a:t>
            </a:r>
          </a:p>
          <a:p>
            <a:pPr lvl="1"/>
            <a:r>
              <a:rPr lang="en-AU" b="0" i="0" dirty="0">
                <a:effectLst/>
              </a:rPr>
              <a:t>Scikit-learn (for ML) TensorFlow or </a:t>
            </a:r>
            <a:r>
              <a:rPr lang="en-AU" b="0" i="0" dirty="0" err="1">
                <a:effectLst/>
              </a:rPr>
              <a:t>PyTorch</a:t>
            </a:r>
            <a:r>
              <a:rPr lang="en-AU" b="0" i="0" dirty="0">
                <a:effectLst/>
              </a:rPr>
              <a:t> (for deep learning).</a:t>
            </a:r>
            <a:endParaRPr lang="en-AU" i="0" dirty="0">
              <a:effectLst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88F32C-9A06-544D-B91A-956C227FE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25097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9013E-51FC-F146-BB1D-7728E3484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Task Definition and Data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D8E87-485E-A44A-83CF-B5EB0412E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6041"/>
            <a:ext cx="10515600" cy="4673984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AU" b="1" i="0" dirty="0">
                <a:effectLst/>
              </a:rPr>
              <a:t>Task Definition:</a:t>
            </a:r>
          </a:p>
          <a:p>
            <a:pPr lvl="1"/>
            <a:r>
              <a:rPr lang="en-AU" dirty="0"/>
              <a:t>What is the problem to solve, and what business logic do we need to do so?</a:t>
            </a:r>
          </a:p>
          <a:p>
            <a:pPr lvl="1"/>
            <a:r>
              <a:rPr lang="en-AU" i="0" dirty="0">
                <a:effectLst/>
              </a:rPr>
              <a:t>Data Domain: </a:t>
            </a:r>
            <a:r>
              <a:rPr lang="en-AU" dirty="0"/>
              <a:t>i</a:t>
            </a:r>
            <a:r>
              <a:rPr lang="en-AU" i="0" dirty="0">
                <a:effectLst/>
              </a:rPr>
              <a:t>mage, text, audio, tabular?</a:t>
            </a:r>
          </a:p>
          <a:p>
            <a:pPr lvl="1"/>
            <a:r>
              <a:rPr lang="en-AU" dirty="0"/>
              <a:t>Task: c</a:t>
            </a:r>
            <a:r>
              <a:rPr lang="en-AU" i="0" dirty="0">
                <a:effectLst/>
              </a:rPr>
              <a:t>lassification</a:t>
            </a:r>
            <a:r>
              <a:rPr lang="en-AU" dirty="0"/>
              <a:t>,</a:t>
            </a:r>
            <a:r>
              <a:rPr lang="en-AU" i="0" dirty="0">
                <a:effectLst/>
              </a:rPr>
              <a:t> </a:t>
            </a:r>
            <a:r>
              <a:rPr lang="en-AU" dirty="0"/>
              <a:t>r</a:t>
            </a:r>
            <a:r>
              <a:rPr lang="en-AU" i="0" dirty="0">
                <a:effectLst/>
              </a:rPr>
              <a:t>egression, generati</a:t>
            </a:r>
            <a:r>
              <a:rPr lang="en-AU" dirty="0"/>
              <a:t>ve outcomes?</a:t>
            </a:r>
            <a:endParaRPr lang="en-AU" i="0" dirty="0"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AU" b="1" i="0" dirty="0">
                <a:effectLst/>
              </a:rPr>
              <a:t>Data Collection:</a:t>
            </a:r>
          </a:p>
          <a:p>
            <a:pPr lvl="1"/>
            <a:r>
              <a:rPr lang="en-AU" i="0" dirty="0">
                <a:effectLst/>
              </a:rPr>
              <a:t>Identify and gather relevant data sources (e.g., databases, APIs, web scraping).</a:t>
            </a:r>
          </a:p>
          <a:p>
            <a:pPr lvl="1"/>
            <a:r>
              <a:rPr lang="en-AU" i="0" dirty="0">
                <a:effectLst/>
              </a:rPr>
              <a:t>Ensure the data is clean, accurate, and representative of the problem domain.</a:t>
            </a:r>
          </a:p>
          <a:p>
            <a:pPr lvl="1"/>
            <a:r>
              <a:rPr lang="en-AU" i="0" dirty="0">
                <a:effectLst/>
              </a:rPr>
              <a:t>(Try to) collect sufficient data to train robust models, considering the complexity of the task.</a:t>
            </a:r>
          </a:p>
          <a:p>
            <a:pPr lvl="1"/>
            <a:endParaRPr lang="en-AU" i="0" dirty="0">
              <a:effectLst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88F32C-9A06-544D-B91A-956C227FE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22837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9013E-51FC-F146-BB1D-7728E3484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Model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D8E87-485E-A44A-83CF-B5EB0412E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6041"/>
            <a:ext cx="10515600" cy="4673984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AU" b="1" i="0" dirty="0">
                <a:effectLst/>
              </a:rPr>
              <a:t>What model are we going to use?</a:t>
            </a:r>
          </a:p>
          <a:p>
            <a:r>
              <a:rPr lang="en-AU" dirty="0"/>
              <a:t>Certain ML/AI models work best in specific contexts (below is a generalisation):</a:t>
            </a:r>
          </a:p>
          <a:p>
            <a:pPr lvl="1"/>
            <a:r>
              <a:rPr lang="en-AU" i="0" dirty="0">
                <a:effectLst/>
              </a:rPr>
              <a:t>Convolution Neural Networks (CNNs) are ideal for images.</a:t>
            </a:r>
          </a:p>
          <a:p>
            <a:pPr lvl="1"/>
            <a:r>
              <a:rPr lang="en-AU" i="0" dirty="0">
                <a:effectLst/>
              </a:rPr>
              <a:t>Sequence models (LSTM, RNN, Transformers) are ideal for text.</a:t>
            </a:r>
          </a:p>
          <a:p>
            <a:pPr lvl="1"/>
            <a:r>
              <a:rPr lang="en-AU" i="0" dirty="0">
                <a:effectLst/>
              </a:rPr>
              <a:t>Tree-based models (Random Forests, Boosting models) are suitable for tabular, non-structured data.</a:t>
            </a:r>
          </a:p>
          <a:p>
            <a:r>
              <a:rPr lang="en-AU" b="1" dirty="0"/>
              <a:t>Evaluate Costs Involved</a:t>
            </a:r>
          </a:p>
          <a:p>
            <a:pPr lvl="1"/>
            <a:r>
              <a:rPr lang="en-AU" dirty="0"/>
              <a:t>Select the size of the model that is appropriate for the scale of your data, and your budget.</a:t>
            </a:r>
          </a:p>
          <a:p>
            <a:pPr lvl="1"/>
            <a:r>
              <a:rPr lang="en-AU" i="0" dirty="0">
                <a:effectLst/>
              </a:rPr>
              <a:t>More data = larger models = higher costs.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88F32C-9A06-544D-B91A-956C227FE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35724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9013E-51FC-F146-BB1D-7728E3484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D8E87-485E-A44A-83CF-B5EB0412E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6041"/>
            <a:ext cx="10515600" cy="4673984"/>
          </a:xfrm>
        </p:spPr>
        <p:txBody>
          <a:bodyPr>
            <a:normAutofit/>
          </a:bodyPr>
          <a:lstStyle/>
          <a:p>
            <a:r>
              <a:rPr lang="en-AU" b="1" dirty="0"/>
              <a:t>Steps needed to prepare data for ML</a:t>
            </a:r>
          </a:p>
          <a:p>
            <a:pPr lvl="1"/>
            <a:r>
              <a:rPr lang="en-AU" dirty="0"/>
              <a:t>Handling</a:t>
            </a:r>
            <a:r>
              <a:rPr lang="en-AU" i="0" dirty="0">
                <a:effectLst/>
              </a:rPr>
              <a:t> missing values via imputation (replace missing values with substitutes),  r</a:t>
            </a:r>
            <a:r>
              <a:rPr lang="en-AU" dirty="0"/>
              <a:t>emoving the datapoint itself, etc.</a:t>
            </a:r>
          </a:p>
          <a:p>
            <a:pPr lvl="1"/>
            <a:r>
              <a:rPr lang="en-AU" dirty="0">
                <a:latin typeface="Söhne"/>
              </a:rPr>
              <a:t>Ensure features are on a comparable scale, crucial for many machine learning algorithms. </a:t>
            </a:r>
          </a:p>
          <a:p>
            <a:pPr lvl="2"/>
            <a:r>
              <a:rPr lang="en-AU" dirty="0">
                <a:latin typeface="Söhne"/>
              </a:rPr>
              <a:t>Standardization: Centres data by removing the mean and scales it by dividing it by the standard deviation. </a:t>
            </a:r>
          </a:p>
          <a:p>
            <a:pPr lvl="2"/>
            <a:r>
              <a:rPr lang="en-AU" dirty="0">
                <a:latin typeface="Söhne"/>
              </a:rPr>
              <a:t>Normalization: Rescales data to a fixed range, typically [0, 1], which is helpful for algorithms like neural networks that are sensitive to the scale of input data.</a:t>
            </a:r>
            <a:endParaRPr lang="en-AU" b="1" dirty="0">
              <a:latin typeface="Söhne"/>
            </a:endParaRPr>
          </a:p>
          <a:p>
            <a:r>
              <a:rPr lang="en-AU" b="1" i="0" dirty="0">
                <a:effectLst/>
              </a:rPr>
              <a:t>Some </a:t>
            </a:r>
            <a:r>
              <a:rPr lang="en-AU" b="1" i="0" dirty="0" err="1">
                <a:effectLst/>
              </a:rPr>
              <a:t>preprocessing</a:t>
            </a:r>
            <a:r>
              <a:rPr lang="en-AU" b="1" i="0" dirty="0">
                <a:effectLst/>
              </a:rPr>
              <a:t> steps are data format-specific:</a:t>
            </a:r>
          </a:p>
          <a:p>
            <a:pPr lvl="1"/>
            <a:r>
              <a:rPr lang="en-AU" dirty="0"/>
              <a:t>Text: tokenisation, stop-word removal, stemming/lemmatization, etc. </a:t>
            </a:r>
          </a:p>
          <a:p>
            <a:pPr lvl="1"/>
            <a:r>
              <a:rPr lang="en-AU" i="0" dirty="0">
                <a:effectLst/>
              </a:rPr>
              <a:t>Tabular Data: encoding categorical values, etc.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88F32C-9A06-544D-B91A-956C227FE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60157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9013E-51FC-F146-BB1D-7728E3484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</a:t>
            </a:r>
            <a:r>
              <a:rPr lang="en-AU" dirty="0"/>
              <a:t>Training and </a:t>
            </a:r>
            <a:r>
              <a:rPr lang="en-AU" dirty="0" err="1"/>
              <a:t>Hyperparameterisation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D8E87-485E-A44A-83CF-B5EB0412E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6041"/>
            <a:ext cx="10515600" cy="4926834"/>
          </a:xfrm>
        </p:spPr>
        <p:txBody>
          <a:bodyPr>
            <a:normAutofit/>
          </a:bodyPr>
          <a:lstStyle/>
          <a:p>
            <a:r>
              <a:rPr lang="en-AU" i="0" dirty="0">
                <a:effectLst/>
              </a:rPr>
              <a:t>Model ingests your data and extracts patterns/knowledge from it, and updates these beliefs iteratively as more data is feed </a:t>
            </a:r>
            <a:r>
              <a:rPr lang="en-AU" dirty="0"/>
              <a:t>through.	</a:t>
            </a:r>
          </a:p>
          <a:p>
            <a:r>
              <a:rPr lang="en-AU" i="0" dirty="0">
                <a:effectLst/>
              </a:rPr>
              <a:t>Important considerations:</a:t>
            </a:r>
          </a:p>
          <a:p>
            <a:pPr lvl="1"/>
            <a:r>
              <a:rPr lang="en-AU" b="1" i="0" dirty="0">
                <a:effectLst/>
              </a:rPr>
              <a:t>Loss Function:</a:t>
            </a:r>
            <a:r>
              <a:rPr lang="en-AU" b="0" i="0" dirty="0">
                <a:effectLst/>
              </a:rPr>
              <a:t> Define a loss function that calculates the error between model predictions and ground truth.</a:t>
            </a:r>
          </a:p>
          <a:p>
            <a:pPr lvl="1"/>
            <a:r>
              <a:rPr lang="en-AU" b="1" i="0" dirty="0">
                <a:effectLst/>
              </a:rPr>
              <a:t>Optimizer:</a:t>
            </a:r>
            <a:r>
              <a:rPr lang="en-AU" b="0" i="0" dirty="0">
                <a:effectLst/>
              </a:rPr>
              <a:t> Choose an optimizer such as Adam or RMSprop to update the model's weights during training.</a:t>
            </a:r>
          </a:p>
          <a:p>
            <a:pPr lvl="1"/>
            <a:r>
              <a:rPr lang="en-AU" b="1" i="0" dirty="0">
                <a:effectLst/>
              </a:rPr>
              <a:t>Training Loop:</a:t>
            </a:r>
            <a:r>
              <a:rPr lang="en-AU" b="0" i="0" dirty="0">
                <a:effectLst/>
              </a:rPr>
              <a:t> Implement a training loop that iterates through your dataset. </a:t>
            </a:r>
          </a:p>
          <a:p>
            <a:pPr lvl="1"/>
            <a:r>
              <a:rPr lang="en-AU" b="1" i="0" dirty="0">
                <a:effectLst/>
              </a:rPr>
              <a:t>Validation:</a:t>
            </a:r>
            <a:r>
              <a:rPr lang="en-AU" b="0" i="0" dirty="0">
                <a:effectLst/>
              </a:rPr>
              <a:t> Periodically evaluate your model on a validation dataset to check its performance during training.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88F32C-9A06-544D-B91A-956C227FE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600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9013E-51FC-F146-BB1D-7728E3484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</a:t>
            </a:r>
            <a:r>
              <a:rPr lang="en-AU" dirty="0"/>
              <a:t>Training and </a:t>
            </a:r>
            <a:r>
              <a:rPr lang="en-AU" dirty="0" err="1"/>
              <a:t>Hyperparameterisation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D8E87-485E-A44A-83CF-B5EB0412E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6041"/>
            <a:ext cx="10515600" cy="4926834"/>
          </a:xfrm>
        </p:spPr>
        <p:txBody>
          <a:bodyPr>
            <a:normAutofit/>
          </a:bodyPr>
          <a:lstStyle/>
          <a:p>
            <a:r>
              <a:rPr lang="en-AU" b="1" dirty="0"/>
              <a:t>Training: </a:t>
            </a:r>
            <a:r>
              <a:rPr lang="en-AU" dirty="0"/>
              <a:t>model ingests your data and extracts patterns/knowledge from it, and updates these beliefs iteratively as more data is feed through.	</a:t>
            </a:r>
            <a:endParaRPr lang="en-AU" b="1" dirty="0"/>
          </a:p>
          <a:p>
            <a:r>
              <a:rPr lang="en-AU" b="1" dirty="0"/>
              <a:t>Hyperparameters</a:t>
            </a:r>
            <a:r>
              <a:rPr lang="en-AU" dirty="0"/>
              <a:t>: settings that control the learning process.</a:t>
            </a:r>
          </a:p>
          <a:p>
            <a:pPr lvl="1"/>
            <a:r>
              <a:rPr lang="en-AU" b="0" i="0" dirty="0">
                <a:effectLst/>
              </a:rPr>
              <a:t>The hyperparameters and their values depend on your specific task and dataset.</a:t>
            </a:r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88F32C-9A06-544D-B91A-956C227FE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47179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9013E-51FC-F146-BB1D-7728E3484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6. Evaluation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D8E87-485E-A44A-83CF-B5EB0412E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6041"/>
            <a:ext cx="10515600" cy="4926834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AU" b="1" i="0" dirty="0">
                <a:effectLst/>
                <a:latin typeface="Söhne"/>
              </a:rPr>
              <a:t>Test Data:</a:t>
            </a:r>
            <a:r>
              <a:rPr lang="en-AU" b="0" i="0" dirty="0">
                <a:effectLst/>
                <a:latin typeface="Söhne"/>
              </a:rPr>
              <a:t> evaluate your fine-tuned model on a separate test dataset.</a:t>
            </a:r>
          </a:p>
          <a:p>
            <a:pPr lvl="1"/>
            <a:r>
              <a:rPr lang="en-AU" b="1" i="0" dirty="0">
                <a:effectLst/>
                <a:latin typeface="Söhne"/>
              </a:rPr>
              <a:t>Metrics:</a:t>
            </a:r>
            <a:r>
              <a:rPr lang="en-AU" b="0" i="0" dirty="0">
                <a:effectLst/>
                <a:latin typeface="Söhne"/>
              </a:rPr>
              <a:t> Calculate and report relevant evaluation metrics for your specific task</a:t>
            </a:r>
            <a:r>
              <a:rPr lang="en-AU" dirty="0">
                <a:latin typeface="Söhne"/>
              </a:rPr>
              <a:t>: </a:t>
            </a:r>
            <a:r>
              <a:rPr lang="en-AU" b="0" i="0" dirty="0">
                <a:effectLst/>
                <a:latin typeface="Söhne"/>
              </a:rPr>
              <a:t>Accuracy, </a:t>
            </a:r>
            <a:r>
              <a:rPr lang="en-AU" dirty="0">
                <a:latin typeface="Söhne"/>
              </a:rPr>
              <a:t>P</a:t>
            </a:r>
            <a:r>
              <a:rPr lang="en-AU" b="0" i="0" dirty="0">
                <a:effectLst/>
                <a:latin typeface="Söhne"/>
              </a:rPr>
              <a:t>recision, Recall, F1, AUC, etc.</a:t>
            </a:r>
          </a:p>
          <a:p>
            <a:r>
              <a:rPr lang="en-AU" b="1" i="0" dirty="0">
                <a:effectLst/>
                <a:latin typeface="Söhne"/>
              </a:rPr>
              <a:t>Monitoring: </a:t>
            </a:r>
            <a:r>
              <a:rPr lang="en-AU" b="0" i="0" dirty="0">
                <a:effectLst/>
                <a:latin typeface="Söhne"/>
              </a:rPr>
              <a:t>Continuously monitor your training and evaluating process. </a:t>
            </a:r>
          </a:p>
          <a:p>
            <a:r>
              <a:rPr lang="en-AU" b="1" i="0" dirty="0">
                <a:effectLst/>
                <a:latin typeface="Söhne"/>
              </a:rPr>
              <a:t>Debugging:</a:t>
            </a:r>
            <a:r>
              <a:rPr lang="en-AU" b="0" i="0" dirty="0">
                <a:effectLst/>
                <a:latin typeface="Söhne"/>
              </a:rPr>
              <a:t> If your model isn't performing as expected, check your data, </a:t>
            </a:r>
            <a:r>
              <a:rPr lang="en-AU" b="0" i="0" dirty="0" err="1">
                <a:effectLst/>
                <a:latin typeface="Söhne"/>
              </a:rPr>
              <a:t>preprocessing</a:t>
            </a:r>
            <a:r>
              <a:rPr lang="en-AU" b="0" i="0" dirty="0">
                <a:effectLst/>
                <a:latin typeface="Söhne"/>
              </a:rPr>
              <a:t>, and model architecture for issues.</a:t>
            </a:r>
          </a:p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88F32C-9A06-544D-B91A-956C227FE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44019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9013E-51FC-F146-BB1D-7728E3484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7. Deployment and Inference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D8E87-485E-A44A-83CF-B5EB0412E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6041"/>
            <a:ext cx="10515600" cy="4926834"/>
          </a:xfrm>
        </p:spPr>
        <p:txBody>
          <a:bodyPr>
            <a:normAutofit/>
          </a:bodyPr>
          <a:lstStyle/>
          <a:p>
            <a:r>
              <a:rPr lang="en-AU" b="1" i="0" dirty="0">
                <a:effectLst/>
                <a:latin typeface="Söhne"/>
              </a:rPr>
              <a:t>Model Deployment</a:t>
            </a:r>
          </a:p>
          <a:p>
            <a:pPr lvl="1"/>
            <a:r>
              <a:rPr lang="en-AU" i="0" dirty="0">
                <a:effectLst/>
                <a:latin typeface="Söhne"/>
              </a:rPr>
              <a:t>Make a trained model available for use in a production environment.</a:t>
            </a:r>
          </a:p>
          <a:p>
            <a:pPr lvl="1"/>
            <a:r>
              <a:rPr lang="en-AU" i="0" dirty="0">
                <a:effectLst/>
                <a:latin typeface="Söhne"/>
              </a:rPr>
              <a:t>Deploy models to endpoints for real-time or batch predictions. Users can then access the model via the endpoint(s).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AU" b="1" i="0" dirty="0">
                <a:effectLst/>
                <a:latin typeface="Söhne"/>
              </a:rPr>
              <a:t>Inference</a:t>
            </a:r>
          </a:p>
          <a:p>
            <a:pPr lvl="1"/>
            <a:r>
              <a:rPr lang="en-AU" i="0" dirty="0">
                <a:effectLst/>
                <a:latin typeface="Söhne"/>
              </a:rPr>
              <a:t>Applying a trained machine learning model to new, unseen data to generate predictions or decisions.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88F32C-9A06-544D-B91A-956C227FE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4620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DED5D-4B0B-3542-A743-F2DF04FF2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risk: overfitting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66488D7-6041-CF2E-2274-BD1A2A82F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2866"/>
            <a:ext cx="10515600" cy="4351338"/>
          </a:xfrm>
        </p:spPr>
        <p:txBody>
          <a:bodyPr/>
          <a:lstStyle/>
          <a:p>
            <a:r>
              <a:rPr lang="en-US" b="1" dirty="0"/>
              <a:t>Overfitting</a:t>
            </a:r>
          </a:p>
          <a:p>
            <a:pPr lvl="1"/>
            <a:r>
              <a:rPr lang="en-US" dirty="0"/>
              <a:t>The model cannot generalize and fits too closely to the training dataset, and cannot predict new data well; it performs well on training data but poorly on unseen data.</a:t>
            </a:r>
          </a:p>
          <a:p>
            <a:pPr lvl="1"/>
            <a:r>
              <a:rPr lang="en-US" dirty="0"/>
              <a:t>Often due to noisy data, using too small of a training dataset, or using too complex of a model relative to the data.</a:t>
            </a:r>
          </a:p>
        </p:txBody>
      </p:sp>
      <p:pic>
        <p:nvPicPr>
          <p:cNvPr id="12" name="Picture 11" descr="A diagram of a game&#10;&#10;Description automatically generated">
            <a:extLst>
              <a:ext uri="{FF2B5EF4-FFF2-40B4-BE49-F238E27FC236}">
                <a16:creationId xmlns:a16="http://schemas.microsoft.com/office/drawing/2014/main" id="{4C61DDA2-73E0-75EF-4B9A-CA060AC090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4110065"/>
            <a:ext cx="7772400" cy="230924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766262A-BE4F-24A0-A83E-4AA4CA7184EE}"/>
              </a:ext>
            </a:extLst>
          </p:cNvPr>
          <p:cNvSpPr txBox="1"/>
          <p:nvPr/>
        </p:nvSpPr>
        <p:spPr>
          <a:xfrm>
            <a:off x="2576987" y="6345734"/>
            <a:ext cx="15200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Underfitting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905600-E280-B15F-12B4-82DCA09AD03B}"/>
              </a:ext>
            </a:extLst>
          </p:cNvPr>
          <p:cNvSpPr txBox="1"/>
          <p:nvPr/>
        </p:nvSpPr>
        <p:spPr>
          <a:xfrm>
            <a:off x="5289193" y="6345734"/>
            <a:ext cx="13035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Just Right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BCCEE3-8EFF-2C3A-D34B-E0D70FA939EC}"/>
              </a:ext>
            </a:extLst>
          </p:cNvPr>
          <p:cNvSpPr txBox="1"/>
          <p:nvPr/>
        </p:nvSpPr>
        <p:spPr>
          <a:xfrm>
            <a:off x="7991398" y="6345734"/>
            <a:ext cx="15824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Overfitting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1F7D7FF0-5405-8448-D695-CE3197EDA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59887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DED5D-4B0B-3542-A743-F2DF04FF2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risk: underfitting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66488D7-6041-CF2E-2274-BD1A2A82F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2866"/>
            <a:ext cx="10515600" cy="4351338"/>
          </a:xfrm>
        </p:spPr>
        <p:txBody>
          <a:bodyPr/>
          <a:lstStyle/>
          <a:p>
            <a:r>
              <a:rPr lang="en-US" b="1" dirty="0"/>
              <a:t>Underfitting</a:t>
            </a:r>
          </a:p>
          <a:p>
            <a:pPr lvl="1"/>
            <a:r>
              <a:rPr lang="en-US" dirty="0"/>
              <a:t>Model fails to capture patterns and does not learn the underlying trend in the data, leading to poor performance on both training and test data.</a:t>
            </a:r>
          </a:p>
          <a:p>
            <a:pPr lvl="1"/>
            <a:r>
              <a:rPr lang="en-US" dirty="0"/>
              <a:t>Often due to using too few parameters, or overly simplistic assumptions, or not training a sufficiently complex model for long enough.</a:t>
            </a:r>
          </a:p>
          <a:p>
            <a:endParaRPr lang="en-US" dirty="0"/>
          </a:p>
        </p:txBody>
      </p:sp>
      <p:pic>
        <p:nvPicPr>
          <p:cNvPr id="12" name="Picture 11" descr="A diagram of a game&#10;&#10;Description automatically generated">
            <a:extLst>
              <a:ext uri="{FF2B5EF4-FFF2-40B4-BE49-F238E27FC236}">
                <a16:creationId xmlns:a16="http://schemas.microsoft.com/office/drawing/2014/main" id="{4C61DDA2-73E0-75EF-4B9A-CA060AC090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4110065"/>
            <a:ext cx="7772400" cy="23092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85DBC8C-C90F-11C4-1CED-6516566572D6}"/>
              </a:ext>
            </a:extLst>
          </p:cNvPr>
          <p:cNvSpPr txBox="1"/>
          <p:nvPr/>
        </p:nvSpPr>
        <p:spPr>
          <a:xfrm>
            <a:off x="2461635" y="6345734"/>
            <a:ext cx="17508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Underfitting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885833-C24D-228E-13DE-FFAECC8C82D4}"/>
              </a:ext>
            </a:extLst>
          </p:cNvPr>
          <p:cNvSpPr txBox="1"/>
          <p:nvPr/>
        </p:nvSpPr>
        <p:spPr>
          <a:xfrm>
            <a:off x="5289193" y="6345734"/>
            <a:ext cx="13035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Just Right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C3BCF6-77A0-8CB6-A19E-11FB8928C12D}"/>
              </a:ext>
            </a:extLst>
          </p:cNvPr>
          <p:cNvSpPr txBox="1"/>
          <p:nvPr/>
        </p:nvSpPr>
        <p:spPr>
          <a:xfrm>
            <a:off x="8094919" y="6345734"/>
            <a:ext cx="13754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Overfitting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092E6-3FFE-E1F3-ABA8-0F9C96C02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64281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DED5D-4B0B-3542-A743-F2DF04FF2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risk: misleading validation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04FD48-04DC-E54E-A152-B0C8EAE412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42733" y="2292355"/>
            <a:ext cx="6506533" cy="2273289"/>
          </a:xfrm>
        </p:spPr>
      </p:pic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C04C5ABE-A06C-E925-50E0-2A87061BB8C2}"/>
              </a:ext>
            </a:extLst>
          </p:cNvPr>
          <p:cNvSpPr txBox="1">
            <a:spLocks/>
          </p:cNvSpPr>
          <p:nvPr/>
        </p:nvSpPr>
        <p:spPr>
          <a:xfrm>
            <a:off x="838200" y="156286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ClrTx/>
              <a:buSzTx/>
            </a:pPr>
            <a:r>
              <a:rPr lang="en-AU" b="1" dirty="0"/>
              <a:t>Having Too Much Confidence in Model Outcomes</a:t>
            </a:r>
          </a:p>
          <a:p>
            <a:pPr lvl="1" fontAlgn="auto">
              <a:spcAft>
                <a:spcPts val="0"/>
              </a:spcAft>
              <a:buClrTx/>
              <a:buSzTx/>
            </a:pPr>
            <a:r>
              <a:rPr lang="en-AU" dirty="0"/>
              <a:t>Example: </a:t>
            </a:r>
            <a:r>
              <a:rPr lang="en-US" dirty="0"/>
              <a:t>Classifier to recognize images as either Wolf or Husky</a:t>
            </a:r>
          </a:p>
        </p:txBody>
      </p:sp>
      <p:pic>
        <p:nvPicPr>
          <p:cNvPr id="4" name="Content Placeholder 7">
            <a:extLst>
              <a:ext uri="{FF2B5EF4-FFF2-40B4-BE49-F238E27FC236}">
                <a16:creationId xmlns:a16="http://schemas.microsoft.com/office/drawing/2014/main" id="{40C8A939-C5F4-9400-E3D8-282BAF840D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2733" y="4216727"/>
            <a:ext cx="6761496" cy="21267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3F03A27-A3B2-6193-FA2A-2FCEE2B0916A}"/>
              </a:ext>
            </a:extLst>
          </p:cNvPr>
          <p:cNvSpPr txBox="1"/>
          <p:nvPr/>
        </p:nvSpPr>
        <p:spPr>
          <a:xfrm>
            <a:off x="838200" y="6438020"/>
            <a:ext cx="82026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Sameer Singh UC Irvine https://</a:t>
            </a:r>
            <a:r>
              <a:rPr lang="en-US" sz="1400" dirty="0" err="1"/>
              <a:t>www.slideshare.net</a:t>
            </a:r>
            <a:r>
              <a:rPr lang="en-US" sz="1400" dirty="0"/>
              <a:t>/0xdata/explaining-</a:t>
            </a:r>
            <a:r>
              <a:rPr lang="en-US" sz="1400" dirty="0" err="1"/>
              <a:t>blackbox</a:t>
            </a:r>
            <a:r>
              <a:rPr lang="en-US" sz="1400" dirty="0"/>
              <a:t>-machine-learning-predictions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231F36-11C4-5FA8-665A-723E17D41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3802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DED5D-4B0B-3542-A743-F2DF04FF2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risk: misleading validation</a:t>
            </a:r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C04C5ABE-A06C-E925-50E0-2A87061BB8C2}"/>
              </a:ext>
            </a:extLst>
          </p:cNvPr>
          <p:cNvSpPr txBox="1">
            <a:spLocks/>
          </p:cNvSpPr>
          <p:nvPr/>
        </p:nvSpPr>
        <p:spPr>
          <a:xfrm>
            <a:off x="838200" y="156286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ClrTx/>
              <a:buSzTx/>
            </a:pPr>
            <a:r>
              <a:rPr lang="en-AU" b="1" dirty="0"/>
              <a:t>Having Too Much Confidence in Model Outcomes</a:t>
            </a:r>
          </a:p>
          <a:p>
            <a:pPr lvl="1" fontAlgn="auto">
              <a:spcAft>
                <a:spcPts val="0"/>
              </a:spcAft>
              <a:buClrTx/>
              <a:buSzTx/>
            </a:pPr>
            <a:r>
              <a:rPr lang="en-AU" dirty="0"/>
              <a:t>Predictions indicate strong</a:t>
            </a:r>
            <a:br>
              <a:rPr lang="en-AU" dirty="0"/>
            </a:br>
            <a:r>
              <a:rPr lang="en-AU" dirty="0"/>
              <a:t>performance!</a:t>
            </a:r>
          </a:p>
          <a:p>
            <a:pPr lvl="1" fontAlgn="auto">
              <a:spcAft>
                <a:spcPts val="0"/>
              </a:spcAft>
              <a:buClrTx/>
              <a:buSzTx/>
            </a:pPr>
            <a:r>
              <a:rPr lang="en-AU" dirty="0"/>
              <a:t>Does this mean we</a:t>
            </a:r>
            <a:br>
              <a:rPr lang="en-AU" dirty="0"/>
            </a:br>
            <a:r>
              <a:rPr lang="en-AU" dirty="0"/>
              <a:t>have a good model?</a:t>
            </a:r>
            <a:endParaRPr lang="en-US" dirty="0"/>
          </a:p>
        </p:txBody>
      </p:sp>
      <p:pic>
        <p:nvPicPr>
          <p:cNvPr id="11" name="Content Placeholder 5">
            <a:extLst>
              <a:ext uri="{FF2B5EF4-FFF2-40B4-BE49-F238E27FC236}">
                <a16:creationId xmlns:a16="http://schemas.microsoft.com/office/drawing/2014/main" id="{F9C87877-7378-9ACC-9864-2094FC6D8F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21180" y="2030111"/>
            <a:ext cx="6298157" cy="4294927"/>
          </a:xfr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FD0FA52-57AF-C066-8BB9-8751C48C1D9D}"/>
              </a:ext>
            </a:extLst>
          </p:cNvPr>
          <p:cNvSpPr txBox="1"/>
          <p:nvPr/>
        </p:nvSpPr>
        <p:spPr>
          <a:xfrm>
            <a:off x="838200" y="6438020"/>
            <a:ext cx="82026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Sameer Singh UC Irvine https://</a:t>
            </a:r>
            <a:r>
              <a:rPr lang="en-US" sz="1400" dirty="0" err="1"/>
              <a:t>www.slideshare.net</a:t>
            </a:r>
            <a:r>
              <a:rPr lang="en-US" sz="1400" dirty="0"/>
              <a:t>/0xdata/explaining-</a:t>
            </a:r>
            <a:r>
              <a:rPr lang="en-US" sz="1400" dirty="0" err="1"/>
              <a:t>blackbox</a:t>
            </a:r>
            <a:r>
              <a:rPr lang="en-US" sz="1400" dirty="0"/>
              <a:t>-machine-learning-predictions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D118586-A87D-BF7B-51D2-E835D5282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57739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DED5D-4B0B-3542-A743-F2DF04FF2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risk: misleading validation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8F808C-7797-7740-B723-34D20BAD494B}"/>
              </a:ext>
            </a:extLst>
          </p:cNvPr>
          <p:cNvSpPr txBox="1"/>
          <p:nvPr/>
        </p:nvSpPr>
        <p:spPr>
          <a:xfrm>
            <a:off x="838200" y="6438020"/>
            <a:ext cx="82026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Sameer Singh UC Irvine https://</a:t>
            </a:r>
            <a:r>
              <a:rPr lang="en-US" sz="1400" dirty="0" err="1"/>
              <a:t>www.slideshare.net</a:t>
            </a:r>
            <a:r>
              <a:rPr lang="en-US" sz="1400" dirty="0"/>
              <a:t>/0xdata/explaining-</a:t>
            </a:r>
            <a:r>
              <a:rPr lang="en-US" sz="1400" dirty="0" err="1"/>
              <a:t>blackbox</a:t>
            </a:r>
            <a:r>
              <a:rPr lang="en-US" sz="1400" dirty="0"/>
              <a:t>-machine-learning-predictions</a:t>
            </a:r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C04C5ABE-A06C-E925-50E0-2A87061BB8C2}"/>
              </a:ext>
            </a:extLst>
          </p:cNvPr>
          <p:cNvSpPr txBox="1">
            <a:spLocks/>
          </p:cNvSpPr>
          <p:nvPr/>
        </p:nvSpPr>
        <p:spPr>
          <a:xfrm>
            <a:off x="838200" y="156286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ClrTx/>
              <a:buSzTx/>
            </a:pPr>
            <a:r>
              <a:rPr lang="en-AU" b="1" dirty="0"/>
              <a:t>Having Too Much Confidence in Model Outcomes</a:t>
            </a:r>
          </a:p>
          <a:p>
            <a:pPr lvl="1" fontAlgn="auto">
              <a:spcAft>
                <a:spcPts val="0"/>
              </a:spcAft>
              <a:buClrTx/>
              <a:buSzTx/>
            </a:pPr>
            <a:r>
              <a:rPr lang="en-AU" dirty="0"/>
              <a:t>Turns out, the model was recognising snow as the distinguishing feature for wolf!</a:t>
            </a:r>
            <a:endParaRPr lang="en-US" dirty="0"/>
          </a:p>
        </p:txBody>
      </p:sp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FD705EB2-8A1E-8568-361E-B57376D050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43547" y="2587714"/>
            <a:ext cx="7104906" cy="3850306"/>
          </a:xfr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71B3FAD-D9E7-DC9A-EDF5-13D12347D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56778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C04C5ABE-A06C-E925-50E0-2A87061BB8C2}"/>
              </a:ext>
            </a:extLst>
          </p:cNvPr>
          <p:cNvSpPr txBox="1">
            <a:spLocks/>
          </p:cNvSpPr>
          <p:nvPr/>
        </p:nvSpPr>
        <p:spPr>
          <a:xfrm>
            <a:off x="838200" y="156286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ClrTx/>
              <a:buSzTx/>
            </a:pPr>
            <a:r>
              <a:rPr lang="en-AU" b="1" dirty="0"/>
              <a:t>Model Interpretability</a:t>
            </a:r>
          </a:p>
          <a:p>
            <a:pPr lvl="1" fontAlgn="auto">
              <a:spcAft>
                <a:spcPts val="0"/>
              </a:spcAft>
              <a:buClrTx/>
              <a:buSzTx/>
            </a:pPr>
            <a:r>
              <a:rPr lang="en-AU" dirty="0"/>
              <a:t>AI models are “black boxes”, but large research efforts are put into model </a:t>
            </a:r>
            <a:r>
              <a:rPr lang="en-AU" dirty="0" err="1"/>
              <a:t>explainability</a:t>
            </a:r>
            <a:r>
              <a:rPr lang="en-AU" dirty="0"/>
              <a:t> and interpretability. </a:t>
            </a:r>
          </a:p>
          <a:p>
            <a:pPr fontAlgn="auto">
              <a:spcAft>
                <a:spcPts val="0"/>
              </a:spcAft>
              <a:buClrTx/>
              <a:buSzTx/>
            </a:pPr>
            <a:r>
              <a:rPr lang="en-US" b="1" dirty="0"/>
              <a:t>Model Hosting and Scalability</a:t>
            </a:r>
          </a:p>
          <a:p>
            <a:pPr lvl="1" fontAlgn="auto">
              <a:spcAft>
                <a:spcPts val="0"/>
              </a:spcAft>
              <a:buClrTx/>
              <a:buSzTx/>
            </a:pPr>
            <a:r>
              <a:rPr lang="en-US" dirty="0"/>
              <a:t>Cost effective hosting strategies as models scale and use-cases grow.</a:t>
            </a:r>
          </a:p>
          <a:p>
            <a:pPr lvl="1" fontAlgn="auto">
              <a:spcAft>
                <a:spcPts val="0"/>
              </a:spcAft>
              <a:buClrTx/>
              <a:buSzTx/>
            </a:pPr>
            <a:r>
              <a:rPr lang="en-US" dirty="0"/>
              <a:t>Multi-model deployment, AWS </a:t>
            </a:r>
            <a:r>
              <a:rPr lang="en-US" dirty="0" err="1"/>
              <a:t>AutoScaling</a:t>
            </a:r>
            <a:r>
              <a:rPr lang="en-US" dirty="0"/>
              <a:t>, AWS </a:t>
            </a:r>
            <a:r>
              <a:rPr lang="en-US" dirty="0" err="1"/>
              <a:t>DeepSpeed</a:t>
            </a:r>
            <a:r>
              <a:rPr lang="en-US" dirty="0"/>
              <a:t> Inference.</a:t>
            </a:r>
            <a:endParaRPr lang="en-AU" dirty="0"/>
          </a:p>
          <a:p>
            <a:pPr fontAlgn="auto">
              <a:spcAft>
                <a:spcPts val="0"/>
              </a:spcAft>
              <a:buClrTx/>
              <a:buSzTx/>
            </a:pPr>
            <a:r>
              <a:rPr lang="en-US" b="1" dirty="0"/>
              <a:t>Beyond AWS</a:t>
            </a:r>
          </a:p>
          <a:p>
            <a:pPr lvl="1" fontAlgn="auto">
              <a:spcAft>
                <a:spcPts val="0"/>
              </a:spcAft>
              <a:buClrTx/>
              <a:buSzTx/>
            </a:pPr>
            <a:r>
              <a:rPr lang="en-US" dirty="0"/>
              <a:t>AI/ML services on other cloud platforms like Google Cloud AI, Microsoft Azure AI, and even GitHub.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6DED5D-4B0B-3542-A743-F2DF04FF2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Interest Topics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71B3FAD-D9E7-DC9A-EDF5-13D12347D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91154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C04C5ABE-A06C-E925-50E0-2A87061BB8C2}"/>
              </a:ext>
            </a:extLst>
          </p:cNvPr>
          <p:cNvSpPr txBox="1">
            <a:spLocks/>
          </p:cNvSpPr>
          <p:nvPr/>
        </p:nvSpPr>
        <p:spPr>
          <a:xfrm>
            <a:off x="838200" y="156286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ClrTx/>
              <a:buSzTx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6DED5D-4B0B-3542-A743-F2DF04FF2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Thanks!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71B3FAD-D9E7-DC9A-EDF5-13D12347D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34</a:t>
            </a:fld>
            <a:endParaRPr lang="en-GB"/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B9184374-A4FB-DD3D-0FB3-D00BFD77D2AB}"/>
              </a:ext>
            </a:extLst>
          </p:cNvPr>
          <p:cNvSpPr txBox="1">
            <a:spLocks/>
          </p:cNvSpPr>
          <p:nvPr/>
        </p:nvSpPr>
        <p:spPr>
          <a:xfrm>
            <a:off x="990600" y="171526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ClrTx/>
              <a:buSzTx/>
            </a:pPr>
            <a:r>
              <a:rPr lang="en-AU" dirty="0"/>
              <a:t>Questions and conversations: </a:t>
            </a:r>
            <a:r>
              <a:rPr lang="en-AU" dirty="0" err="1"/>
              <a:t>larry.huynh@uwa.edu.au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9288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76521</TotalTime>
  <Words>2110</Words>
  <Application>Microsoft Macintosh PowerPoint</Application>
  <PresentationFormat>Widescreen</PresentationFormat>
  <Paragraphs>262</Paragraphs>
  <Slides>34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3" baseType="lpstr">
      <vt:lpstr>Arial</vt:lpstr>
      <vt:lpstr>Calibri</vt:lpstr>
      <vt:lpstr>Calibri Light</vt:lpstr>
      <vt:lpstr>Cambria Math</vt:lpstr>
      <vt:lpstr>Söhne</vt:lpstr>
      <vt:lpstr>Tahoma</vt:lpstr>
      <vt:lpstr>Times New Roman</vt:lpstr>
      <vt:lpstr>Wingdings</vt:lpstr>
      <vt:lpstr>Office Theme</vt:lpstr>
      <vt:lpstr>AI and AWS</vt:lpstr>
      <vt:lpstr>PowerPoint Presentation</vt:lpstr>
      <vt:lpstr>What is AI? </vt:lpstr>
      <vt:lpstr>PowerPoint Presentation</vt:lpstr>
      <vt:lpstr>Types of Machine Learning </vt:lpstr>
      <vt:lpstr>Neural Network Infrastructure </vt:lpstr>
      <vt:lpstr>Perceptron (Single node neural network)</vt:lpstr>
      <vt:lpstr>Calculating the Loss</vt:lpstr>
      <vt:lpstr>Classification metrics</vt:lpstr>
      <vt:lpstr>Metrics for Monitoring Model Performance</vt:lpstr>
      <vt:lpstr>Regression and validation metrics</vt:lpstr>
      <vt:lpstr>Metrics for Monitoring Model Performance</vt:lpstr>
      <vt:lpstr>Metrics for Monitoring Model Performance</vt:lpstr>
      <vt:lpstr>The machine learning lifecycle</vt:lpstr>
      <vt:lpstr>Ownership of the ML lifecycle</vt:lpstr>
      <vt:lpstr>Demo 1: Consume a managed AI service</vt:lpstr>
      <vt:lpstr>Foundation models and prompting</vt:lpstr>
      <vt:lpstr>Demo 2: Configure a foundation model</vt:lpstr>
      <vt:lpstr>Demo 3: Build and operate a custom model</vt:lpstr>
      <vt:lpstr>1. Preparing your Environment</vt:lpstr>
      <vt:lpstr>2. Task Definition and Data Preparation</vt:lpstr>
      <vt:lpstr>3. Model Selection</vt:lpstr>
      <vt:lpstr>4. Data Preprocessing</vt:lpstr>
      <vt:lpstr>5. Training and Hyperparameterisation</vt:lpstr>
      <vt:lpstr>5. Training and Hyperparameterisation</vt:lpstr>
      <vt:lpstr>6. Evaluation</vt:lpstr>
      <vt:lpstr>7. Deployment and Inference</vt:lpstr>
      <vt:lpstr>Training risk: overfitting</vt:lpstr>
      <vt:lpstr>Training risk: underfitting</vt:lpstr>
      <vt:lpstr>Evaluation risk: misleading validation</vt:lpstr>
      <vt:lpstr>Evaluation risk: misleading validation</vt:lpstr>
      <vt:lpstr>Evaluation risk: misleading validation</vt:lpstr>
      <vt:lpstr>Further Interest Topics</vt:lpstr>
      <vt:lpstr>Thanks!</vt:lpstr>
    </vt:vector>
  </TitlesOfParts>
  <Manager>Peter Druschel</Manager>
  <Company>Rice University / Max Planck Institute for Software Systems</Company>
  <LinksUpToDate>false</LinksUpToDate>
  <SharedDoc>false</SharedDoc>
  <HyperlinkBase>http://www.cs.rice.edu/~ahae/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CITS5503 AI and AWS: ML lifecycle throughline</dc:title>
  <dc:subject>Scalable and Cloud Computing</dc:subject>
  <dc:creator>Andreas Haeberlen</dc:creator>
  <cp:keywords>NETS 212</cp:keywords>
  <dc:description>http://www.cis.upenn.edu/~nets212/</dc:description>
  <cp:lastModifiedBy>Larry Huynh (21516059)</cp:lastModifiedBy>
  <cp:revision>4196</cp:revision>
  <dcterms:created xsi:type="dcterms:W3CDTF">1999-05-23T11:18:07Z</dcterms:created>
  <dcterms:modified xsi:type="dcterms:W3CDTF">2026-09-13T11:33:44Z</dcterms:modified>
  <cp:category>Lecture</cp:category>
</cp:coreProperties>
</file>