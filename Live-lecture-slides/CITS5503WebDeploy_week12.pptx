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694" r:id="rId1"/>
  </p:sldMasterIdLst>
  <p:notesMasterIdLst>
    <p:notesMasterId r:id="rId55"/>
  </p:notesMasterIdLst>
  <p:handoutMasterIdLst>
    <p:handoutMasterId r:id="rId56"/>
  </p:handoutMasterIdLst>
  <p:sldIdLst>
    <p:sldId id="1357" r:id="rId2"/>
    <p:sldId id="1450" r:id="rId3"/>
    <p:sldId id="259" r:id="rId4"/>
    <p:sldId id="260" r:id="rId5"/>
    <p:sldId id="145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3" r:id="rId14"/>
    <p:sldId id="1452" r:id="rId15"/>
    <p:sldId id="1454" r:id="rId16"/>
    <p:sldId id="1505" r:id="rId17"/>
    <p:sldId id="257" r:id="rId18"/>
    <p:sldId id="277" r:id="rId19"/>
    <p:sldId id="279" r:id="rId20"/>
    <p:sldId id="280" r:id="rId21"/>
    <p:sldId id="256" r:id="rId22"/>
    <p:sldId id="1507" r:id="rId23"/>
    <p:sldId id="281" r:id="rId24"/>
    <p:sldId id="1508" r:id="rId25"/>
    <p:sldId id="285" r:id="rId26"/>
    <p:sldId id="1557" r:id="rId27"/>
    <p:sldId id="1562" r:id="rId28"/>
    <p:sldId id="1559" r:id="rId29"/>
    <p:sldId id="1560" r:id="rId30"/>
    <p:sldId id="313" r:id="rId31"/>
    <p:sldId id="314" r:id="rId32"/>
    <p:sldId id="315" r:id="rId33"/>
    <p:sldId id="1565" r:id="rId34"/>
    <p:sldId id="258" r:id="rId35"/>
    <p:sldId id="1566" r:id="rId36"/>
    <p:sldId id="261" r:id="rId37"/>
    <p:sldId id="1569" r:id="rId38"/>
    <p:sldId id="266" r:id="rId39"/>
    <p:sldId id="270" r:id="rId40"/>
    <p:sldId id="1570" r:id="rId41"/>
    <p:sldId id="271" r:id="rId42"/>
    <p:sldId id="272" r:id="rId43"/>
    <p:sldId id="1462" r:id="rId44"/>
    <p:sldId id="1525" r:id="rId45"/>
    <p:sldId id="1524" r:id="rId46"/>
    <p:sldId id="1527" r:id="rId47"/>
    <p:sldId id="1528" r:id="rId48"/>
    <p:sldId id="1529" r:id="rId49"/>
    <p:sldId id="1530" r:id="rId50"/>
    <p:sldId id="1531" r:id="rId51"/>
    <p:sldId id="1532" r:id="rId52"/>
    <p:sldId id="1534" r:id="rId53"/>
    <p:sldId id="1556" r:id="rId54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33CC33"/>
    <a:srgbClr val="66FFFF"/>
    <a:srgbClr val="00FFFF"/>
    <a:srgbClr val="00CC00"/>
    <a:srgbClr val="FF3399"/>
    <a:srgbClr val="66FF33"/>
    <a:srgbClr val="FFCC99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82" autoAdjust="0"/>
    <p:restoredTop sz="60075" autoAdjust="0"/>
  </p:normalViewPr>
  <p:slideViewPr>
    <p:cSldViewPr snapToGrid="0">
      <p:cViewPr varScale="1">
        <p:scale>
          <a:sx n="42" d="100"/>
          <a:sy n="42" d="100"/>
        </p:scale>
        <p:origin x="1374" y="60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164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47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30C05-EF6C-9847-8923-580D76870F8E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38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50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64D299-4825-4C96-ACA8-483DACC69B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53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51E8BA-5719-4FC2-9BEB-EDF7642240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53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51E8BA-5719-4FC2-9BEB-EDF7642240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1080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59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D44E15-7D0C-46C1-BD4E-A0D2BA680E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62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63F1F0-A802-457A-80FA-3C86204556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65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28D547-8762-483C-A2F4-1F851ACFD97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68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3FECC2-80CD-46C7-8C8B-DEB801CADF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74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3FEAE6-9C8D-4913-B18D-26BF12ECBB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77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2AADA-062E-4395-8370-3B37DFC37A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0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9AF1ED-51E9-452C-99FC-648D2EC527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35598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1292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768EAE-E097-4313-84F1-DE7BF64AF3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dirty="0"/>
          </a:p>
        </p:txBody>
      </p:sp>
      <p:sp>
        <p:nvSpPr>
          <p:cNvPr id="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158981-8552-40FB-9D5B-22349E4B7F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6058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dirty="0"/>
          </a:p>
        </p:txBody>
      </p:sp>
      <p:sp>
        <p:nvSpPr>
          <p:cNvPr id="8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158981-8552-40FB-9D5B-22349E4B7F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642870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0547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dirty="0"/>
          </a:p>
        </p:txBody>
      </p:sp>
      <p:sp>
        <p:nvSpPr>
          <p:cNvPr id="8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8544FC-157F-49D7-8131-13559CDED7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304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5D8208-D7EE-4E33-94BA-9C59FD17D9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310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A6138C-7FFD-4198-90CA-AC28D8D03B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313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540377-25ED-4665-B071-B10E84BAA7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313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540377-25ED-4665-B071-B10E84BAA7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54362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316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7CA8C1-FB26-4DC2-B018-4F8246BFEA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328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E04D0C-953A-4B78-9D5D-871BB22618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262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63F1F0-A802-457A-80FA-3C86204556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193275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7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4541E4-744B-4C43-B1D4-714BECCC7E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dirty="0"/>
          </a:p>
        </p:txBody>
      </p:sp>
      <p:sp>
        <p:nvSpPr>
          <p:cNvPr id="46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8DFE30-6544-4FF9-9DFE-5E3E01D539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dirty="0"/>
          </a:p>
        </p:txBody>
      </p:sp>
      <p:sp>
        <p:nvSpPr>
          <p:cNvPr id="46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C23049-765A-468D-98BB-60D7AEE3C8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412" name="PlaceHolder 3"/>
          <p:cNvSpPr>
            <a:spLocks noGrp="1"/>
          </p:cNvSpPr>
          <p:nvPr>
            <p:ph type="sldNum" idx="1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94DA1F-1B3C-4097-A2C4-5DB5BAAB39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415" name="PlaceHolder 3"/>
          <p:cNvSpPr>
            <a:spLocks noGrp="1"/>
          </p:cNvSpPr>
          <p:nvPr>
            <p:ph type="sldNum" idx="1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BEDFB8-6412-4677-8047-76AA82A30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endParaRPr lang="en-US" dirty="0"/>
          </a:p>
        </p:txBody>
      </p:sp>
      <p:sp>
        <p:nvSpPr>
          <p:cNvPr id="1418" name="PlaceHolder 3"/>
          <p:cNvSpPr>
            <a:spLocks noGrp="1"/>
          </p:cNvSpPr>
          <p:nvPr>
            <p:ph type="sldNum" idx="1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6560D9-2678-415B-A974-DD15F4B9C9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1839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805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366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754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8252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3947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361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3020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4861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345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400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3A18D6F2-5273-41F7-8BE5-357051607A4C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298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06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  <p:sldLayoutId id="2147483706" r:id="rId13"/>
    <p:sldLayoutId id="2147483707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1C55C-64EF-5A4C-AA55-00ED127F3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chemeClr val="bg2"/>
                </a:solidFill>
              </a:rPr>
              <a:t>Week 12 </a:t>
            </a:r>
            <a:r>
              <a:rPr lang="en-US" sz="4000" dirty="0">
                <a:solidFill>
                  <a:schemeClr val="bg2"/>
                </a:solidFill>
              </a:rPr>
              <a:t>Web Application </a:t>
            </a:r>
            <a:br>
              <a:rPr lang="en-US" sz="4000" dirty="0">
                <a:solidFill>
                  <a:schemeClr val="bg2"/>
                </a:solidFill>
              </a:rPr>
            </a:br>
            <a:r>
              <a:rPr lang="en-US" sz="4000" dirty="0">
                <a:solidFill>
                  <a:schemeClr val="bg2"/>
                </a:solidFill>
              </a:rPr>
              <a:t>Deployment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8071F-5629-E546-A495-2CF02BCF2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493059"/>
          </a:xfrm>
        </p:spPr>
        <p:txBody>
          <a:bodyPr>
            <a:normAutofit/>
          </a:bodyPr>
          <a:lstStyle/>
          <a:p>
            <a:r>
              <a:rPr lang="en-US" sz="1800" dirty="0"/>
              <a:t>Dr </a:t>
            </a:r>
            <a:r>
              <a:rPr lang="en-US" sz="1800" dirty="0" err="1"/>
              <a:t>Zhi</a:t>
            </a:r>
            <a:r>
              <a:rPr lang="en-US" sz="1800" dirty="0"/>
              <a:t> Zhang</a:t>
            </a:r>
          </a:p>
        </p:txBody>
      </p:sp>
    </p:spTree>
    <p:extLst>
      <p:ext uri="{BB962C8B-B14F-4D97-AF65-F5344CB8AC3E}">
        <p14:creationId xmlns:p14="http://schemas.microsoft.com/office/powerpoint/2010/main" val="2015353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12784-199A-4366-8059-4B353600D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414" y="1436483"/>
            <a:ext cx="8674173" cy="1683235"/>
          </a:xfrm>
        </p:spPr>
        <p:txBody>
          <a:bodyPr>
            <a:normAutofit/>
          </a:bodyPr>
          <a:lstStyle/>
          <a:p>
            <a:pPr indent="-22824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AWS Web Application Deployment Architecture</a:t>
            </a:r>
          </a:p>
          <a:p>
            <a:pPr lvl="1" indent="-22824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A traditional web application deployment</a:t>
            </a:r>
          </a:p>
          <a:p>
            <a:pPr lvl="1" indent="-228240"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Calibri"/>
              </a:rPr>
              <a:t>A serverless web application deployment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20ABAFD-759F-44AD-9737-4DC91D283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8415" y="286870"/>
            <a:ext cx="3258393" cy="76353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AU" sz="3200" b="1" dirty="0"/>
              <a:t>Overview</a:t>
            </a:r>
            <a:endParaRPr sz="2800" b="1" dirty="0"/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03AD9FEB-245C-4CA2-9B0F-4F66251EB4C1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AU" dirty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914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1"/>
          <p:cNvSpPr/>
          <p:nvPr/>
        </p:nvSpPr>
        <p:spPr>
          <a:xfrm>
            <a:off x="-434160" y="441960"/>
            <a:ext cx="81835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Start from a web application architecture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694404" y="2350296"/>
            <a:ext cx="2239920" cy="1142640"/>
          </a:xfrm>
          <a:prstGeom prst="roundRect">
            <a:avLst>
              <a:gd name="adj" fmla="val 16667"/>
            </a:avLst>
          </a:prstGeom>
          <a:solidFill>
            <a:srgbClr val="EAF2FA"/>
          </a:solidFill>
          <a:ln w="1764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768096" y="2766276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Client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4928616" y="2331720"/>
            <a:ext cx="2239920" cy="1142640"/>
          </a:xfrm>
          <a:prstGeom prst="roundRect">
            <a:avLst>
              <a:gd name="adj" fmla="val 16667"/>
            </a:avLst>
          </a:prstGeom>
          <a:solidFill>
            <a:srgbClr val="FFF4D8"/>
          </a:solidFill>
          <a:ln w="176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5020056" y="272970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Application Server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9070848" y="2331720"/>
            <a:ext cx="2239920" cy="1142640"/>
          </a:xfrm>
          <a:prstGeom prst="roundRect">
            <a:avLst>
              <a:gd name="adj" fmla="val 16667"/>
            </a:avLst>
          </a:prstGeom>
          <a:solidFill>
            <a:srgbClr val="EAF6EF"/>
          </a:solidFill>
          <a:ln w="1764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9230688" y="2729700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Database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3"/>
          <p:cNvSpPr/>
          <p:nvPr/>
        </p:nvSpPr>
        <p:spPr>
          <a:xfrm>
            <a:off x="2934324" y="2907792"/>
            <a:ext cx="1994292" cy="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4"/>
          <p:cNvSpPr/>
          <p:nvPr/>
        </p:nvSpPr>
        <p:spPr>
          <a:xfrm>
            <a:off x="7168536" y="2907792"/>
            <a:ext cx="1902312" cy="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sldNum" idx="8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314F2F-D2A5-4617-889F-2AFA3384CEE2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1"/>
          <p:cNvSpPr/>
          <p:nvPr/>
        </p:nvSpPr>
        <p:spPr>
          <a:xfrm>
            <a:off x="0" y="292680"/>
            <a:ext cx="8505282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Web application Architecture and design pattern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4"/>
          <p:cNvSpPr/>
          <p:nvPr/>
        </p:nvSpPr>
        <p:spPr>
          <a:xfrm>
            <a:off x="658440" y="2057400"/>
            <a:ext cx="3456000" cy="3154320"/>
          </a:xfrm>
          <a:prstGeom prst="roundRect">
            <a:avLst>
              <a:gd name="adj" fmla="val 2319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804600" y="2203560"/>
            <a:ext cx="316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Web application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804600" y="2587680"/>
            <a:ext cx="3163320" cy="24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What major software components exist and how do they interact?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Example: Client -&gt; App -&gt; Database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4370760" y="2057400"/>
            <a:ext cx="3456000" cy="3154320"/>
          </a:xfrm>
          <a:prstGeom prst="roundRect">
            <a:avLst>
              <a:gd name="adj" fmla="val 2319"/>
            </a:avLst>
          </a:prstGeom>
          <a:solidFill>
            <a:srgbClr val="F7F9FC"/>
          </a:solidFill>
          <a:ln w="15120">
            <a:solidFill>
              <a:srgbClr val="6670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4517280" y="2203560"/>
            <a:ext cx="316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Design pattern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4517280" y="2587680"/>
            <a:ext cx="3163320" cy="24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How are software responsibilities organised internally?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Example: MVC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9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3554E-AE93-44B4-BB0A-C0C765F83D27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4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4"/>
          <p:cNvSpPr/>
          <p:nvPr/>
        </p:nvSpPr>
        <p:spPr>
          <a:xfrm>
            <a:off x="658440" y="2057400"/>
            <a:ext cx="3456000" cy="3154320"/>
          </a:xfrm>
          <a:prstGeom prst="roundRect">
            <a:avLst>
              <a:gd name="adj" fmla="val 2319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804600" y="2203560"/>
            <a:ext cx="316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Web application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804600" y="2587680"/>
            <a:ext cx="3163320" cy="24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What major software components exist and how do they interact?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Example: Client -&gt; App -&gt; Database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7"/>
          <p:cNvSpPr/>
          <p:nvPr/>
        </p:nvSpPr>
        <p:spPr>
          <a:xfrm>
            <a:off x="4370760" y="2057400"/>
            <a:ext cx="3456000" cy="3154320"/>
          </a:xfrm>
          <a:prstGeom prst="roundRect">
            <a:avLst>
              <a:gd name="adj" fmla="val 2319"/>
            </a:avLst>
          </a:prstGeom>
          <a:solidFill>
            <a:srgbClr val="F7F9FC"/>
          </a:solidFill>
          <a:ln w="15120">
            <a:solidFill>
              <a:srgbClr val="6670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4517280" y="2203560"/>
            <a:ext cx="316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Design pattern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4517280" y="2587680"/>
            <a:ext cx="3163320" cy="24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How are software responsibilities organised internally?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Example: MVC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1"/>
          <p:cNvSpPr>
            <a:spLocks noGrp="1"/>
          </p:cNvSpPr>
          <p:nvPr>
            <p:ph type="sldNum" idx="9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43554E-AE93-44B4-BB0A-C0C765F83D27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B311119-4F72-4260-80FC-E90220243B42}"/>
              </a:ext>
            </a:extLst>
          </p:cNvPr>
          <p:cNvSpPr/>
          <p:nvPr/>
        </p:nvSpPr>
        <p:spPr>
          <a:xfrm>
            <a:off x="8083440" y="2057400"/>
            <a:ext cx="3456000" cy="3154320"/>
          </a:xfrm>
          <a:prstGeom prst="roundRect">
            <a:avLst>
              <a:gd name="adj" fmla="val 2319"/>
            </a:avLst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64CC2475-3527-4723-8522-40B001075C87}"/>
              </a:ext>
            </a:extLst>
          </p:cNvPr>
          <p:cNvSpPr/>
          <p:nvPr/>
        </p:nvSpPr>
        <p:spPr>
          <a:xfrm>
            <a:off x="8229600" y="2203560"/>
            <a:ext cx="316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Deployment architecture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FB1AAA95-3BB2-4750-A6A1-009E98E213D7}"/>
              </a:ext>
            </a:extLst>
          </p:cNvPr>
          <p:cNvSpPr/>
          <p:nvPr/>
        </p:nvSpPr>
        <p:spPr>
          <a:xfrm>
            <a:off x="8229600" y="2587680"/>
            <a:ext cx="3163320" cy="24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Where and how do components run?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Example: ALB -&gt; EC2 -&gt; DB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C84D1B93-0097-422F-B241-5011832F21D0}"/>
              </a:ext>
            </a:extLst>
          </p:cNvPr>
          <p:cNvSpPr/>
          <p:nvPr/>
        </p:nvSpPr>
        <p:spPr>
          <a:xfrm>
            <a:off x="338040" y="301680"/>
            <a:ext cx="7259760" cy="795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Web application deployment architecture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7303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1"/>
          <p:cNvSpPr/>
          <p:nvPr/>
        </p:nvSpPr>
        <p:spPr>
          <a:xfrm>
            <a:off x="243150" y="311040"/>
            <a:ext cx="63672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Requirements drive the architecture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658440" y="2057400"/>
            <a:ext cx="3456000" cy="3154320"/>
          </a:xfrm>
          <a:prstGeom prst="roundRect">
            <a:avLst>
              <a:gd name="adj" fmla="val 2319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804600" y="2203560"/>
            <a:ext cx="316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Reachability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804600" y="2587680"/>
            <a:ext cx="3163320" cy="24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Public users must reach the service over HTTPS, but private tiers do not need unsolicited Internet access.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4370760" y="2057400"/>
            <a:ext cx="3456000" cy="3154320"/>
          </a:xfrm>
          <a:prstGeom prst="roundRect">
            <a:avLst>
              <a:gd name="adj" fmla="val 2319"/>
            </a:avLst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4517280" y="2203560"/>
            <a:ext cx="316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9"/>
          <p:cNvSpPr/>
          <p:nvPr/>
        </p:nvSpPr>
        <p:spPr>
          <a:xfrm>
            <a:off x="4517280" y="2587680"/>
            <a:ext cx="3163320" cy="24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Only intended communication paths should be possible: user -&gt; entry point -&gt; app -&gt; database.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10"/>
          <p:cNvSpPr/>
          <p:nvPr/>
        </p:nvSpPr>
        <p:spPr>
          <a:xfrm>
            <a:off x="8083440" y="2057400"/>
            <a:ext cx="3456000" cy="3154320"/>
          </a:xfrm>
          <a:prstGeom prst="roundRect">
            <a:avLst>
              <a:gd name="adj" fmla="val 2319"/>
            </a:avLst>
          </a:prstGeom>
          <a:solidFill>
            <a:srgbClr val="EAF6EF"/>
          </a:solidFill>
          <a:ln w="1512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1"/>
          <p:cNvSpPr/>
          <p:nvPr/>
        </p:nvSpPr>
        <p:spPr>
          <a:xfrm>
            <a:off x="8229600" y="2203560"/>
            <a:ext cx="3163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Availability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8229600" y="2587680"/>
            <a:ext cx="3163320" cy="249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The application should survive common instance failures and reduce dependence on one AZ.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sldNum" idx="11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8DEE53-F540-423D-9D32-29EA2103DDC0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1"/>
          <p:cNvSpPr/>
          <p:nvPr/>
        </p:nvSpPr>
        <p:spPr>
          <a:xfrm>
            <a:off x="0" y="393691"/>
            <a:ext cx="7314257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 </a:t>
            </a:r>
            <a:r>
              <a:rPr lang="en-US" sz="2700" b="1" dirty="0">
                <a:solidFill>
                  <a:srgbClr val="173B63"/>
                </a:solidFill>
                <a:latin typeface="Arial"/>
              </a:rPr>
              <a:t>traditional web application deployment</a:t>
            </a:r>
          </a:p>
        </p:txBody>
      </p:sp>
      <p:sp>
        <p:nvSpPr>
          <p:cNvPr id="158" name="Shape 4"/>
          <p:cNvSpPr/>
          <p:nvPr/>
        </p:nvSpPr>
        <p:spPr>
          <a:xfrm>
            <a:off x="495480" y="1482634"/>
            <a:ext cx="10743840" cy="4395652"/>
          </a:xfrm>
          <a:prstGeom prst="roundRect">
            <a:avLst>
              <a:gd name="adj" fmla="val 16667"/>
            </a:avLst>
          </a:prstGeom>
          <a:solidFill>
            <a:srgbClr val="FBFCFE"/>
          </a:solidFill>
          <a:ln w="16560">
            <a:solidFill>
              <a:srgbClr val="D5DC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138900" y="1635474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</a:rPr>
              <a:t>VPC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2319240" y="1729234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667085"/>
                </a:solidFill>
                <a:effectLst/>
                <a:uFillTx/>
                <a:latin typeface="Arial"/>
              </a:rPr>
              <a:t>AZ-A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8085000" y="1711234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667085"/>
                </a:solidFill>
                <a:effectLst/>
                <a:uFillTx/>
                <a:latin typeface="Arial"/>
              </a:rPr>
              <a:t>AZ-B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8"/>
          <p:cNvSpPr/>
          <p:nvPr/>
        </p:nvSpPr>
        <p:spPr>
          <a:xfrm>
            <a:off x="952680" y="214107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1098840" y="228723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Public subnet 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1098840" y="267135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ALB + NAT GW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6850560" y="214107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6996720" y="228723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Public subnet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6996720" y="267135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ALB + NAT GW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952680" y="323835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1098840" y="338451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Private web app subnet 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1098840" y="376863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EC2 targets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7"/>
          <p:cNvSpPr/>
          <p:nvPr/>
        </p:nvSpPr>
        <p:spPr>
          <a:xfrm>
            <a:off x="6850560" y="323835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6996720" y="338451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Private web app subnet B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9"/>
          <p:cNvSpPr/>
          <p:nvPr/>
        </p:nvSpPr>
        <p:spPr>
          <a:xfrm>
            <a:off x="6996720" y="376863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EC2 targets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6"/>
          <p:cNvSpPr/>
          <p:nvPr/>
        </p:nvSpPr>
        <p:spPr>
          <a:xfrm>
            <a:off x="5250360" y="1521098"/>
            <a:ext cx="1188360" cy="639720"/>
          </a:xfrm>
          <a:prstGeom prst="roundRect">
            <a:avLst>
              <a:gd name="adj" fmla="val 16667"/>
            </a:avLst>
          </a:prstGeom>
          <a:solidFill>
            <a:srgbClr val="FFF4D8"/>
          </a:solidFill>
          <a:ln w="176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7"/>
          <p:cNvSpPr/>
          <p:nvPr/>
        </p:nvSpPr>
        <p:spPr>
          <a:xfrm>
            <a:off x="5356314" y="1715298"/>
            <a:ext cx="1005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IGW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8"/>
          <p:cNvSpPr/>
          <p:nvPr/>
        </p:nvSpPr>
        <p:spPr>
          <a:xfrm>
            <a:off x="4994909" y="2376267"/>
            <a:ext cx="1737000" cy="605767"/>
          </a:xfrm>
          <a:prstGeom prst="roundRect">
            <a:avLst>
              <a:gd name="adj" fmla="val 16667"/>
            </a:avLst>
          </a:prstGeom>
          <a:solidFill>
            <a:srgbClr val="EAF2FA"/>
          </a:solidFill>
          <a:ln w="1764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9"/>
          <p:cNvSpPr/>
          <p:nvPr/>
        </p:nvSpPr>
        <p:spPr>
          <a:xfrm>
            <a:off x="5090520" y="2585001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ALB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1"/>
          <p:cNvSpPr/>
          <p:nvPr/>
        </p:nvSpPr>
        <p:spPr>
          <a:xfrm>
            <a:off x="4990554" y="3240314"/>
            <a:ext cx="1737000" cy="635353"/>
          </a:xfrm>
          <a:prstGeom prst="roundRect">
            <a:avLst>
              <a:gd name="adj" fmla="val 16667"/>
            </a:avLst>
          </a:prstGeom>
          <a:solidFill>
            <a:srgbClr val="FFF4D8"/>
          </a:solidFill>
          <a:ln w="176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2"/>
          <p:cNvSpPr/>
          <p:nvPr/>
        </p:nvSpPr>
        <p:spPr>
          <a:xfrm>
            <a:off x="5081994" y="3390759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App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7"/>
          <p:cNvSpPr/>
          <p:nvPr/>
        </p:nvSpPr>
        <p:spPr>
          <a:xfrm>
            <a:off x="5839463" y="2170682"/>
            <a:ext cx="0" cy="205585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0"/>
          <p:cNvSpPr/>
          <p:nvPr/>
        </p:nvSpPr>
        <p:spPr>
          <a:xfrm>
            <a:off x="5139329" y="979714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667085"/>
                </a:solidFill>
                <a:effectLst/>
                <a:uFillTx/>
                <a:latin typeface="Arial"/>
              </a:rPr>
              <a:t>Internet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sldNum" idx="12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F2372A-A9AB-4FFC-A14C-0613F9F09DFC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B8DDD2FB-83FE-4A7E-ABE2-22B851E49134}"/>
              </a:ext>
            </a:extLst>
          </p:cNvPr>
          <p:cNvSpPr/>
          <p:nvPr/>
        </p:nvSpPr>
        <p:spPr>
          <a:xfrm>
            <a:off x="5839463" y="2982034"/>
            <a:ext cx="0" cy="25632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F93CB165-4981-4DE8-A319-30D144431563}"/>
              </a:ext>
            </a:extLst>
          </p:cNvPr>
          <p:cNvSpPr/>
          <p:nvPr/>
        </p:nvSpPr>
        <p:spPr>
          <a:xfrm>
            <a:off x="5836925" y="3875667"/>
            <a:ext cx="0" cy="724109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B7C0652B-6BF8-4AEF-8EB9-AC16E9526D3A}"/>
              </a:ext>
            </a:extLst>
          </p:cNvPr>
          <p:cNvSpPr/>
          <p:nvPr/>
        </p:nvSpPr>
        <p:spPr>
          <a:xfrm flipH="1">
            <a:off x="5836925" y="1246598"/>
            <a:ext cx="2537" cy="27450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DE94D7E6-A3C4-4DD1-9292-19DAA3F1998E}"/>
              </a:ext>
            </a:extLst>
          </p:cNvPr>
          <p:cNvSpPr/>
          <p:nvPr/>
        </p:nvSpPr>
        <p:spPr>
          <a:xfrm>
            <a:off x="952680" y="461155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EAF6EF"/>
          </a:solidFill>
          <a:ln w="1512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79940F13-6237-47F5-B6BD-D3F34267F4E3}"/>
              </a:ext>
            </a:extLst>
          </p:cNvPr>
          <p:cNvSpPr/>
          <p:nvPr/>
        </p:nvSpPr>
        <p:spPr>
          <a:xfrm>
            <a:off x="1098840" y="475771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Private DB subnet 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719FF44B-A2D6-4CE5-A659-D315F469D6B3}"/>
              </a:ext>
            </a:extLst>
          </p:cNvPr>
          <p:cNvSpPr/>
          <p:nvPr/>
        </p:nvSpPr>
        <p:spPr>
          <a:xfrm>
            <a:off x="1098840" y="514183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263238"/>
                </a:solidFill>
                <a:latin typeface="Arial"/>
              </a:rPr>
              <a:t>RDS placement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57352BEE-81B9-4EA6-8D66-7CB5CF5301B8}"/>
              </a:ext>
            </a:extLst>
          </p:cNvPr>
          <p:cNvSpPr/>
          <p:nvPr/>
        </p:nvSpPr>
        <p:spPr>
          <a:xfrm>
            <a:off x="6850560" y="461155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EAF6EF"/>
          </a:solidFill>
          <a:ln w="1512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44E1EE20-F698-458C-A6F6-3D85D9B7B7A4}"/>
              </a:ext>
            </a:extLst>
          </p:cNvPr>
          <p:cNvSpPr/>
          <p:nvPr/>
        </p:nvSpPr>
        <p:spPr>
          <a:xfrm>
            <a:off x="6996720" y="475771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Private DB subnet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86B00282-8368-4458-A781-0EDB71C1C582}"/>
              </a:ext>
            </a:extLst>
          </p:cNvPr>
          <p:cNvSpPr/>
          <p:nvPr/>
        </p:nvSpPr>
        <p:spPr>
          <a:xfrm>
            <a:off x="6996720" y="514183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rgbClr val="263238"/>
                </a:solidFill>
                <a:latin typeface="Arial"/>
                <a:ea typeface="Arial"/>
              </a:rPr>
              <a:t>RDS</a:t>
            </a:r>
            <a:r>
              <a:rPr lang="en-US" sz="12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 placement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4">
            <a:extLst>
              <a:ext uri="{FF2B5EF4-FFF2-40B4-BE49-F238E27FC236}">
                <a16:creationId xmlns:a16="http://schemas.microsoft.com/office/drawing/2014/main" id="{2B584800-F6B8-4A77-B906-9063C76EB604}"/>
              </a:ext>
            </a:extLst>
          </p:cNvPr>
          <p:cNvSpPr/>
          <p:nvPr/>
        </p:nvSpPr>
        <p:spPr>
          <a:xfrm>
            <a:off x="4976040" y="4599775"/>
            <a:ext cx="1737000" cy="621360"/>
          </a:xfrm>
          <a:prstGeom prst="roundRect">
            <a:avLst>
              <a:gd name="adj" fmla="val 16667"/>
            </a:avLst>
          </a:prstGeom>
          <a:solidFill>
            <a:srgbClr val="EAF6EF"/>
          </a:solidFill>
          <a:ln w="1764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3542C702-F7A2-4809-9F4A-6A04304A8DDB}"/>
              </a:ext>
            </a:extLst>
          </p:cNvPr>
          <p:cNvSpPr/>
          <p:nvPr/>
        </p:nvSpPr>
        <p:spPr>
          <a:xfrm>
            <a:off x="5067480" y="4774840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DB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 1"/>
          <p:cNvSpPr/>
          <p:nvPr/>
        </p:nvSpPr>
        <p:spPr>
          <a:xfrm>
            <a:off x="0" y="224820"/>
            <a:ext cx="8054486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AWS geography: Region and Availability Zone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4"/>
          <p:cNvSpPr/>
          <p:nvPr/>
        </p:nvSpPr>
        <p:spPr>
          <a:xfrm>
            <a:off x="838380" y="1329509"/>
            <a:ext cx="10515240" cy="3565800"/>
          </a:xfrm>
          <a:prstGeom prst="roundRect">
            <a:avLst>
              <a:gd name="adj" fmla="val 16667"/>
            </a:avLst>
          </a:prstGeom>
          <a:solidFill>
            <a:srgbClr val="FBFCFE"/>
          </a:solidFill>
          <a:ln w="17640">
            <a:solidFill>
              <a:srgbClr val="D5DC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1066980" y="1530749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B63"/>
                </a:solidFill>
                <a:effectLst/>
                <a:uFillTx/>
                <a:latin typeface="Arial"/>
              </a:rPr>
              <a:t>AWS Region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6"/>
          <p:cNvSpPr/>
          <p:nvPr/>
        </p:nvSpPr>
        <p:spPr>
          <a:xfrm>
            <a:off x="1249860" y="2106749"/>
            <a:ext cx="4251600" cy="2148480"/>
          </a:xfrm>
          <a:prstGeom prst="roundRect">
            <a:avLst>
              <a:gd name="adj" fmla="val 3404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1396020" y="2252909"/>
            <a:ext cx="3958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Availability Zone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1396020" y="2637029"/>
            <a:ext cx="3958920" cy="149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Public subnet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Private app subnet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Private DB subnet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9"/>
          <p:cNvSpPr/>
          <p:nvPr/>
        </p:nvSpPr>
        <p:spPr>
          <a:xfrm>
            <a:off x="6644820" y="2106749"/>
            <a:ext cx="4251600" cy="2148480"/>
          </a:xfrm>
          <a:prstGeom prst="roundRect">
            <a:avLst>
              <a:gd name="adj" fmla="val 3404"/>
            </a:avLst>
          </a:prstGeom>
          <a:solidFill>
            <a:srgbClr val="EAF6EF"/>
          </a:solidFill>
          <a:ln w="1512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6790980" y="2252909"/>
            <a:ext cx="3958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Availability Zone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1"/>
          <p:cNvSpPr/>
          <p:nvPr/>
        </p:nvSpPr>
        <p:spPr>
          <a:xfrm>
            <a:off x="6790980" y="2637029"/>
            <a:ext cx="3958920" cy="149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Public subnet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Private app subnet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Private DB subnet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12"/>
          <p:cNvSpPr/>
          <p:nvPr/>
        </p:nvSpPr>
        <p:spPr>
          <a:xfrm flipV="1">
            <a:off x="5501100" y="3149599"/>
            <a:ext cx="1143360" cy="14513"/>
          </a:xfrm>
          <a:prstGeom prst="line">
            <a:avLst/>
          </a:prstGeom>
          <a:ln w="15120">
            <a:solidFill>
              <a:srgbClr val="98A2B3"/>
            </a:solidFill>
            <a:round/>
            <a:headEnd type="triangl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1"/>
          <p:cNvSpPr>
            <a:spLocks noGrp="1"/>
          </p:cNvSpPr>
          <p:nvPr>
            <p:ph type="sldNum" idx="13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ADE336F-FFB1-4371-9F37-6034AF6D65AD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1"/>
          <p:cNvSpPr/>
          <p:nvPr/>
        </p:nvSpPr>
        <p:spPr>
          <a:xfrm>
            <a:off x="0" y="228960"/>
            <a:ext cx="5676181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Region: the physical boundary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4"/>
          <p:cNvSpPr/>
          <p:nvPr/>
        </p:nvSpPr>
        <p:spPr>
          <a:xfrm>
            <a:off x="3627300" y="1485900"/>
            <a:ext cx="4937400" cy="3565800"/>
          </a:xfrm>
          <a:prstGeom prst="roundRect">
            <a:avLst>
              <a:gd name="adj" fmla="val 2051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5"/>
          <p:cNvSpPr/>
          <p:nvPr/>
        </p:nvSpPr>
        <p:spPr>
          <a:xfrm>
            <a:off x="3773460" y="1632060"/>
            <a:ext cx="4644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One AWS Region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6"/>
          <p:cNvSpPr/>
          <p:nvPr/>
        </p:nvSpPr>
        <p:spPr>
          <a:xfrm>
            <a:off x="3773460" y="2016180"/>
            <a:ext cx="4644720" cy="2907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• VPC belongs to one Region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• Multiple Availability Zones inside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• Region choice affects latency, service availability and cost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sldNum" idx="14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411641-0D8D-46F5-ABE8-A29443D458A6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ext 1"/>
          <p:cNvSpPr/>
          <p:nvPr/>
        </p:nvSpPr>
        <p:spPr>
          <a:xfrm>
            <a:off x="-59400" y="192923"/>
            <a:ext cx="50562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VPC: the network boundary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896400" y="1310352"/>
            <a:ext cx="10240920" cy="3977280"/>
          </a:xfrm>
          <a:prstGeom prst="roundRect">
            <a:avLst>
              <a:gd name="adj" fmla="val 16667"/>
            </a:avLst>
          </a:prstGeom>
          <a:solidFill>
            <a:srgbClr val="FBFCFE"/>
          </a:solidFill>
          <a:ln w="2016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1170720" y="1584672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 dirty="0">
                <a:solidFill>
                  <a:srgbClr val="173B63"/>
                </a:solidFill>
                <a:effectLst/>
                <a:uFillTx/>
                <a:latin typeface="Arial"/>
              </a:rPr>
              <a:t>VPC 10.0.0.0/16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6"/>
          <p:cNvSpPr/>
          <p:nvPr/>
        </p:nvSpPr>
        <p:spPr>
          <a:xfrm>
            <a:off x="1445040" y="2179032"/>
            <a:ext cx="3931560" cy="1965600"/>
          </a:xfrm>
          <a:prstGeom prst="roundRect">
            <a:avLst>
              <a:gd name="adj" fmla="val 3721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1591200" y="2325192"/>
            <a:ext cx="3638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Subnet in AZ-A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8"/>
          <p:cNvSpPr/>
          <p:nvPr/>
        </p:nvSpPr>
        <p:spPr>
          <a:xfrm>
            <a:off x="1591200" y="2709312"/>
            <a:ext cx="363888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Private IP addresses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Route table association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Security boundary options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9"/>
          <p:cNvSpPr/>
          <p:nvPr/>
        </p:nvSpPr>
        <p:spPr>
          <a:xfrm>
            <a:off x="6565680" y="2179032"/>
            <a:ext cx="3931560" cy="1965600"/>
          </a:xfrm>
          <a:prstGeom prst="roundRect">
            <a:avLst>
              <a:gd name="adj" fmla="val 3721"/>
            </a:avLst>
          </a:prstGeom>
          <a:solidFill>
            <a:srgbClr val="EAF6EF"/>
          </a:solidFill>
          <a:ln w="1512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6711840" y="2325192"/>
            <a:ext cx="3638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Subnet in AZ-B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1"/>
          <p:cNvSpPr/>
          <p:nvPr/>
        </p:nvSpPr>
        <p:spPr>
          <a:xfrm>
            <a:off x="6711840" y="2709312"/>
            <a:ext cx="3638880" cy="130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Private IP addresses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Route table association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Security boundary options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sldNum" idx="16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E3CD57-A312-4424-9B40-D40E9B5C7F1E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10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1"/>
          <p:cNvSpPr/>
          <p:nvPr/>
        </p:nvSpPr>
        <p:spPr>
          <a:xfrm>
            <a:off x="0" y="316080"/>
            <a:ext cx="4027251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VPC address space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813960" y="1525297"/>
            <a:ext cx="10606680" cy="1051200"/>
          </a:xfrm>
          <a:prstGeom prst="roundRect">
            <a:avLst>
              <a:gd name="adj" fmla="val 6957"/>
            </a:avLst>
          </a:prstGeom>
          <a:solidFill>
            <a:srgbClr val="F7F9FC"/>
          </a:solidFill>
          <a:ln w="15120">
            <a:solidFill>
              <a:srgbClr val="D5DC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960120" y="1671457"/>
            <a:ext cx="10314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VPC address space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6"/>
          <p:cNvSpPr/>
          <p:nvPr/>
        </p:nvSpPr>
        <p:spPr>
          <a:xfrm>
            <a:off x="960120" y="2055577"/>
            <a:ext cx="1031400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10.0.0.0/16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7"/>
          <p:cNvSpPr/>
          <p:nvPr/>
        </p:nvSpPr>
        <p:spPr>
          <a:xfrm>
            <a:off x="1088280" y="3171217"/>
            <a:ext cx="4205880" cy="1416960"/>
          </a:xfrm>
          <a:prstGeom prst="roundRect">
            <a:avLst>
              <a:gd name="adj" fmla="val 5161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1234440" y="3317377"/>
            <a:ext cx="3913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Subnet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1234440" y="3701497"/>
            <a:ext cx="391320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10.0.1.0/24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0"/>
          <p:cNvSpPr/>
          <p:nvPr/>
        </p:nvSpPr>
        <p:spPr>
          <a:xfrm>
            <a:off x="6849000" y="3171217"/>
            <a:ext cx="4205880" cy="1416960"/>
          </a:xfrm>
          <a:prstGeom prst="roundRect">
            <a:avLst>
              <a:gd name="adj" fmla="val 5161"/>
            </a:avLst>
          </a:prstGeom>
          <a:solidFill>
            <a:srgbClr val="EAF6EF"/>
          </a:solidFill>
          <a:ln w="1512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1"/>
          <p:cNvSpPr/>
          <p:nvPr/>
        </p:nvSpPr>
        <p:spPr>
          <a:xfrm>
            <a:off x="6995160" y="3317377"/>
            <a:ext cx="3913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Subnet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2"/>
          <p:cNvSpPr/>
          <p:nvPr/>
        </p:nvSpPr>
        <p:spPr>
          <a:xfrm>
            <a:off x="6995160" y="3701497"/>
            <a:ext cx="3913200" cy="758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10.0.2.0/24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3"/>
          <p:cNvSpPr/>
          <p:nvPr/>
        </p:nvSpPr>
        <p:spPr>
          <a:xfrm>
            <a:off x="1819800" y="4954297"/>
            <a:ext cx="85035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 dirty="0">
                <a:solidFill>
                  <a:srgbClr val="667085"/>
                </a:solidFill>
                <a:effectLst/>
                <a:uFillTx/>
                <a:latin typeface="Arial"/>
              </a:rPr>
              <a:t>Both subnet CIDRs are inside the VPC CIDR and do not overlap.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1"/>
          <p:cNvSpPr>
            <a:spLocks noGrp="1"/>
          </p:cNvSpPr>
          <p:nvPr>
            <p:ph type="sldNum" idx="17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D015F8-587C-4B58-A271-2885243B6428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11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08D83237-DEAA-4637-9265-9E6C288EF477}"/>
              </a:ext>
            </a:extLst>
          </p:cNvPr>
          <p:cNvSpPr/>
          <p:nvPr/>
        </p:nvSpPr>
        <p:spPr>
          <a:xfrm>
            <a:off x="2727023" y="5664960"/>
            <a:ext cx="6678234" cy="502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800" dirty="0">
                <a:solidFill>
                  <a:srgbClr val="FF0000"/>
                </a:solidFill>
                <a:latin typeface="Arial"/>
              </a:rPr>
              <a:t>Why do we need to divide a VPC into multiple subnets?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 1"/>
          <p:cNvSpPr/>
          <p:nvPr/>
        </p:nvSpPr>
        <p:spPr>
          <a:xfrm>
            <a:off x="271011" y="228960"/>
            <a:ext cx="5675538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Why divide a VPC into subnets?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822960" y="1993320"/>
            <a:ext cx="1060668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defTabSz="914400">
              <a:lnSpc>
                <a:spcPct val="100000"/>
              </a:lnSpc>
              <a:buClr>
                <a:srgbClr val="263238"/>
              </a:buClr>
            </a:pPr>
            <a:endParaRPr lang="en-US" sz="17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sldNum" idx="18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BB279D-C9B5-41E4-9BAF-779B6F794C97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12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FA34E50A-0A9B-4F4E-A88B-717F8CD86A8B}"/>
              </a:ext>
            </a:extLst>
          </p:cNvPr>
          <p:cNvSpPr txBox="1">
            <a:spLocks/>
          </p:cNvSpPr>
          <p:nvPr/>
        </p:nvSpPr>
        <p:spPr>
          <a:xfrm>
            <a:off x="389159" y="1024560"/>
            <a:ext cx="11474282" cy="3063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ClrTx/>
              <a:buSzTx/>
              <a:buNone/>
            </a:pPr>
            <a:endParaRPr lang="en-AU" sz="2200" dirty="0"/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Different routing 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public-facing AWS resources can use IGW while private resources can use NAT, or no Internet.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Availability: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corresponding subnets in multiple AZs to distribute network traffic.</a:t>
            </a:r>
          </a:p>
          <a:p>
            <a:pPr fontAlgn="auto">
              <a:spcAft>
                <a:spcPts val="0"/>
              </a:spcAft>
              <a:buClrTx/>
              <a:buSzTx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Network access control apply at subnet boundaries. </a:t>
            </a:r>
          </a:p>
        </p:txBody>
      </p:sp>
    </p:spTree>
    <p:extLst>
      <p:ext uri="{BB962C8B-B14F-4D97-AF65-F5344CB8AC3E}">
        <p14:creationId xmlns:p14="http://schemas.microsoft.com/office/powerpoint/2010/main" val="2839604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1"/>
          <p:cNvSpPr/>
          <p:nvPr/>
        </p:nvSpPr>
        <p:spPr>
          <a:xfrm>
            <a:off x="92420" y="237960"/>
            <a:ext cx="608780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Route tables: destination -&gt; target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4"/>
          <p:cNvSpPr/>
          <p:nvPr/>
        </p:nvSpPr>
        <p:spPr>
          <a:xfrm>
            <a:off x="4300220" y="1703068"/>
            <a:ext cx="3591560" cy="37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173B63"/>
                </a:solidFill>
                <a:effectLst/>
                <a:uFillTx/>
                <a:latin typeface="Arial"/>
              </a:rPr>
              <a:t>Example subnet route table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8" name="Table 0"/>
          <p:cNvGraphicFramePr/>
          <p:nvPr>
            <p:extLst>
              <p:ext uri="{D42A27DB-BD31-4B8C-83A1-F6EECF244321}">
                <p14:modId xmlns:p14="http://schemas.microsoft.com/office/powerpoint/2010/main" val="3463373697"/>
              </p:ext>
            </p:extLst>
          </p:nvPr>
        </p:nvGraphicFramePr>
        <p:xfrm>
          <a:off x="3976700" y="2279068"/>
          <a:ext cx="4663440" cy="169992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26323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Destination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D5DCE6"/>
                      </a:solidFill>
                      <a:prstDash val="solid"/>
                    </a:lnL>
                    <a:lnR w="12240">
                      <a:solidFill>
                        <a:srgbClr val="D5DCE6"/>
                      </a:solidFill>
                      <a:prstDash val="solid"/>
                    </a:lnR>
                    <a:lnT w="12240">
                      <a:solidFill>
                        <a:srgbClr val="D5DCE6"/>
                      </a:solidFill>
                      <a:prstDash val="solid"/>
                    </a:lnT>
                    <a:lnB w="12240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6323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Target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D5DCE6"/>
                      </a:solidFill>
                      <a:prstDash val="solid"/>
                    </a:lnL>
                    <a:lnR w="12240">
                      <a:solidFill>
                        <a:srgbClr val="D5DCE6"/>
                      </a:solidFill>
                      <a:prstDash val="solid"/>
                    </a:lnR>
                    <a:lnT w="12240">
                      <a:solidFill>
                        <a:srgbClr val="D5DCE6"/>
                      </a:solidFill>
                      <a:prstDash val="solid"/>
                    </a:lnT>
                    <a:lnB w="12240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6323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10.0.0.0/16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D5DCE6"/>
                      </a:solidFill>
                      <a:prstDash val="solid"/>
                    </a:lnL>
                    <a:lnR w="12240">
                      <a:solidFill>
                        <a:srgbClr val="D5DCE6"/>
                      </a:solidFill>
                      <a:prstDash val="solid"/>
                    </a:lnR>
                    <a:lnT w="12240">
                      <a:solidFill>
                        <a:srgbClr val="D5DCE6"/>
                      </a:solidFill>
                      <a:prstDash val="solid"/>
                    </a:lnT>
                    <a:lnB w="12240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>
                          <a:solidFill>
                            <a:srgbClr val="26323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local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D5DCE6"/>
                      </a:solidFill>
                      <a:prstDash val="solid"/>
                    </a:lnL>
                    <a:lnR w="12240">
                      <a:solidFill>
                        <a:srgbClr val="D5DCE6"/>
                      </a:solidFill>
                      <a:prstDash val="solid"/>
                    </a:lnR>
                    <a:lnT w="12240">
                      <a:solidFill>
                        <a:srgbClr val="D5DCE6"/>
                      </a:solidFill>
                      <a:prstDash val="solid"/>
                    </a:lnT>
                    <a:lnB w="12240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>
                          <a:solidFill>
                            <a:srgbClr val="26323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0.0.0.0/0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D5DCE6"/>
                      </a:solidFill>
                      <a:prstDash val="solid"/>
                    </a:lnL>
                    <a:lnR w="12240">
                      <a:solidFill>
                        <a:srgbClr val="D5DCE6"/>
                      </a:solidFill>
                      <a:prstDash val="solid"/>
                    </a:lnR>
                    <a:lnT w="12240">
                      <a:solidFill>
                        <a:srgbClr val="D5DCE6"/>
                      </a:solidFill>
                      <a:prstDash val="solid"/>
                    </a:lnT>
                    <a:lnB w="12240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800" b="0" u="none" strike="noStrike" dirty="0" err="1">
                          <a:solidFill>
                            <a:srgbClr val="26323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igw</a:t>
                      </a:r>
                      <a:r>
                        <a:rPr lang="en-US" sz="1800" b="0" u="none" strike="noStrike" dirty="0">
                          <a:solidFill>
                            <a:srgbClr val="263238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-...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3080" marR="73080">
                    <a:lnL w="12240">
                      <a:solidFill>
                        <a:srgbClr val="D5DCE6"/>
                      </a:solidFill>
                      <a:prstDash val="solid"/>
                    </a:lnL>
                    <a:lnR w="12240">
                      <a:solidFill>
                        <a:srgbClr val="D5DCE6"/>
                      </a:solidFill>
                      <a:prstDash val="solid"/>
                    </a:lnR>
                    <a:lnT w="12240">
                      <a:solidFill>
                        <a:srgbClr val="D5DCE6"/>
                      </a:solidFill>
                      <a:prstDash val="solid"/>
                    </a:lnT>
                    <a:lnB w="12240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2" name="PlaceHolder 1"/>
          <p:cNvSpPr>
            <a:spLocks noGrp="1"/>
          </p:cNvSpPr>
          <p:nvPr>
            <p:ph type="sldNum" idx="22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173F09-C8AA-409F-A8C0-7D38D77F6B0F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13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343079" y="283500"/>
            <a:ext cx="5104409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Route 1: 10.0.0.0/16 → local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2264229" y="1098297"/>
            <a:ext cx="7663542" cy="4429053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653626" y="133065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VPC 10.0.0.0/16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2790786" y="1705410"/>
            <a:ext cx="2331360" cy="1828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2900586" y="1815210"/>
            <a:ext cx="2111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Subnet 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6"/>
          <p:cNvSpPr/>
          <p:nvPr/>
        </p:nvSpPr>
        <p:spPr>
          <a:xfrm>
            <a:off x="2900586" y="2089530"/>
            <a:ext cx="2111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10.0.1.0/24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3138186" y="2391210"/>
            <a:ext cx="163656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3229626" y="2537370"/>
            <a:ext cx="1453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Web Server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3229626" y="2793690"/>
            <a:ext cx="1453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10.0.1.10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6925570" y="1705410"/>
            <a:ext cx="2331360" cy="1828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7035370" y="1815210"/>
            <a:ext cx="2111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Subnet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7035370" y="2089530"/>
            <a:ext cx="2111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10.0.2.0/24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7272970" y="2391210"/>
            <a:ext cx="163656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7364410" y="2537370"/>
            <a:ext cx="1453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DB Server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7364410" y="2793690"/>
            <a:ext cx="1453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10.0.2.10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16"/>
          <p:cNvSpPr/>
          <p:nvPr/>
        </p:nvSpPr>
        <p:spPr>
          <a:xfrm flipV="1">
            <a:off x="5122146" y="2629170"/>
            <a:ext cx="1828800" cy="0"/>
          </a:xfrm>
          <a:prstGeom prst="line">
            <a:avLst/>
          </a:prstGeom>
          <a:ln w="12600">
            <a:solidFill>
              <a:srgbClr val="16A34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4857458" y="227205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16A34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destination IP = 10.0.2.10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18"/>
          <p:cNvSpPr/>
          <p:nvPr/>
        </p:nvSpPr>
        <p:spPr>
          <a:xfrm>
            <a:off x="2835432" y="380853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Packet walk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19"/>
          <p:cNvSpPr/>
          <p:nvPr/>
        </p:nvSpPr>
        <p:spPr>
          <a:xfrm>
            <a:off x="2909586" y="4174290"/>
            <a:ext cx="53946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 dirty="0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  Destination is 10.0.2.10</a:t>
            </a:r>
            <a:endParaRPr lang="en-US" sz="142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 dirty="0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2  10.0.2.10 matches the first route. </a:t>
            </a:r>
            <a:r>
              <a:rPr lang="en-US" sz="1420" b="0" u="none" strike="noStrike" dirty="0">
                <a:solidFill>
                  <a:srgbClr val="FF0000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Why not the second route?</a:t>
            </a: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 dirty="0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3  Target = local</a:t>
            </a:r>
            <a:endParaRPr lang="en-US" sz="142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20" b="0" u="none" strike="noStrike" dirty="0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4  AWS delivers the packet inside the VPC</a:t>
            </a:r>
            <a:endParaRPr lang="en-US" sz="142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sldNum" idx="5"/>
          </p:nvPr>
        </p:nvSpPr>
        <p:spPr>
          <a:xfrm>
            <a:off x="11356560" y="6498485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FC31C13-74C4-4088-BBE4-D0FA6700F3DD}" type="slidenum">
              <a:rPr lang="en-US" sz="900" b="0" u="none" strike="noStrike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188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343079" y="283500"/>
            <a:ext cx="5104409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Route 1: 10.0.0.0/16 → local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2264229" y="1098297"/>
            <a:ext cx="7663542" cy="2845053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2653626" y="1330650"/>
            <a:ext cx="1645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VPC 10.0.0.0/16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4"/>
          <p:cNvSpPr/>
          <p:nvPr/>
        </p:nvSpPr>
        <p:spPr>
          <a:xfrm>
            <a:off x="2790786" y="1705410"/>
            <a:ext cx="2331360" cy="1828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5"/>
          <p:cNvSpPr/>
          <p:nvPr/>
        </p:nvSpPr>
        <p:spPr>
          <a:xfrm>
            <a:off x="2900586" y="1815210"/>
            <a:ext cx="2111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Subnet 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6"/>
          <p:cNvSpPr/>
          <p:nvPr/>
        </p:nvSpPr>
        <p:spPr>
          <a:xfrm>
            <a:off x="2900586" y="2089530"/>
            <a:ext cx="2111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10.0.1.0/24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3138186" y="2391210"/>
            <a:ext cx="163656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8"/>
          <p:cNvSpPr/>
          <p:nvPr/>
        </p:nvSpPr>
        <p:spPr>
          <a:xfrm>
            <a:off x="3229626" y="2537370"/>
            <a:ext cx="1453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Web Server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9"/>
          <p:cNvSpPr/>
          <p:nvPr/>
        </p:nvSpPr>
        <p:spPr>
          <a:xfrm>
            <a:off x="3229626" y="2793690"/>
            <a:ext cx="1453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10.0.1.10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6925570" y="1705410"/>
            <a:ext cx="2331360" cy="1828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7035370" y="1815210"/>
            <a:ext cx="2111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Subnet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7035370" y="2089530"/>
            <a:ext cx="2111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10.0.2.0/24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13"/>
          <p:cNvSpPr/>
          <p:nvPr/>
        </p:nvSpPr>
        <p:spPr>
          <a:xfrm>
            <a:off x="7272970" y="2391210"/>
            <a:ext cx="1636560" cy="776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7364410" y="2537370"/>
            <a:ext cx="1453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DB Server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7364410" y="2793690"/>
            <a:ext cx="1453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10.0.2.10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16"/>
          <p:cNvSpPr/>
          <p:nvPr/>
        </p:nvSpPr>
        <p:spPr>
          <a:xfrm flipV="1">
            <a:off x="5122146" y="2629170"/>
            <a:ext cx="1828800" cy="0"/>
          </a:xfrm>
          <a:prstGeom prst="line">
            <a:avLst/>
          </a:prstGeom>
          <a:ln w="12600">
            <a:solidFill>
              <a:srgbClr val="16A34A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17"/>
          <p:cNvSpPr/>
          <p:nvPr/>
        </p:nvSpPr>
        <p:spPr>
          <a:xfrm>
            <a:off x="4857458" y="2272050"/>
            <a:ext cx="2422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>
                <a:solidFill>
                  <a:srgbClr val="16A34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destination IP = 10.0.2.10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sldNum" idx="5"/>
          </p:nvPr>
        </p:nvSpPr>
        <p:spPr>
          <a:xfrm>
            <a:off x="11356560" y="6498485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FC31C13-74C4-4088-BBE4-D0FA6700F3DD}" type="slidenum">
              <a:rPr lang="en-US" sz="900" b="0" u="none" strike="noStrike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20">
            <a:extLst>
              <a:ext uri="{FF2B5EF4-FFF2-40B4-BE49-F238E27FC236}">
                <a16:creationId xmlns:a16="http://schemas.microsoft.com/office/drawing/2014/main" id="{1EA49C59-BF13-4E00-B3FF-55D45F3FE47E}"/>
              </a:ext>
            </a:extLst>
          </p:cNvPr>
          <p:cNvSpPr/>
          <p:nvPr/>
        </p:nvSpPr>
        <p:spPr>
          <a:xfrm>
            <a:off x="2264228" y="4374387"/>
            <a:ext cx="7663541" cy="15724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4E8FD85E-562A-4F76-A048-6F19827573B0}"/>
              </a:ext>
            </a:extLst>
          </p:cNvPr>
          <p:cNvSpPr/>
          <p:nvPr/>
        </p:nvSpPr>
        <p:spPr>
          <a:xfrm>
            <a:off x="2461164" y="4503583"/>
            <a:ext cx="2576877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 dirty="0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AWS uses longest-prefix match: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4FC76E9E-72FB-4B95-AF0D-C1F0BFB8F9F0}"/>
              </a:ext>
            </a:extLst>
          </p:cNvPr>
          <p:cNvSpPr/>
          <p:nvPr/>
        </p:nvSpPr>
        <p:spPr>
          <a:xfrm>
            <a:off x="4036434" y="4857004"/>
            <a:ext cx="975912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 dirty="0">
                <a:solidFill>
                  <a:srgbClr val="16A34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10.0.2.10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4A48020C-F98E-4942-97E3-359E5F82B11B}"/>
              </a:ext>
            </a:extLst>
          </p:cNvPr>
          <p:cNvSpPr/>
          <p:nvPr/>
        </p:nvSpPr>
        <p:spPr>
          <a:xfrm>
            <a:off x="4899534" y="4789825"/>
            <a:ext cx="4052072" cy="3717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 dirty="0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matches /16 and /0 → /16 is more specific → local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47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ample of an Amazon Virtual Private Cloud (VPC) setup">
            <a:extLst>
              <a:ext uri="{FF2B5EF4-FFF2-40B4-BE49-F238E27FC236}">
                <a16:creationId xmlns:a16="http://schemas.microsoft.com/office/drawing/2014/main" id="{BCEE3964-80FC-40E5-9B26-29A1FC689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607" y="778447"/>
            <a:ext cx="7150785" cy="589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1B861069-15A4-4A0C-A4EB-D18C3807CA0E}"/>
              </a:ext>
            </a:extLst>
          </p:cNvPr>
          <p:cNvSpPr/>
          <p:nvPr/>
        </p:nvSpPr>
        <p:spPr>
          <a:xfrm>
            <a:off x="343079" y="283500"/>
            <a:ext cx="5104409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Route 1: 10.0.0.0/16 → local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643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198609" y="242641"/>
            <a:ext cx="6423701" cy="48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Route 2: 0.0.0.0/0 → Internet Gateway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5949285" y="1990279"/>
            <a:ext cx="1874160" cy="1142640"/>
          </a:xfrm>
          <a:prstGeom prst="roundRect">
            <a:avLst>
              <a:gd name="adj" fmla="val 16667"/>
            </a:avLst>
          </a:prstGeom>
          <a:solidFill>
            <a:srgbClr val="FFF7E6"/>
          </a:solidFill>
          <a:ln w="12600">
            <a:solidFill>
              <a:srgbClr val="FCD34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7"/>
          <p:cNvSpPr/>
          <p:nvPr/>
        </p:nvSpPr>
        <p:spPr>
          <a:xfrm>
            <a:off x="6086445" y="2264599"/>
            <a:ext cx="1599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Internet Gateway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8"/>
          <p:cNvSpPr/>
          <p:nvPr/>
        </p:nvSpPr>
        <p:spPr>
          <a:xfrm>
            <a:off x="6086445" y="2611999"/>
            <a:ext cx="15998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 err="1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igw</a:t>
            </a:r>
            <a:r>
              <a:rPr lang="en-US" sz="1400" b="0" u="none" strike="noStrike" dirty="0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-…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9"/>
          <p:cNvSpPr/>
          <p:nvPr/>
        </p:nvSpPr>
        <p:spPr>
          <a:xfrm>
            <a:off x="7823805" y="2556919"/>
            <a:ext cx="960120" cy="0"/>
          </a:xfrm>
          <a:prstGeom prst="line">
            <a:avLst/>
          </a:prstGeom>
          <a:ln w="1260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Shape 10"/>
          <p:cNvSpPr/>
          <p:nvPr/>
        </p:nvSpPr>
        <p:spPr>
          <a:xfrm>
            <a:off x="8783925" y="1898839"/>
            <a:ext cx="1462680" cy="1325520"/>
          </a:xfrm>
          <a:prstGeom prst="ellipse">
            <a:avLst/>
          </a:prstGeom>
          <a:solidFill>
            <a:srgbClr val="FFFFFF"/>
          </a:solidFill>
          <a:ln w="126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8994165" y="2401759"/>
            <a:ext cx="10422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Num" idx="6"/>
          </p:nvPr>
        </p:nvSpPr>
        <p:spPr>
          <a:xfrm>
            <a:off x="11704320" y="644652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10EC55E-1A58-41D5-B87C-C5F16A0566DC}" type="slidenum">
              <a:rPr lang="en-US" sz="900" b="0" u="none" strike="noStrike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AAAC34B3-730E-496B-B3C3-B6DFE209706E}"/>
              </a:ext>
            </a:extLst>
          </p:cNvPr>
          <p:cNvSpPr/>
          <p:nvPr/>
        </p:nvSpPr>
        <p:spPr>
          <a:xfrm>
            <a:off x="1707045" y="1767905"/>
            <a:ext cx="2331360" cy="18284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2600">
            <a:solidFill>
              <a:srgbClr val="CBD5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9302D196-90BD-4E07-B415-591A57A9ECF8}"/>
              </a:ext>
            </a:extLst>
          </p:cNvPr>
          <p:cNvSpPr/>
          <p:nvPr/>
        </p:nvSpPr>
        <p:spPr>
          <a:xfrm>
            <a:off x="1816845" y="1877705"/>
            <a:ext cx="21117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Subnet 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1B6AA1A7-5F4C-4398-9571-CA59941BB774}"/>
              </a:ext>
            </a:extLst>
          </p:cNvPr>
          <p:cNvSpPr/>
          <p:nvPr/>
        </p:nvSpPr>
        <p:spPr>
          <a:xfrm>
            <a:off x="1816845" y="2152025"/>
            <a:ext cx="21117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10.0.1.0/24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F9B72961-B898-411E-8EA1-BBC0646DC064}"/>
              </a:ext>
            </a:extLst>
          </p:cNvPr>
          <p:cNvSpPr/>
          <p:nvPr/>
        </p:nvSpPr>
        <p:spPr>
          <a:xfrm>
            <a:off x="2054445" y="2411797"/>
            <a:ext cx="1636560" cy="850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600">
            <a:solidFill>
              <a:srgbClr val="94A3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459262DD-D8BE-48C7-9E89-FCC48ED03109}"/>
              </a:ext>
            </a:extLst>
          </p:cNvPr>
          <p:cNvSpPr/>
          <p:nvPr/>
        </p:nvSpPr>
        <p:spPr>
          <a:xfrm>
            <a:off x="2174263" y="2474374"/>
            <a:ext cx="14536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>
                <a:solidFill>
                  <a:srgbClr val="1F293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Web Server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E63DFC12-E524-4556-9BD4-DDBF5E6A7F94}"/>
              </a:ext>
            </a:extLst>
          </p:cNvPr>
          <p:cNvSpPr/>
          <p:nvPr/>
        </p:nvSpPr>
        <p:spPr>
          <a:xfrm>
            <a:off x="2145885" y="2997287"/>
            <a:ext cx="14536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 dirty="0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10.0.1.10</a:t>
            </a:r>
          </a:p>
          <a:p>
            <a:pPr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64748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Public IPv4 / EIP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Shape 5"/>
          <p:cNvSpPr/>
          <p:nvPr/>
        </p:nvSpPr>
        <p:spPr>
          <a:xfrm flipV="1">
            <a:off x="3691005" y="2681945"/>
            <a:ext cx="2239920" cy="11667"/>
          </a:xfrm>
          <a:prstGeom prst="line">
            <a:avLst/>
          </a:prstGeom>
          <a:ln w="12600">
            <a:solidFill>
              <a:srgbClr val="F59E0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3710321" y="2292495"/>
            <a:ext cx="2331360" cy="4460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 dirty="0">
                <a:solidFill>
                  <a:srgbClr val="F59E0B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destination IP = 8.8.8.8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1"/>
          <p:cNvSpPr/>
          <p:nvPr/>
        </p:nvSpPr>
        <p:spPr>
          <a:xfrm>
            <a:off x="0" y="251820"/>
            <a:ext cx="4196443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Public/Private subnet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4"/>
          <p:cNvSpPr/>
          <p:nvPr/>
        </p:nvSpPr>
        <p:spPr>
          <a:xfrm>
            <a:off x="2941500" y="1486080"/>
            <a:ext cx="6309000" cy="3885840"/>
          </a:xfrm>
          <a:prstGeom prst="roundRect">
            <a:avLst>
              <a:gd name="adj" fmla="val 16667"/>
            </a:avLst>
          </a:prstGeom>
          <a:solidFill>
            <a:srgbClr val="FBFCFE"/>
          </a:solidFill>
          <a:ln w="1908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3215820" y="169632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73B63"/>
                </a:solidFill>
                <a:effectLst/>
                <a:uFillTx/>
                <a:latin typeface="Arial"/>
              </a:rPr>
              <a:t>VPC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6"/>
          <p:cNvSpPr/>
          <p:nvPr/>
        </p:nvSpPr>
        <p:spPr>
          <a:xfrm>
            <a:off x="5136060" y="1989000"/>
            <a:ext cx="1919880" cy="776880"/>
          </a:xfrm>
          <a:prstGeom prst="roundRect">
            <a:avLst>
              <a:gd name="adj" fmla="val 16667"/>
            </a:avLst>
          </a:prstGeom>
          <a:solidFill>
            <a:srgbClr val="FFF4D8"/>
          </a:solidFill>
          <a:ln w="176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7"/>
          <p:cNvSpPr/>
          <p:nvPr/>
        </p:nvSpPr>
        <p:spPr>
          <a:xfrm>
            <a:off x="5227500" y="2135160"/>
            <a:ext cx="17370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IGW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8"/>
          <p:cNvSpPr/>
          <p:nvPr/>
        </p:nvSpPr>
        <p:spPr>
          <a:xfrm>
            <a:off x="5227500" y="2482920"/>
            <a:ext cx="173700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VPC attachment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9"/>
          <p:cNvSpPr/>
          <p:nvPr/>
        </p:nvSpPr>
        <p:spPr>
          <a:xfrm>
            <a:off x="3535860" y="3223440"/>
            <a:ext cx="2331360" cy="1234080"/>
          </a:xfrm>
          <a:prstGeom prst="roundRect">
            <a:avLst>
              <a:gd name="adj" fmla="val 5926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0"/>
          <p:cNvSpPr/>
          <p:nvPr/>
        </p:nvSpPr>
        <p:spPr>
          <a:xfrm>
            <a:off x="3682020" y="3369600"/>
            <a:ext cx="203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Public subnet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1"/>
          <p:cNvSpPr/>
          <p:nvPr/>
        </p:nvSpPr>
        <p:spPr>
          <a:xfrm>
            <a:off x="3682020" y="3753720"/>
            <a:ext cx="20386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route -&gt; IGW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2"/>
          <p:cNvSpPr/>
          <p:nvPr/>
        </p:nvSpPr>
        <p:spPr>
          <a:xfrm>
            <a:off x="6461940" y="3223440"/>
            <a:ext cx="2331360" cy="1234080"/>
          </a:xfrm>
          <a:prstGeom prst="roundRect">
            <a:avLst>
              <a:gd name="adj" fmla="val 5926"/>
            </a:avLst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3"/>
          <p:cNvSpPr/>
          <p:nvPr/>
        </p:nvSpPr>
        <p:spPr>
          <a:xfrm>
            <a:off x="6608100" y="3369600"/>
            <a:ext cx="2038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Private subnet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4"/>
          <p:cNvSpPr/>
          <p:nvPr/>
        </p:nvSpPr>
        <p:spPr>
          <a:xfrm>
            <a:off x="6608100" y="3753720"/>
            <a:ext cx="20386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no direct IGW route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15"/>
          <p:cNvSpPr/>
          <p:nvPr/>
        </p:nvSpPr>
        <p:spPr>
          <a:xfrm flipV="1">
            <a:off x="4724580" y="2766240"/>
            <a:ext cx="822960" cy="45720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1"/>
          <p:cNvSpPr>
            <a:spLocks noGrp="1"/>
          </p:cNvSpPr>
          <p:nvPr>
            <p:ph type="sldNum" idx="26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B7F47-80EE-481C-8C7D-2C0428953475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18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DA2FC83A-1C61-4E20-8F93-DC769A6E8B82}"/>
              </a:ext>
            </a:extLst>
          </p:cNvPr>
          <p:cNvSpPr/>
          <p:nvPr/>
        </p:nvSpPr>
        <p:spPr>
          <a:xfrm>
            <a:off x="2727023" y="5664960"/>
            <a:ext cx="6678234" cy="5027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0000"/>
                </a:solidFill>
                <a:latin typeface="Arial"/>
              </a:rPr>
              <a:t>I</a:t>
            </a:r>
            <a:r>
              <a:rPr lang="en-US" sz="1800" u="none" strike="noStrike" dirty="0">
                <a:solidFill>
                  <a:srgbClr val="FF0000"/>
                </a:solidFill>
                <a:effectLst/>
                <a:uFillTx/>
                <a:latin typeface="Arial"/>
              </a:rPr>
              <a:t>s e</a:t>
            </a:r>
            <a:r>
              <a:rPr lang="en-US" sz="1800" u="none" strike="noStrike" dirty="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verything (e.g., the web server EC2) in public subnet reachable from the internet? Why?</a:t>
            </a:r>
            <a:endParaRPr lang="en-US" sz="180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4"/>
          <p:cNvSpPr/>
          <p:nvPr/>
        </p:nvSpPr>
        <p:spPr>
          <a:xfrm>
            <a:off x="685800" y="2286000"/>
            <a:ext cx="2468520" cy="2605680"/>
          </a:xfrm>
          <a:prstGeom prst="roundRect">
            <a:avLst>
              <a:gd name="adj" fmla="val 2963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5"/>
          <p:cNvSpPr/>
          <p:nvPr/>
        </p:nvSpPr>
        <p:spPr>
          <a:xfrm>
            <a:off x="831960" y="2432160"/>
            <a:ext cx="2175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1 Routing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6"/>
          <p:cNvSpPr/>
          <p:nvPr/>
        </p:nvSpPr>
        <p:spPr>
          <a:xfrm>
            <a:off x="831960" y="2816280"/>
            <a:ext cx="2175840" cy="194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Subnet has 0.0.0.0/0 -&gt; IGW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7"/>
          <p:cNvSpPr/>
          <p:nvPr/>
        </p:nvSpPr>
        <p:spPr>
          <a:xfrm>
            <a:off x="3474720" y="2286000"/>
            <a:ext cx="2468520" cy="2605680"/>
          </a:xfrm>
          <a:prstGeom prst="roundRect">
            <a:avLst>
              <a:gd name="adj" fmla="val 2963"/>
            </a:avLst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8"/>
          <p:cNvSpPr/>
          <p:nvPr/>
        </p:nvSpPr>
        <p:spPr>
          <a:xfrm>
            <a:off x="3620880" y="2432160"/>
            <a:ext cx="2175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2 Addressing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9"/>
          <p:cNvSpPr/>
          <p:nvPr/>
        </p:nvSpPr>
        <p:spPr>
          <a:xfrm>
            <a:off x="3620880" y="2816280"/>
            <a:ext cx="2175840" cy="194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Web server EC2 has public IPv4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0"/>
          <p:cNvSpPr/>
          <p:nvPr/>
        </p:nvSpPr>
        <p:spPr>
          <a:xfrm>
            <a:off x="6263640" y="2286000"/>
            <a:ext cx="2468520" cy="2605680"/>
          </a:xfrm>
          <a:prstGeom prst="roundRect">
            <a:avLst>
              <a:gd name="adj" fmla="val 2963"/>
            </a:avLst>
          </a:prstGeom>
          <a:solidFill>
            <a:srgbClr val="EAF6EF"/>
          </a:solidFill>
          <a:ln w="1512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1"/>
          <p:cNvSpPr/>
          <p:nvPr/>
        </p:nvSpPr>
        <p:spPr>
          <a:xfrm>
            <a:off x="6409800" y="2432160"/>
            <a:ext cx="2175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3 Security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2"/>
          <p:cNvSpPr/>
          <p:nvPr/>
        </p:nvSpPr>
        <p:spPr>
          <a:xfrm>
            <a:off x="6409800" y="2816280"/>
            <a:ext cx="2175840" cy="194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SG allow protocol + port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3"/>
          <p:cNvSpPr/>
          <p:nvPr/>
        </p:nvSpPr>
        <p:spPr>
          <a:xfrm>
            <a:off x="9052560" y="2286000"/>
            <a:ext cx="2468520" cy="2605680"/>
          </a:xfrm>
          <a:prstGeom prst="roundRect">
            <a:avLst>
              <a:gd name="adj" fmla="val 2963"/>
            </a:avLst>
          </a:prstGeom>
          <a:solidFill>
            <a:srgbClr val="F1EEFF"/>
          </a:solidFill>
          <a:ln w="15120">
            <a:solidFill>
              <a:srgbClr val="7A5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4"/>
          <p:cNvSpPr/>
          <p:nvPr/>
        </p:nvSpPr>
        <p:spPr>
          <a:xfrm>
            <a:off x="9198720" y="2432160"/>
            <a:ext cx="2175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4 Service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5"/>
          <p:cNvSpPr/>
          <p:nvPr/>
        </p:nvSpPr>
        <p:spPr>
          <a:xfrm>
            <a:off x="9198720" y="2816280"/>
            <a:ext cx="2175840" cy="194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Web server is listening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PlaceHolder 1"/>
          <p:cNvSpPr>
            <a:spLocks noGrp="1"/>
          </p:cNvSpPr>
          <p:nvPr>
            <p:ph type="sldNum" idx="28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41C3C9-16AC-4F27-A333-B09BCF0DAD1C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19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3A0A4E45-D344-4C1E-A9B7-D961B12FE461}"/>
              </a:ext>
            </a:extLst>
          </p:cNvPr>
          <p:cNvSpPr/>
          <p:nvPr/>
        </p:nvSpPr>
        <p:spPr>
          <a:xfrm>
            <a:off x="210600" y="337783"/>
            <a:ext cx="10926720" cy="8451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u="none" strike="noStrike" dirty="0">
                <a:effectLst/>
                <a:uFillTx/>
                <a:latin typeface="Arial"/>
              </a:rPr>
              <a:t>Not e</a:t>
            </a:r>
            <a:r>
              <a:rPr lang="en-US" sz="2800" u="none" strike="noStrike" dirty="0">
                <a:effectLst/>
                <a:uFillTx/>
                <a:latin typeface="Arial"/>
                <a:ea typeface="Arial"/>
              </a:rPr>
              <a:t>verything in public subnet is reachable from the internet</a:t>
            </a:r>
            <a:endParaRPr lang="en-US" sz="2700" b="0" u="none" strike="noStrike" dirty="0"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 1"/>
          <p:cNvSpPr/>
          <p:nvPr/>
        </p:nvSpPr>
        <p:spPr>
          <a:xfrm>
            <a:off x="354349" y="402166"/>
            <a:ext cx="5174581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Internet -&gt; web server EC2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4"/>
          <p:cNvSpPr/>
          <p:nvPr/>
        </p:nvSpPr>
        <p:spPr>
          <a:xfrm>
            <a:off x="749880" y="1518480"/>
            <a:ext cx="502560" cy="502560"/>
          </a:xfrm>
          <a:prstGeom prst="ellipse">
            <a:avLst/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5"/>
          <p:cNvSpPr/>
          <p:nvPr/>
        </p:nvSpPr>
        <p:spPr>
          <a:xfrm>
            <a:off x="766209" y="1633218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6"/>
          <p:cNvSpPr/>
          <p:nvPr/>
        </p:nvSpPr>
        <p:spPr>
          <a:xfrm>
            <a:off x="872347" y="1599141"/>
            <a:ext cx="7609441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Destination: </a:t>
            </a:r>
            <a:r>
              <a:rPr lang="en-US" sz="16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The Internet user sends to the EC2’s public IPv4 address.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8"/>
          <p:cNvSpPr/>
          <p:nvPr/>
        </p:nvSpPr>
        <p:spPr>
          <a:xfrm>
            <a:off x="749880" y="2377800"/>
            <a:ext cx="502560" cy="502560"/>
          </a:xfrm>
          <a:prstGeom prst="ellipse">
            <a:avLst/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9"/>
          <p:cNvSpPr/>
          <p:nvPr/>
        </p:nvSpPr>
        <p:spPr>
          <a:xfrm>
            <a:off x="766209" y="2509227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10"/>
          <p:cNvSpPr/>
          <p:nvPr/>
        </p:nvSpPr>
        <p:spPr>
          <a:xfrm>
            <a:off x="872347" y="2301348"/>
            <a:ext cx="9230503" cy="6286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VPC edge:  </a:t>
            </a:r>
            <a:r>
              <a:rPr lang="en-US" sz="1600" b="1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1600" dirty="0">
                <a:solidFill>
                  <a:srgbClr val="263238"/>
                </a:solidFill>
                <a:latin typeface="Arial"/>
              </a:rPr>
              <a:t>he Internet gateway maps the EC2's public IPv4 to its private IPv4 address.</a:t>
            </a:r>
          </a:p>
        </p:txBody>
      </p:sp>
      <p:sp>
        <p:nvSpPr>
          <p:cNvPr id="436" name="Shape 12"/>
          <p:cNvSpPr/>
          <p:nvPr/>
        </p:nvSpPr>
        <p:spPr>
          <a:xfrm>
            <a:off x="749880" y="3237480"/>
            <a:ext cx="502560" cy="502560"/>
          </a:xfrm>
          <a:prstGeom prst="ellipse">
            <a:avLst/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3"/>
          <p:cNvSpPr/>
          <p:nvPr/>
        </p:nvSpPr>
        <p:spPr>
          <a:xfrm>
            <a:off x="766209" y="3364407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4"/>
          <p:cNvSpPr/>
          <p:nvPr/>
        </p:nvSpPr>
        <p:spPr>
          <a:xfrm>
            <a:off x="1350411" y="3356463"/>
            <a:ext cx="9230503" cy="5628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Routing + security: </a:t>
            </a:r>
            <a:r>
              <a:rPr lang="en-US" sz="16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The public subnet has an IGW route; Security group allows the inbound traffic.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5"/>
          <p:cNvSpPr/>
          <p:nvPr/>
        </p:nvSpPr>
        <p:spPr>
          <a:xfrm>
            <a:off x="3886200" y="3173400"/>
            <a:ext cx="7269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16"/>
          <p:cNvSpPr/>
          <p:nvPr/>
        </p:nvSpPr>
        <p:spPr>
          <a:xfrm>
            <a:off x="749880" y="4096800"/>
            <a:ext cx="502560" cy="502560"/>
          </a:xfrm>
          <a:prstGeom prst="ellipse">
            <a:avLst/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7"/>
          <p:cNvSpPr/>
          <p:nvPr/>
        </p:nvSpPr>
        <p:spPr>
          <a:xfrm>
            <a:off x="766209" y="4209789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8"/>
          <p:cNvSpPr/>
          <p:nvPr/>
        </p:nvSpPr>
        <p:spPr>
          <a:xfrm>
            <a:off x="287298" y="4078760"/>
            <a:ext cx="8779538" cy="5628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Service</a:t>
            </a:r>
            <a:r>
              <a:rPr lang="en-AU" sz="1600" b="1" dirty="0">
                <a:solidFill>
                  <a:srgbClr val="173B63"/>
                </a:solidFill>
                <a:latin typeface="Arial"/>
                <a:ea typeface="Arial"/>
              </a:rPr>
              <a:t>: </a:t>
            </a:r>
            <a:r>
              <a:rPr lang="en-US" sz="16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The EC2 must be running and listening on the requested port.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9"/>
          <p:cNvSpPr/>
          <p:nvPr/>
        </p:nvSpPr>
        <p:spPr>
          <a:xfrm>
            <a:off x="3184974" y="4236171"/>
            <a:ext cx="7281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sldNum" idx="29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6CEDC9-2E55-4B01-8350-B098B40C1237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20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5083DC6-3390-4105-B80F-8A6FE961C065}"/>
              </a:ext>
            </a:extLst>
          </p:cNvPr>
          <p:cNvSpPr/>
          <p:nvPr/>
        </p:nvSpPr>
        <p:spPr>
          <a:xfrm>
            <a:off x="4452983" y="2743120"/>
            <a:ext cx="4447178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u="none" strike="noStrike" dirty="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Why</a:t>
            </a:r>
            <a:r>
              <a:rPr lang="en-US" sz="1800" dirty="0">
                <a:solidFill>
                  <a:srgbClr val="FF0000"/>
                </a:solidFill>
                <a:latin typeface="Arial"/>
                <a:ea typeface="Arial"/>
              </a:rPr>
              <a:t> does AWS perform the mapping?</a:t>
            </a:r>
            <a:endParaRPr lang="en-US" sz="180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685800" y="1965960"/>
            <a:ext cx="1856232" cy="1097280"/>
          </a:xfrm>
          <a:prstGeom prst="roundRect">
            <a:avLst>
              <a:gd name="adj" fmla="val 6667"/>
            </a:avLst>
          </a:prstGeom>
          <a:solidFill>
            <a:srgbClr val="EAF3FF"/>
          </a:solidFill>
          <a:ln w="15875">
            <a:solidFill>
              <a:srgbClr val="A9C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6092" y="2039112"/>
            <a:ext cx="183794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832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Internet user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700" b="1" dirty="0">
                <a:solidFill>
                  <a:srgbClr val="1832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203.0.113.5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794760" y="18288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4D6"/>
          </a:solidFill>
          <a:ln w="15875">
            <a:solidFill>
              <a:srgbClr val="F2C66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04488" y="1901952"/>
            <a:ext cx="2295144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2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Internet Gateway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52360" y="1737360"/>
            <a:ext cx="3154680" cy="1554480"/>
          </a:xfrm>
          <a:prstGeom prst="roundRect">
            <a:avLst>
              <a:gd name="adj" fmla="val 4706"/>
            </a:avLst>
          </a:prstGeom>
          <a:solidFill>
            <a:srgbClr val="EAF7F0"/>
          </a:solidFill>
          <a:ln w="15875">
            <a:solidFill>
              <a:srgbClr val="A8D7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62088" y="1810512"/>
            <a:ext cx="2935224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832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EC2 instance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>
                <a:solidFill>
                  <a:srgbClr val="1832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uses</a:t>
            </a:r>
            <a:endParaRPr lang="en-US" sz="1800" b="1" dirty="0">
              <a:solidFill>
                <a:srgbClr val="18324B"/>
              </a:solidFill>
              <a:latin typeface="Arial" panose="020B0604020202020204" pitchFamily="34" charset="0"/>
              <a:ea typeface="Aptos Mono" pitchFamily="34" charset="-122"/>
              <a:cs typeface="Arial" panose="020B0604020202020204" pitchFamily="34" charset="0"/>
            </a:endParaRPr>
          </a:p>
          <a:p>
            <a:r>
              <a:rPr lang="en-US" sz="1800" b="1" dirty="0">
                <a:solidFill>
                  <a:srgbClr val="18324B"/>
                </a:solidFill>
                <a:latin typeface="Arial" panose="020B0604020202020204" pitchFamily="34" charset="0"/>
                <a:ea typeface="Aptos" pitchFamily="34" charset="-122"/>
                <a:cs typeface="Arial" panose="020B0604020202020204" pitchFamily="34" charset="0"/>
              </a:rPr>
              <a:t>10.0.1.10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800" b="1" dirty="0">
                <a:solidFill>
                  <a:srgbClr val="18324B"/>
                </a:solidFill>
                <a:latin typeface="Arial" panose="020B0604020202020204" pitchFamily="34" charset="0"/>
                <a:ea typeface="Aptos Mono" pitchFamily="34" charset="-122"/>
                <a:cs typeface="Arial" panose="020B0604020202020204" pitchFamily="34" charset="0"/>
              </a:rPr>
              <a:t>54.240.10.20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42032" y="2514600"/>
            <a:ext cx="1252728" cy="0"/>
          </a:xfrm>
          <a:prstGeom prst="line">
            <a:avLst/>
          </a:prstGeom>
          <a:noFill/>
          <a:ln w="279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2514600"/>
            <a:ext cx="1143000" cy="0"/>
          </a:xfrm>
          <a:prstGeom prst="line">
            <a:avLst/>
          </a:prstGeom>
          <a:noFill/>
          <a:ln w="27940">
            <a:solidFill>
              <a:srgbClr val="5B657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574036" y="22082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65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 packet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59736" y="2606041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F80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dst = 54.240.10.20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17036" y="3300985"/>
            <a:ext cx="2706474" cy="210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IPv4 destination translation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73670" y="3566168"/>
            <a:ext cx="3193205" cy="21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8324B"/>
                </a:solidFill>
                <a:latin typeface="Arial" panose="020B0604020202020204" pitchFamily="34" charset="0"/>
                <a:ea typeface="Aptos Mono" pitchFamily="34" charset="-122"/>
                <a:cs typeface="Arial" panose="020B0604020202020204" pitchFamily="34" charset="0"/>
              </a:rPr>
              <a:t>54.240.10.20  →  10.0.1.10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877056" y="38039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IPv4 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62806" y="3774077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57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IPv4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459736" y="4453570"/>
            <a:ext cx="6096000" cy="105156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D5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7040" y="4643906"/>
            <a:ext cx="101498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832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instance is addressed internally by its private IPv4</a:t>
            </a:r>
            <a:r>
              <a:rPr lang="en-US" sz="1550" dirty="0">
                <a:solidFill>
                  <a:srgbClr val="1832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B7455964-FD59-47C0-BF38-4A759211693C}"/>
              </a:ext>
            </a:extLst>
          </p:cNvPr>
          <p:cNvSpPr/>
          <p:nvPr/>
        </p:nvSpPr>
        <p:spPr>
          <a:xfrm>
            <a:off x="354349" y="402166"/>
            <a:ext cx="5174581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Internet -&gt; web server EC2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laceHolder 1">
            <a:extLst>
              <a:ext uri="{FF2B5EF4-FFF2-40B4-BE49-F238E27FC236}">
                <a16:creationId xmlns:a16="http://schemas.microsoft.com/office/drawing/2014/main" id="{35A771B6-1BF2-49B6-A802-B3C6798CE503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16CEDC9-2E55-4B01-8350-B098B40C1237}" type="slidenum">
              <a:rPr lang="en-AU" smtClean="0"/>
              <a:pPr/>
              <a:t>21</a:t>
            </a:fld>
            <a:endParaRPr lang="en-AU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 1"/>
          <p:cNvSpPr/>
          <p:nvPr/>
        </p:nvSpPr>
        <p:spPr>
          <a:xfrm>
            <a:off x="354349" y="402166"/>
            <a:ext cx="5174581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Internet -&gt; web server EC2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1"/>
          <p:cNvSpPr>
            <a:spLocks noGrp="1"/>
          </p:cNvSpPr>
          <p:nvPr>
            <p:ph type="sldNum" idx="29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6CEDC9-2E55-4B01-8350-B098B40C1237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22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5083DC6-3390-4105-B80F-8A6FE961C065}"/>
              </a:ext>
            </a:extLst>
          </p:cNvPr>
          <p:cNvSpPr/>
          <p:nvPr/>
        </p:nvSpPr>
        <p:spPr>
          <a:xfrm>
            <a:off x="766209" y="5127732"/>
            <a:ext cx="8779537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dirty="0">
                <a:solidFill>
                  <a:srgbClr val="FF0000"/>
                </a:solidFill>
                <a:latin typeface="Arial"/>
              </a:rPr>
              <a:t>I</a:t>
            </a:r>
            <a:r>
              <a:rPr lang="en-US" sz="1800" u="none" strike="noStrike" dirty="0">
                <a:solidFill>
                  <a:srgbClr val="FF0000"/>
                </a:solidFill>
                <a:effectLst/>
                <a:uFillTx/>
                <a:latin typeface="Arial"/>
              </a:rPr>
              <a:t>s web server EC2 </a:t>
            </a:r>
            <a:r>
              <a:rPr lang="en-US" sz="1800" u="none" strike="noStrike" dirty="0">
                <a:solidFill>
                  <a:srgbClr val="FF0000"/>
                </a:solidFill>
                <a:effectLst/>
                <a:uFillTx/>
                <a:latin typeface="Arial"/>
                <a:ea typeface="Arial"/>
              </a:rPr>
              <a:t>reachable from the internet a common deployment practice? Why?</a:t>
            </a:r>
            <a:endParaRPr lang="en-US" sz="1800" u="none" strike="noStrike" dirty="0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B7125590-1E75-49F3-83DD-F0954CE77A6C}"/>
              </a:ext>
            </a:extLst>
          </p:cNvPr>
          <p:cNvSpPr/>
          <p:nvPr/>
        </p:nvSpPr>
        <p:spPr>
          <a:xfrm>
            <a:off x="749880" y="1518480"/>
            <a:ext cx="502560" cy="502560"/>
          </a:xfrm>
          <a:prstGeom prst="ellipse">
            <a:avLst/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9A7F15E4-8052-4C8A-A0BA-79CFBC21A6EE}"/>
              </a:ext>
            </a:extLst>
          </p:cNvPr>
          <p:cNvSpPr/>
          <p:nvPr/>
        </p:nvSpPr>
        <p:spPr>
          <a:xfrm>
            <a:off x="766209" y="1633218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BD41090C-9535-4756-96DA-1E8F8D402AC2}"/>
              </a:ext>
            </a:extLst>
          </p:cNvPr>
          <p:cNvSpPr/>
          <p:nvPr/>
        </p:nvSpPr>
        <p:spPr>
          <a:xfrm>
            <a:off x="872347" y="1599141"/>
            <a:ext cx="7609441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Destination: </a:t>
            </a:r>
            <a:r>
              <a:rPr lang="en-US" sz="16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The Internet user sends to the EC2’s public IPv4 address.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43BFFBCC-0F92-4D2B-BF79-3386A4EE7E12}"/>
              </a:ext>
            </a:extLst>
          </p:cNvPr>
          <p:cNvSpPr/>
          <p:nvPr/>
        </p:nvSpPr>
        <p:spPr>
          <a:xfrm>
            <a:off x="749880" y="2377800"/>
            <a:ext cx="502560" cy="502560"/>
          </a:xfrm>
          <a:prstGeom prst="ellipse">
            <a:avLst/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33F03179-AAE7-4E9D-AB7D-BB303D9C9E2D}"/>
              </a:ext>
            </a:extLst>
          </p:cNvPr>
          <p:cNvSpPr/>
          <p:nvPr/>
        </p:nvSpPr>
        <p:spPr>
          <a:xfrm>
            <a:off x="766209" y="2509227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48F7861A-8D4D-441B-B764-EE4A0116B1FC}"/>
              </a:ext>
            </a:extLst>
          </p:cNvPr>
          <p:cNvSpPr/>
          <p:nvPr/>
        </p:nvSpPr>
        <p:spPr>
          <a:xfrm>
            <a:off x="1252440" y="2324974"/>
            <a:ext cx="9230503" cy="6286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VPC edge:  </a:t>
            </a:r>
            <a:r>
              <a:rPr lang="en-US" sz="1600" dirty="0">
                <a:solidFill>
                  <a:srgbClr val="263238"/>
                </a:solidFill>
                <a:latin typeface="Arial"/>
              </a:rPr>
              <a:t>At the Internet gateway, AWS maps the EC2's public IPv4 to its private IPv4 address.</a:t>
            </a: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15FEFD29-1D7C-44B1-A40A-3928CA3ACD89}"/>
              </a:ext>
            </a:extLst>
          </p:cNvPr>
          <p:cNvSpPr/>
          <p:nvPr/>
        </p:nvSpPr>
        <p:spPr>
          <a:xfrm>
            <a:off x="749880" y="3237480"/>
            <a:ext cx="502560" cy="502560"/>
          </a:xfrm>
          <a:prstGeom prst="ellipse">
            <a:avLst/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76E2AAA1-3925-418B-BE59-113DE9FA0E4F}"/>
              </a:ext>
            </a:extLst>
          </p:cNvPr>
          <p:cNvSpPr/>
          <p:nvPr/>
        </p:nvSpPr>
        <p:spPr>
          <a:xfrm>
            <a:off x="766209" y="3364407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808D6FA1-E513-4CC9-8824-0912C963B66E}"/>
              </a:ext>
            </a:extLst>
          </p:cNvPr>
          <p:cNvSpPr/>
          <p:nvPr/>
        </p:nvSpPr>
        <p:spPr>
          <a:xfrm>
            <a:off x="1350411" y="3356463"/>
            <a:ext cx="9230503" cy="5628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Routing + security: </a:t>
            </a:r>
            <a:r>
              <a:rPr lang="en-US" sz="16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The public subnet has an IGW route; Security group allows the inbound traffic.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BFFAEA1D-467C-450E-8B4F-3984CDD8D27E}"/>
              </a:ext>
            </a:extLst>
          </p:cNvPr>
          <p:cNvSpPr/>
          <p:nvPr/>
        </p:nvSpPr>
        <p:spPr>
          <a:xfrm>
            <a:off x="3886200" y="3173400"/>
            <a:ext cx="7269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64DA154B-751C-4731-AA1C-074D975D3AAB}"/>
              </a:ext>
            </a:extLst>
          </p:cNvPr>
          <p:cNvSpPr/>
          <p:nvPr/>
        </p:nvSpPr>
        <p:spPr>
          <a:xfrm>
            <a:off x="749880" y="4096800"/>
            <a:ext cx="502560" cy="502560"/>
          </a:xfrm>
          <a:prstGeom prst="ellipse">
            <a:avLst/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0CBB40D4-64A4-421A-87EC-3E0DEC6357EB}"/>
              </a:ext>
            </a:extLst>
          </p:cNvPr>
          <p:cNvSpPr/>
          <p:nvPr/>
        </p:nvSpPr>
        <p:spPr>
          <a:xfrm>
            <a:off x="766209" y="4209789"/>
            <a:ext cx="502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9FCBB6B2-D3FF-46E8-A0AC-E82E9F1E094F}"/>
              </a:ext>
            </a:extLst>
          </p:cNvPr>
          <p:cNvSpPr/>
          <p:nvPr/>
        </p:nvSpPr>
        <p:spPr>
          <a:xfrm>
            <a:off x="287298" y="4078760"/>
            <a:ext cx="8779538" cy="5628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Service</a:t>
            </a:r>
            <a:r>
              <a:rPr lang="en-AU" sz="1600" b="1" dirty="0">
                <a:solidFill>
                  <a:srgbClr val="173B63"/>
                </a:solidFill>
                <a:latin typeface="Arial"/>
                <a:ea typeface="Arial"/>
              </a:rPr>
              <a:t>: </a:t>
            </a:r>
            <a:r>
              <a:rPr lang="en-US" sz="16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The EC2 must be running and listening on the requested port.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4826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Text 1"/>
          <p:cNvSpPr/>
          <p:nvPr/>
        </p:nvSpPr>
        <p:spPr>
          <a:xfrm>
            <a:off x="0" y="228960"/>
            <a:ext cx="6706636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Why keep </a:t>
            </a:r>
            <a:r>
              <a:rPr lang="en-US" sz="2700" b="1" dirty="0">
                <a:solidFill>
                  <a:srgbClr val="173B63"/>
                </a:solidFill>
                <a:latin typeface="Arial"/>
                <a:ea typeface="Arial"/>
              </a:rPr>
              <a:t>web</a:t>
            </a: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 server EC2 private?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4"/>
          <p:cNvSpPr/>
          <p:nvPr/>
        </p:nvSpPr>
        <p:spPr>
          <a:xfrm>
            <a:off x="594360" y="1348274"/>
            <a:ext cx="10423800" cy="374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285750" indent="-285750" algn="l" defTabSz="914400">
              <a:lnSpc>
                <a:spcPct val="100000"/>
              </a:lnSpc>
              <a:buClr>
                <a:srgbClr val="263238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Saving public IPv4 addresses</a:t>
            </a: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: Users need access to the web service, not direct access to every web server instance</a:t>
            </a:r>
            <a:r>
              <a:rPr lang="en-US" dirty="0">
                <a:solidFill>
                  <a:srgbClr val="263238"/>
                </a:solidFill>
                <a:latin typeface="Arial"/>
                <a:ea typeface="Arial"/>
              </a:rPr>
              <a:t>. If placing the web server instances in private subnets, this </a:t>
            </a: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can save public IPv4 addresses and accept inbound traffic from ALB.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marL="285750" indent="-285750" algn="l">
              <a:buClr>
                <a:srgbClr val="263238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b="1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Enabling scaling and fault tolerance: </a:t>
            </a:r>
            <a:r>
              <a:rPr lang="en-US" dirty="0">
                <a:solidFill>
                  <a:srgbClr val="263238"/>
                </a:solidFill>
                <a:latin typeface="Arial"/>
              </a:rPr>
              <a:t>with ALB in use, more instances can be added dynamically to accept increased traffic and unhealthy instances can be replaced without affecting public access.</a:t>
            </a:r>
          </a:p>
        </p:txBody>
      </p:sp>
      <p:sp>
        <p:nvSpPr>
          <p:cNvPr id="450" name="PlaceHolder 1"/>
          <p:cNvSpPr>
            <a:spLocks noGrp="1"/>
          </p:cNvSpPr>
          <p:nvPr>
            <p:ph type="sldNum" idx="30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971DB0-7C93-4200-877D-BB4ED418B7A9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23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000458" y="5015484"/>
            <a:ext cx="8191083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26948" y="1303020"/>
            <a:ext cx="1874520" cy="868680"/>
          </a:xfrm>
          <a:prstGeom prst="roundRect">
            <a:avLst/>
          </a:prstGeom>
          <a:solidFill>
            <a:srgbClr val="EDF5FF"/>
          </a:solidFill>
          <a:ln w="13970">
            <a:solidFill>
              <a:srgbClr val="AFC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8388" y="1367028"/>
            <a:ext cx="1691640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 server EC2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10.0.2.10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99332" y="1303020"/>
            <a:ext cx="2057400" cy="868680"/>
          </a:xfrm>
          <a:prstGeom prst="roundRect">
            <a:avLst/>
          </a:prstGeom>
          <a:solidFill>
            <a:srgbClr val="FFF5E6"/>
          </a:solidFill>
          <a:ln w="13970">
            <a:solidFill>
              <a:srgbClr val="F0C4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90772" y="1367028"/>
            <a:ext cx="1874520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 Gateway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54.240.10.20</a:t>
            </a:r>
          </a:p>
          <a:p>
            <a:r>
              <a:rPr lang="en-AU" sz="1600" dirty="0">
                <a:latin typeface="Arial" panose="020B0604020202020204" pitchFamily="34" charset="0"/>
                <a:cs typeface="Arial" panose="020B0604020202020204" pitchFamily="34" charset="0"/>
              </a:rPr>
              <a:t>10.0.1.50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72300" y="1303020"/>
            <a:ext cx="1874520" cy="868680"/>
          </a:xfrm>
          <a:prstGeom prst="roundRect">
            <a:avLst/>
          </a:prstGeom>
          <a:solidFill>
            <a:srgbClr val="ECF8F1"/>
          </a:solidFill>
          <a:ln w="13970">
            <a:solidFill>
              <a:srgbClr val="A8D7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63740" y="1367028"/>
            <a:ext cx="1691640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870948" y="1303020"/>
            <a:ext cx="1600200" cy="868680"/>
          </a:xfrm>
          <a:prstGeom prst="roundRect">
            <a:avLst/>
          </a:prstGeom>
          <a:solidFill>
            <a:srgbClr val="F6F8FA"/>
          </a:solidFill>
          <a:ln w="13970">
            <a:solidFill>
              <a:srgbClr val="D6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62388" y="1367028"/>
            <a:ext cx="1417320" cy="740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601468" y="1732788"/>
            <a:ext cx="1197864" cy="0"/>
          </a:xfrm>
          <a:prstGeom prst="line">
            <a:avLst/>
          </a:prstGeom>
          <a:noFill/>
          <a:ln w="27940">
            <a:solidFill>
              <a:srgbClr val="2F80ED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56732" y="1732788"/>
            <a:ext cx="1115568" cy="0"/>
          </a:xfrm>
          <a:prstGeom prst="line">
            <a:avLst/>
          </a:prstGeom>
          <a:noFill/>
          <a:ln w="27940">
            <a:solidFill>
              <a:srgbClr val="2F80ED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846820" y="1732788"/>
            <a:ext cx="1024128" cy="0"/>
          </a:xfrm>
          <a:prstGeom prst="line">
            <a:avLst/>
          </a:prstGeom>
          <a:noFill/>
          <a:ln w="27940">
            <a:solidFill>
              <a:srgbClr val="2F80ED"/>
            </a:solidFill>
            <a:prstDash val="solid"/>
            <a:headEnd type="triangl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37260" y="22631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F80E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91940" y="22631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09460" y="22631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E8B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attached to the VPC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20840" y="311880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subnet route table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20840" y="3557720"/>
            <a:ext cx="2306117" cy="438912"/>
          </a:xfrm>
          <a:prstGeom prst="rect">
            <a:avLst/>
          </a:prstGeom>
          <a:solidFill>
            <a:srgbClr val="E9EEF5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26957" y="3557720"/>
            <a:ext cx="2128723" cy="438912"/>
          </a:xfrm>
          <a:prstGeom prst="rect">
            <a:avLst/>
          </a:prstGeom>
          <a:solidFill>
            <a:srgbClr val="E9EEF5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93992" y="3640016"/>
            <a:ext cx="2159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Destination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00109" y="3640016"/>
            <a:ext cx="19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720840" y="3996632"/>
            <a:ext cx="2306117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26957" y="3996632"/>
            <a:ext cx="2128723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4078928"/>
            <a:ext cx="2159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10.0.0.0/16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00109" y="4078928"/>
            <a:ext cx="19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720840" y="4435544"/>
            <a:ext cx="2306117" cy="438912"/>
          </a:xfrm>
          <a:prstGeom prst="rect">
            <a:avLst/>
          </a:prstGeom>
          <a:solidFill>
            <a:srgbClr val="FFF5E6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26957" y="4435544"/>
            <a:ext cx="2128723" cy="438912"/>
          </a:xfrm>
          <a:prstGeom prst="rect">
            <a:avLst/>
          </a:prstGeom>
          <a:solidFill>
            <a:srgbClr val="FFF5E6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4517840"/>
            <a:ext cx="2159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0.0.0.0/0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100109" y="4517840"/>
            <a:ext cx="19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9C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nat-...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21892" y="311880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subnet route table</a:t>
            </a:r>
            <a:endParaRPr lang="en-US" sz="16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421892" y="3557720"/>
            <a:ext cx="2306117" cy="438912"/>
          </a:xfrm>
          <a:prstGeom prst="rect">
            <a:avLst/>
          </a:prstGeom>
          <a:solidFill>
            <a:srgbClr val="E9EEF5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8009" y="3557720"/>
            <a:ext cx="2128723" cy="438912"/>
          </a:xfrm>
          <a:prstGeom prst="rect">
            <a:avLst/>
          </a:prstGeom>
          <a:solidFill>
            <a:srgbClr val="E9EEF5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5044" y="3640016"/>
            <a:ext cx="2159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65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Destination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801161" y="3640016"/>
            <a:ext cx="19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0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421892" y="3996632"/>
            <a:ext cx="2306117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8009" y="3996632"/>
            <a:ext cx="2128723" cy="438912"/>
          </a:xfrm>
          <a:prstGeom prst="rect">
            <a:avLst/>
          </a:prstGeom>
          <a:solidFill>
            <a:srgbClr val="FFFFFF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95044" y="4078928"/>
            <a:ext cx="2159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10.0.0.0/16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801161" y="4078928"/>
            <a:ext cx="19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421892" y="4435544"/>
            <a:ext cx="2306117" cy="438912"/>
          </a:xfrm>
          <a:prstGeom prst="rect">
            <a:avLst/>
          </a:prstGeom>
          <a:solidFill>
            <a:srgbClr val="ECF8F1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28009" y="4435544"/>
            <a:ext cx="2128723" cy="438912"/>
          </a:xfrm>
          <a:prstGeom prst="rect">
            <a:avLst/>
          </a:prstGeom>
          <a:solidFill>
            <a:srgbClr val="ECF8F1"/>
          </a:solidFill>
          <a:ln w="11430">
            <a:solidFill>
              <a:srgbClr val="D6DE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95044" y="4517840"/>
            <a:ext cx="21598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0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0.0.0.0/0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801161" y="4517840"/>
            <a:ext cx="19824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9C1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igw-...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1155680" y="64922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1">
            <a:extLst>
              <a:ext uri="{FF2B5EF4-FFF2-40B4-BE49-F238E27FC236}">
                <a16:creationId xmlns:a16="http://schemas.microsoft.com/office/drawing/2014/main" id="{E810BAE7-3EB7-4038-9921-DC9B9FDB3436}"/>
              </a:ext>
            </a:extLst>
          </p:cNvPr>
          <p:cNvSpPr/>
          <p:nvPr/>
        </p:nvSpPr>
        <p:spPr>
          <a:xfrm>
            <a:off x="0" y="228960"/>
            <a:ext cx="6706636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dirty="0">
                <a:solidFill>
                  <a:srgbClr val="173B63"/>
                </a:solidFill>
                <a:latin typeface="Arial"/>
                <a:ea typeface="Arial"/>
              </a:rPr>
              <a:t>Keep the</a:t>
            </a: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700" b="1" dirty="0">
                <a:solidFill>
                  <a:srgbClr val="173B63"/>
                </a:solidFill>
                <a:latin typeface="Arial"/>
                <a:ea typeface="Arial"/>
              </a:rPr>
              <a:t>web</a:t>
            </a: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 server EC2 private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D7663CE8-FF9C-4CA5-81AE-37779F698CBC}"/>
              </a:ext>
            </a:extLst>
          </p:cNvPr>
          <p:cNvSpPr/>
          <p:nvPr/>
        </p:nvSpPr>
        <p:spPr>
          <a:xfrm>
            <a:off x="2463842" y="5444728"/>
            <a:ext cx="6182276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800" dirty="0">
                <a:solidFill>
                  <a:srgbClr val="FF0000"/>
                </a:solidFill>
                <a:latin typeface="Arial"/>
              </a:rPr>
              <a:t>How do the route tables above route the </a:t>
            </a:r>
            <a:r>
              <a:rPr lang="en-US" altLang="zh-CN" sz="1800" dirty="0">
                <a:solidFill>
                  <a:srgbClr val="FF0000"/>
                </a:solidFill>
                <a:latin typeface="Arial"/>
              </a:rPr>
              <a:t>outbound</a:t>
            </a:r>
            <a:r>
              <a:rPr lang="en-US" sz="1800" dirty="0">
                <a:solidFill>
                  <a:srgbClr val="FF0000"/>
                </a:solidFill>
                <a:latin typeface="Arial"/>
              </a:rPr>
              <a:t> traffic from the web server to 8.8.8.8 from the internet?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Shape 4"/>
          <p:cNvSpPr/>
          <p:nvPr/>
        </p:nvSpPr>
        <p:spPr>
          <a:xfrm>
            <a:off x="822960" y="1303200"/>
            <a:ext cx="5303160" cy="4251600"/>
          </a:xfrm>
          <a:prstGeom prst="roundRect">
            <a:avLst>
              <a:gd name="adj" fmla="val 1720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5"/>
          <p:cNvSpPr/>
          <p:nvPr/>
        </p:nvSpPr>
        <p:spPr>
          <a:xfrm>
            <a:off x="969120" y="1449360"/>
            <a:ext cx="5010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Internet Gateway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969120" y="1833480"/>
            <a:ext cx="5157000" cy="359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• Attached to the VPC as an Internet edge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• Route target for Internet-routable traffic</a:t>
            </a: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• Part of internet inbound/outbound paths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7"/>
          <p:cNvSpPr/>
          <p:nvPr/>
        </p:nvSpPr>
        <p:spPr>
          <a:xfrm>
            <a:off x="6400800" y="1303200"/>
            <a:ext cx="5303160" cy="4251600"/>
          </a:xfrm>
          <a:prstGeom prst="roundRect">
            <a:avLst>
              <a:gd name="adj" fmla="val 1720"/>
            </a:avLst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8"/>
          <p:cNvSpPr/>
          <p:nvPr/>
        </p:nvSpPr>
        <p:spPr>
          <a:xfrm>
            <a:off x="6546960" y="1449360"/>
            <a:ext cx="5010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NAT Gateway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9"/>
          <p:cNvSpPr/>
          <p:nvPr/>
        </p:nvSpPr>
        <p:spPr>
          <a:xfrm>
            <a:off x="6546960" y="1833480"/>
            <a:ext cx="5010480" cy="359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rgbClr val="263238"/>
                </a:solidFill>
                <a:latin typeface="Arial"/>
              </a:rPr>
              <a:t>• It normally sits in the public subnet with an associated public ipv4 address</a:t>
            </a: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dirty="0">
                <a:solidFill>
                  <a:srgbClr val="263238"/>
                </a:solidFill>
                <a:latin typeface="Arial"/>
              </a:rPr>
              <a:t>• </a:t>
            </a:r>
            <a:r>
              <a:rPr lang="en-US" sz="2000" dirty="0">
                <a:solidFill>
                  <a:srgbClr val="1832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resource → NAT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l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• No arbitrary inbound traffic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1"/>
          <p:cNvSpPr>
            <a:spLocks noGrp="1"/>
          </p:cNvSpPr>
          <p:nvPr>
            <p:ph type="sldNum" idx="34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0E62BB-3910-486F-8151-35494C2B8F2C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25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56F29EE-631D-49BA-B3AC-210A1A8E7492}"/>
              </a:ext>
            </a:extLst>
          </p:cNvPr>
          <p:cNvSpPr/>
          <p:nvPr/>
        </p:nvSpPr>
        <p:spPr>
          <a:xfrm>
            <a:off x="-700271" y="347472"/>
            <a:ext cx="5842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8324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IGW </a:t>
            </a:r>
            <a:r>
              <a:rPr lang="en-US" altLang="zh-CN" sz="2800" b="1" dirty="0">
                <a:solidFill>
                  <a:srgbClr val="18324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vs.</a:t>
            </a:r>
            <a:r>
              <a:rPr lang="en-US" sz="2800" b="1" dirty="0">
                <a:solidFill>
                  <a:srgbClr val="18324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 NAT Gateway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1"/>
          <p:cNvSpPr/>
          <p:nvPr/>
        </p:nvSpPr>
        <p:spPr>
          <a:xfrm>
            <a:off x="138900" y="262346"/>
            <a:ext cx="9498586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 </a:t>
            </a:r>
            <a:r>
              <a:rPr lang="en-US" sz="2700" b="1" dirty="0">
                <a:solidFill>
                  <a:srgbClr val="173B63"/>
                </a:solidFill>
                <a:latin typeface="Arial"/>
              </a:rPr>
              <a:t>traditional web application deployment w/ DynamoDB</a:t>
            </a:r>
          </a:p>
        </p:txBody>
      </p:sp>
      <p:sp>
        <p:nvSpPr>
          <p:cNvPr id="158" name="Shape 4"/>
          <p:cNvSpPr/>
          <p:nvPr/>
        </p:nvSpPr>
        <p:spPr>
          <a:xfrm>
            <a:off x="495480" y="1482634"/>
            <a:ext cx="10743840" cy="3739892"/>
          </a:xfrm>
          <a:prstGeom prst="roundRect">
            <a:avLst>
              <a:gd name="adj" fmla="val 16667"/>
            </a:avLst>
          </a:prstGeom>
          <a:solidFill>
            <a:srgbClr val="FBFCFE"/>
          </a:solidFill>
          <a:ln w="16560">
            <a:solidFill>
              <a:srgbClr val="D5DCE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138900" y="1635474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173B63"/>
                </a:solidFill>
                <a:effectLst/>
                <a:uFillTx/>
                <a:latin typeface="Arial"/>
              </a:rPr>
              <a:t>VPC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2319240" y="1729234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667085"/>
                </a:solidFill>
                <a:effectLst/>
                <a:uFillTx/>
                <a:latin typeface="Arial"/>
              </a:rPr>
              <a:t>AZ-A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"/>
          <p:cNvSpPr/>
          <p:nvPr/>
        </p:nvSpPr>
        <p:spPr>
          <a:xfrm>
            <a:off x="8085000" y="1711234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667085"/>
                </a:solidFill>
                <a:effectLst/>
                <a:uFillTx/>
                <a:latin typeface="Arial"/>
              </a:rPr>
              <a:t>AZ-B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8"/>
          <p:cNvSpPr/>
          <p:nvPr/>
        </p:nvSpPr>
        <p:spPr>
          <a:xfrm>
            <a:off x="952680" y="214107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1098840" y="228723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Public subnet 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1098840" y="267135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ALB + NAT GW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1"/>
          <p:cNvSpPr/>
          <p:nvPr/>
        </p:nvSpPr>
        <p:spPr>
          <a:xfrm>
            <a:off x="6850560" y="214107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2"/>
          <p:cNvSpPr/>
          <p:nvPr/>
        </p:nvSpPr>
        <p:spPr>
          <a:xfrm>
            <a:off x="6996720" y="228723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Public subnet 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6996720" y="267135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ALB + NAT GW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4"/>
          <p:cNvSpPr/>
          <p:nvPr/>
        </p:nvSpPr>
        <p:spPr>
          <a:xfrm>
            <a:off x="952680" y="323835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5"/>
          <p:cNvSpPr/>
          <p:nvPr/>
        </p:nvSpPr>
        <p:spPr>
          <a:xfrm>
            <a:off x="1098840" y="338451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Private web app subnet A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6"/>
          <p:cNvSpPr/>
          <p:nvPr/>
        </p:nvSpPr>
        <p:spPr>
          <a:xfrm>
            <a:off x="1098840" y="376863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EC2 targets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17"/>
          <p:cNvSpPr/>
          <p:nvPr/>
        </p:nvSpPr>
        <p:spPr>
          <a:xfrm>
            <a:off x="6850560" y="3238354"/>
            <a:ext cx="3885840" cy="840960"/>
          </a:xfrm>
          <a:prstGeom prst="roundRect">
            <a:avLst>
              <a:gd name="adj" fmla="val 8696"/>
            </a:avLst>
          </a:prstGeom>
          <a:solidFill>
            <a:srgbClr val="FFF4D8"/>
          </a:solidFill>
          <a:ln w="1512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8"/>
          <p:cNvSpPr/>
          <p:nvPr/>
        </p:nvSpPr>
        <p:spPr>
          <a:xfrm>
            <a:off x="6996720" y="3384514"/>
            <a:ext cx="3593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Private web app subnet B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9"/>
          <p:cNvSpPr/>
          <p:nvPr/>
        </p:nvSpPr>
        <p:spPr>
          <a:xfrm>
            <a:off x="6996720" y="3768634"/>
            <a:ext cx="35931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EC2 targets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26"/>
          <p:cNvSpPr/>
          <p:nvPr/>
        </p:nvSpPr>
        <p:spPr>
          <a:xfrm>
            <a:off x="5250360" y="1521098"/>
            <a:ext cx="1188360" cy="639720"/>
          </a:xfrm>
          <a:prstGeom prst="roundRect">
            <a:avLst>
              <a:gd name="adj" fmla="val 16667"/>
            </a:avLst>
          </a:prstGeom>
          <a:solidFill>
            <a:srgbClr val="FFF4D8"/>
          </a:solidFill>
          <a:ln w="176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7"/>
          <p:cNvSpPr/>
          <p:nvPr/>
        </p:nvSpPr>
        <p:spPr>
          <a:xfrm>
            <a:off x="5356314" y="1715298"/>
            <a:ext cx="100548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IGW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8"/>
          <p:cNvSpPr/>
          <p:nvPr/>
        </p:nvSpPr>
        <p:spPr>
          <a:xfrm>
            <a:off x="4994909" y="2376267"/>
            <a:ext cx="1737000" cy="605767"/>
          </a:xfrm>
          <a:prstGeom prst="roundRect">
            <a:avLst>
              <a:gd name="adj" fmla="val 16667"/>
            </a:avLst>
          </a:prstGeom>
          <a:solidFill>
            <a:srgbClr val="EAF2FA"/>
          </a:solidFill>
          <a:ln w="1764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9"/>
          <p:cNvSpPr/>
          <p:nvPr/>
        </p:nvSpPr>
        <p:spPr>
          <a:xfrm>
            <a:off x="5090520" y="2585001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ALB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31"/>
          <p:cNvSpPr/>
          <p:nvPr/>
        </p:nvSpPr>
        <p:spPr>
          <a:xfrm>
            <a:off x="4990554" y="3240314"/>
            <a:ext cx="1737000" cy="635353"/>
          </a:xfrm>
          <a:prstGeom prst="roundRect">
            <a:avLst>
              <a:gd name="adj" fmla="val 16667"/>
            </a:avLst>
          </a:prstGeom>
          <a:solidFill>
            <a:srgbClr val="FFF4D8"/>
          </a:solidFill>
          <a:ln w="176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2"/>
          <p:cNvSpPr/>
          <p:nvPr/>
        </p:nvSpPr>
        <p:spPr>
          <a:xfrm>
            <a:off x="5081994" y="3390759"/>
            <a:ext cx="1554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App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37"/>
          <p:cNvSpPr/>
          <p:nvPr/>
        </p:nvSpPr>
        <p:spPr>
          <a:xfrm>
            <a:off x="5839463" y="2170682"/>
            <a:ext cx="0" cy="205585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0"/>
          <p:cNvSpPr/>
          <p:nvPr/>
        </p:nvSpPr>
        <p:spPr>
          <a:xfrm>
            <a:off x="5139329" y="979714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667085"/>
                </a:solidFill>
                <a:effectLst/>
                <a:uFillTx/>
                <a:latin typeface="Arial"/>
              </a:rPr>
              <a:t>Internet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sldNum" idx="12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F2372A-A9AB-4FFC-A14C-0613F9F09DFC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26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Shape 37">
            <a:extLst>
              <a:ext uri="{FF2B5EF4-FFF2-40B4-BE49-F238E27FC236}">
                <a16:creationId xmlns:a16="http://schemas.microsoft.com/office/drawing/2014/main" id="{B8DDD2FB-83FE-4A7E-ABE2-22B851E49134}"/>
              </a:ext>
            </a:extLst>
          </p:cNvPr>
          <p:cNvSpPr/>
          <p:nvPr/>
        </p:nvSpPr>
        <p:spPr>
          <a:xfrm>
            <a:off x="5839463" y="2982034"/>
            <a:ext cx="0" cy="25632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7">
            <a:extLst>
              <a:ext uri="{FF2B5EF4-FFF2-40B4-BE49-F238E27FC236}">
                <a16:creationId xmlns:a16="http://schemas.microsoft.com/office/drawing/2014/main" id="{F93CB165-4981-4DE8-A319-30D144431563}"/>
              </a:ext>
            </a:extLst>
          </p:cNvPr>
          <p:cNvSpPr/>
          <p:nvPr/>
        </p:nvSpPr>
        <p:spPr>
          <a:xfrm>
            <a:off x="5839463" y="3918498"/>
            <a:ext cx="0" cy="417135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7">
            <a:extLst>
              <a:ext uri="{FF2B5EF4-FFF2-40B4-BE49-F238E27FC236}">
                <a16:creationId xmlns:a16="http://schemas.microsoft.com/office/drawing/2014/main" id="{B7C0652B-6BF8-4AEF-8EB9-AC16E9526D3A}"/>
              </a:ext>
            </a:extLst>
          </p:cNvPr>
          <p:cNvSpPr/>
          <p:nvPr/>
        </p:nvSpPr>
        <p:spPr>
          <a:xfrm flipH="1">
            <a:off x="5836925" y="1246598"/>
            <a:ext cx="2537" cy="27450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49BF4DB8-5432-4EEA-BB09-7BC56C317148}"/>
              </a:ext>
            </a:extLst>
          </p:cNvPr>
          <p:cNvSpPr/>
          <p:nvPr/>
        </p:nvSpPr>
        <p:spPr>
          <a:xfrm>
            <a:off x="4738440" y="4334882"/>
            <a:ext cx="2331360" cy="840960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3320">
            <a:solidFill>
              <a:srgbClr val="7EC2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C9468147-0B4A-44E6-BAE0-5D951EF7D46F}"/>
              </a:ext>
            </a:extLst>
          </p:cNvPr>
          <p:cNvSpPr/>
          <p:nvPr/>
        </p:nvSpPr>
        <p:spPr>
          <a:xfrm>
            <a:off x="4811520" y="4334882"/>
            <a:ext cx="218520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DynamoDB gateway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VPC endpoint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 20">
            <a:extLst>
              <a:ext uri="{FF2B5EF4-FFF2-40B4-BE49-F238E27FC236}">
                <a16:creationId xmlns:a16="http://schemas.microsoft.com/office/drawing/2014/main" id="{F6E6CE5E-051A-432B-8238-95D4AE2EAE96}"/>
              </a:ext>
            </a:extLst>
          </p:cNvPr>
          <p:cNvSpPr/>
          <p:nvPr/>
        </p:nvSpPr>
        <p:spPr>
          <a:xfrm>
            <a:off x="4961274" y="4980984"/>
            <a:ext cx="19382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2E8B5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VPC-level route target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Shape 28">
            <a:extLst>
              <a:ext uri="{FF2B5EF4-FFF2-40B4-BE49-F238E27FC236}">
                <a16:creationId xmlns:a16="http://schemas.microsoft.com/office/drawing/2014/main" id="{14E0F698-4BA6-415E-946C-C85314A7214C}"/>
              </a:ext>
            </a:extLst>
          </p:cNvPr>
          <p:cNvSpPr/>
          <p:nvPr/>
        </p:nvSpPr>
        <p:spPr>
          <a:xfrm>
            <a:off x="4504204" y="5585839"/>
            <a:ext cx="2665441" cy="805758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3320">
            <a:solidFill>
              <a:srgbClr val="7EC2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9E2BCBDC-72FF-4D26-AA60-4F17BA960CE6}"/>
              </a:ext>
            </a:extLst>
          </p:cNvPr>
          <p:cNvSpPr/>
          <p:nvPr/>
        </p:nvSpPr>
        <p:spPr>
          <a:xfrm>
            <a:off x="4397525" y="5472025"/>
            <a:ext cx="29245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Amazon DynamoDB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regional managed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37">
            <a:extLst>
              <a:ext uri="{FF2B5EF4-FFF2-40B4-BE49-F238E27FC236}">
                <a16:creationId xmlns:a16="http://schemas.microsoft.com/office/drawing/2014/main" id="{79265EC5-EF1E-4A79-BE9D-252CC7978106}"/>
              </a:ext>
            </a:extLst>
          </p:cNvPr>
          <p:cNvSpPr/>
          <p:nvPr/>
        </p:nvSpPr>
        <p:spPr>
          <a:xfrm>
            <a:off x="5871749" y="5175842"/>
            <a:ext cx="0" cy="417135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1">
            <a:extLst>
              <a:ext uri="{FF2B5EF4-FFF2-40B4-BE49-F238E27FC236}">
                <a16:creationId xmlns:a16="http://schemas.microsoft.com/office/drawing/2014/main" id="{F364EA0C-54BF-4466-BB8F-B8E8E6BBD975}"/>
              </a:ext>
            </a:extLst>
          </p:cNvPr>
          <p:cNvSpPr/>
          <p:nvPr/>
        </p:nvSpPr>
        <p:spPr>
          <a:xfrm>
            <a:off x="5570400" y="5208466"/>
            <a:ext cx="214848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2E8B57"/>
                </a:solidFill>
                <a:effectLst/>
                <a:uFillTx/>
                <a:latin typeface="Aptos"/>
              </a:rPr>
              <a:t>AWS private path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85C31822-E822-4D5A-BB00-6F947FBAB11D}"/>
              </a:ext>
            </a:extLst>
          </p:cNvPr>
          <p:cNvSpPr/>
          <p:nvPr/>
        </p:nvSpPr>
        <p:spPr>
          <a:xfrm>
            <a:off x="5443655" y="3928721"/>
            <a:ext cx="1749151" cy="4069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2E8B57"/>
                </a:solidFill>
                <a:latin typeface="Aptos"/>
              </a:rPr>
              <a:t>VPC local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0A6406B1-3F67-40FB-B434-4940CDF19B4E}"/>
              </a:ext>
            </a:extLst>
          </p:cNvPr>
          <p:cNvSpPr/>
          <p:nvPr/>
        </p:nvSpPr>
        <p:spPr>
          <a:xfrm>
            <a:off x="5354861" y="2928107"/>
            <a:ext cx="1749151" cy="4069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2E8B57"/>
                </a:solidFill>
                <a:latin typeface="Aptos"/>
              </a:rPr>
              <a:t>VPC local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77AD66D4-225B-442F-9E01-4B920D1B9E24}"/>
              </a:ext>
            </a:extLst>
          </p:cNvPr>
          <p:cNvSpPr/>
          <p:nvPr/>
        </p:nvSpPr>
        <p:spPr>
          <a:xfrm>
            <a:off x="5376477" y="2066114"/>
            <a:ext cx="1749151" cy="4069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2E8B57"/>
                </a:solidFill>
                <a:latin typeface="Aptos"/>
              </a:rPr>
              <a:t>VPC local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4140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 2"/>
          <p:cNvSpPr/>
          <p:nvPr/>
        </p:nvSpPr>
        <p:spPr>
          <a:xfrm>
            <a:off x="214680" y="338580"/>
            <a:ext cx="5881320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5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DynamoDB gateway VPC endpoint</a:t>
            </a:r>
            <a:endParaRPr lang="en-US" sz="26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Shape 13"/>
          <p:cNvSpPr/>
          <p:nvPr/>
        </p:nvSpPr>
        <p:spPr>
          <a:xfrm>
            <a:off x="2238691" y="1752754"/>
            <a:ext cx="3686400" cy="447840"/>
          </a:xfrm>
          <a:prstGeom prst="rect">
            <a:avLst/>
          </a:prstGeom>
          <a:solidFill>
            <a:srgbClr val="E9EEF5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" name="Shape 14"/>
          <p:cNvSpPr/>
          <p:nvPr/>
        </p:nvSpPr>
        <p:spPr>
          <a:xfrm>
            <a:off x="5925451" y="1752754"/>
            <a:ext cx="2896560" cy="447840"/>
          </a:xfrm>
          <a:prstGeom prst="rect">
            <a:avLst/>
          </a:prstGeom>
          <a:solidFill>
            <a:srgbClr val="E9EEF5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 15"/>
          <p:cNvSpPr/>
          <p:nvPr/>
        </p:nvSpPr>
        <p:spPr>
          <a:xfrm>
            <a:off x="2302771" y="1835194"/>
            <a:ext cx="3558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Destination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 16"/>
          <p:cNvSpPr/>
          <p:nvPr/>
        </p:nvSpPr>
        <p:spPr>
          <a:xfrm>
            <a:off x="5989531" y="1835194"/>
            <a:ext cx="276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Target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Shape 17"/>
          <p:cNvSpPr/>
          <p:nvPr/>
        </p:nvSpPr>
        <p:spPr>
          <a:xfrm>
            <a:off x="2238691" y="2200954"/>
            <a:ext cx="3686400" cy="447840"/>
          </a:xfrm>
          <a:prstGeom prst="rect">
            <a:avLst/>
          </a:prstGeom>
          <a:solidFill>
            <a:srgbClr val="FFFFFF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Shape 18"/>
          <p:cNvSpPr/>
          <p:nvPr/>
        </p:nvSpPr>
        <p:spPr>
          <a:xfrm>
            <a:off x="5925451" y="2200954"/>
            <a:ext cx="2896560" cy="447840"/>
          </a:xfrm>
          <a:prstGeom prst="rect">
            <a:avLst/>
          </a:prstGeom>
          <a:solidFill>
            <a:srgbClr val="FFFFFF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9" name="Text 19"/>
          <p:cNvSpPr/>
          <p:nvPr/>
        </p:nvSpPr>
        <p:spPr>
          <a:xfrm>
            <a:off x="2302771" y="2283034"/>
            <a:ext cx="3558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10.0.0.0/16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0" name="Text 20"/>
          <p:cNvSpPr/>
          <p:nvPr/>
        </p:nvSpPr>
        <p:spPr>
          <a:xfrm>
            <a:off x="5989531" y="2283034"/>
            <a:ext cx="276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Shape 21"/>
          <p:cNvSpPr/>
          <p:nvPr/>
        </p:nvSpPr>
        <p:spPr>
          <a:xfrm>
            <a:off x="2238691" y="2648794"/>
            <a:ext cx="3686400" cy="447840"/>
          </a:xfrm>
          <a:prstGeom prst="rect">
            <a:avLst/>
          </a:prstGeom>
          <a:solidFill>
            <a:srgbClr val="EAF7F0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2" name="Shape 22"/>
          <p:cNvSpPr/>
          <p:nvPr/>
        </p:nvSpPr>
        <p:spPr>
          <a:xfrm>
            <a:off x="5925451" y="2648794"/>
            <a:ext cx="2896560" cy="447840"/>
          </a:xfrm>
          <a:prstGeom prst="rect">
            <a:avLst/>
          </a:prstGeom>
          <a:solidFill>
            <a:srgbClr val="EAF7F0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3" name="Text 23"/>
          <p:cNvSpPr/>
          <p:nvPr/>
        </p:nvSpPr>
        <p:spPr>
          <a:xfrm>
            <a:off x="2302771" y="2731234"/>
            <a:ext cx="3558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pl-0d123456789abcde0 (DynamoDB)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Text 24"/>
          <p:cNvSpPr/>
          <p:nvPr/>
        </p:nvSpPr>
        <p:spPr>
          <a:xfrm>
            <a:off x="5989531" y="2731234"/>
            <a:ext cx="276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E8B5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vpce-0a1b2c3d4e5f67890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" name="Shape 25"/>
          <p:cNvSpPr/>
          <p:nvPr/>
        </p:nvSpPr>
        <p:spPr>
          <a:xfrm>
            <a:off x="2238691" y="3096994"/>
            <a:ext cx="3686400" cy="447840"/>
          </a:xfrm>
          <a:prstGeom prst="rect">
            <a:avLst/>
          </a:prstGeom>
          <a:solidFill>
            <a:srgbClr val="FFFFFF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6" name="Shape 26"/>
          <p:cNvSpPr/>
          <p:nvPr/>
        </p:nvSpPr>
        <p:spPr>
          <a:xfrm>
            <a:off x="5925451" y="3096994"/>
            <a:ext cx="2896560" cy="447840"/>
          </a:xfrm>
          <a:prstGeom prst="rect">
            <a:avLst/>
          </a:prstGeom>
          <a:solidFill>
            <a:srgbClr val="FFFFFF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7" name="Text 27"/>
          <p:cNvSpPr/>
          <p:nvPr/>
        </p:nvSpPr>
        <p:spPr>
          <a:xfrm>
            <a:off x="2302771" y="3179074"/>
            <a:ext cx="3558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0.0.0.0/0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8" name="Text 28"/>
          <p:cNvSpPr/>
          <p:nvPr/>
        </p:nvSpPr>
        <p:spPr>
          <a:xfrm>
            <a:off x="5989531" y="3179074"/>
            <a:ext cx="27684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nat-0123456789abcdef0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Text 32"/>
          <p:cNvSpPr/>
          <p:nvPr/>
        </p:nvSpPr>
        <p:spPr>
          <a:xfrm>
            <a:off x="11155680" y="64922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8B95A5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2"/>
          <p:cNvSpPr/>
          <p:nvPr/>
        </p:nvSpPr>
        <p:spPr>
          <a:xfrm>
            <a:off x="-323932" y="136800"/>
            <a:ext cx="5353133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5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Two different “endpoints”</a:t>
            </a:r>
            <a:endParaRPr lang="en-US" sz="26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567000" y="1179720"/>
            <a:ext cx="2285640" cy="511560"/>
          </a:xfrm>
          <a:prstGeom prst="rect">
            <a:avLst/>
          </a:prstGeom>
          <a:solidFill>
            <a:srgbClr val="E9EEF5"/>
          </a:solidFill>
          <a:ln w="126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5"/>
          <p:cNvSpPr/>
          <p:nvPr/>
        </p:nvSpPr>
        <p:spPr>
          <a:xfrm>
            <a:off x="621720" y="1298520"/>
            <a:ext cx="21758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endpoint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2853000" y="1179720"/>
            <a:ext cx="3748680" cy="511560"/>
          </a:xfrm>
          <a:prstGeom prst="rect">
            <a:avLst/>
          </a:prstGeom>
          <a:solidFill>
            <a:srgbClr val="E9EEF5"/>
          </a:solidFill>
          <a:ln w="126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 7"/>
          <p:cNvSpPr/>
          <p:nvPr/>
        </p:nvSpPr>
        <p:spPr>
          <a:xfrm>
            <a:off x="2907720" y="1298520"/>
            <a:ext cx="3638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What is it?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Shape 8"/>
          <p:cNvSpPr/>
          <p:nvPr/>
        </p:nvSpPr>
        <p:spPr>
          <a:xfrm>
            <a:off x="6602040" y="1179720"/>
            <a:ext cx="2925720" cy="511560"/>
          </a:xfrm>
          <a:prstGeom prst="rect">
            <a:avLst/>
          </a:prstGeom>
          <a:solidFill>
            <a:srgbClr val="E9EEF5"/>
          </a:solidFill>
          <a:ln w="126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 9"/>
          <p:cNvSpPr/>
          <p:nvPr/>
        </p:nvSpPr>
        <p:spPr>
          <a:xfrm>
            <a:off x="6656760" y="1298520"/>
            <a:ext cx="2815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Concrete example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9528120" y="1179720"/>
            <a:ext cx="1874160" cy="511560"/>
          </a:xfrm>
          <a:prstGeom prst="rect">
            <a:avLst/>
          </a:prstGeom>
          <a:solidFill>
            <a:srgbClr val="E9EEF5"/>
          </a:solidFill>
          <a:ln w="126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9582840" y="1298520"/>
            <a:ext cx="17643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Main role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567000" y="1691640"/>
            <a:ext cx="2285640" cy="987120"/>
          </a:xfrm>
          <a:prstGeom prst="rect">
            <a:avLst/>
          </a:prstGeom>
          <a:solidFill>
            <a:srgbClr val="FFFFFF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13"/>
          <p:cNvSpPr/>
          <p:nvPr/>
        </p:nvSpPr>
        <p:spPr>
          <a:xfrm>
            <a:off x="621720" y="1774080"/>
            <a:ext cx="21758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DynamoDB service endpoint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Shape 14"/>
          <p:cNvSpPr/>
          <p:nvPr/>
        </p:nvSpPr>
        <p:spPr>
          <a:xfrm>
            <a:off x="2853000" y="1691640"/>
            <a:ext cx="3748680" cy="987120"/>
          </a:xfrm>
          <a:prstGeom prst="rect">
            <a:avLst/>
          </a:prstGeom>
          <a:solidFill>
            <a:srgbClr val="FFFFFF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2907720" y="1774080"/>
            <a:ext cx="36388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Regional AWS API address used by </a:t>
            </a:r>
            <a:r>
              <a:rPr lang="en-US" sz="1200" dirty="0">
                <a:solidFill>
                  <a:srgbClr val="1720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n-US" sz="1200" b="0" u="none" strike="noStrike" dirty="0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 SDK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Shape 16"/>
          <p:cNvSpPr/>
          <p:nvPr/>
        </p:nvSpPr>
        <p:spPr>
          <a:xfrm>
            <a:off x="6602040" y="1691640"/>
            <a:ext cx="2925720" cy="987120"/>
          </a:xfrm>
          <a:prstGeom prst="rect">
            <a:avLst/>
          </a:prstGeom>
          <a:solidFill>
            <a:srgbClr val="FFFFFF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6656760" y="1774080"/>
            <a:ext cx="28159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dynamodb.ap-southeast-2.amazonaws.com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9528120" y="1691640"/>
            <a:ext cx="1874160" cy="987120"/>
          </a:xfrm>
          <a:prstGeom prst="rect">
            <a:avLst/>
          </a:prstGeom>
          <a:solidFill>
            <a:srgbClr val="FFFFFF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9582840" y="1774080"/>
            <a:ext cx="17643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Names the service destination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Shape 20"/>
          <p:cNvSpPr/>
          <p:nvPr/>
        </p:nvSpPr>
        <p:spPr>
          <a:xfrm>
            <a:off x="567000" y="2679480"/>
            <a:ext cx="2285640" cy="987120"/>
          </a:xfrm>
          <a:prstGeom prst="rect">
            <a:avLst/>
          </a:prstGeom>
          <a:solidFill>
            <a:srgbClr val="EAF7F0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621720" y="2761560"/>
            <a:ext cx="217584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DynamoDB gateway VPC endpoint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2853000" y="2679480"/>
            <a:ext cx="3748680" cy="987120"/>
          </a:xfrm>
          <a:prstGeom prst="rect">
            <a:avLst/>
          </a:prstGeom>
          <a:solidFill>
            <a:srgbClr val="EAF7F0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23"/>
          <p:cNvSpPr/>
          <p:nvPr/>
        </p:nvSpPr>
        <p:spPr>
          <a:xfrm>
            <a:off x="2907720" y="2761560"/>
            <a:ext cx="36388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VPC networking resource used as a gateway route-table target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Shape 24"/>
          <p:cNvSpPr/>
          <p:nvPr/>
        </p:nvSpPr>
        <p:spPr>
          <a:xfrm>
            <a:off x="6602040" y="2679480"/>
            <a:ext cx="2925720" cy="987120"/>
          </a:xfrm>
          <a:prstGeom prst="rect">
            <a:avLst/>
          </a:prstGeom>
          <a:solidFill>
            <a:srgbClr val="EAF7F0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Text 25"/>
          <p:cNvSpPr/>
          <p:nvPr/>
        </p:nvSpPr>
        <p:spPr>
          <a:xfrm>
            <a:off x="6656760" y="2761560"/>
            <a:ext cx="281592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vpce-0a1b2c3d4e5f67890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Shape 26"/>
          <p:cNvSpPr/>
          <p:nvPr/>
        </p:nvSpPr>
        <p:spPr>
          <a:xfrm>
            <a:off x="9528120" y="2679480"/>
            <a:ext cx="1874160" cy="987120"/>
          </a:xfrm>
          <a:prstGeom prst="rect">
            <a:avLst/>
          </a:prstGeom>
          <a:solidFill>
            <a:srgbClr val="EAF7F0"/>
          </a:solidFill>
          <a:ln w="1008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Text 27"/>
          <p:cNvSpPr/>
          <p:nvPr/>
        </p:nvSpPr>
        <p:spPr>
          <a:xfrm>
            <a:off x="9582840" y="2761560"/>
            <a:ext cx="176436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7202A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Provides the private route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 32"/>
          <p:cNvSpPr/>
          <p:nvPr/>
        </p:nvSpPr>
        <p:spPr>
          <a:xfrm>
            <a:off x="11155680" y="64922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8B95A5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29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4"/>
          <p:cNvSpPr/>
          <p:nvPr/>
        </p:nvSpPr>
        <p:spPr>
          <a:xfrm>
            <a:off x="457560" y="11338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111">
                <a:solidFill>
                  <a:srgbClr val="F39C12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APPLICATION 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Shape 5"/>
          <p:cNvSpPr/>
          <p:nvPr/>
        </p:nvSpPr>
        <p:spPr>
          <a:xfrm>
            <a:off x="549000" y="1526940"/>
            <a:ext cx="2011320" cy="785880"/>
          </a:xfrm>
          <a:prstGeom prst="roundRect">
            <a:avLst>
              <a:gd name="adj" fmla="val 16667"/>
            </a:avLst>
          </a:prstGeom>
          <a:solidFill>
            <a:srgbClr val="FFF3D7"/>
          </a:solidFill>
          <a:ln w="13320">
            <a:solidFill>
              <a:srgbClr val="F39C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Text 6"/>
          <p:cNvSpPr/>
          <p:nvPr/>
        </p:nvSpPr>
        <p:spPr>
          <a:xfrm>
            <a:off x="622080" y="1572660"/>
            <a:ext cx="186516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Web application</a:t>
            </a: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EC2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7"/>
          <p:cNvSpPr/>
          <p:nvPr/>
        </p:nvSpPr>
        <p:spPr>
          <a:xfrm flipV="1">
            <a:off x="2560680" y="1919700"/>
            <a:ext cx="1005840" cy="360"/>
          </a:xfrm>
          <a:prstGeom prst="line">
            <a:avLst/>
          </a:prstGeom>
          <a:ln w="2304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3566520" y="1526940"/>
            <a:ext cx="4571640" cy="785880"/>
          </a:xfrm>
          <a:prstGeom prst="roundRect">
            <a:avLst>
              <a:gd name="adj" fmla="val 16667"/>
            </a:avLst>
          </a:prstGeom>
          <a:solidFill>
            <a:srgbClr val="F6F8FA"/>
          </a:solidFill>
          <a:ln w="1332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Text 9"/>
          <p:cNvSpPr/>
          <p:nvPr/>
        </p:nvSpPr>
        <p:spPr>
          <a:xfrm>
            <a:off x="3639600" y="1572660"/>
            <a:ext cx="442548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dynamodb.ap-southeast-2.amazonaws.com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Shape 11"/>
          <p:cNvSpPr/>
          <p:nvPr/>
        </p:nvSpPr>
        <p:spPr>
          <a:xfrm>
            <a:off x="457560" y="2834460"/>
            <a:ext cx="10607040" cy="360"/>
          </a:xfrm>
          <a:prstGeom prst="line">
            <a:avLst/>
          </a:prstGeom>
          <a:ln w="12600">
            <a:solidFill>
              <a:srgbClr val="D7DE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 12"/>
          <p:cNvSpPr/>
          <p:nvPr/>
        </p:nvSpPr>
        <p:spPr>
          <a:xfrm>
            <a:off x="457560" y="3081420"/>
            <a:ext cx="20113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spc="111">
                <a:solidFill>
                  <a:srgbClr val="2E8B57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NETWORK VIEW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Shape 13"/>
          <p:cNvSpPr/>
          <p:nvPr/>
        </p:nvSpPr>
        <p:spPr>
          <a:xfrm>
            <a:off x="549000" y="3492900"/>
            <a:ext cx="2011320" cy="785880"/>
          </a:xfrm>
          <a:prstGeom prst="roundRect">
            <a:avLst>
              <a:gd name="adj" fmla="val 16667"/>
            </a:avLst>
          </a:prstGeom>
          <a:solidFill>
            <a:srgbClr val="FFF3D7"/>
          </a:solidFill>
          <a:ln w="13320">
            <a:solidFill>
              <a:srgbClr val="F39C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Text 14"/>
          <p:cNvSpPr/>
          <p:nvPr/>
        </p:nvSpPr>
        <p:spPr>
          <a:xfrm>
            <a:off x="622080" y="3538620"/>
            <a:ext cx="186516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Web application EC2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10.0.2.10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Shape 16"/>
          <p:cNvSpPr/>
          <p:nvPr/>
        </p:nvSpPr>
        <p:spPr>
          <a:xfrm>
            <a:off x="3383640" y="3492900"/>
            <a:ext cx="2605680" cy="785880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3320">
            <a:solidFill>
              <a:srgbClr val="7EC2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Text 17"/>
          <p:cNvSpPr/>
          <p:nvPr/>
        </p:nvSpPr>
        <p:spPr>
          <a:xfrm>
            <a:off x="3456720" y="3538620"/>
            <a:ext cx="245952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Route table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pl-0d123456789abcde0 → vpce-0a1b2c3d4e5f67890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Shape 19"/>
          <p:cNvSpPr/>
          <p:nvPr/>
        </p:nvSpPr>
        <p:spPr>
          <a:xfrm>
            <a:off x="6812640" y="3492900"/>
            <a:ext cx="2239920" cy="785880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3320">
            <a:solidFill>
              <a:srgbClr val="7EC2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Text 20"/>
          <p:cNvSpPr/>
          <p:nvPr/>
        </p:nvSpPr>
        <p:spPr>
          <a:xfrm>
            <a:off x="6885720" y="3538620"/>
            <a:ext cx="209376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DynamoDB gateway</a:t>
            </a:r>
            <a:endParaRPr lang="en-US" sz="136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VPC endpoint</a:t>
            </a:r>
            <a:endParaRPr lang="en-US" sz="136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Shape 22"/>
          <p:cNvSpPr/>
          <p:nvPr/>
        </p:nvSpPr>
        <p:spPr>
          <a:xfrm>
            <a:off x="9738720" y="3492900"/>
            <a:ext cx="1416960" cy="785880"/>
          </a:xfrm>
          <a:prstGeom prst="roundRect">
            <a:avLst>
              <a:gd name="adj" fmla="val 16667"/>
            </a:avLst>
          </a:prstGeom>
          <a:solidFill>
            <a:srgbClr val="EAF7F0"/>
          </a:solidFill>
          <a:ln w="13320">
            <a:solidFill>
              <a:srgbClr val="7EC29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 23"/>
          <p:cNvSpPr/>
          <p:nvPr/>
        </p:nvSpPr>
        <p:spPr>
          <a:xfrm>
            <a:off x="9811800" y="3538620"/>
            <a:ext cx="1270800" cy="69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DynamoDB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 27"/>
          <p:cNvSpPr/>
          <p:nvPr/>
        </p:nvSpPr>
        <p:spPr>
          <a:xfrm>
            <a:off x="11155680" y="649224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 dirty="0">
                <a:solidFill>
                  <a:srgbClr val="8B95A5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39AD2771-4D9F-43E6-8FD4-7AD17B94E763}"/>
              </a:ext>
            </a:extLst>
          </p:cNvPr>
          <p:cNvSpPr/>
          <p:nvPr/>
        </p:nvSpPr>
        <p:spPr>
          <a:xfrm>
            <a:off x="-323932" y="136800"/>
            <a:ext cx="5353133" cy="49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50" b="1" u="none" strike="noStrike" dirty="0">
                <a:solidFill>
                  <a:srgbClr val="17365D"/>
                </a:solidFill>
                <a:effectLst/>
                <a:uFillTx/>
                <a:latin typeface="Arial" panose="020B0604020202020204" pitchFamily="34" charset="0"/>
                <a:ea typeface="Aptos Display"/>
                <a:cs typeface="Arial" panose="020B0604020202020204" pitchFamily="34" charset="0"/>
              </a:rPr>
              <a:t>Two different “endpoints”</a:t>
            </a:r>
            <a:endParaRPr lang="en-US" sz="2650" b="0" u="none" strike="noStrike" dirty="0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3D2B4438-9157-42EA-B55F-83A12C6A7E71}"/>
              </a:ext>
            </a:extLst>
          </p:cNvPr>
          <p:cNvSpPr/>
          <p:nvPr/>
        </p:nvSpPr>
        <p:spPr>
          <a:xfrm flipV="1">
            <a:off x="2560320" y="3885480"/>
            <a:ext cx="822960" cy="180"/>
          </a:xfrm>
          <a:prstGeom prst="line">
            <a:avLst/>
          </a:prstGeom>
          <a:ln w="2304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D77DD02A-70B0-43EF-9BDA-FEA63D86034A}"/>
              </a:ext>
            </a:extLst>
          </p:cNvPr>
          <p:cNvSpPr/>
          <p:nvPr/>
        </p:nvSpPr>
        <p:spPr>
          <a:xfrm flipV="1">
            <a:off x="6000060" y="3884400"/>
            <a:ext cx="822960" cy="180"/>
          </a:xfrm>
          <a:prstGeom prst="line">
            <a:avLst/>
          </a:prstGeom>
          <a:ln w="2304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F29837C7-6E8C-4210-A6F5-0BFE4DBB01E8}"/>
              </a:ext>
            </a:extLst>
          </p:cNvPr>
          <p:cNvSpPr/>
          <p:nvPr/>
        </p:nvSpPr>
        <p:spPr>
          <a:xfrm flipV="1">
            <a:off x="9052560" y="3881060"/>
            <a:ext cx="686160" cy="360"/>
          </a:xfrm>
          <a:prstGeom prst="line">
            <a:avLst/>
          </a:prstGeom>
          <a:ln w="23040">
            <a:solidFill>
              <a:schemeClr val="tx1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Text 1"/>
          <p:cNvSpPr/>
          <p:nvPr/>
        </p:nvSpPr>
        <p:spPr>
          <a:xfrm>
            <a:off x="305743" y="352764"/>
            <a:ext cx="7681261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Deployment architecture is a design choice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Shape 12"/>
          <p:cNvSpPr/>
          <p:nvPr/>
        </p:nvSpPr>
        <p:spPr>
          <a:xfrm>
            <a:off x="4903761" y="3018615"/>
            <a:ext cx="4388760" cy="1234080"/>
          </a:xfrm>
          <a:prstGeom prst="roundRect">
            <a:avLst>
              <a:gd name="adj" fmla="val 5926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Text 13"/>
          <p:cNvSpPr/>
          <p:nvPr/>
        </p:nvSpPr>
        <p:spPr>
          <a:xfrm>
            <a:off x="5049921" y="3164775"/>
            <a:ext cx="4096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dirty="0">
                <a:solidFill>
                  <a:srgbClr val="173B63"/>
                </a:solidFill>
                <a:latin typeface="Arial"/>
              </a:rPr>
              <a:t>traditional web application deployment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Text 14"/>
          <p:cNvSpPr/>
          <p:nvPr/>
        </p:nvSpPr>
        <p:spPr>
          <a:xfrm>
            <a:off x="5049921" y="3548895"/>
            <a:ext cx="40960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ALB -&gt; EC2 -&gt; RDS/DynamoDB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Shape 15"/>
          <p:cNvSpPr/>
          <p:nvPr/>
        </p:nvSpPr>
        <p:spPr>
          <a:xfrm>
            <a:off x="4903761" y="4902663"/>
            <a:ext cx="4388760" cy="1234080"/>
          </a:xfrm>
          <a:prstGeom prst="roundRect">
            <a:avLst>
              <a:gd name="adj" fmla="val 5926"/>
            </a:avLst>
          </a:prstGeom>
          <a:solidFill>
            <a:srgbClr val="F1EEFF"/>
          </a:solidFill>
          <a:ln w="15120">
            <a:solidFill>
              <a:srgbClr val="7A5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Text 16"/>
          <p:cNvSpPr/>
          <p:nvPr/>
        </p:nvSpPr>
        <p:spPr>
          <a:xfrm>
            <a:off x="5049921" y="5048823"/>
            <a:ext cx="4096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spc="-1" dirty="0">
                <a:solidFill>
                  <a:srgbClr val="000000"/>
                </a:solidFill>
                <a:latin typeface="Calibri"/>
              </a:rPr>
              <a:t>serverless web application deployment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 17"/>
          <p:cNvSpPr/>
          <p:nvPr/>
        </p:nvSpPr>
        <p:spPr>
          <a:xfrm>
            <a:off x="5049921" y="5432943"/>
            <a:ext cx="40960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API Gateway -&gt; Lambda -&gt; RDS/DynamoDB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PlaceHolder 1"/>
          <p:cNvSpPr>
            <a:spLocks noGrp="1"/>
          </p:cNvSpPr>
          <p:nvPr>
            <p:ph type="sldNum" idx="62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D92E3F-91CB-4167-B728-E22E5CB461D5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30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EE3D1704-B0CC-4688-8C1E-A9DCC7987107}"/>
              </a:ext>
            </a:extLst>
          </p:cNvPr>
          <p:cNvSpPr/>
          <p:nvPr/>
        </p:nvSpPr>
        <p:spPr>
          <a:xfrm>
            <a:off x="669549" y="1385584"/>
            <a:ext cx="2239920" cy="1142640"/>
          </a:xfrm>
          <a:prstGeom prst="roundRect">
            <a:avLst>
              <a:gd name="adj" fmla="val 16667"/>
            </a:avLst>
          </a:prstGeom>
          <a:solidFill>
            <a:srgbClr val="EAF2FA"/>
          </a:solidFill>
          <a:ln w="1764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121B7435-CB77-4027-B33D-3EE1587498A0}"/>
              </a:ext>
            </a:extLst>
          </p:cNvPr>
          <p:cNvSpPr/>
          <p:nvPr/>
        </p:nvSpPr>
        <p:spPr>
          <a:xfrm>
            <a:off x="743241" y="1801564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Client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2BFFD41E-5A78-4D11-8BEA-BBC64001F32C}"/>
              </a:ext>
            </a:extLst>
          </p:cNvPr>
          <p:cNvSpPr/>
          <p:nvPr/>
        </p:nvSpPr>
        <p:spPr>
          <a:xfrm>
            <a:off x="4903761" y="1367008"/>
            <a:ext cx="2239920" cy="1142640"/>
          </a:xfrm>
          <a:prstGeom prst="roundRect">
            <a:avLst>
              <a:gd name="adj" fmla="val 16667"/>
            </a:avLst>
          </a:prstGeom>
          <a:solidFill>
            <a:srgbClr val="FFF4D8"/>
          </a:solidFill>
          <a:ln w="176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7F3C468-DA78-42B5-AF55-6998131199F0}"/>
              </a:ext>
            </a:extLst>
          </p:cNvPr>
          <p:cNvSpPr/>
          <p:nvPr/>
        </p:nvSpPr>
        <p:spPr>
          <a:xfrm>
            <a:off x="4995201" y="1764988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Application logic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48FB76D8-A00D-481F-A217-C9451F557886}"/>
              </a:ext>
            </a:extLst>
          </p:cNvPr>
          <p:cNvSpPr/>
          <p:nvPr/>
        </p:nvSpPr>
        <p:spPr>
          <a:xfrm>
            <a:off x="9045993" y="1367008"/>
            <a:ext cx="2239920" cy="1142640"/>
          </a:xfrm>
          <a:prstGeom prst="roundRect">
            <a:avLst>
              <a:gd name="adj" fmla="val 16667"/>
            </a:avLst>
          </a:prstGeom>
          <a:solidFill>
            <a:srgbClr val="EAF6EF"/>
          </a:solidFill>
          <a:ln w="1764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49C0699-0041-444B-A161-5F17A8CDDC0C}"/>
              </a:ext>
            </a:extLst>
          </p:cNvPr>
          <p:cNvSpPr/>
          <p:nvPr/>
        </p:nvSpPr>
        <p:spPr>
          <a:xfrm>
            <a:off x="9205833" y="1764988"/>
            <a:ext cx="20570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Data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318FF7FF-B598-4DA1-A3E3-5AAD3B7C34E6}"/>
              </a:ext>
            </a:extLst>
          </p:cNvPr>
          <p:cNvSpPr/>
          <p:nvPr/>
        </p:nvSpPr>
        <p:spPr>
          <a:xfrm>
            <a:off x="2909469" y="1943080"/>
            <a:ext cx="1994292" cy="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FEDDCBD1-584D-44E7-A6A3-0463479FB37E}"/>
              </a:ext>
            </a:extLst>
          </p:cNvPr>
          <p:cNvSpPr/>
          <p:nvPr/>
        </p:nvSpPr>
        <p:spPr>
          <a:xfrm>
            <a:off x="7143681" y="1943080"/>
            <a:ext cx="1902312" cy="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 9"/>
          <p:cNvSpPr/>
          <p:nvPr/>
        </p:nvSpPr>
        <p:spPr>
          <a:xfrm>
            <a:off x="916187" y="933002"/>
            <a:ext cx="8505850" cy="21947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342900" indent="-342900" algn="l" defTabSz="914400">
              <a:lnSpc>
                <a:spcPct val="10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AWS manages the compute infrastructure and service networking. </a:t>
            </a:r>
          </a:p>
          <a:p>
            <a:pPr marL="342900" indent="-342900" algn="l" defTabSz="914400">
              <a:lnSpc>
                <a:spcPct val="100000"/>
              </a:lnSpc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dirty="0">
                <a:solidFill>
                  <a:srgbClr val="263238"/>
                </a:solidFill>
                <a:latin typeface="Arial"/>
                <a:ea typeface="Arial"/>
              </a:rPr>
              <a:t>Web developers</a:t>
            </a:r>
            <a:r>
              <a:rPr lang="en-US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 design APIs, functions, data access permissions and data analysis.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1"/>
          <p:cNvSpPr>
            <a:spLocks noGrp="1"/>
          </p:cNvSpPr>
          <p:nvPr>
            <p:ph type="sldNum" idx="63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5A9A75-0BDC-47AC-95A6-511C07031181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31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34508BC-EE85-45CF-99F7-0B47620B74DC}"/>
              </a:ext>
            </a:extLst>
          </p:cNvPr>
          <p:cNvSpPr/>
          <p:nvPr/>
        </p:nvSpPr>
        <p:spPr>
          <a:xfrm>
            <a:off x="163853" y="306441"/>
            <a:ext cx="7681261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dirty="0">
                <a:solidFill>
                  <a:srgbClr val="173B63"/>
                </a:solidFill>
                <a:latin typeface="Arial"/>
              </a:rPr>
              <a:t>serverless web application deployment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Text 1"/>
          <p:cNvSpPr/>
          <p:nvPr/>
        </p:nvSpPr>
        <p:spPr>
          <a:xfrm>
            <a:off x="301500" y="325259"/>
            <a:ext cx="6823200" cy="5662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 serverless web application deployment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Shape 4"/>
          <p:cNvSpPr/>
          <p:nvPr/>
        </p:nvSpPr>
        <p:spPr>
          <a:xfrm>
            <a:off x="640080" y="2743200"/>
            <a:ext cx="1691280" cy="914040"/>
          </a:xfrm>
          <a:prstGeom prst="roundRect">
            <a:avLst>
              <a:gd name="adj" fmla="val 16667"/>
            </a:avLst>
          </a:prstGeom>
          <a:solidFill>
            <a:srgbClr val="F7F9FC"/>
          </a:solidFill>
          <a:ln w="17640">
            <a:solidFill>
              <a:srgbClr val="6670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Text 5"/>
          <p:cNvSpPr/>
          <p:nvPr/>
        </p:nvSpPr>
        <p:spPr>
          <a:xfrm>
            <a:off x="731520" y="2889360"/>
            <a:ext cx="1508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Client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3" name="Text 6"/>
          <p:cNvSpPr/>
          <p:nvPr/>
        </p:nvSpPr>
        <p:spPr>
          <a:xfrm>
            <a:off x="731520" y="3237120"/>
            <a:ext cx="1508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web / mobile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Shape 7"/>
          <p:cNvSpPr/>
          <p:nvPr/>
        </p:nvSpPr>
        <p:spPr>
          <a:xfrm>
            <a:off x="3063240" y="2743200"/>
            <a:ext cx="1965600" cy="914040"/>
          </a:xfrm>
          <a:prstGeom prst="roundRect">
            <a:avLst>
              <a:gd name="adj" fmla="val 16667"/>
            </a:avLst>
          </a:prstGeom>
          <a:solidFill>
            <a:srgbClr val="F1EEFF"/>
          </a:solidFill>
          <a:ln w="17640">
            <a:solidFill>
              <a:srgbClr val="7A5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 8"/>
          <p:cNvSpPr/>
          <p:nvPr/>
        </p:nvSpPr>
        <p:spPr>
          <a:xfrm>
            <a:off x="3154680" y="288936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API Gateway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 9"/>
          <p:cNvSpPr/>
          <p:nvPr/>
        </p:nvSpPr>
        <p:spPr>
          <a:xfrm>
            <a:off x="3154680" y="3237120"/>
            <a:ext cx="1782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public API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Shape 10"/>
          <p:cNvSpPr/>
          <p:nvPr/>
        </p:nvSpPr>
        <p:spPr>
          <a:xfrm>
            <a:off x="5897880" y="2743200"/>
            <a:ext cx="1691280" cy="914040"/>
          </a:xfrm>
          <a:prstGeom prst="roundRect">
            <a:avLst>
              <a:gd name="adj" fmla="val 16667"/>
            </a:avLst>
          </a:prstGeom>
          <a:solidFill>
            <a:srgbClr val="FFF4D8"/>
          </a:solidFill>
          <a:ln w="1764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Text 11"/>
          <p:cNvSpPr/>
          <p:nvPr/>
        </p:nvSpPr>
        <p:spPr>
          <a:xfrm>
            <a:off x="5989320" y="2889360"/>
            <a:ext cx="150840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Lambda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Text 12"/>
          <p:cNvSpPr/>
          <p:nvPr/>
        </p:nvSpPr>
        <p:spPr>
          <a:xfrm>
            <a:off x="5989320" y="3237120"/>
            <a:ext cx="15084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business logic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Shape 13"/>
          <p:cNvSpPr/>
          <p:nvPr/>
        </p:nvSpPr>
        <p:spPr>
          <a:xfrm>
            <a:off x="8412480" y="2743200"/>
            <a:ext cx="1965600" cy="914040"/>
          </a:xfrm>
          <a:prstGeom prst="roundRect">
            <a:avLst>
              <a:gd name="adj" fmla="val 16667"/>
            </a:avLst>
          </a:prstGeom>
          <a:solidFill>
            <a:srgbClr val="EAF6EF"/>
          </a:solidFill>
          <a:ln w="17640">
            <a:solidFill>
              <a:srgbClr val="2E8B5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Text 14"/>
          <p:cNvSpPr/>
          <p:nvPr/>
        </p:nvSpPr>
        <p:spPr>
          <a:xfrm>
            <a:off x="8503920" y="288936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DynamoDB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Text 15"/>
          <p:cNvSpPr/>
          <p:nvPr/>
        </p:nvSpPr>
        <p:spPr>
          <a:xfrm>
            <a:off x="8503920" y="3237120"/>
            <a:ext cx="17827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667085"/>
                </a:solidFill>
                <a:effectLst/>
                <a:uFillTx/>
                <a:latin typeface="Arial"/>
                <a:ea typeface="Arial"/>
              </a:rPr>
              <a:t>data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3" name="Shape 16"/>
          <p:cNvSpPr/>
          <p:nvPr/>
        </p:nvSpPr>
        <p:spPr>
          <a:xfrm>
            <a:off x="2331360" y="3200040"/>
            <a:ext cx="731520" cy="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Shape 17"/>
          <p:cNvSpPr/>
          <p:nvPr/>
        </p:nvSpPr>
        <p:spPr>
          <a:xfrm>
            <a:off x="5028840" y="3200040"/>
            <a:ext cx="869040" cy="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5" name="Shape 18"/>
          <p:cNvSpPr/>
          <p:nvPr/>
        </p:nvSpPr>
        <p:spPr>
          <a:xfrm flipV="1">
            <a:off x="7589520" y="3200040"/>
            <a:ext cx="822960" cy="360"/>
          </a:xfrm>
          <a:prstGeom prst="line">
            <a:avLst/>
          </a:prstGeom>
          <a:ln w="23040">
            <a:solidFill>
              <a:srgbClr val="2F6FAB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Shape 19"/>
          <p:cNvSpPr/>
          <p:nvPr/>
        </p:nvSpPr>
        <p:spPr>
          <a:xfrm>
            <a:off x="5143500" y="1577700"/>
            <a:ext cx="3154680" cy="776880"/>
          </a:xfrm>
          <a:prstGeom prst="roundRect">
            <a:avLst>
              <a:gd name="adj" fmla="val 9412"/>
            </a:avLst>
          </a:prstGeom>
          <a:solidFill>
            <a:srgbClr val="F1EEFF"/>
          </a:solidFill>
          <a:ln w="15120">
            <a:solidFill>
              <a:srgbClr val="7A5A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Text 20"/>
          <p:cNvSpPr/>
          <p:nvPr/>
        </p:nvSpPr>
        <p:spPr>
          <a:xfrm>
            <a:off x="5589698" y="1654740"/>
            <a:ext cx="249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IAM role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Text 21"/>
          <p:cNvSpPr/>
          <p:nvPr/>
        </p:nvSpPr>
        <p:spPr>
          <a:xfrm>
            <a:off x="5216580" y="1851660"/>
            <a:ext cx="2990160" cy="4432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authorizes Lambda actions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9" name="Shape 22"/>
          <p:cNvSpPr/>
          <p:nvPr/>
        </p:nvSpPr>
        <p:spPr>
          <a:xfrm>
            <a:off x="6720840" y="2354580"/>
            <a:ext cx="0" cy="388260"/>
          </a:xfrm>
          <a:prstGeom prst="line">
            <a:avLst/>
          </a:prstGeom>
          <a:ln w="17640">
            <a:solidFill>
              <a:srgbClr val="7A5AF8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Shape 23"/>
          <p:cNvSpPr/>
          <p:nvPr/>
        </p:nvSpPr>
        <p:spPr>
          <a:xfrm>
            <a:off x="4434840" y="4343400"/>
            <a:ext cx="4251600" cy="868320"/>
          </a:xfrm>
          <a:prstGeom prst="roundRect">
            <a:avLst>
              <a:gd name="adj" fmla="val 8421"/>
            </a:avLst>
          </a:prstGeom>
          <a:solidFill>
            <a:srgbClr val="EAF2FA"/>
          </a:solidFill>
          <a:ln w="15120">
            <a:solidFill>
              <a:srgbClr val="2F6F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Text 24"/>
          <p:cNvSpPr/>
          <p:nvPr/>
        </p:nvSpPr>
        <p:spPr>
          <a:xfrm>
            <a:off x="4581000" y="4489560"/>
            <a:ext cx="39589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 dirty="0">
                <a:solidFill>
                  <a:srgbClr val="173B63"/>
                </a:solidFill>
                <a:effectLst/>
                <a:uFillTx/>
                <a:latin typeface="Arial"/>
                <a:ea typeface="Arial"/>
              </a:rPr>
              <a:t>CloudWatch</a:t>
            </a:r>
            <a:endParaRPr lang="en-US" sz="1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Text 25"/>
          <p:cNvSpPr/>
          <p:nvPr/>
        </p:nvSpPr>
        <p:spPr>
          <a:xfrm>
            <a:off x="4581000" y="4873680"/>
            <a:ext cx="395892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263238"/>
                </a:solidFill>
                <a:effectLst/>
                <a:uFillTx/>
                <a:latin typeface="Arial"/>
                <a:ea typeface="Arial"/>
              </a:rPr>
              <a:t>observes the services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Shape 26"/>
          <p:cNvSpPr/>
          <p:nvPr/>
        </p:nvSpPr>
        <p:spPr>
          <a:xfrm>
            <a:off x="4069080" y="3657600"/>
            <a:ext cx="1188720" cy="685800"/>
          </a:xfrm>
          <a:prstGeom prst="line">
            <a:avLst/>
          </a:prstGeom>
          <a:ln w="15120">
            <a:solidFill>
              <a:srgbClr val="66708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Shape 27"/>
          <p:cNvSpPr/>
          <p:nvPr/>
        </p:nvSpPr>
        <p:spPr>
          <a:xfrm>
            <a:off x="6720840" y="3657600"/>
            <a:ext cx="360" cy="685800"/>
          </a:xfrm>
          <a:prstGeom prst="line">
            <a:avLst/>
          </a:prstGeom>
          <a:ln w="15120">
            <a:solidFill>
              <a:srgbClr val="66708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PlaceHolder 1"/>
          <p:cNvSpPr>
            <a:spLocks noGrp="1"/>
          </p:cNvSpPr>
          <p:nvPr>
            <p:ph type="sldNum" idx="64"/>
          </p:nvPr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8A2149-D7FA-4C18-A24F-8452C9558BB9}" type="slidenum">
              <a:rPr lang="en-US" sz="900" b="0" u="none" strike="noStrike">
                <a:solidFill>
                  <a:srgbClr val="7B8794"/>
                </a:solidFill>
                <a:effectLst/>
                <a:uFillTx/>
                <a:latin typeface="Arial"/>
                <a:ea typeface="Arial"/>
              </a:rPr>
              <a:t>32</a:t>
            </a:fld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cxnSp>
        <p:nvCxnSpPr>
          <p:cNvPr id="28" name="Connector 17">
            <a:extLst>
              <a:ext uri="{FF2B5EF4-FFF2-40B4-BE49-F238E27FC236}">
                <a16:creationId xmlns:a16="http://schemas.microsoft.com/office/drawing/2014/main" id="{2BCE973D-6269-4C32-B18E-7C142727128A}"/>
              </a:ext>
            </a:extLst>
          </p:cNvPr>
          <p:cNvCxnSpPr>
            <a:cxnSpLocks/>
          </p:cNvCxnSpPr>
          <p:nvPr/>
        </p:nvCxnSpPr>
        <p:spPr>
          <a:xfrm flipH="1">
            <a:off x="8206740" y="3679740"/>
            <a:ext cx="1156140" cy="663300"/>
          </a:xfrm>
          <a:prstGeom prst="line">
            <a:avLst/>
          </a:prstGeom>
          <a:ln w="15120">
            <a:solidFill>
              <a:srgbClr val="66708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7634" y="246888"/>
            <a:ext cx="288521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73B63"/>
                </a:solidFill>
                <a:latin typeface="Arial"/>
              </a:rPr>
              <a:t>What is an API?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920240" cy="9144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Client</a:t>
            </a:r>
          </a:p>
          <a:p>
            <a:pPr algn="ctr">
              <a:spcBef>
                <a:spcPts val="300"/>
              </a:spcBef>
            </a:pPr>
            <a:r>
              <a:rPr lang="en-AU" sz="1400" dirty="0">
                <a:solidFill>
                  <a:srgbClr val="667085"/>
                </a:solidFill>
                <a:latin typeface="Arial"/>
              </a:rPr>
              <a:t>browser</a:t>
            </a:r>
            <a:endParaRPr sz="1200" dirty="0">
              <a:solidFill>
                <a:srgbClr val="667085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63440" y="2148840"/>
            <a:ext cx="2011680" cy="914400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API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communication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148840"/>
            <a:ext cx="1920240" cy="914400"/>
          </a:xfrm>
          <a:prstGeom prst="roundRect">
            <a:avLst/>
          </a:prstGeom>
          <a:solidFill>
            <a:srgbClr val="FFF2D8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Application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business </a:t>
            </a:r>
            <a:r>
              <a:rPr lang="en-US" altLang="zh-CN" sz="1400" dirty="0">
                <a:solidFill>
                  <a:srgbClr val="667085"/>
                </a:solidFill>
                <a:latin typeface="Arial"/>
              </a:rPr>
              <a:t>logic</a:t>
            </a:r>
            <a:endParaRPr sz="1400" dirty="0">
              <a:solidFill>
                <a:srgbClr val="667085"/>
              </a:solidFill>
              <a:latin typeface="Arial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697480" y="2606040"/>
            <a:ext cx="1965960" cy="0"/>
          </a:xfrm>
          <a:prstGeom prst="line">
            <a:avLst/>
          </a:prstGeom>
          <a:ln w="2159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675120" y="2606040"/>
            <a:ext cx="2057400" cy="0"/>
          </a:xfrm>
          <a:prstGeom prst="line">
            <a:avLst/>
          </a:prstGeom>
          <a:ln w="2159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laceHolder 1">
            <a:extLst>
              <a:ext uri="{FF2B5EF4-FFF2-40B4-BE49-F238E27FC236}">
                <a16:creationId xmlns:a16="http://schemas.microsoft.com/office/drawing/2014/main" id="{39FD6001-DEB1-4BC9-87A2-A028E8A3BB43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33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438912"/>
            <a:ext cx="71551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73B63"/>
                </a:solidFill>
                <a:latin typeface="Arial"/>
              </a:rPr>
              <a:t>A common Web API model: HTTP</a:t>
            </a:r>
            <a:r>
              <a:rPr lang="en-AU" sz="2600" b="1" dirty="0">
                <a:solidFill>
                  <a:srgbClr val="173B63"/>
                </a:solidFill>
                <a:latin typeface="Arial"/>
              </a:rPr>
              <a:t>(s)</a:t>
            </a:r>
            <a:r>
              <a:rPr sz="2600" b="1" dirty="0">
                <a:solidFill>
                  <a:srgbClr val="173B63"/>
                </a:solidFill>
                <a:latin typeface="Arial"/>
              </a:rPr>
              <a:t> 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965960" cy="91440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Web client</a:t>
            </a:r>
          </a:p>
          <a:p>
            <a:pPr algn="ctr">
              <a:spcBef>
                <a:spcPts val="300"/>
              </a:spcBef>
            </a:pPr>
            <a:r>
              <a:rPr sz="1200" dirty="0">
                <a:solidFill>
                  <a:srgbClr val="667085"/>
                </a:solidFill>
                <a:latin typeface="Arial"/>
              </a:rPr>
              <a:t>initiates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057400"/>
            <a:ext cx="2240280" cy="1280160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HTTP-based Web API</a:t>
            </a:r>
          </a:p>
          <a:p>
            <a:pPr algn="ctr">
              <a:spcBef>
                <a:spcPts val="300"/>
              </a:spcBef>
            </a:pPr>
            <a:r>
              <a:rPr sz="1200" dirty="0">
                <a:solidFill>
                  <a:srgbClr val="667085"/>
                </a:solidFill>
                <a:latin typeface="Arial"/>
              </a:rPr>
              <a:t>request / response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240280"/>
            <a:ext cx="1965960" cy="914400"/>
          </a:xfrm>
          <a:prstGeom prst="roundRect">
            <a:avLst/>
          </a:prstGeom>
          <a:solidFill>
            <a:srgbClr val="FFF2D8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Application</a:t>
            </a:r>
          </a:p>
          <a:p>
            <a:pPr algn="ctr">
              <a:spcBef>
                <a:spcPts val="300"/>
              </a:spcBef>
            </a:pPr>
            <a:r>
              <a:rPr sz="1200" dirty="0">
                <a:solidFill>
                  <a:srgbClr val="667085"/>
                </a:solidFill>
                <a:latin typeface="Arial"/>
              </a:rPr>
              <a:t>processes </a:t>
            </a:r>
            <a:r>
              <a:rPr lang="en-AU" sz="1200" dirty="0">
                <a:solidFill>
                  <a:srgbClr val="667085"/>
                </a:solidFill>
                <a:latin typeface="Arial"/>
              </a:rPr>
              <a:t>request</a:t>
            </a:r>
            <a:endParaRPr sz="1200" dirty="0">
              <a:solidFill>
                <a:srgbClr val="667085"/>
              </a:solidFill>
              <a:latin typeface="Arial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2743200" y="2697480"/>
            <a:ext cx="1874520" cy="0"/>
          </a:xfrm>
          <a:prstGeom prst="line">
            <a:avLst/>
          </a:prstGeom>
          <a:ln w="2159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2697480"/>
            <a:ext cx="1965960" cy="0"/>
          </a:xfrm>
          <a:prstGeom prst="line">
            <a:avLst/>
          </a:prstGeom>
          <a:ln w="2159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laceHolder 1">
            <a:extLst>
              <a:ext uri="{FF2B5EF4-FFF2-40B4-BE49-F238E27FC236}">
                <a16:creationId xmlns:a16="http://schemas.microsoft.com/office/drawing/2014/main" id="{44E564B7-DDBD-4B63-9896-852C26FD502C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34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0073" y="227416"/>
            <a:ext cx="80924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173B63"/>
                </a:solidFill>
                <a:latin typeface="Arial"/>
              </a:rPr>
              <a:t>HTTP request: method + resource path + message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113" y="1343205"/>
            <a:ext cx="2971800" cy="2240280"/>
          </a:xfrm>
          <a:prstGeom prst="roundRect">
            <a:avLst/>
          </a:prstGeom>
          <a:solidFill>
            <a:srgbClr val="EAF2FA"/>
          </a:solidFill>
          <a:ln w="15875">
            <a:solidFill>
              <a:srgbClr val="2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73B63"/>
                </a:solidFill>
                <a:latin typeface="Arial"/>
              </a:rPr>
              <a:t>HTTP method</a:t>
            </a:r>
          </a:p>
          <a:p>
            <a:pPr algn="ctr">
              <a:spcBef>
                <a:spcPts val="300"/>
              </a:spcBef>
            </a:pPr>
            <a:r>
              <a:rPr sz="1600">
                <a:solidFill>
                  <a:srgbClr val="667085"/>
                </a:solidFill>
                <a:latin typeface="Arial"/>
              </a:rPr>
              <a:t>GET
POST
PUT
DELETE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6313" y="1343205"/>
            <a:ext cx="2971800" cy="2240280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>
                <a:solidFill>
                  <a:srgbClr val="173B63"/>
                </a:solidFill>
                <a:latin typeface="Arial"/>
              </a:rPr>
              <a:t>Resource path</a:t>
            </a:r>
          </a:p>
          <a:p>
            <a:pPr algn="ctr">
              <a:spcBef>
                <a:spcPts val="300"/>
              </a:spcBef>
            </a:pPr>
            <a:r>
              <a:rPr sz="1500">
                <a:solidFill>
                  <a:srgbClr val="667085"/>
                </a:solidFill>
                <a:latin typeface="Arial"/>
              </a:rPr>
              <a:t>/movies
/movies/123
/movies/123/reviews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62513" y="1343205"/>
            <a:ext cx="2971800" cy="2240280"/>
          </a:xfrm>
          <a:prstGeom prst="roundRect">
            <a:avLst/>
          </a:prstGeom>
          <a:solidFill>
            <a:srgbClr val="EAF6EF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 dirty="0">
                <a:solidFill>
                  <a:srgbClr val="173B63"/>
                </a:solidFill>
                <a:latin typeface="Arial"/>
              </a:rPr>
              <a:t>Message</a:t>
            </a:r>
          </a:p>
          <a:p>
            <a:pPr algn="ctr">
              <a:spcBef>
                <a:spcPts val="300"/>
              </a:spcBef>
            </a:pPr>
            <a:r>
              <a:rPr sz="1500" dirty="0">
                <a:solidFill>
                  <a:srgbClr val="667085"/>
                </a:solidFill>
                <a:latin typeface="Arial"/>
              </a:rPr>
              <a:t>query string</a:t>
            </a:r>
            <a:endParaRPr lang="en-AU" sz="1500" dirty="0">
              <a:solidFill>
                <a:srgbClr val="667085"/>
              </a:solidFill>
              <a:latin typeface="Arial"/>
            </a:endParaRPr>
          </a:p>
          <a:p>
            <a:pPr algn="ctr">
              <a:spcBef>
                <a:spcPts val="300"/>
              </a:spcBef>
            </a:pPr>
            <a:r>
              <a:rPr lang="en-AU" sz="1500" dirty="0">
                <a:solidFill>
                  <a:srgbClr val="667085"/>
                </a:solidFill>
                <a:latin typeface="Arial"/>
              </a:rPr>
              <a:t>header</a:t>
            </a:r>
            <a:r>
              <a:rPr sz="1500" dirty="0">
                <a:solidFill>
                  <a:srgbClr val="667085"/>
                </a:solidFill>
                <a:latin typeface="Arial"/>
              </a:rPr>
              <a:t>
optional request body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6003" y="3949245"/>
            <a:ext cx="246574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  <a:latin typeface="Arial"/>
              </a:rPr>
              <a:t>Method = intended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05477" y="3949245"/>
            <a:ext cx="1959191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  <a:latin typeface="Arial"/>
              </a:rPr>
              <a:t>Path = target 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3034" y="3949245"/>
            <a:ext cx="2945038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  <a:latin typeface="Arial"/>
              </a:rPr>
              <a:t>Message = additional input/context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68281B6E-0785-4CB3-95CE-A1FCC31CFF8F}"/>
              </a:ext>
            </a:extLst>
          </p:cNvPr>
          <p:cNvSpPr/>
          <p:nvPr/>
        </p:nvSpPr>
        <p:spPr>
          <a:xfrm>
            <a:off x="758692" y="4519110"/>
            <a:ext cx="10652760" cy="1207008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CCD6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Ins="164592" bIns="91440" rtlCol="0" anchor="ctr"/>
          <a:lstStyle/>
          <a:p>
            <a:pPr algn="ctr"/>
            <a:r>
              <a:rPr sz="1700" b="1" dirty="0">
                <a:solidFill>
                  <a:srgbClr val="173B6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 </a:t>
            </a:r>
            <a:r>
              <a:rPr sz="1700" b="0" dirty="0">
                <a:solidFill>
                  <a:srgbClr val="26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/movies/123?include=reviews</a:t>
            </a:r>
            <a:endParaRPr sz="1700" dirty="0">
              <a:solidFill>
                <a:srgbClr val="26323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500" dirty="0">
                <a:solidFill>
                  <a:srgbClr val="26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Host: api.example.com</a:t>
            </a:r>
          </a:p>
          <a:p>
            <a:r>
              <a:rPr sz="1500" dirty="0">
                <a:solidFill>
                  <a:srgbClr val="26323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Accept: application/json</a:t>
            </a:r>
          </a:p>
        </p:txBody>
      </p:sp>
      <p:sp>
        <p:nvSpPr>
          <p:cNvPr id="14" name="PlaceHolder 1">
            <a:extLst>
              <a:ext uri="{FF2B5EF4-FFF2-40B4-BE49-F238E27FC236}">
                <a16:creationId xmlns:a16="http://schemas.microsoft.com/office/drawing/2014/main" id="{9314CD35-A268-4592-8AB9-67CDF9562193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35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3699" y="276320"/>
            <a:ext cx="61785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</a:rPr>
              <a:t>A serverless-based HTTP </a:t>
            </a:r>
            <a:r>
              <a:rPr sz="2800" b="1" dirty="0">
                <a:solidFill>
                  <a:srgbClr val="173B63"/>
                </a:solidFill>
                <a:latin typeface="Arial"/>
              </a:rPr>
              <a:t>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350770"/>
            <a:ext cx="1600200" cy="86868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Client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web</a:t>
            </a:r>
            <a:r>
              <a:rPr sz="1150" dirty="0">
                <a:solidFill>
                  <a:srgbClr val="667085"/>
                </a:solidFill>
                <a:latin typeface="Arial"/>
              </a:rPr>
              <a:t>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237854"/>
            <a:ext cx="1920240" cy="1057796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API Gateway</a:t>
            </a:r>
          </a:p>
          <a:p>
            <a:pPr algn="ctr">
              <a:spcBef>
                <a:spcPts val="300"/>
              </a:spcBef>
            </a:pPr>
            <a:r>
              <a:rPr lang="en-AU" sz="1400" dirty="0">
                <a:solidFill>
                  <a:srgbClr val="667085"/>
                </a:solidFill>
                <a:latin typeface="Arial"/>
              </a:rPr>
              <a:t>API endpoint</a:t>
            </a:r>
          </a:p>
          <a:p>
            <a:pPr>
              <a:spcBef>
                <a:spcPts val="300"/>
              </a:spcBef>
            </a:pPr>
            <a:r>
              <a:rPr lang="en-AU" sz="1400" dirty="0">
                <a:solidFill>
                  <a:srgbClr val="667085"/>
                </a:solidFill>
                <a:latin typeface="Arial"/>
              </a:rPr>
              <a:t>API management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route + integration</a:t>
            </a:r>
            <a:endParaRPr lang="en-AU" sz="1400" dirty="0">
              <a:solidFill>
                <a:srgbClr val="667085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2161654"/>
            <a:ext cx="1691640" cy="1057796"/>
          </a:xfrm>
          <a:prstGeom prst="roundRect">
            <a:avLst/>
          </a:prstGeom>
          <a:solidFill>
            <a:srgbClr val="FFF2D8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Lambda</a:t>
            </a:r>
          </a:p>
          <a:p>
            <a:pPr>
              <a:spcBef>
                <a:spcPts val="300"/>
              </a:spcBef>
            </a:pPr>
            <a:r>
              <a:rPr sz="1400" dirty="0" err="1">
                <a:solidFill>
                  <a:srgbClr val="667085"/>
                </a:solidFill>
                <a:latin typeface="Arial"/>
              </a:rPr>
              <a:t>getMovie</a:t>
            </a:r>
            <a:r>
              <a:rPr sz="1400" dirty="0">
                <a:solidFill>
                  <a:srgbClr val="667085"/>
                </a:solidFill>
                <a:latin typeface="Arial"/>
              </a:rPr>
              <a:t>()</a:t>
            </a:r>
            <a:r>
              <a:rPr lang="en-AU" sz="1400" dirty="0">
                <a:solidFill>
                  <a:srgbClr val="667085"/>
                </a:solidFill>
                <a:latin typeface="Arial"/>
              </a:rPr>
              <a:t> on</a:t>
            </a:r>
            <a:r>
              <a:rPr lang="zh-CN" altLang="en-US" sz="1400" dirty="0">
                <a:solidFill>
                  <a:srgbClr val="667085"/>
                </a:solidFill>
                <a:latin typeface="Arial"/>
              </a:rPr>
              <a:t> </a:t>
            </a:r>
            <a:r>
              <a:rPr lang="en-US" sz="1400" dirty="0">
                <a:solidFill>
                  <a:srgbClr val="667085"/>
                </a:solidFill>
                <a:latin typeface="Arial"/>
              </a:rPr>
              <a:t>DynamoDB service endpoint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2350770"/>
            <a:ext cx="1920240" cy="868680"/>
          </a:xfrm>
          <a:prstGeom prst="roundRect">
            <a:avLst/>
          </a:prstGeom>
          <a:solidFill>
            <a:srgbClr val="EAF6EF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DynamoDB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Movies table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989326"/>
            <a:ext cx="685800" cy="0"/>
          </a:xfrm>
          <a:prstGeom prst="line">
            <a:avLst/>
          </a:prstGeom>
          <a:ln w="2159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94960" y="2971038"/>
            <a:ext cx="777240" cy="0"/>
          </a:xfrm>
          <a:prstGeom prst="line">
            <a:avLst/>
          </a:prstGeom>
          <a:ln w="2159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82890" y="2971038"/>
            <a:ext cx="914400" cy="0"/>
          </a:xfrm>
          <a:prstGeom prst="line">
            <a:avLst/>
          </a:prstGeom>
          <a:ln w="2159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 flipH="1" flipV="1">
            <a:off x="5394960" y="2564513"/>
            <a:ext cx="742950" cy="761"/>
          </a:xfrm>
          <a:prstGeom prst="line">
            <a:avLst/>
          </a:prstGeom>
          <a:ln w="2159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887064" y="3341441"/>
            <a:ext cx="3113353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7457D6"/>
                </a:solidFill>
                <a:latin typeface="Arial"/>
              </a:rPr>
              <a:t>GET /movies/123?include=reviews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3055" y="3329178"/>
            <a:ext cx="147829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 dirty="0">
                <a:solidFill>
                  <a:srgbClr val="667085"/>
                </a:solidFill>
                <a:latin typeface="Arial"/>
              </a:rPr>
              <a:t>invoke </a:t>
            </a:r>
            <a:r>
              <a:rPr sz="1400" b="0" dirty="0" err="1">
                <a:solidFill>
                  <a:srgbClr val="667085"/>
                </a:solidFill>
                <a:latin typeface="Arial"/>
              </a:rPr>
              <a:t>getMovie</a:t>
            </a:r>
            <a:endParaRPr sz="1400" b="0" dirty="0">
              <a:solidFill>
                <a:srgbClr val="667085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6621" y="3329178"/>
            <a:ext cx="2048959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 err="1">
                <a:solidFill>
                  <a:srgbClr val="2E8B57"/>
                </a:solidFill>
                <a:latin typeface="Arial"/>
              </a:rPr>
              <a:t>GetItem</a:t>
            </a:r>
            <a:r>
              <a:rPr sz="1400" b="1" dirty="0">
                <a:solidFill>
                  <a:srgbClr val="2E8B57"/>
                </a:solidFill>
                <a:latin typeface="Arial"/>
              </a:rPr>
              <a:t>(</a:t>
            </a:r>
            <a:r>
              <a:rPr sz="1400" b="1" dirty="0" err="1">
                <a:solidFill>
                  <a:srgbClr val="2E8B57"/>
                </a:solidFill>
                <a:latin typeface="Arial"/>
              </a:rPr>
              <a:t>movieId</a:t>
            </a:r>
            <a:r>
              <a:rPr sz="1400" b="1" dirty="0">
                <a:solidFill>
                  <a:srgbClr val="2E8B57"/>
                </a:solidFill>
                <a:latin typeface="Arial"/>
              </a:rPr>
              <a:t>=123)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901" y="1853877"/>
            <a:ext cx="2165914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>
                <a:solidFill>
                  <a:srgbClr val="2E8B57"/>
                </a:solidFill>
                <a:latin typeface="Arial"/>
              </a:rPr>
              <a:t>HTTP 200 + JSON</a:t>
            </a:r>
            <a:r>
              <a:rPr lang="en-AU" sz="1400" b="1" dirty="0">
                <a:solidFill>
                  <a:srgbClr val="2E8B57"/>
                </a:solidFill>
                <a:latin typeface="Arial"/>
              </a:rPr>
              <a:t> body</a:t>
            </a:r>
            <a:endParaRPr sz="1400" b="1" dirty="0">
              <a:solidFill>
                <a:srgbClr val="2E8B57"/>
              </a:solidFill>
              <a:latin typeface="Arial"/>
            </a:endParaRPr>
          </a:p>
        </p:txBody>
      </p:sp>
      <p:sp>
        <p:nvSpPr>
          <p:cNvPr id="18" name="PlaceHolder 1">
            <a:extLst>
              <a:ext uri="{FF2B5EF4-FFF2-40B4-BE49-F238E27FC236}">
                <a16:creationId xmlns:a16="http://schemas.microsoft.com/office/drawing/2014/main" id="{CC4CA07F-CEB4-44BE-B45A-EC244257870A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36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9" name="Connector 12">
            <a:extLst>
              <a:ext uri="{FF2B5EF4-FFF2-40B4-BE49-F238E27FC236}">
                <a16:creationId xmlns:a16="http://schemas.microsoft.com/office/drawing/2014/main" id="{6275DE6F-09FA-4090-A103-F17FFA4C2D61}"/>
              </a:ext>
            </a:extLst>
          </p:cNvPr>
          <p:cNvCxnSpPr>
            <a:cxnSpLocks/>
          </p:cNvCxnSpPr>
          <p:nvPr/>
        </p:nvCxnSpPr>
        <p:spPr>
          <a:xfrm flipH="1">
            <a:off x="2806065" y="2499636"/>
            <a:ext cx="643890" cy="6203"/>
          </a:xfrm>
          <a:prstGeom prst="line">
            <a:avLst/>
          </a:prstGeom>
          <a:ln w="2159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2">
            <a:extLst>
              <a:ext uri="{FF2B5EF4-FFF2-40B4-BE49-F238E27FC236}">
                <a16:creationId xmlns:a16="http://schemas.microsoft.com/office/drawing/2014/main" id="{CA99D638-4119-4E06-9ECC-F6CFF1CEBD18}"/>
              </a:ext>
            </a:extLst>
          </p:cNvPr>
          <p:cNvCxnSpPr>
            <a:cxnSpLocks/>
          </p:cNvCxnSpPr>
          <p:nvPr/>
        </p:nvCxnSpPr>
        <p:spPr>
          <a:xfrm flipH="1">
            <a:off x="7886700" y="2498874"/>
            <a:ext cx="914400" cy="6965"/>
          </a:xfrm>
          <a:prstGeom prst="line">
            <a:avLst/>
          </a:prstGeom>
          <a:ln w="2159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5230" y="319522"/>
            <a:ext cx="27985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</a:rPr>
              <a:t>HTTP API </a:t>
            </a:r>
            <a:r>
              <a:rPr sz="2800" b="1" dirty="0">
                <a:solidFill>
                  <a:srgbClr val="173B63"/>
                </a:solidFill>
                <a:latin typeface="Arial"/>
              </a:rPr>
              <a:t>route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2926080" cy="2148840"/>
          </a:xfrm>
          <a:prstGeom prst="roundRect">
            <a:avLst/>
          </a:prstGeom>
          <a:solidFill>
            <a:srgbClr val="EAF2FA"/>
          </a:solidFill>
          <a:ln w="15875">
            <a:solidFill>
              <a:srgbClr val="2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800" b="1" dirty="0">
                <a:solidFill>
                  <a:srgbClr val="173B63"/>
                </a:solidFill>
                <a:latin typeface="Arial"/>
              </a:rPr>
              <a:t>Method</a:t>
            </a:r>
          </a:p>
          <a:p>
            <a:pPr algn="ctr">
              <a:spcBef>
                <a:spcPts val="300"/>
              </a:spcBef>
            </a:pPr>
            <a:r>
              <a:rPr sz="1800" dirty="0">
                <a:solidFill>
                  <a:srgbClr val="667085"/>
                </a:solidFill>
                <a:latin typeface="Arial"/>
              </a:rPr>
              <a:t>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011680"/>
            <a:ext cx="2926080" cy="2148840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800" b="1" dirty="0">
                <a:solidFill>
                  <a:srgbClr val="173B63"/>
                </a:solidFill>
                <a:latin typeface="Arial"/>
              </a:rPr>
              <a:t>Resource path</a:t>
            </a:r>
          </a:p>
          <a:p>
            <a:pPr algn="ctr">
              <a:spcBef>
                <a:spcPts val="300"/>
              </a:spcBef>
            </a:pPr>
            <a:r>
              <a:rPr sz="1700" dirty="0">
                <a:solidFill>
                  <a:srgbClr val="667085"/>
                </a:solidFill>
                <a:latin typeface="Arial"/>
              </a:rPr>
              <a:t>/movies/{id}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2011680"/>
            <a:ext cx="2926080" cy="2148840"/>
          </a:xfrm>
          <a:prstGeom prst="roundRect">
            <a:avLst/>
          </a:prstGeom>
          <a:solidFill>
            <a:srgbClr val="EAF6EF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800" b="1" dirty="0">
                <a:solidFill>
                  <a:srgbClr val="173B63"/>
                </a:solidFill>
                <a:latin typeface="Arial"/>
              </a:rPr>
              <a:t>Route</a:t>
            </a:r>
          </a:p>
          <a:p>
            <a:pPr algn="ctr">
              <a:spcBef>
                <a:spcPts val="300"/>
              </a:spcBef>
            </a:pPr>
            <a:r>
              <a:rPr sz="1600" dirty="0">
                <a:solidFill>
                  <a:srgbClr val="667085"/>
                </a:solidFill>
                <a:latin typeface="Arial"/>
              </a:rPr>
              <a:t>GET /movies/{id}</a:t>
            </a:r>
            <a:endParaRPr lang="en-AU" sz="1600" dirty="0">
              <a:solidFill>
                <a:srgbClr val="667085"/>
              </a:solidFill>
              <a:latin typeface="Arial"/>
            </a:endParaRPr>
          </a:p>
          <a:p>
            <a:pPr algn="ctr">
              <a:spcBef>
                <a:spcPts val="300"/>
              </a:spcBef>
            </a:pPr>
            <a:r>
              <a:rPr lang="en-US" sz="1600" dirty="0">
                <a:solidFill>
                  <a:srgbClr val="667085"/>
                </a:solidFill>
                <a:latin typeface="Arial"/>
              </a:rPr>
              <a:t>{id} is a path parameter</a:t>
            </a:r>
            <a:endParaRPr sz="1600" dirty="0">
              <a:solidFill>
                <a:srgbClr val="667085"/>
              </a:solidFill>
              <a:latin typeface="Arial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794760" y="3081528"/>
            <a:ext cx="822960" cy="0"/>
          </a:xfrm>
          <a:prstGeom prst="line">
            <a:avLst/>
          </a:prstGeom>
          <a:ln w="2159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3081528"/>
            <a:ext cx="822960" cy="0"/>
          </a:xfrm>
          <a:prstGeom prst="line">
            <a:avLst/>
          </a:prstGeom>
          <a:ln w="2159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laceHolder 1">
            <a:extLst>
              <a:ext uri="{FF2B5EF4-FFF2-40B4-BE49-F238E27FC236}">
                <a16:creationId xmlns:a16="http://schemas.microsoft.com/office/drawing/2014/main" id="{015862C1-633E-490B-AD99-E58BD0DE885D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37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CA4BA-6F49-4B50-B3BE-E4E6FC29651F}"/>
              </a:ext>
            </a:extLst>
          </p:cNvPr>
          <p:cNvSpPr txBox="1"/>
          <p:nvPr/>
        </p:nvSpPr>
        <p:spPr>
          <a:xfrm>
            <a:off x="1425161" y="4818888"/>
            <a:ext cx="9311203" cy="1034129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lang="en-AU" sz="1800" dirty="0">
                <a:solidFill>
                  <a:srgbClr val="FF0000"/>
                </a:solidFill>
                <a:latin typeface="Arial"/>
              </a:rPr>
              <a:t>In our movie example, </a:t>
            </a:r>
            <a:r>
              <a:rPr lang="en-US" sz="1800" dirty="0">
                <a:solidFill>
                  <a:srgbClr val="FF0000"/>
                </a:solidFill>
                <a:latin typeface="Arial"/>
              </a:rPr>
              <a:t>do the following two requests belong to two different routes? Why?</a:t>
            </a:r>
          </a:p>
          <a:p>
            <a:pPr algn="l"/>
            <a:r>
              <a:rPr lang="en-US" sz="1800" dirty="0">
                <a:solidFill>
                  <a:srgbClr val="FF0000"/>
                </a:solidFill>
                <a:latin typeface="Arial"/>
              </a:rPr>
              <a:t>GET /movies/123</a:t>
            </a:r>
          </a:p>
          <a:p>
            <a:pPr algn="l"/>
            <a:r>
              <a:rPr lang="en-US" sz="1800" dirty="0">
                <a:solidFill>
                  <a:srgbClr val="FF0000"/>
                </a:solidFill>
                <a:latin typeface="Arial"/>
              </a:rPr>
              <a:t>GET /movies/123?include=reviews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09622" y="242983"/>
            <a:ext cx="21892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73B63"/>
                </a:solidFill>
                <a:latin typeface="Arial"/>
              </a:rPr>
              <a:t>Integration</a:t>
            </a:r>
            <a:endParaRPr sz="2600" b="1" dirty="0">
              <a:solidFill>
                <a:srgbClr val="173B63"/>
              </a:solidFill>
              <a:latin typeface="Arial"/>
            </a:endParaRPr>
          </a:p>
        </p:txBody>
      </p:sp>
      <p:sp>
        <p:nvSpPr>
          <p:cNvPr id="15" name="PlaceHolder 1">
            <a:extLst>
              <a:ext uri="{FF2B5EF4-FFF2-40B4-BE49-F238E27FC236}">
                <a16:creationId xmlns:a16="http://schemas.microsoft.com/office/drawing/2014/main" id="{56E6972B-46A5-46BA-8ED2-5EDDA1F5028D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38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A781DD03-D314-44DE-AA2E-C0FC9E6CD625}"/>
              </a:ext>
            </a:extLst>
          </p:cNvPr>
          <p:cNvSpPr/>
          <p:nvPr/>
        </p:nvSpPr>
        <p:spPr>
          <a:xfrm>
            <a:off x="596981" y="2493641"/>
            <a:ext cx="2377440" cy="96012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173B63"/>
                </a:solidFill>
                <a:latin typeface="Arial"/>
              </a:rPr>
              <a:t>Incoming request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GET /movies/123
?include=reviews</a:t>
            </a:r>
          </a:p>
        </p:txBody>
      </p:sp>
      <p:cxnSp>
        <p:nvCxnSpPr>
          <p:cNvPr id="17" name="Connector 5">
            <a:extLst>
              <a:ext uri="{FF2B5EF4-FFF2-40B4-BE49-F238E27FC236}">
                <a16:creationId xmlns:a16="http://schemas.microsoft.com/office/drawing/2014/main" id="{D7AC11BB-D757-47B5-A593-40B0B802256B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974421" y="1922141"/>
            <a:ext cx="1055985" cy="1051560"/>
          </a:xfrm>
          <a:prstGeom prst="line">
            <a:avLst/>
          </a:prstGeom>
          <a:ln w="2159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9559F211-35E6-4AF3-93D3-C3A7424639D7}"/>
              </a:ext>
            </a:extLst>
          </p:cNvPr>
          <p:cNvSpPr/>
          <p:nvPr/>
        </p:nvSpPr>
        <p:spPr>
          <a:xfrm>
            <a:off x="4030406" y="1510661"/>
            <a:ext cx="2560320" cy="822960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173B63"/>
                </a:solidFill>
                <a:latin typeface="Arial"/>
              </a:rPr>
              <a:t>GET /movies/{id}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→ </a:t>
            </a:r>
            <a:r>
              <a:rPr sz="1400" dirty="0" err="1">
                <a:solidFill>
                  <a:srgbClr val="667085"/>
                </a:solidFill>
                <a:latin typeface="Arial"/>
              </a:rPr>
              <a:t>getMovie</a:t>
            </a:r>
            <a:endParaRPr sz="1400" dirty="0">
              <a:solidFill>
                <a:srgbClr val="667085"/>
              </a:solidFill>
              <a:latin typeface="Arial"/>
            </a:endParaRP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E752E0DB-40BB-463F-9FD9-8A884FEB744F}"/>
              </a:ext>
            </a:extLst>
          </p:cNvPr>
          <p:cNvSpPr/>
          <p:nvPr/>
        </p:nvSpPr>
        <p:spPr>
          <a:xfrm>
            <a:off x="4030406" y="2562221"/>
            <a:ext cx="2560320" cy="8229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173B63"/>
                </a:solidFill>
                <a:latin typeface="Arial"/>
              </a:rPr>
              <a:t>POST /movies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→ </a:t>
            </a:r>
            <a:r>
              <a:rPr sz="1400" dirty="0" err="1">
                <a:solidFill>
                  <a:srgbClr val="667085"/>
                </a:solidFill>
                <a:latin typeface="Arial"/>
              </a:rPr>
              <a:t>createMovie</a:t>
            </a:r>
            <a:endParaRPr sz="1400" dirty="0">
              <a:solidFill>
                <a:srgbClr val="667085"/>
              </a:solidFill>
              <a:latin typeface="Arial"/>
            </a:endParaRPr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C911FC4C-9E41-4F03-A457-C588E3522A5F}"/>
              </a:ext>
            </a:extLst>
          </p:cNvPr>
          <p:cNvSpPr/>
          <p:nvPr/>
        </p:nvSpPr>
        <p:spPr>
          <a:xfrm>
            <a:off x="4030406" y="3613781"/>
            <a:ext cx="2560320" cy="8229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00" b="1" dirty="0">
                <a:solidFill>
                  <a:srgbClr val="173B63"/>
                </a:solidFill>
                <a:latin typeface="Arial"/>
              </a:rPr>
              <a:t>DELETE /movies/{id}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→ </a:t>
            </a:r>
            <a:r>
              <a:rPr sz="1400" dirty="0" err="1">
                <a:solidFill>
                  <a:srgbClr val="667085"/>
                </a:solidFill>
                <a:latin typeface="Arial"/>
              </a:rPr>
              <a:t>deleteMovie</a:t>
            </a:r>
            <a:endParaRPr sz="1400" dirty="0">
              <a:solidFill>
                <a:srgbClr val="667085"/>
              </a:solidFill>
              <a:latin typeface="Arial"/>
            </a:endParaRPr>
          </a:p>
        </p:txBody>
      </p:sp>
      <p:cxnSp>
        <p:nvCxnSpPr>
          <p:cNvPr id="21" name="Connector 9">
            <a:extLst>
              <a:ext uri="{FF2B5EF4-FFF2-40B4-BE49-F238E27FC236}">
                <a16:creationId xmlns:a16="http://schemas.microsoft.com/office/drawing/2014/main" id="{B7C71444-9717-43FD-9A8C-F0A08D159A90}"/>
              </a:ext>
            </a:extLst>
          </p:cNvPr>
          <p:cNvCxnSpPr/>
          <p:nvPr/>
        </p:nvCxnSpPr>
        <p:spPr>
          <a:xfrm>
            <a:off x="6590726" y="1922141"/>
            <a:ext cx="822960" cy="0"/>
          </a:xfrm>
          <a:prstGeom prst="line">
            <a:avLst/>
          </a:prstGeom>
          <a:ln w="21590">
            <a:solidFill>
              <a:srgbClr val="7457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299DA058-0ABB-425C-A838-DE46A735BDDD}"/>
              </a:ext>
            </a:extLst>
          </p:cNvPr>
          <p:cNvSpPr/>
          <p:nvPr/>
        </p:nvSpPr>
        <p:spPr>
          <a:xfrm>
            <a:off x="7413686" y="1510661"/>
            <a:ext cx="3520440" cy="1143000"/>
          </a:xfrm>
          <a:prstGeom prst="roundRect">
            <a:avLst/>
          </a:prstGeom>
          <a:solidFill>
            <a:srgbClr val="FFF2D8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lang="en-AU" sz="1600" b="1" dirty="0">
                <a:solidFill>
                  <a:srgbClr val="173B63"/>
                </a:solidFill>
                <a:latin typeface="Arial"/>
              </a:rPr>
              <a:t>Integration</a:t>
            </a:r>
          </a:p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Lambda</a:t>
            </a:r>
            <a:r>
              <a:rPr lang="en-AU" sz="1600" b="1" dirty="0">
                <a:solidFill>
                  <a:srgbClr val="173B63"/>
                </a:solidFill>
                <a:latin typeface="Arial"/>
              </a:rPr>
              <a:t>: </a:t>
            </a:r>
            <a:r>
              <a:rPr lang="en-AU" sz="1600" b="1" dirty="0" err="1">
                <a:solidFill>
                  <a:srgbClr val="173B63"/>
                </a:solidFill>
                <a:latin typeface="Arial"/>
              </a:rPr>
              <a:t>getMovie</a:t>
            </a:r>
            <a:endParaRPr sz="1600" b="1" dirty="0">
              <a:solidFill>
                <a:srgbClr val="173B63"/>
              </a:solidFill>
              <a:latin typeface="Arial"/>
            </a:endParaRP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path parameter: id = 123
query parameter: include = reviews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BEFFB1-E9C1-45FB-AB26-E802D6501777}"/>
              </a:ext>
            </a:extLst>
          </p:cNvPr>
          <p:cNvSpPr txBox="1"/>
          <p:nvPr/>
        </p:nvSpPr>
        <p:spPr>
          <a:xfrm>
            <a:off x="2175795" y="1980124"/>
            <a:ext cx="1597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AU" sz="1400" b="1" dirty="0">
                <a:solidFill>
                  <a:srgbClr val="173B63"/>
                </a:solidFill>
                <a:latin typeface="Arial"/>
              </a:rPr>
              <a:t>Matched pattern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6497" y="299740"/>
            <a:ext cx="27417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73B63"/>
                </a:solidFill>
                <a:latin typeface="Arial"/>
              </a:rPr>
              <a:t>DynamoDB</a:t>
            </a:r>
            <a:endParaRPr sz="2600" b="1" dirty="0">
              <a:solidFill>
                <a:srgbClr val="173B63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2506983"/>
            <a:ext cx="2286000" cy="1234437"/>
          </a:xfrm>
          <a:prstGeom prst="roundRect">
            <a:avLst/>
          </a:prstGeom>
          <a:solidFill>
            <a:srgbClr val="FFF2D8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500" b="1" dirty="0">
                <a:solidFill>
                  <a:srgbClr val="173B63"/>
                </a:solidFill>
                <a:latin typeface="Arial"/>
              </a:rPr>
              <a:t>Lambda: </a:t>
            </a:r>
            <a:r>
              <a:rPr sz="1500" b="1" dirty="0" err="1">
                <a:solidFill>
                  <a:srgbClr val="173B63"/>
                </a:solidFill>
                <a:latin typeface="Arial"/>
              </a:rPr>
              <a:t>getMovie</a:t>
            </a:r>
            <a:endParaRPr lang="en-AU" sz="1600" b="1" dirty="0">
              <a:solidFill>
                <a:srgbClr val="173B63"/>
              </a:solidFill>
              <a:latin typeface="Arial"/>
            </a:endParaRPr>
          </a:p>
          <a:p>
            <a:pPr algn="ctr">
              <a:spcBef>
                <a:spcPts val="300"/>
              </a:spcBef>
            </a:pPr>
            <a:r>
              <a:rPr lang="en-US" sz="1400" dirty="0">
                <a:solidFill>
                  <a:srgbClr val="667085"/>
                </a:solidFill>
                <a:latin typeface="Arial"/>
              </a:rPr>
              <a:t>path parameter: id = 123
query parameter: include = reviews</a:t>
            </a:r>
          </a:p>
        </p:txBody>
      </p:sp>
      <p:cxnSp>
        <p:nvCxnSpPr>
          <p:cNvPr id="6" name="Connector 5"/>
          <p:cNvCxnSpPr>
            <a:cxnSpLocks/>
          </p:cNvCxnSpPr>
          <p:nvPr/>
        </p:nvCxnSpPr>
        <p:spPr>
          <a:xfrm>
            <a:off x="2971800" y="3256791"/>
            <a:ext cx="5242562" cy="0"/>
          </a:xfrm>
          <a:prstGeom prst="line">
            <a:avLst/>
          </a:prstGeom>
          <a:ln w="2159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14362" y="2506980"/>
            <a:ext cx="2468880" cy="1234440"/>
          </a:xfrm>
          <a:prstGeom prst="roundRect">
            <a:avLst/>
          </a:prstGeom>
          <a:solidFill>
            <a:srgbClr val="EAF6EF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DynamoDB</a:t>
            </a:r>
            <a:endParaRPr sz="1250" dirty="0">
              <a:solidFill>
                <a:srgbClr val="667085"/>
              </a:solidFill>
              <a:latin typeface="Arial"/>
            </a:endParaRP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 flipH="1">
            <a:off x="2971801" y="2837688"/>
            <a:ext cx="5242561" cy="0"/>
          </a:xfrm>
          <a:prstGeom prst="line">
            <a:avLst/>
          </a:prstGeom>
          <a:ln w="2159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977639" y="934974"/>
            <a:ext cx="3291840" cy="173736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Returned item</a:t>
            </a:r>
          </a:p>
          <a:p>
            <a:pPr algn="ctr">
              <a:spcBef>
                <a:spcPts val="300"/>
              </a:spcBef>
            </a:pPr>
            <a:r>
              <a:rPr sz="1600" dirty="0">
                <a:solidFill>
                  <a:srgbClr val="667085"/>
                </a:solidFill>
                <a:latin typeface="Arial"/>
              </a:rPr>
              <a:t>{
 "</a:t>
            </a:r>
            <a:r>
              <a:rPr sz="1600" dirty="0" err="1">
                <a:solidFill>
                  <a:srgbClr val="667085"/>
                </a:solidFill>
                <a:latin typeface="Arial"/>
              </a:rPr>
              <a:t>movieId</a:t>
            </a:r>
            <a:r>
              <a:rPr sz="1600" dirty="0">
                <a:solidFill>
                  <a:srgbClr val="667085"/>
                </a:solidFill>
                <a:latin typeface="Arial"/>
              </a:rPr>
              <a:t>": "123",
 "title": "Arrival",
 "year": 2016
}</a:t>
            </a:r>
          </a:p>
        </p:txBody>
      </p:sp>
      <p:sp>
        <p:nvSpPr>
          <p:cNvPr id="13" name="PlaceHolder 1">
            <a:extLst>
              <a:ext uri="{FF2B5EF4-FFF2-40B4-BE49-F238E27FC236}">
                <a16:creationId xmlns:a16="http://schemas.microsoft.com/office/drawing/2014/main" id="{0FC4859B-2C96-4ED6-BB99-BD1DF99A43FD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39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6B2F13-C88B-44D7-A777-F4EE290BACEE}"/>
              </a:ext>
            </a:extLst>
          </p:cNvPr>
          <p:cNvSpPr txBox="1"/>
          <p:nvPr/>
        </p:nvSpPr>
        <p:spPr>
          <a:xfrm>
            <a:off x="3977638" y="3523597"/>
            <a:ext cx="3291841" cy="1582566"/>
          </a:xfrm>
          <a:prstGeom prst="rect">
            <a:avLst/>
          </a:prstGeom>
          <a:solidFill>
            <a:srgbClr val="F7F9FC"/>
          </a:solidFill>
          <a:ln w="15875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/>
            </a:defPPr>
            <a:lvl1pPr>
              <a:defRPr sz="1600" b="1">
                <a:solidFill>
                  <a:srgbClr val="173B63"/>
                </a:solidFill>
                <a:latin typeface="Arial"/>
              </a:defRPr>
            </a:lvl1pPr>
            <a:lvl2pPr>
              <a:defRPr>
                <a:solidFill>
                  <a:schemeClr val="lt1"/>
                </a:solidFill>
                <a:latin typeface="+mn-lt"/>
              </a:defRPr>
            </a:lvl2pPr>
            <a:lvl3pPr>
              <a:defRPr>
                <a:solidFill>
                  <a:schemeClr val="lt1"/>
                </a:solidFill>
                <a:latin typeface="+mn-lt"/>
              </a:defRPr>
            </a:lvl3pPr>
            <a:lvl4pPr>
              <a:defRPr>
                <a:solidFill>
                  <a:schemeClr val="lt1"/>
                </a:solidFill>
                <a:latin typeface="+mn-lt"/>
              </a:defRPr>
            </a:lvl4pPr>
            <a:lvl5pPr>
              <a:defRPr>
                <a:solidFill>
                  <a:schemeClr val="lt1"/>
                </a:solidFill>
                <a:latin typeface="+mn-lt"/>
              </a:defRPr>
            </a:lvl5pPr>
            <a:lvl6pPr>
              <a:defRPr>
                <a:solidFill>
                  <a:schemeClr val="lt1"/>
                </a:solidFill>
                <a:latin typeface="+mn-lt"/>
              </a:defRPr>
            </a:lvl6pPr>
            <a:lvl7pPr>
              <a:defRPr>
                <a:solidFill>
                  <a:schemeClr val="lt1"/>
                </a:solidFill>
                <a:latin typeface="+mn-lt"/>
              </a:defRPr>
            </a:lvl7pPr>
            <a:lvl8pPr>
              <a:defRPr>
                <a:solidFill>
                  <a:schemeClr val="lt1"/>
                </a:solidFill>
                <a:latin typeface="+mn-lt"/>
              </a:defRPr>
            </a:lvl8pPr>
            <a:lvl9pPr>
              <a:defRPr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r>
              <a:rPr b="1" dirty="0">
                <a:solidFill>
                  <a:srgbClr val="173B63"/>
                </a:solidFill>
                <a:latin typeface="Arial"/>
              </a:rPr>
              <a:t>DynamoDB API</a:t>
            </a:r>
          </a:p>
          <a:p>
            <a:pPr algn="ctr">
              <a:spcBef>
                <a:spcPts val="300"/>
              </a:spcBef>
            </a:pPr>
            <a:r>
              <a:rPr b="0" dirty="0" err="1">
                <a:solidFill>
                  <a:srgbClr val="667085"/>
                </a:solidFill>
                <a:latin typeface="Arial"/>
              </a:rPr>
              <a:t>GetItem</a:t>
            </a:r>
            <a:r>
              <a:rPr b="0" dirty="0">
                <a:solidFill>
                  <a:srgbClr val="667085"/>
                </a:solidFill>
                <a:latin typeface="Arial"/>
              </a:rPr>
              <a:t> with:
</a:t>
            </a:r>
            <a:r>
              <a:rPr b="0" dirty="0" err="1">
                <a:solidFill>
                  <a:srgbClr val="667085"/>
                </a:solidFill>
                <a:latin typeface="Arial"/>
              </a:rPr>
              <a:t>TableName</a:t>
            </a:r>
            <a:r>
              <a:rPr b="0" dirty="0">
                <a:solidFill>
                  <a:srgbClr val="667085"/>
                </a:solidFill>
                <a:latin typeface="Arial"/>
              </a:rPr>
              <a:t> = Movies
Key = { </a:t>
            </a:r>
            <a:r>
              <a:rPr b="0" dirty="0" err="1">
                <a:solidFill>
                  <a:srgbClr val="667085"/>
                </a:solidFill>
                <a:latin typeface="Arial"/>
              </a:rPr>
              <a:t>movieId</a:t>
            </a:r>
            <a:r>
              <a:rPr b="0" dirty="0">
                <a:solidFill>
                  <a:srgbClr val="667085"/>
                </a:solidFill>
                <a:latin typeface="Arial"/>
              </a:rPr>
              <a:t>: "123" }</a:t>
            </a:r>
            <a:endParaRPr sz="1400" b="0" dirty="0">
              <a:solidFill>
                <a:srgbClr val="F59E0B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240305"/>
            <a:ext cx="8435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73B63"/>
                </a:solidFill>
                <a:latin typeface="Arial"/>
              </a:rPr>
              <a:t>IAM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14600"/>
            <a:ext cx="2057400" cy="960120"/>
          </a:xfrm>
          <a:prstGeom prst="roundRect">
            <a:avLst/>
          </a:prstGeom>
          <a:solidFill>
            <a:srgbClr val="FFF2D8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Lambda</a:t>
            </a:r>
          </a:p>
          <a:p>
            <a:pPr algn="ctr">
              <a:spcBef>
                <a:spcPts val="300"/>
              </a:spcBef>
            </a:pPr>
            <a:r>
              <a:rPr sz="1400" dirty="0" err="1">
                <a:solidFill>
                  <a:srgbClr val="667085"/>
                </a:solidFill>
                <a:latin typeface="Arial"/>
              </a:rPr>
              <a:t>getMovie</a:t>
            </a:r>
            <a:r>
              <a:rPr sz="1400" dirty="0">
                <a:solidFill>
                  <a:srgbClr val="667085"/>
                </a:solidFill>
                <a:latin typeface="Arial"/>
              </a:rPr>
              <a:t>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2514600"/>
            <a:ext cx="2057400" cy="960120"/>
          </a:xfrm>
          <a:prstGeom prst="roundRect">
            <a:avLst/>
          </a:prstGeom>
          <a:solidFill>
            <a:srgbClr val="EAF6EF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DynamoDB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Movies table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71800" y="2990088"/>
            <a:ext cx="6126480" cy="0"/>
          </a:xfrm>
          <a:prstGeom prst="line">
            <a:avLst/>
          </a:prstGeom>
          <a:ln w="2540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7580" y="2670048"/>
            <a:ext cx="1814920" cy="307777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1" dirty="0" err="1">
                <a:solidFill>
                  <a:srgbClr val="2E8B57"/>
                </a:solidFill>
                <a:latin typeface="Arial"/>
              </a:rPr>
              <a:t>dynamodb:GetItem</a:t>
            </a:r>
            <a:endParaRPr sz="1400" b="1" dirty="0">
              <a:solidFill>
                <a:srgbClr val="2E8B57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60520" y="1234440"/>
            <a:ext cx="3749039" cy="960120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IAM role</a:t>
            </a:r>
            <a:endParaRPr lang="en-AU" sz="1600" b="1" dirty="0">
              <a:solidFill>
                <a:srgbClr val="173B63"/>
              </a:solidFill>
              <a:latin typeface="Arial"/>
            </a:endParaRPr>
          </a:p>
          <a:p>
            <a:pPr algn="ctr"/>
            <a:r>
              <a:rPr lang="en-AU" sz="1400" dirty="0">
                <a:solidFill>
                  <a:srgbClr val="667085"/>
                </a:solidFill>
                <a:latin typeface="Arial"/>
              </a:rPr>
              <a:t>authorises</a:t>
            </a:r>
            <a:endParaRPr lang="en-AU" sz="1150" dirty="0">
              <a:solidFill>
                <a:srgbClr val="667085"/>
              </a:solidFill>
              <a:latin typeface="Arial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6035040" y="2194560"/>
            <a:ext cx="0" cy="384048"/>
          </a:xfrm>
          <a:prstGeom prst="line">
            <a:avLst/>
          </a:prstGeom>
          <a:ln w="17780">
            <a:solidFill>
              <a:srgbClr val="74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2286000"/>
            <a:ext cx="184731" cy="269304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endParaRPr sz="1150" b="1" dirty="0">
              <a:solidFill>
                <a:srgbClr val="7457D6"/>
              </a:solidFill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03B07-1050-415E-AB4A-9AD9C4806462}"/>
              </a:ext>
            </a:extLst>
          </p:cNvPr>
          <p:cNvSpPr txBox="1"/>
          <p:nvPr/>
        </p:nvSpPr>
        <p:spPr>
          <a:xfrm>
            <a:off x="2971800" y="4085582"/>
            <a:ext cx="6288902" cy="3693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lang="en-AU" sz="1800" dirty="0">
                <a:solidFill>
                  <a:srgbClr val="FF0000"/>
                </a:solidFill>
                <a:latin typeface="Arial"/>
              </a:rPr>
              <a:t>Does an http request </a:t>
            </a:r>
            <a:r>
              <a:rPr lang="en-US" sz="1800" dirty="0">
                <a:solidFill>
                  <a:srgbClr val="FF0000"/>
                </a:solidFill>
                <a:latin typeface="Arial"/>
              </a:rPr>
              <a:t>travel Lambda → IAM → DynamoDB?</a:t>
            </a:r>
          </a:p>
        </p:txBody>
      </p:sp>
      <p:sp>
        <p:nvSpPr>
          <p:cNvPr id="17" name="PlaceHolder 1">
            <a:extLst>
              <a:ext uri="{FF2B5EF4-FFF2-40B4-BE49-F238E27FC236}">
                <a16:creationId xmlns:a16="http://schemas.microsoft.com/office/drawing/2014/main" id="{7F996BD4-F585-4874-AB0D-FE0CF9075676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40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1792" y="384049"/>
            <a:ext cx="22680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73B63"/>
                </a:solidFill>
                <a:latin typeface="Arial"/>
              </a:rPr>
              <a:t>CloudWatch</a:t>
            </a:r>
            <a:endParaRPr sz="2600" b="1" dirty="0">
              <a:solidFill>
                <a:srgbClr val="173B63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057400" cy="868680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API Gateway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requests /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2103120"/>
            <a:ext cx="1920240" cy="868680"/>
          </a:xfrm>
          <a:prstGeom prst="roundRect">
            <a:avLst/>
          </a:prstGeom>
          <a:solidFill>
            <a:srgbClr val="FFF2D8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Lambda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logs / errors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6840" y="2103120"/>
            <a:ext cx="2057400" cy="868680"/>
          </a:xfrm>
          <a:prstGeom prst="roundRect">
            <a:avLst/>
          </a:prstGeom>
          <a:solidFill>
            <a:srgbClr val="EAF6EF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600" b="1" dirty="0">
                <a:solidFill>
                  <a:srgbClr val="173B63"/>
                </a:solidFill>
                <a:latin typeface="Arial"/>
              </a:rPr>
              <a:t>DynamoDB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service metrics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2532888"/>
            <a:ext cx="2103120" cy="0"/>
          </a:xfrm>
          <a:prstGeom prst="line">
            <a:avLst/>
          </a:prstGeom>
          <a:ln w="2159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03720" y="2532888"/>
            <a:ext cx="2103120" cy="0"/>
          </a:xfrm>
          <a:prstGeom prst="line">
            <a:avLst/>
          </a:prstGeom>
          <a:ln w="2159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23360" y="4251960"/>
            <a:ext cx="4114800" cy="960120"/>
          </a:xfrm>
          <a:prstGeom prst="roundRect">
            <a:avLst/>
          </a:prstGeom>
          <a:solidFill>
            <a:srgbClr val="EAF2FA"/>
          </a:solidFill>
          <a:ln w="15875">
            <a:solidFill>
              <a:srgbClr val="2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700" b="1" dirty="0">
                <a:solidFill>
                  <a:srgbClr val="173B63"/>
                </a:solidFill>
                <a:latin typeface="Arial"/>
              </a:rPr>
              <a:t>CloudWatch</a:t>
            </a:r>
          </a:p>
          <a:p>
            <a:pPr algn="ctr">
              <a:spcBef>
                <a:spcPts val="300"/>
              </a:spcBef>
            </a:pPr>
            <a:r>
              <a:rPr sz="1400" dirty="0">
                <a:solidFill>
                  <a:srgbClr val="667085"/>
                </a:solidFill>
                <a:latin typeface="Arial"/>
              </a:rPr>
              <a:t>logs </a:t>
            </a:r>
            <a:r>
              <a:rPr lang="en-AU" sz="1400" dirty="0">
                <a:solidFill>
                  <a:srgbClr val="667085"/>
                </a:solidFill>
                <a:latin typeface="Arial"/>
              </a:rPr>
              <a:t>/ </a:t>
            </a:r>
            <a:r>
              <a:rPr sz="1400" dirty="0">
                <a:solidFill>
                  <a:srgbClr val="667085"/>
                </a:solidFill>
                <a:latin typeface="Arial"/>
              </a:rPr>
              <a:t>metrics </a:t>
            </a:r>
            <a:r>
              <a:rPr lang="en-AU" sz="1400" dirty="0">
                <a:solidFill>
                  <a:srgbClr val="667085"/>
                </a:solidFill>
                <a:latin typeface="Arial"/>
              </a:rPr>
              <a:t>/</a:t>
            </a:r>
            <a:r>
              <a:rPr sz="1400" dirty="0">
                <a:solidFill>
                  <a:srgbClr val="667085"/>
                </a:solidFill>
                <a:latin typeface="Arial"/>
              </a:rPr>
              <a:t> alarms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971800"/>
            <a:ext cx="3017520" cy="128016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2971800"/>
            <a:ext cx="0" cy="128016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315200" y="2971800"/>
            <a:ext cx="2697480" cy="128016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laceHolder 1">
            <a:extLst>
              <a:ext uri="{FF2B5EF4-FFF2-40B4-BE49-F238E27FC236}">
                <a16:creationId xmlns:a16="http://schemas.microsoft.com/office/drawing/2014/main" id="{A04A07A0-C5D1-426A-9F42-42CFB37926EB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41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52247" y="311436"/>
            <a:ext cx="35798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</a:rPr>
              <a:t>Putting all together</a:t>
            </a:r>
            <a:endParaRPr sz="2800" b="1" dirty="0">
              <a:solidFill>
                <a:srgbClr val="173B63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87780" y="2583180"/>
            <a:ext cx="1508760" cy="86868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667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50" b="1">
                <a:solidFill>
                  <a:srgbClr val="173B63"/>
                </a:solidFill>
                <a:latin typeface="Arial"/>
              </a:rPr>
              <a:t>Client</a:t>
            </a:r>
          </a:p>
          <a:p>
            <a:pPr algn="ctr">
              <a:spcBef>
                <a:spcPts val="300"/>
              </a:spcBef>
            </a:pPr>
            <a:r>
              <a:rPr sz="1080">
                <a:solidFill>
                  <a:srgbClr val="667085"/>
                </a:solidFill>
                <a:latin typeface="Arial"/>
              </a:rPr>
              <a:t>GET /movies/123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9460" y="2583180"/>
            <a:ext cx="1783080" cy="868680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50" b="1">
                <a:solidFill>
                  <a:srgbClr val="173B63"/>
                </a:solidFill>
                <a:latin typeface="Arial"/>
              </a:rPr>
              <a:t>API Gateway</a:t>
            </a:r>
          </a:p>
          <a:p>
            <a:pPr algn="ctr">
              <a:spcBef>
                <a:spcPts val="300"/>
              </a:spcBef>
            </a:pPr>
            <a:r>
              <a:rPr sz="1080">
                <a:solidFill>
                  <a:srgbClr val="667085"/>
                </a:solidFill>
                <a:latin typeface="Arial"/>
              </a:rPr>
              <a:t>match route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5460" y="2583180"/>
            <a:ext cx="1554480" cy="868680"/>
          </a:xfrm>
          <a:prstGeom prst="roundRect">
            <a:avLst/>
          </a:prstGeom>
          <a:solidFill>
            <a:srgbClr val="FFF2D8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50" b="1">
                <a:solidFill>
                  <a:srgbClr val="173B63"/>
                </a:solidFill>
                <a:latin typeface="Arial"/>
              </a:rPr>
              <a:t>Lambda</a:t>
            </a:r>
          </a:p>
          <a:p>
            <a:pPr algn="ctr">
              <a:spcBef>
                <a:spcPts val="300"/>
              </a:spcBef>
            </a:pPr>
            <a:r>
              <a:rPr sz="1080">
                <a:solidFill>
                  <a:srgbClr val="667085"/>
                </a:solidFill>
                <a:latin typeface="Arial"/>
              </a:rPr>
              <a:t>getMovie()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8580" y="2583180"/>
            <a:ext cx="1737360" cy="868680"/>
          </a:xfrm>
          <a:prstGeom prst="roundRect">
            <a:avLst/>
          </a:prstGeom>
          <a:solidFill>
            <a:srgbClr val="EAF6EF"/>
          </a:solidFill>
          <a:ln w="1587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450" b="1">
                <a:solidFill>
                  <a:srgbClr val="173B63"/>
                </a:solidFill>
                <a:latin typeface="Arial"/>
              </a:rPr>
              <a:t>DynamoDB</a:t>
            </a:r>
          </a:p>
          <a:p>
            <a:pPr algn="ctr">
              <a:spcBef>
                <a:spcPts val="300"/>
              </a:spcBef>
            </a:pPr>
            <a:r>
              <a:rPr sz="1080">
                <a:solidFill>
                  <a:srgbClr val="667085"/>
                </a:solidFill>
                <a:latin typeface="Arial"/>
              </a:rPr>
              <a:t>GetItem(123)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96540" y="2825496"/>
            <a:ext cx="502920" cy="0"/>
          </a:xfrm>
          <a:prstGeom prst="line">
            <a:avLst/>
          </a:prstGeom>
          <a:ln w="2032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82540" y="2825496"/>
            <a:ext cx="502920" cy="0"/>
          </a:xfrm>
          <a:prstGeom prst="line">
            <a:avLst/>
          </a:prstGeom>
          <a:ln w="2032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9940" y="2865991"/>
            <a:ext cx="548640" cy="0"/>
          </a:xfrm>
          <a:prstGeom prst="line">
            <a:avLst/>
          </a:prstGeom>
          <a:ln w="2032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402580" y="1348740"/>
            <a:ext cx="2011680" cy="658368"/>
          </a:xfrm>
          <a:prstGeom prst="roundRect">
            <a:avLst/>
          </a:prstGeom>
          <a:solidFill>
            <a:srgbClr val="F1EEFF"/>
          </a:solidFill>
          <a:ln w="15875">
            <a:solidFill>
              <a:srgbClr val="7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350" b="1" dirty="0">
                <a:solidFill>
                  <a:srgbClr val="173B63"/>
                </a:solidFill>
                <a:latin typeface="Arial"/>
              </a:rPr>
              <a:t>IAM</a:t>
            </a:r>
            <a:r>
              <a:rPr lang="en-AU" sz="1350" b="1" dirty="0">
                <a:solidFill>
                  <a:srgbClr val="173B63"/>
                </a:solidFill>
                <a:latin typeface="Arial"/>
              </a:rPr>
              <a:t> role</a:t>
            </a:r>
            <a:endParaRPr sz="1350" b="1" dirty="0">
              <a:solidFill>
                <a:srgbClr val="173B63"/>
              </a:solidFill>
              <a:latin typeface="Arial"/>
            </a:endParaRPr>
          </a:p>
          <a:p>
            <a:pPr algn="ctr">
              <a:spcBef>
                <a:spcPts val="300"/>
              </a:spcBef>
            </a:pPr>
            <a:r>
              <a:rPr sz="1050" dirty="0" err="1">
                <a:solidFill>
                  <a:srgbClr val="667085"/>
                </a:solidFill>
                <a:latin typeface="Arial"/>
              </a:rPr>
              <a:t>authorises</a:t>
            </a:r>
            <a:endParaRPr sz="1050" dirty="0">
              <a:solidFill>
                <a:srgbClr val="667085"/>
              </a:solidFill>
              <a:latin typeface="Arial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6408420" y="2007107"/>
            <a:ext cx="0" cy="576073"/>
          </a:xfrm>
          <a:prstGeom prst="line">
            <a:avLst/>
          </a:prstGeom>
          <a:ln w="13970">
            <a:solidFill>
              <a:srgbClr val="74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8260" y="4274820"/>
            <a:ext cx="2606040" cy="676656"/>
          </a:xfrm>
          <a:prstGeom prst="roundRect">
            <a:avLst/>
          </a:prstGeom>
          <a:solidFill>
            <a:srgbClr val="EAF2FA"/>
          </a:solidFill>
          <a:ln w="15875">
            <a:solidFill>
              <a:srgbClr val="2F6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r>
              <a:rPr sz="1350" b="1">
                <a:solidFill>
                  <a:srgbClr val="173B63"/>
                </a:solidFill>
                <a:latin typeface="Arial"/>
              </a:rPr>
              <a:t>CloudWatch</a:t>
            </a:r>
          </a:p>
          <a:p>
            <a:pPr algn="ctr">
              <a:spcBef>
                <a:spcPts val="300"/>
              </a:spcBef>
            </a:pPr>
            <a:r>
              <a:rPr sz="1050">
                <a:solidFill>
                  <a:srgbClr val="667085"/>
                </a:solidFill>
                <a:latin typeface="Arial"/>
              </a:rPr>
              <a:t>observe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13860" y="3451860"/>
            <a:ext cx="1417320" cy="82296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62700" y="3451860"/>
            <a:ext cx="45720" cy="82296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laceHolder 1">
            <a:extLst>
              <a:ext uri="{FF2B5EF4-FFF2-40B4-BE49-F238E27FC236}">
                <a16:creationId xmlns:a16="http://schemas.microsoft.com/office/drawing/2014/main" id="{BB26EA05-EFED-4264-91B8-52D5DCE126CD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42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27" name="Connector 11">
            <a:extLst>
              <a:ext uri="{FF2B5EF4-FFF2-40B4-BE49-F238E27FC236}">
                <a16:creationId xmlns:a16="http://schemas.microsoft.com/office/drawing/2014/main" id="{B1030426-6110-4A8F-9734-8CFC3E6CEE1E}"/>
              </a:ext>
            </a:extLst>
          </p:cNvPr>
          <p:cNvCxnSpPr>
            <a:cxnSpLocks/>
          </p:cNvCxnSpPr>
          <p:nvPr/>
        </p:nvCxnSpPr>
        <p:spPr>
          <a:xfrm flipH="1">
            <a:off x="7139940" y="3282043"/>
            <a:ext cx="548640" cy="0"/>
          </a:xfrm>
          <a:prstGeom prst="line">
            <a:avLst/>
          </a:prstGeom>
          <a:ln w="20320">
            <a:solidFill>
              <a:srgbClr val="2E8B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10">
            <a:extLst>
              <a:ext uri="{FF2B5EF4-FFF2-40B4-BE49-F238E27FC236}">
                <a16:creationId xmlns:a16="http://schemas.microsoft.com/office/drawing/2014/main" id="{D57874EF-B1D9-4C13-A46F-90B983372FB5}"/>
              </a:ext>
            </a:extLst>
          </p:cNvPr>
          <p:cNvCxnSpPr>
            <a:cxnSpLocks/>
          </p:cNvCxnSpPr>
          <p:nvPr/>
        </p:nvCxnSpPr>
        <p:spPr>
          <a:xfrm flipH="1">
            <a:off x="5082540" y="3282043"/>
            <a:ext cx="502920" cy="0"/>
          </a:xfrm>
          <a:prstGeom prst="line">
            <a:avLst/>
          </a:prstGeom>
          <a:ln w="2032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10">
            <a:extLst>
              <a:ext uri="{FF2B5EF4-FFF2-40B4-BE49-F238E27FC236}">
                <a16:creationId xmlns:a16="http://schemas.microsoft.com/office/drawing/2014/main" id="{D56B7BF9-D590-496B-B84D-CD91E115C345}"/>
              </a:ext>
            </a:extLst>
          </p:cNvPr>
          <p:cNvCxnSpPr>
            <a:cxnSpLocks/>
          </p:cNvCxnSpPr>
          <p:nvPr/>
        </p:nvCxnSpPr>
        <p:spPr>
          <a:xfrm flipH="1">
            <a:off x="2796540" y="3282043"/>
            <a:ext cx="502920" cy="0"/>
          </a:xfrm>
          <a:prstGeom prst="line">
            <a:avLst/>
          </a:prstGeom>
          <a:ln w="20320">
            <a:solidFill>
              <a:srgbClr val="2F6FA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17">
            <a:extLst>
              <a:ext uri="{FF2B5EF4-FFF2-40B4-BE49-F238E27FC236}">
                <a16:creationId xmlns:a16="http://schemas.microsoft.com/office/drawing/2014/main" id="{C6E3F4D4-0DAC-4ACE-A7F4-11FAA14F21A1}"/>
              </a:ext>
            </a:extLst>
          </p:cNvPr>
          <p:cNvCxnSpPr>
            <a:cxnSpLocks/>
          </p:cNvCxnSpPr>
          <p:nvPr/>
        </p:nvCxnSpPr>
        <p:spPr>
          <a:xfrm flipH="1">
            <a:off x="7391400" y="3451860"/>
            <a:ext cx="1184912" cy="822960"/>
          </a:xfrm>
          <a:prstGeom prst="line">
            <a:avLst/>
          </a:prstGeom>
          <a:ln w="12700">
            <a:solidFill>
              <a:srgbClr val="6670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921" y="269259"/>
            <a:ext cx="5652079" cy="532030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AWS example: HTTP API</a:t>
            </a:r>
            <a:endParaRPr lang="en-US" sz="2800" b="1" dirty="0">
              <a:solidFill>
                <a:srgbClr val="173B63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22B10D-D3D9-4E16-8BA7-558BF0A97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061" y="1625010"/>
            <a:ext cx="7328709" cy="1803990"/>
          </a:xfrm>
          <a:prstGeom prst="rect">
            <a:avLst/>
          </a:prstGeom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6CEFF99A-4305-4652-8C0D-D93438918854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43</a:t>
            </a:fld>
            <a:endParaRPr lang="en-AU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6622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699" y="159816"/>
            <a:ext cx="5691301" cy="619028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Step1: </a:t>
            </a:r>
            <a:r>
              <a:rPr lang="en-US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create a Lambda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45ED2-067F-4FB7-B9FE-6805D6229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1" y="988697"/>
            <a:ext cx="4808818" cy="5399973"/>
          </a:xfrm>
          <a:prstGeom prst="rect">
            <a:avLst/>
          </a:prstGeom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E6E52025-D95F-47D4-A1BB-E3496F416AFF}"/>
              </a:ext>
            </a:extLst>
          </p:cNvPr>
          <p:cNvSpPr txBox="1">
            <a:spLocks/>
          </p:cNvSpPr>
          <p:nvPr/>
        </p:nvSpPr>
        <p:spPr>
          <a:xfrm>
            <a:off x="11137320" y="646684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44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6135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699" y="194411"/>
            <a:ext cx="5691301" cy="619028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Step1: </a:t>
            </a:r>
            <a:r>
              <a:rPr lang="en-US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create a Lambda function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D5C6A2-C32D-4445-9C2B-1F9C20F82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532" y="1249140"/>
            <a:ext cx="7564937" cy="3374506"/>
          </a:xfrm>
          <a:prstGeom prst="rect">
            <a:avLst/>
          </a:prstGeom>
        </p:spPr>
      </p:pic>
      <p:sp>
        <p:nvSpPr>
          <p:cNvPr id="4" name="PlaceHolder 1">
            <a:extLst>
              <a:ext uri="{FF2B5EF4-FFF2-40B4-BE49-F238E27FC236}">
                <a16:creationId xmlns:a16="http://schemas.microsoft.com/office/drawing/2014/main" id="{6468B36C-83CA-46D5-B3EE-94E8622A9BC0}"/>
              </a:ext>
            </a:extLst>
          </p:cNvPr>
          <p:cNvSpPr txBox="1">
            <a:spLocks/>
          </p:cNvSpPr>
          <p:nvPr/>
        </p:nvSpPr>
        <p:spPr>
          <a:xfrm>
            <a:off x="11137320" y="646684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45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44129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871" y="155499"/>
            <a:ext cx="6599203" cy="784299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Step2: create an HTTP API</a:t>
            </a:r>
            <a:endParaRPr lang="en-US" sz="2800" b="1" dirty="0">
              <a:solidFill>
                <a:srgbClr val="173B63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17B4EB-11A5-4ED3-B676-4AFC12144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198" y="1255299"/>
            <a:ext cx="8174003" cy="3280602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EF893BBF-45AE-4293-960A-14E7B2C94B92}"/>
              </a:ext>
            </a:extLst>
          </p:cNvPr>
          <p:cNvSpPr/>
          <p:nvPr/>
        </p:nvSpPr>
        <p:spPr>
          <a:xfrm>
            <a:off x="8864600" y="3683001"/>
            <a:ext cx="1117600" cy="116840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EC63A113-0607-4DCB-9D58-190AB23E0BD2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46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895321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45" y="30877"/>
            <a:ext cx="7379912" cy="885900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Step2.1: create and configure integrations</a:t>
            </a:r>
            <a:endParaRPr lang="en-US" sz="2800" b="1" dirty="0">
              <a:solidFill>
                <a:srgbClr val="173B63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11D2C-565B-455D-94CD-22E6C870B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197" y="1341410"/>
            <a:ext cx="7379912" cy="417518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332A701-5DF6-494E-8C82-226D2F89F1AD}"/>
              </a:ext>
            </a:extLst>
          </p:cNvPr>
          <p:cNvSpPr/>
          <p:nvPr/>
        </p:nvSpPr>
        <p:spPr>
          <a:xfrm>
            <a:off x="1706598" y="4495802"/>
            <a:ext cx="2128803" cy="130018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6255B5E-322A-4367-87FD-2301EB5CC0D1}"/>
              </a:ext>
            </a:extLst>
          </p:cNvPr>
          <p:cNvCxnSpPr/>
          <p:nvPr/>
        </p:nvCxnSpPr>
        <p:spPr>
          <a:xfrm>
            <a:off x="1808198" y="2587925"/>
            <a:ext cx="7082761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862544-1B13-44BD-BD6B-817AA07655D8}"/>
              </a:ext>
            </a:extLst>
          </p:cNvPr>
          <p:cNvCxnSpPr>
            <a:cxnSpLocks/>
          </p:cNvCxnSpPr>
          <p:nvPr/>
        </p:nvCxnSpPr>
        <p:spPr>
          <a:xfrm>
            <a:off x="1808198" y="2878348"/>
            <a:ext cx="2027203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laceHolder 1">
            <a:extLst>
              <a:ext uri="{FF2B5EF4-FFF2-40B4-BE49-F238E27FC236}">
                <a16:creationId xmlns:a16="http://schemas.microsoft.com/office/drawing/2014/main" id="{F48CD9A2-9B04-40B1-AF15-172AE031E6BB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47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34385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93" y="0"/>
            <a:ext cx="7379912" cy="885900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Step2.1: create and configure integrations</a:t>
            </a:r>
            <a:endParaRPr lang="en-US" sz="2800" b="1" dirty="0">
              <a:solidFill>
                <a:srgbClr val="173B63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4238DD-EA78-4BCF-8F0B-98B80D611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197" y="1270000"/>
            <a:ext cx="7677726" cy="3378200"/>
          </a:xfrm>
          <a:prstGeom prst="rect">
            <a:avLst/>
          </a:prstGeom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D6A227E3-A1EE-495A-8518-2FFCC02D9247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48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463310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227" y="0"/>
            <a:ext cx="7379912" cy="885900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Step2.2: name the HTTP API</a:t>
            </a:r>
            <a:endParaRPr lang="en-US" sz="2800" b="1" dirty="0">
              <a:solidFill>
                <a:srgbClr val="173B63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2F5CFC-C847-4C96-8696-99D84141F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198" y="1387198"/>
            <a:ext cx="7906875" cy="244820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CA3006A-B470-4874-9E54-CA3A33ED2000}"/>
              </a:ext>
            </a:extLst>
          </p:cNvPr>
          <p:cNvSpPr/>
          <p:nvPr/>
        </p:nvSpPr>
        <p:spPr>
          <a:xfrm>
            <a:off x="8384834" y="3143250"/>
            <a:ext cx="1416050" cy="80489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PlaceHolder 1">
            <a:extLst>
              <a:ext uri="{FF2B5EF4-FFF2-40B4-BE49-F238E27FC236}">
                <a16:creationId xmlns:a16="http://schemas.microsoft.com/office/drawing/2014/main" id="{04EE6A3F-0563-49EE-8E21-16CC24397CBE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49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24375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495" y="3101"/>
            <a:ext cx="7379912" cy="885900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Step2.3: create routes</a:t>
            </a:r>
            <a:endParaRPr lang="en-US" sz="2800" b="1" dirty="0">
              <a:solidFill>
                <a:srgbClr val="173B63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63995-8477-4C9B-B302-14776531D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397" y="1041400"/>
            <a:ext cx="7379911" cy="402833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902499-1C9E-44F8-BC16-3F626F703C43}"/>
              </a:ext>
            </a:extLst>
          </p:cNvPr>
          <p:cNvCxnSpPr/>
          <p:nvPr/>
        </p:nvCxnSpPr>
        <p:spPr>
          <a:xfrm>
            <a:off x="2209800" y="1409700"/>
            <a:ext cx="622935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714586-DE3C-4CAF-916E-9238A58CBB8A}"/>
              </a:ext>
            </a:extLst>
          </p:cNvPr>
          <p:cNvCxnSpPr/>
          <p:nvPr/>
        </p:nvCxnSpPr>
        <p:spPr>
          <a:xfrm>
            <a:off x="2209800" y="1714500"/>
            <a:ext cx="6229350" cy="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laceHolder 1">
            <a:extLst>
              <a:ext uri="{FF2B5EF4-FFF2-40B4-BE49-F238E27FC236}">
                <a16:creationId xmlns:a16="http://schemas.microsoft.com/office/drawing/2014/main" id="{2FF4C7F5-3737-499F-8966-C827557AAD76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50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40388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048" y="140231"/>
            <a:ext cx="7379912" cy="657300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Step3: view the HTTP API</a:t>
            </a:r>
            <a:endParaRPr lang="en-US" sz="2800" b="1" dirty="0">
              <a:solidFill>
                <a:srgbClr val="173B63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28D61-F23A-4FA8-8D6B-27BB7733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198" y="1016001"/>
            <a:ext cx="7767603" cy="287651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E8FC3A8-712F-4DFE-97EE-D517D4EB4D91}"/>
              </a:ext>
            </a:extLst>
          </p:cNvPr>
          <p:cNvSpPr/>
          <p:nvPr/>
        </p:nvSpPr>
        <p:spPr>
          <a:xfrm>
            <a:off x="3124200" y="2241519"/>
            <a:ext cx="2844800" cy="1803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8E767C-7268-45A0-80CA-46088E074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8198" y="4329460"/>
            <a:ext cx="8402603" cy="1156940"/>
          </a:xfrm>
        </p:spPr>
        <p:txBody>
          <a:bodyPr>
            <a:noAutofit/>
          </a:bodyPr>
          <a:lstStyle/>
          <a:p>
            <a:r>
              <a:rPr lang="en-AU" sz="2400" dirty="0">
                <a:solidFill>
                  <a:srgbClr val="16191F"/>
                </a:solidFill>
              </a:rPr>
              <a:t>Full URL:</a:t>
            </a:r>
          </a:p>
          <a:p>
            <a:pPr marL="342900" lvl="1" indent="0">
              <a:buNone/>
            </a:pPr>
            <a:r>
              <a:rPr lang="en-AU" sz="2200" dirty="0"/>
              <a:t>https://7j8542940g.execute-api.ap-northeast-1.amazonaws.com/lambda_httpAPI</a:t>
            </a:r>
            <a:endParaRPr lang="en-US" sz="2200" spc="-1" dirty="0">
              <a:solidFill>
                <a:srgbClr val="000000"/>
              </a:solidFill>
            </a:endParaRPr>
          </a:p>
          <a:p>
            <a:endParaRPr lang="en-US" sz="2400" spc="-1" dirty="0">
              <a:solidFill>
                <a:srgbClr val="000000"/>
              </a:solidFill>
            </a:endParaRPr>
          </a:p>
        </p:txBody>
      </p:sp>
      <p:sp>
        <p:nvSpPr>
          <p:cNvPr id="8" name="PlaceHolder 1">
            <a:extLst>
              <a:ext uri="{FF2B5EF4-FFF2-40B4-BE49-F238E27FC236}">
                <a16:creationId xmlns:a16="http://schemas.microsoft.com/office/drawing/2014/main" id="{332483EA-6F1F-469B-9C32-349EAEA08067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51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126436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406" y="0"/>
            <a:ext cx="7379912" cy="657300"/>
          </a:xfrm>
        </p:spPr>
        <p:txBody>
          <a:bodyPr>
            <a:normAutofit/>
          </a:bodyPr>
          <a:lstStyle/>
          <a:p>
            <a:r>
              <a:rPr lang="en-AU" sz="2800" b="1" dirty="0">
                <a:solidFill>
                  <a:srgbClr val="173B63"/>
                </a:solidFill>
                <a:latin typeface="Arial"/>
                <a:ea typeface="+mn-ea"/>
                <a:cs typeface="+mn-cs"/>
              </a:rPr>
              <a:t>Step4: test the HTTP API</a:t>
            </a:r>
            <a:endParaRPr lang="en-US" sz="2800" b="1" dirty="0">
              <a:solidFill>
                <a:srgbClr val="173B63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128D61-F23A-4FA8-8D6B-27BB77333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198" y="1016001"/>
            <a:ext cx="7767603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86BDBF-D582-4575-B6ED-14A44A3C0B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2652" y="4572001"/>
            <a:ext cx="7031003" cy="1455884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E7242B8-3451-4FF0-BF6A-F4031805B835}"/>
              </a:ext>
            </a:extLst>
          </p:cNvPr>
          <p:cNvSpPr/>
          <p:nvPr/>
        </p:nvSpPr>
        <p:spPr>
          <a:xfrm>
            <a:off x="3022600" y="4210050"/>
            <a:ext cx="6165509" cy="1020044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PlaceHolder 1">
            <a:extLst>
              <a:ext uri="{FF2B5EF4-FFF2-40B4-BE49-F238E27FC236}">
                <a16:creationId xmlns:a16="http://schemas.microsoft.com/office/drawing/2014/main" id="{83E47E9E-8FF5-49CC-9D5C-513A5B2FC043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52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44274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5F79D-16DD-4439-8342-17CBBB22DF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2675" y="1274763"/>
            <a:ext cx="7486650" cy="1978392"/>
          </a:xfrm>
        </p:spPr>
        <p:txBody>
          <a:bodyPr>
            <a:normAutofit/>
          </a:bodyPr>
          <a:lstStyle/>
          <a:p>
            <a:r>
              <a:rPr lang="en-AU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ourier"/>
              </a:rPr>
              <a:t>Good Luck!</a:t>
            </a:r>
          </a:p>
        </p:txBody>
      </p:sp>
      <p:sp>
        <p:nvSpPr>
          <p:cNvPr id="3" name="PlaceHolder 1">
            <a:extLst>
              <a:ext uri="{FF2B5EF4-FFF2-40B4-BE49-F238E27FC236}">
                <a16:creationId xmlns:a16="http://schemas.microsoft.com/office/drawing/2014/main" id="{37120A99-4BD7-4DDF-837F-D16C3A197AC1}"/>
              </a:ext>
            </a:extLst>
          </p:cNvPr>
          <p:cNvSpPr txBox="1">
            <a:spLocks/>
          </p:cNvSpPr>
          <p:nvPr/>
        </p:nvSpPr>
        <p:spPr>
          <a:xfrm>
            <a:off x="11137320" y="6446520"/>
            <a:ext cx="566640" cy="200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lang="en-US"/>
            </a:defPPr>
            <a:lvl1pPr indent="0" algn="r" defTabSz="914400" rtl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None/>
              <a:defRPr lang="en-US" sz="900" b="0" u="none" strike="noStrike" kern="1200">
                <a:solidFill>
                  <a:srgbClr val="7B8794"/>
                </a:solidFill>
                <a:effectLst/>
                <a:uFillTx/>
                <a:latin typeface="Arial"/>
                <a:ea typeface="Arial"/>
                <a:cs typeface="+mn-cs"/>
              </a:defRPr>
            </a:lvl1pPr>
            <a:lvl2pPr marL="4572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0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fld id="{488A2149-D7FA-4C18-A24F-8452C9558BB9}" type="slidenum">
              <a:rPr lang="en-AU" smtClean="0"/>
              <a:pPr/>
              <a:t>53</a:t>
            </a:fld>
            <a:endParaRPr lang="en-AU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1692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1891</Words>
  <Application>Microsoft Office PowerPoint</Application>
  <PresentationFormat>Widescreen</PresentationFormat>
  <Paragraphs>536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2" baseType="lpstr">
      <vt:lpstr>Aptos</vt:lpstr>
      <vt:lpstr>Courier</vt:lpstr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Week 12 Web Application  Deployment Architecture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AWS example: HTTP API</vt:lpstr>
      <vt:lpstr>Step1: create a Lambda function</vt:lpstr>
      <vt:lpstr>Step1: create a Lambda function</vt:lpstr>
      <vt:lpstr>Step2: create an HTTP API</vt:lpstr>
      <vt:lpstr>Step2.1: create and configure integrations</vt:lpstr>
      <vt:lpstr>Step2.1: create and configure integrations</vt:lpstr>
      <vt:lpstr>Step2.2: name the HTTP API</vt:lpstr>
      <vt:lpstr>Step2.3: create routes</vt:lpstr>
      <vt:lpstr>Step3: view the HTTP API</vt:lpstr>
      <vt:lpstr>Step4: test the HTTP API</vt:lpstr>
      <vt:lpstr>Good Luck!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2026-09-21T04:01:58Z</dcterms:created>
  <dcterms:modified xsi:type="dcterms:W3CDTF">2026-10-12T04:01:06Z</dcterms:modified>
  <cp:category/>
</cp:coreProperties>
</file>