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94" r:id="rId1"/>
  </p:sldMasterIdLst>
  <p:notesMasterIdLst>
    <p:notesMasterId r:id="rId67"/>
  </p:notesMasterIdLst>
  <p:handoutMasterIdLst>
    <p:handoutMasterId r:id="rId68"/>
  </p:handoutMasterIdLst>
  <p:sldIdLst>
    <p:sldId id="1344" r:id="rId2"/>
    <p:sldId id="1576" r:id="rId3"/>
    <p:sldId id="1587" r:id="rId4"/>
    <p:sldId id="1577" r:id="rId5"/>
    <p:sldId id="1560" r:id="rId6"/>
    <p:sldId id="1561" r:id="rId7"/>
    <p:sldId id="1586" r:id="rId8"/>
    <p:sldId id="1570" r:id="rId9"/>
    <p:sldId id="1569" r:id="rId10"/>
    <p:sldId id="1541" r:id="rId11"/>
    <p:sldId id="1538" r:id="rId12"/>
    <p:sldId id="1578" r:id="rId13"/>
    <p:sldId id="1563" r:id="rId14"/>
    <p:sldId id="1562" r:id="rId15"/>
    <p:sldId id="1567" r:id="rId16"/>
    <p:sldId id="1580" r:id="rId17"/>
    <p:sldId id="1579" r:id="rId18"/>
    <p:sldId id="1572" r:id="rId19"/>
    <p:sldId id="1568" r:id="rId20"/>
    <p:sldId id="1545" r:id="rId21"/>
    <p:sldId id="1539" r:id="rId22"/>
    <p:sldId id="1573" r:id="rId23"/>
    <p:sldId id="1546" r:id="rId24"/>
    <p:sldId id="1584" r:id="rId25"/>
    <p:sldId id="1585" r:id="rId26"/>
    <p:sldId id="1534" r:id="rId27"/>
    <p:sldId id="1329" r:id="rId28"/>
    <p:sldId id="1524" r:id="rId29"/>
    <p:sldId id="1525" r:id="rId30"/>
    <p:sldId id="1520" r:id="rId31"/>
    <p:sldId id="1357" r:id="rId32"/>
    <p:sldId id="1506" r:id="rId33"/>
    <p:sldId id="1507" r:id="rId34"/>
    <p:sldId id="1509" r:id="rId35"/>
    <p:sldId id="1575" r:id="rId36"/>
    <p:sldId id="1508" r:id="rId37"/>
    <p:sldId id="1395" r:id="rId38"/>
    <p:sldId id="1346" r:id="rId39"/>
    <p:sldId id="1410" r:id="rId40"/>
    <p:sldId id="1588" r:id="rId41"/>
    <p:sldId id="1347" r:id="rId42"/>
    <p:sldId id="1349" r:id="rId43"/>
    <p:sldId id="1415" r:id="rId44"/>
    <p:sldId id="1343" r:id="rId45"/>
    <p:sldId id="1413" r:id="rId46"/>
    <p:sldId id="1412" r:id="rId47"/>
    <p:sldId id="1458" r:id="rId48"/>
    <p:sldId id="1348" r:id="rId49"/>
    <p:sldId id="1414" r:id="rId50"/>
    <p:sldId id="1411" r:id="rId51"/>
    <p:sldId id="1438" r:id="rId52"/>
    <p:sldId id="1459" r:id="rId53"/>
    <p:sldId id="1461" r:id="rId54"/>
    <p:sldId id="1547" r:id="rId55"/>
    <p:sldId id="1548" r:id="rId56"/>
    <p:sldId id="1549" r:id="rId57"/>
    <p:sldId id="1409" r:id="rId58"/>
    <p:sldId id="1422" r:id="rId59"/>
    <p:sldId id="1581" r:id="rId60"/>
    <p:sldId id="443" r:id="rId61"/>
    <p:sldId id="1448" r:id="rId62"/>
    <p:sldId id="1449" r:id="rId63"/>
    <p:sldId id="1450" r:id="rId64"/>
    <p:sldId id="1456" r:id="rId65"/>
    <p:sldId id="1454" r:id="rId66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367A80-E1D0-4283-84A7-6215EC2C7308}">
          <p14:sldIdLst>
            <p14:sldId id="1344"/>
            <p14:sldId id="1576"/>
            <p14:sldId id="1587"/>
            <p14:sldId id="1577"/>
            <p14:sldId id="1560"/>
            <p14:sldId id="1561"/>
            <p14:sldId id="1586"/>
            <p14:sldId id="1570"/>
            <p14:sldId id="1569"/>
            <p14:sldId id="1541"/>
            <p14:sldId id="1538"/>
            <p14:sldId id="1578"/>
            <p14:sldId id="1563"/>
            <p14:sldId id="1562"/>
            <p14:sldId id="1567"/>
            <p14:sldId id="1580"/>
            <p14:sldId id="1579"/>
            <p14:sldId id="1572"/>
            <p14:sldId id="1568"/>
            <p14:sldId id="1545"/>
            <p14:sldId id="1539"/>
            <p14:sldId id="1573"/>
            <p14:sldId id="1546"/>
            <p14:sldId id="1584"/>
            <p14:sldId id="1585"/>
            <p14:sldId id="1534"/>
            <p14:sldId id="1329"/>
            <p14:sldId id="1524"/>
            <p14:sldId id="1525"/>
            <p14:sldId id="1520"/>
            <p14:sldId id="1357"/>
            <p14:sldId id="1506"/>
            <p14:sldId id="1507"/>
            <p14:sldId id="1509"/>
            <p14:sldId id="1575"/>
            <p14:sldId id="1508"/>
            <p14:sldId id="1395"/>
            <p14:sldId id="1346"/>
            <p14:sldId id="1410"/>
            <p14:sldId id="1588"/>
            <p14:sldId id="1347"/>
            <p14:sldId id="1349"/>
            <p14:sldId id="1415"/>
            <p14:sldId id="1343"/>
            <p14:sldId id="1413"/>
            <p14:sldId id="1412"/>
            <p14:sldId id="1458"/>
            <p14:sldId id="1348"/>
            <p14:sldId id="1414"/>
            <p14:sldId id="1411"/>
            <p14:sldId id="1438"/>
            <p14:sldId id="1459"/>
            <p14:sldId id="1461"/>
            <p14:sldId id="1547"/>
            <p14:sldId id="1548"/>
            <p14:sldId id="1549"/>
            <p14:sldId id="1409"/>
            <p14:sldId id="1422"/>
            <p14:sldId id="1581"/>
            <p14:sldId id="443"/>
            <p14:sldId id="1448"/>
            <p14:sldId id="1449"/>
            <p14:sldId id="1450"/>
            <p14:sldId id="1456"/>
            <p14:sldId id="14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9900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21" autoAdjust="0"/>
    <p:restoredTop sz="72128" autoAdjust="0"/>
  </p:normalViewPr>
  <p:slideViewPr>
    <p:cSldViewPr snapToGrid="0">
      <p:cViewPr varScale="1">
        <p:scale>
          <a:sx n="51" d="100"/>
          <a:sy n="51" d="100"/>
        </p:scale>
        <p:origin x="876" y="72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20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0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860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6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78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6770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20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70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2488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3135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52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3886200"/>
            <a:ext cx="5486400" cy="27432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08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5153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3886200"/>
            <a:ext cx="5486400" cy="27432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5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2716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0929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4268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84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35026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85834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9196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4497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7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68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795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2A2FF5-EF94-4A0E-BEF8-1F99124D07FE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40550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88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8085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9936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58366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151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6864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091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588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081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410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218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262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159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286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538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723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230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233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554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873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613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126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1155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65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56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16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45961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77253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5326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4428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49064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9156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94352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80141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80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2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3-ap-northeast-1.amazonaws.com/dynamodb-local-tokyo/dynamodb_local_latest.tar.gz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812FA-7938-534A-A788-A42161393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776538"/>
            <a:ext cx="9965635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W</a:t>
            </a:r>
            <a:r>
              <a:rPr lang="en-US" altLang="zh-CN" sz="4000" dirty="0">
                <a:solidFill>
                  <a:schemeClr val="bg2"/>
                </a:solidFill>
              </a:rPr>
              <a:t>eek 4 </a:t>
            </a:r>
            <a:r>
              <a:rPr lang="en-US" sz="4000" dirty="0">
                <a:solidFill>
                  <a:schemeClr val="bg2"/>
                </a:solidFill>
              </a:rPr>
              <a:t>Memory Virtualization and DynamoDB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97D37-585A-944D-9149-54D6FAD95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/>
              <a:t>Dr </a:t>
            </a:r>
            <a:r>
              <a:rPr lang="en-US" sz="1800" dirty="0" err="1"/>
              <a:t>Zhi</a:t>
            </a:r>
            <a:r>
              <a:rPr lang="en-US" sz="1800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4244864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15" y="1683011"/>
            <a:ext cx="7765322" cy="2793739"/>
          </a:xfrm>
        </p:spPr>
        <p:txBody>
          <a:bodyPr>
            <a:normAutofit/>
          </a:bodyPr>
          <a:lstStyle/>
          <a:p>
            <a:r>
              <a:rPr lang="en-AU" sz="2800" i="0" dirty="0">
                <a:solidFill>
                  <a:srgbClr val="000000"/>
                </a:solidFill>
                <a:effectLst/>
              </a:rPr>
              <a:t>Virtual Memory</a:t>
            </a:r>
          </a:p>
          <a:p>
            <a:r>
              <a:rPr lang="en-AU" sz="2800" i="0" dirty="0">
                <a:solidFill>
                  <a:srgbClr val="000000"/>
                </a:solidFill>
                <a:effectLst/>
              </a:rPr>
              <a:t>Memory Virtualization</a:t>
            </a:r>
          </a:p>
          <a:p>
            <a:pPr marL="0" indent="0">
              <a:buNone/>
            </a:pPr>
            <a:endParaRPr lang="en-AU" sz="2800" i="0" dirty="0">
              <a:solidFill>
                <a:srgbClr val="000000"/>
              </a:solidFill>
              <a:effectLst/>
            </a:endParaRPr>
          </a:p>
          <a:p>
            <a:r>
              <a:rPr lang="en-AU" dirty="0">
                <a:solidFill>
                  <a:srgbClr val="000000"/>
                </a:solidFill>
              </a:rPr>
              <a:t>DynamoDB</a:t>
            </a:r>
          </a:p>
          <a:p>
            <a:r>
              <a:rPr lang="en-AU" dirty="0">
                <a:solidFill>
                  <a:srgbClr val="000000"/>
                </a:solidFill>
              </a:rPr>
              <a:t>Mid-semester Test</a:t>
            </a:r>
            <a:endParaRPr lang="en-AU" dirty="0"/>
          </a:p>
          <a:p>
            <a:pPr marL="27675" indent="0">
              <a:buNone/>
            </a:pP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15" y="217593"/>
            <a:ext cx="3258393" cy="99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200045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2D16F24-CFC7-4D4E-A11A-E4C9D1547A75}"/>
              </a:ext>
            </a:extLst>
          </p:cNvPr>
          <p:cNvSpPr txBox="1">
            <a:spLocks/>
          </p:cNvSpPr>
          <p:nvPr/>
        </p:nvSpPr>
        <p:spPr>
          <a:xfrm>
            <a:off x="253280" y="145124"/>
            <a:ext cx="4941290" cy="98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Object lock and bucket policy</a:t>
            </a:r>
            <a:endParaRPr lang="en-US" sz="20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323EF-8938-4B7F-B5F3-0DB9DD2326F8}"/>
              </a:ext>
            </a:extLst>
          </p:cNvPr>
          <p:cNvSpPr txBox="1"/>
          <p:nvPr/>
        </p:nvSpPr>
        <p:spPr>
          <a:xfrm>
            <a:off x="-457920" y="1391175"/>
            <a:ext cx="10602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 Lock</a:t>
            </a:r>
            <a:r>
              <a:rPr lang="en-AU" dirty="0"/>
              <a:t>:</a:t>
            </a:r>
            <a:r>
              <a:rPr lang="zh-CN" altLang="en-US" dirty="0"/>
              <a:t> </a:t>
            </a:r>
            <a:r>
              <a:rPr lang="en-US" dirty="0"/>
              <a:t>bucket feature that protects object versions from deletion.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7072D-32ED-4718-B462-8B678096C645}"/>
              </a:ext>
            </a:extLst>
          </p:cNvPr>
          <p:cNvSpPr txBox="1"/>
          <p:nvPr/>
        </p:nvSpPr>
        <p:spPr>
          <a:xfrm>
            <a:off x="794606" y="2054052"/>
            <a:ext cx="10602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Bucket policy: access control. It cannot enable object lock by itself. Enabling object lock must be performed through the AWS S3 console, CLI, or API. The policy can control who is </a:t>
            </a:r>
            <a:r>
              <a:rPr lang="en-US" dirty="0" err="1"/>
              <a:t>authorised</a:t>
            </a:r>
            <a:r>
              <a:rPr lang="en-US" dirty="0"/>
              <a:t> to enable object lock via </a:t>
            </a:r>
            <a:r>
              <a:rPr lang="en-AU" i="1" dirty="0"/>
              <a:t>s3:PutBucketObjectLockConfiguration</a:t>
            </a:r>
            <a:r>
              <a:rPr lang="en-US" dirty="0"/>
              <a:t>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6644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/>
          <p:cNvCxnSpPr/>
          <p:nvPr/>
        </p:nvCxnSpPr>
        <p:spPr>
          <a:xfrm>
            <a:off x="2619066" y="1837267"/>
            <a:ext cx="164592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02346" y="1837267"/>
            <a:ext cx="132588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28426" y="1197186"/>
            <a:ext cx="1097280" cy="411481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928426" y="2065867"/>
            <a:ext cx="1097280" cy="4572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5880" y="1288627"/>
            <a:ext cx="2203186" cy="109728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Process A</a:t>
            </a:r>
            <a:br>
              <a:rPr dirty="0"/>
            </a:br>
            <a:r>
              <a:rPr dirty="0"/>
              <a:t>(e.g., web</a:t>
            </a:r>
            <a:r>
              <a:rPr lang="en-AU" dirty="0"/>
              <a:t> </a:t>
            </a:r>
            <a:r>
              <a:rPr dirty="0"/>
              <a:t>browser)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3546" y="1288627"/>
            <a:ext cx="1828800" cy="1097280"/>
          </a:xfrm>
          <a:prstGeom prst="roundRect">
            <a:avLst/>
          </a:prstGeom>
          <a:solidFill>
            <a:srgbClr val="F8F2FF"/>
          </a:solidFill>
          <a:ln w="1524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Virtual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2506" y="1288627"/>
            <a:ext cx="1783080" cy="109728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Memory map</a:t>
            </a:r>
            <a:r>
              <a:rPr lang="en-AU" dirty="0"/>
              <a:t> 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10025706" y="739987"/>
            <a:ext cx="1554480" cy="822960"/>
          </a:xfrm>
          <a:prstGeom prst="roundRect">
            <a:avLst/>
          </a:prstGeom>
          <a:solidFill>
            <a:srgbClr val="E8F8EA"/>
          </a:solidFill>
          <a:ln w="15240">
            <a:solidFill>
              <a:srgbClr val="52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dirty="0">
                <a:solidFill>
                  <a:srgbClr val="222222"/>
                </a:solidFill>
              </a:rPr>
              <a:t>Physical memory</a:t>
            </a:r>
          </a:p>
          <a:p>
            <a:pPr algn="ctr"/>
            <a:r>
              <a:rPr sz="1300" b="1" dirty="0">
                <a:solidFill>
                  <a:srgbClr val="222222"/>
                </a:solidFill>
              </a:rPr>
              <a:t>(active copy)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25706" y="2248747"/>
            <a:ext cx="1554480" cy="82296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dirty="0">
                <a:solidFill>
                  <a:srgbClr val="222222"/>
                </a:solidFill>
              </a:rPr>
              <a:t>Disk</a:t>
            </a:r>
          </a:p>
          <a:p>
            <a:pPr algn="ctr"/>
            <a:r>
              <a:rPr sz="1300" b="1" dirty="0">
                <a:solidFill>
                  <a:srgbClr val="222222"/>
                </a:solidFill>
              </a:rPr>
              <a:t>(</a:t>
            </a:r>
            <a:r>
              <a:rPr lang="en-AU" sz="1300" b="1" dirty="0">
                <a:solidFill>
                  <a:srgbClr val="222222"/>
                </a:solidFill>
              </a:rPr>
              <a:t>original</a:t>
            </a:r>
            <a:r>
              <a:rPr sz="1300" b="1" dirty="0">
                <a:solidFill>
                  <a:srgbClr val="222222"/>
                </a:solidFill>
              </a:rPr>
              <a:t> copy)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9766" y="5845397"/>
            <a:ext cx="7905160" cy="7017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 dirty="0">
                <a:solidFill>
                  <a:srgbClr val="222222"/>
                </a:solidFill>
              </a:rPr>
              <a:t>The </a:t>
            </a:r>
            <a:r>
              <a:rPr lang="en-AU" sz="2100" b="1" dirty="0">
                <a:solidFill>
                  <a:srgbClr val="222222"/>
                </a:solidFill>
              </a:rPr>
              <a:t>actual </a:t>
            </a:r>
            <a:r>
              <a:rPr sz="2100" b="1" dirty="0">
                <a:solidFill>
                  <a:srgbClr val="222222"/>
                </a:solidFill>
              </a:rPr>
              <a:t>bytes may be on disk, or loaded into </a:t>
            </a:r>
            <a:r>
              <a:rPr lang="en-AU" sz="2100" b="1" dirty="0">
                <a:solidFill>
                  <a:srgbClr val="222222"/>
                </a:solidFill>
              </a:rPr>
              <a:t>physical memory</a:t>
            </a:r>
            <a:r>
              <a:rPr sz="2100" b="1" dirty="0">
                <a:solidFill>
                  <a:srgbClr val="222222"/>
                </a:solidFill>
              </a:rPr>
              <a:t> while a backing copy remains on disk.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1899BCE-296D-4FB5-A195-129DA03B52F4}"/>
              </a:ext>
            </a:extLst>
          </p:cNvPr>
          <p:cNvSpPr txBox="1">
            <a:spLocks/>
          </p:cNvSpPr>
          <p:nvPr/>
        </p:nvSpPr>
        <p:spPr>
          <a:xfrm>
            <a:off x="415880" y="248313"/>
            <a:ext cx="3939255" cy="695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Virtual memory</a:t>
            </a:r>
            <a:endParaRPr lang="en-US" sz="32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B4997-C337-4E35-A61C-299B4F02B3F9}"/>
              </a:ext>
            </a:extLst>
          </p:cNvPr>
          <p:cNvSpPr/>
          <p:nvPr/>
        </p:nvSpPr>
        <p:spPr>
          <a:xfrm>
            <a:off x="525976" y="3060183"/>
            <a:ext cx="2493818" cy="2316416"/>
          </a:xfrm>
          <a:prstGeom prst="rect">
            <a:avLst/>
          </a:prstGeom>
          <a:solidFill>
            <a:srgbClr val="F8F2FF"/>
          </a:solidFill>
          <a:ln w="1524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lang="en-AU" sz="1800" b="1" dirty="0">
                <a:solidFill>
                  <a:srgbClr val="222222"/>
                </a:solidFill>
              </a:rPr>
              <a:t>program code</a:t>
            </a:r>
          </a:p>
          <a:p>
            <a:r>
              <a:rPr lang="en-AU" sz="1800" b="1" dirty="0">
                <a:solidFill>
                  <a:srgbClr val="222222"/>
                </a:solidFill>
              </a:rPr>
              <a:t>variables</a:t>
            </a:r>
          </a:p>
          <a:p>
            <a:r>
              <a:rPr lang="en-AU" sz="1800" b="1" dirty="0">
                <a:solidFill>
                  <a:srgbClr val="222222"/>
                </a:solidFill>
              </a:rPr>
              <a:t>library 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D5385D-45B0-40E4-8256-C8BA46ED3E32}"/>
              </a:ext>
            </a:extLst>
          </p:cNvPr>
          <p:cNvSpPr/>
          <p:nvPr/>
        </p:nvSpPr>
        <p:spPr>
          <a:xfrm>
            <a:off x="3202674" y="3060182"/>
            <a:ext cx="2743200" cy="2386583"/>
          </a:xfrm>
          <a:prstGeom prst="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endParaRPr sz="16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D2F86-FE53-4689-BBE4-D94166E96028}"/>
              </a:ext>
            </a:extLst>
          </p:cNvPr>
          <p:cNvSpPr/>
          <p:nvPr/>
        </p:nvSpPr>
        <p:spPr>
          <a:xfrm>
            <a:off x="6220194" y="3060183"/>
            <a:ext cx="3019056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lang="en-AU" dirty="0">
                <a:solidFill>
                  <a:srgbClr val="FFFFFF"/>
                </a:solidFill>
              </a:rPr>
              <a:t>Current</a:t>
            </a:r>
            <a:r>
              <a:rPr dirty="0">
                <a:solidFill>
                  <a:srgbClr val="FFFFFF"/>
                </a:solidFill>
              </a:rPr>
              <a:t> location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13871F-36DA-4A30-95F0-0742836E35EC}"/>
              </a:ext>
            </a:extLst>
          </p:cNvPr>
          <p:cNvSpPr/>
          <p:nvPr/>
        </p:nvSpPr>
        <p:spPr>
          <a:xfrm>
            <a:off x="6220194" y="3563103"/>
            <a:ext cx="3019056" cy="1257298"/>
          </a:xfrm>
          <a:prstGeom prst="rect">
            <a:avLst/>
          </a:prstGeom>
          <a:solidFill>
            <a:srgbClr val="E8F8EA"/>
          </a:solidFill>
          <a:ln w="15240">
            <a:solidFill>
              <a:srgbClr val="52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800" b="1" dirty="0">
                <a:solidFill>
                  <a:srgbClr val="222222"/>
                </a:solidFill>
              </a:rPr>
              <a:t>physical </a:t>
            </a:r>
            <a:r>
              <a:rPr lang="en-AU" sz="1800" b="1" dirty="0">
                <a:solidFill>
                  <a:srgbClr val="222222"/>
                </a:solidFill>
              </a:rPr>
              <a:t>memory</a:t>
            </a:r>
            <a:endParaRPr sz="1800" b="1" dirty="0">
              <a:solidFill>
                <a:srgbClr val="22222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D62073-51CB-4959-ACEB-F45A2289080D}"/>
              </a:ext>
            </a:extLst>
          </p:cNvPr>
          <p:cNvSpPr/>
          <p:nvPr/>
        </p:nvSpPr>
        <p:spPr>
          <a:xfrm>
            <a:off x="6220194" y="4879839"/>
            <a:ext cx="3019056" cy="566928"/>
          </a:xfrm>
          <a:prstGeom prst="rect">
            <a:avLst/>
          </a:prstGeom>
          <a:solidFill>
            <a:srgbClr val="F5F5F5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800" b="1" dirty="0">
                <a:solidFill>
                  <a:srgbClr val="222222"/>
                </a:solidFill>
              </a:rPr>
              <a:t>disk: </a:t>
            </a:r>
            <a:r>
              <a:rPr lang="en-AU" sz="1800" b="1" dirty="0">
                <a:solidFill>
                  <a:srgbClr val="222222"/>
                </a:solidFill>
              </a:rPr>
              <a:t>library file</a:t>
            </a:r>
            <a:endParaRPr sz="1800" b="1" dirty="0">
              <a:solidFill>
                <a:srgbClr val="222222"/>
              </a:solidFill>
            </a:endParaRPr>
          </a:p>
        </p:txBody>
      </p:sp>
      <p:cxnSp>
        <p:nvCxnSpPr>
          <p:cNvPr id="28" name="Connector 6">
            <a:extLst>
              <a:ext uri="{FF2B5EF4-FFF2-40B4-BE49-F238E27FC236}">
                <a16:creationId xmlns:a16="http://schemas.microsoft.com/office/drawing/2014/main" id="{56A4D3D3-C5F6-4592-AC02-10BC47B5406F}"/>
              </a:ext>
            </a:extLst>
          </p:cNvPr>
          <p:cNvCxnSpPr>
            <a:cxnSpLocks/>
          </p:cNvCxnSpPr>
          <p:nvPr/>
        </p:nvCxnSpPr>
        <p:spPr>
          <a:xfrm>
            <a:off x="2473354" y="4265607"/>
            <a:ext cx="3772774" cy="35908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6">
            <a:extLst>
              <a:ext uri="{FF2B5EF4-FFF2-40B4-BE49-F238E27FC236}">
                <a16:creationId xmlns:a16="http://schemas.microsoft.com/office/drawing/2014/main" id="{E53E0910-58AE-415D-BA37-A358753D2167}"/>
              </a:ext>
            </a:extLst>
          </p:cNvPr>
          <p:cNvCxnSpPr>
            <a:cxnSpLocks/>
          </p:cNvCxnSpPr>
          <p:nvPr/>
        </p:nvCxnSpPr>
        <p:spPr>
          <a:xfrm>
            <a:off x="2473354" y="3907565"/>
            <a:ext cx="3746840" cy="135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9F9ADF6-4133-4F84-9020-55AA4306A7E4}"/>
              </a:ext>
            </a:extLst>
          </p:cNvPr>
          <p:cNvSpPr/>
          <p:nvPr/>
        </p:nvSpPr>
        <p:spPr>
          <a:xfrm>
            <a:off x="525976" y="3079508"/>
            <a:ext cx="2493818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lang="en-AU" sz="1500" b="1" dirty="0">
                <a:solidFill>
                  <a:srgbClr val="FFFFFF"/>
                </a:solidFill>
                <a:latin typeface="Arial"/>
              </a:rPr>
              <a:t>Virtual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F4C08A-0072-453D-A514-D16969E73180}"/>
              </a:ext>
            </a:extLst>
          </p:cNvPr>
          <p:cNvSpPr/>
          <p:nvPr/>
        </p:nvSpPr>
        <p:spPr>
          <a:xfrm>
            <a:off x="3202674" y="3040637"/>
            <a:ext cx="2743200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lang="en-AU" sz="1500" b="1" dirty="0">
                <a:solidFill>
                  <a:srgbClr val="FFFFFF"/>
                </a:solidFill>
                <a:latin typeface="Arial"/>
              </a:rPr>
              <a:t>Memory map A</a:t>
            </a:r>
          </a:p>
        </p:txBody>
      </p:sp>
      <p:cxnSp>
        <p:nvCxnSpPr>
          <p:cNvPr id="42" name="Connector 6">
            <a:extLst>
              <a:ext uri="{FF2B5EF4-FFF2-40B4-BE49-F238E27FC236}">
                <a16:creationId xmlns:a16="http://schemas.microsoft.com/office/drawing/2014/main" id="{04CC51D0-0212-4D99-A764-15863D95BF80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2473354" y="4553128"/>
            <a:ext cx="3746840" cy="610175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717905" y="1924131"/>
            <a:ext cx="1645920" cy="73152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t>Process A</a:t>
            </a:r>
            <a:br/>
            <a: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38145" y="1741251"/>
            <a:ext cx="3657600" cy="1005840"/>
          </a:xfrm>
          <a:prstGeom prst="roundRect">
            <a:avLst/>
          </a:prstGeom>
          <a:solidFill>
            <a:srgbClr val="F8F2FF"/>
          </a:solidFill>
          <a:ln w="1524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Process A virtual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7265" y="1878411"/>
            <a:ext cx="1645920" cy="73152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t>Memory map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7905" y="3295731"/>
            <a:ext cx="1645920" cy="73152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Process B</a:t>
            </a:r>
            <a:br>
              <a:rPr dirty="0"/>
            </a:br>
            <a:r>
              <a:rPr dirty="0"/>
              <a:t>Music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8145" y="3112851"/>
            <a:ext cx="3657600" cy="1005840"/>
          </a:xfrm>
          <a:prstGeom prst="roundRect">
            <a:avLst/>
          </a:prstGeom>
          <a:solidFill>
            <a:srgbClr val="F8F2FF"/>
          </a:solidFill>
          <a:ln w="1524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Process B virtual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7265" y="3250011"/>
            <a:ext cx="1645920" cy="73152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t>Memory map 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3825" y="2289891"/>
            <a:ext cx="27432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95745" y="2289891"/>
            <a:ext cx="73152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63825" y="3661491"/>
            <a:ext cx="27432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95745" y="3661491"/>
            <a:ext cx="731520" cy="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79F03187-8F09-4F6B-80B9-0F499786853B}"/>
              </a:ext>
            </a:extLst>
          </p:cNvPr>
          <p:cNvSpPr txBox="1">
            <a:spLocks/>
          </p:cNvSpPr>
          <p:nvPr/>
        </p:nvSpPr>
        <p:spPr>
          <a:xfrm>
            <a:off x="415880" y="248313"/>
            <a:ext cx="3939255" cy="695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Virtual memory</a:t>
            </a:r>
            <a:endParaRPr lang="en-US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1C770-368C-4242-B901-F1AACFAECF96}"/>
              </a:ext>
            </a:extLst>
          </p:cNvPr>
          <p:cNvSpPr txBox="1"/>
          <p:nvPr/>
        </p:nvSpPr>
        <p:spPr>
          <a:xfrm>
            <a:off x="2874940" y="4484451"/>
            <a:ext cx="5152325" cy="3785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lang="en-AU" sz="2100" b="1" dirty="0">
                <a:solidFill>
                  <a:srgbClr val="222222"/>
                </a:solidFill>
              </a:rPr>
              <a:t>Process isolation</a:t>
            </a:r>
            <a:endParaRPr sz="2100" b="1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1455" y="1075965"/>
            <a:ext cx="6697549" cy="10402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0">
                <a:solidFill>
                  <a:srgbClr val="1E1E1E"/>
                </a:solidFill>
                <a:latin typeface="Arial"/>
              </a:defRPr>
            </a:pPr>
            <a:r>
              <a:rPr dirty="0"/>
              <a:t>The OS divides virtual memory into many fixed-size blocks called virtual pages.</a:t>
            </a:r>
            <a:r>
              <a:rPr lang="en-AU" dirty="0"/>
              <a:t> </a:t>
            </a:r>
            <a:r>
              <a:rPr lang="en-US" dirty="0"/>
              <a:t>A typical page size </a:t>
            </a:r>
            <a:r>
              <a:rPr lang="en-US" altLang="zh-CN" dirty="0"/>
              <a:t>is</a:t>
            </a:r>
            <a:r>
              <a:rPr lang="en-US" dirty="0"/>
              <a:t> 4 KiB.</a:t>
            </a:r>
          </a:p>
          <a:p>
            <a:pPr algn="ctr">
              <a:defRPr sz="2000" b="0">
                <a:solidFill>
                  <a:srgbClr val="1E1E1E"/>
                </a:solidFill>
                <a:latin typeface="Arial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65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8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4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7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3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6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page</a:t>
            </a:r>
            <a:br>
              <a:rPr dirty="0"/>
            </a:br>
            <a:r>
              <a:rPr lang="en-AU" dirty="0"/>
              <a:t>…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65363" y="1983870"/>
            <a:ext cx="93268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Virtual memory of one process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EBF946D-56E9-45E5-966A-5F4D3F912DB5}"/>
              </a:ext>
            </a:extLst>
          </p:cNvPr>
          <p:cNvSpPr txBox="1">
            <a:spLocks/>
          </p:cNvSpPr>
          <p:nvPr/>
        </p:nvSpPr>
        <p:spPr>
          <a:xfrm>
            <a:off x="415880" y="248313"/>
            <a:ext cx="3939255" cy="695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Virtual memory</a:t>
            </a:r>
            <a:endParaRPr lang="en-US" sz="3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4FD95E-68AE-44F9-B441-10DD0F068ED5}"/>
              </a:ext>
            </a:extLst>
          </p:cNvPr>
          <p:cNvSpPr txBox="1"/>
          <p:nvPr/>
        </p:nvSpPr>
        <p:spPr>
          <a:xfrm>
            <a:off x="672237" y="3853341"/>
            <a:ext cx="489173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sz="1600" dirty="0"/>
              <a:t>0x0</a:t>
            </a:r>
          </a:p>
        </p:txBody>
      </p:sp>
      <p:cxnSp>
        <p:nvCxnSpPr>
          <p:cNvPr id="32" name="Connector 10">
            <a:extLst>
              <a:ext uri="{FF2B5EF4-FFF2-40B4-BE49-F238E27FC236}">
                <a16:creationId xmlns:a16="http://schemas.microsoft.com/office/drawing/2014/main" id="{4FAC6C22-9E90-4A2D-8D80-25A3C4F0B7ED}"/>
              </a:ext>
            </a:extLst>
          </p:cNvPr>
          <p:cNvCxnSpPr/>
          <p:nvPr/>
        </p:nvCxnSpPr>
        <p:spPr>
          <a:xfrm flipV="1">
            <a:off x="777960" y="3373305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2B9CFB-52D3-4E11-B822-F977DFE842B8}"/>
              </a:ext>
            </a:extLst>
          </p:cNvPr>
          <p:cNvSpPr txBox="1"/>
          <p:nvPr/>
        </p:nvSpPr>
        <p:spPr>
          <a:xfrm>
            <a:off x="1802640" y="3830457"/>
            <a:ext cx="500393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sz="1600" dirty="0">
                <a:solidFill>
                  <a:srgbClr val="FF0000"/>
                </a:solidFill>
              </a:rPr>
              <a:t>0x</a:t>
            </a:r>
            <a:r>
              <a:rPr lang="en-AU" sz="1600" dirty="0">
                <a:solidFill>
                  <a:srgbClr val="FF0000"/>
                </a:solidFill>
              </a:rPr>
              <a:t>?</a:t>
            </a:r>
            <a:endParaRPr sz="1600" dirty="0">
              <a:solidFill>
                <a:srgbClr val="FF0000"/>
              </a:solidFill>
            </a:endParaRPr>
          </a:p>
        </p:txBody>
      </p:sp>
      <p:cxnSp>
        <p:nvCxnSpPr>
          <p:cNvPr id="34" name="Connector 10">
            <a:extLst>
              <a:ext uri="{FF2B5EF4-FFF2-40B4-BE49-F238E27FC236}">
                <a16:creationId xmlns:a16="http://schemas.microsoft.com/office/drawing/2014/main" id="{60EBDC67-891B-45AB-8CB8-9511B1F9690D}"/>
              </a:ext>
            </a:extLst>
          </p:cNvPr>
          <p:cNvCxnSpPr/>
          <p:nvPr/>
        </p:nvCxnSpPr>
        <p:spPr>
          <a:xfrm flipV="1">
            <a:off x="1908363" y="3350421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68924BFB-9C25-47B2-9A57-84B10DB23366}"/>
              </a:ext>
            </a:extLst>
          </p:cNvPr>
          <p:cNvSpPr/>
          <p:nvPr/>
        </p:nvSpPr>
        <p:spPr>
          <a:xfrm>
            <a:off x="672238" y="4799423"/>
            <a:ext cx="9191406" cy="685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rPr dirty="0"/>
              <a:t>For a 4 K</a:t>
            </a:r>
            <a:r>
              <a:rPr lang="en-AU" dirty="0" err="1"/>
              <a:t>i</a:t>
            </a:r>
            <a:r>
              <a:rPr dirty="0"/>
              <a:t>B page</a:t>
            </a:r>
            <a:r>
              <a:rPr lang="en-AU" dirty="0"/>
              <a:t>, starting </a:t>
            </a:r>
            <a:r>
              <a:rPr dirty="0"/>
              <a:t>addresses </a:t>
            </a:r>
            <a:r>
              <a:rPr lang="en-AU" dirty="0"/>
              <a:t>of pages </a:t>
            </a:r>
            <a:r>
              <a:rPr dirty="0"/>
              <a:t>are multiples of 4</a:t>
            </a:r>
            <a:r>
              <a:rPr lang="en-AU" dirty="0"/>
              <a:t>096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128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1455" y="1075965"/>
            <a:ext cx="6697549" cy="10402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0">
                <a:solidFill>
                  <a:srgbClr val="1E1E1E"/>
                </a:solidFill>
                <a:latin typeface="Arial"/>
              </a:defRPr>
            </a:pPr>
            <a:r>
              <a:rPr dirty="0"/>
              <a:t>The OS divides virtual memory into many fixed-size blocks called virtual pages.</a:t>
            </a:r>
            <a:r>
              <a:rPr lang="en-AU" dirty="0"/>
              <a:t> </a:t>
            </a:r>
            <a:r>
              <a:rPr lang="en-US" dirty="0"/>
              <a:t>A typical page size </a:t>
            </a:r>
            <a:r>
              <a:rPr lang="en-US" altLang="zh-CN" dirty="0"/>
              <a:t>is</a:t>
            </a:r>
            <a:r>
              <a:rPr lang="en-US" dirty="0"/>
              <a:t> 4 KiB.</a:t>
            </a:r>
          </a:p>
          <a:p>
            <a:pPr algn="ctr">
              <a:defRPr sz="2000" b="0">
                <a:solidFill>
                  <a:srgbClr val="1E1E1E"/>
                </a:solidFill>
                <a:latin typeface="Arial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65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1908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4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7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3363" y="2395350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6363" y="2395350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page</a:t>
            </a:r>
            <a:br>
              <a:rPr dirty="0"/>
            </a:br>
            <a:r>
              <a:rPr lang="en-AU" dirty="0"/>
              <a:t>…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65363" y="1983870"/>
            <a:ext cx="93268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Virtual memory of one process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EBF946D-56E9-45E5-966A-5F4D3F912DB5}"/>
              </a:ext>
            </a:extLst>
          </p:cNvPr>
          <p:cNvSpPr txBox="1">
            <a:spLocks/>
          </p:cNvSpPr>
          <p:nvPr/>
        </p:nvSpPr>
        <p:spPr>
          <a:xfrm>
            <a:off x="415880" y="248313"/>
            <a:ext cx="3939255" cy="695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Virtual memory</a:t>
            </a:r>
            <a:endParaRPr lang="en-US" sz="3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3CE68-40F5-433D-B522-C2D151211898}"/>
              </a:ext>
            </a:extLst>
          </p:cNvPr>
          <p:cNvSpPr txBox="1"/>
          <p:nvPr/>
        </p:nvSpPr>
        <p:spPr>
          <a:xfrm>
            <a:off x="651455" y="4241351"/>
            <a:ext cx="7407360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0">
                <a:solidFill>
                  <a:srgbClr val="1E1E1E"/>
                </a:solidFill>
                <a:latin typeface="Arial"/>
              </a:defRPr>
            </a:pPr>
            <a:r>
              <a:rPr dirty="0"/>
              <a:t>The OS </a:t>
            </a:r>
            <a:r>
              <a:rPr lang="en-AU" dirty="0"/>
              <a:t>also </a:t>
            </a:r>
            <a:r>
              <a:rPr dirty="0"/>
              <a:t>divides </a:t>
            </a:r>
            <a:r>
              <a:rPr lang="en-AU" dirty="0"/>
              <a:t>physical</a:t>
            </a:r>
            <a:r>
              <a:rPr dirty="0"/>
              <a:t> memory into many fixed-size blocks called </a:t>
            </a:r>
            <a:r>
              <a:rPr lang="en-AU" dirty="0"/>
              <a:t>physical</a:t>
            </a:r>
            <a:r>
              <a:rPr dirty="0"/>
              <a:t> pages.</a:t>
            </a:r>
            <a:r>
              <a:rPr lang="en-AU" dirty="0"/>
              <a:t> </a:t>
            </a:r>
            <a:r>
              <a:rPr lang="en-US" dirty="0"/>
              <a:t>A typical page size </a:t>
            </a:r>
            <a:r>
              <a:rPr lang="en-US" altLang="zh-CN" dirty="0"/>
              <a:t>is</a:t>
            </a:r>
            <a:r>
              <a:rPr lang="en-US" dirty="0"/>
              <a:t> 4 KiB</a:t>
            </a:r>
            <a:r>
              <a:rPr lang="en-AU" dirty="0"/>
              <a:t>.</a:t>
            </a:r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9334D4-8F7E-4371-A6F1-1C57FA75FB47}"/>
              </a:ext>
            </a:extLst>
          </p:cNvPr>
          <p:cNvSpPr/>
          <p:nvPr/>
        </p:nvSpPr>
        <p:spPr>
          <a:xfrm>
            <a:off x="765363" y="5433643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E3C29B-68F0-425B-A1C9-0CDD6CEBA4D9}"/>
              </a:ext>
            </a:extLst>
          </p:cNvPr>
          <p:cNvSpPr/>
          <p:nvPr/>
        </p:nvSpPr>
        <p:spPr>
          <a:xfrm>
            <a:off x="1908363" y="5433643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F6280D-FED3-4FE3-A488-3C7CA0DD6FD0}"/>
              </a:ext>
            </a:extLst>
          </p:cNvPr>
          <p:cNvSpPr/>
          <p:nvPr/>
        </p:nvSpPr>
        <p:spPr>
          <a:xfrm>
            <a:off x="3051363" y="5433643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38784-A75E-4C92-AA1D-D9D6910C6D9B}"/>
              </a:ext>
            </a:extLst>
          </p:cNvPr>
          <p:cNvSpPr/>
          <p:nvPr/>
        </p:nvSpPr>
        <p:spPr>
          <a:xfrm>
            <a:off x="4194363" y="5433643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CA8293-B32B-46A0-9C63-8771C4BDA70B}"/>
              </a:ext>
            </a:extLst>
          </p:cNvPr>
          <p:cNvSpPr/>
          <p:nvPr/>
        </p:nvSpPr>
        <p:spPr>
          <a:xfrm>
            <a:off x="5337363" y="5433643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E56D8F-A292-408E-A2CB-DDA69C1B6AF9}"/>
              </a:ext>
            </a:extLst>
          </p:cNvPr>
          <p:cNvSpPr/>
          <p:nvPr/>
        </p:nvSpPr>
        <p:spPr>
          <a:xfrm>
            <a:off x="6480363" y="5433643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2AC14E-AEA0-4193-B36A-B6890FBD4EA9}"/>
              </a:ext>
            </a:extLst>
          </p:cNvPr>
          <p:cNvSpPr/>
          <p:nvPr/>
        </p:nvSpPr>
        <p:spPr>
          <a:xfrm>
            <a:off x="7623363" y="5433643"/>
            <a:ext cx="1097280" cy="914400"/>
          </a:xfrm>
          <a:prstGeom prst="rect">
            <a:avLst/>
          </a:prstGeom>
          <a:solidFill>
            <a:srgbClr val="F8F2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page</a:t>
            </a:r>
            <a:br/>
            <a: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D69328-2016-43AE-9219-B1E1C3266C80}"/>
              </a:ext>
            </a:extLst>
          </p:cNvPr>
          <p:cNvSpPr/>
          <p:nvPr/>
        </p:nvSpPr>
        <p:spPr>
          <a:xfrm>
            <a:off x="8766363" y="5433643"/>
            <a:ext cx="1097280" cy="914400"/>
          </a:xfrm>
          <a:prstGeom prst="rect">
            <a:avLst/>
          </a:prstGeom>
          <a:solidFill>
            <a:srgbClr val="E7F3FF"/>
          </a:solidFill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page</a:t>
            </a:r>
            <a:br>
              <a:rPr dirty="0"/>
            </a:br>
            <a:r>
              <a:rPr lang="en-AU" dirty="0"/>
              <a:t>..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43935E-06F3-4DD1-B008-0193327868D6}"/>
              </a:ext>
            </a:extLst>
          </p:cNvPr>
          <p:cNvSpPr txBox="1"/>
          <p:nvPr/>
        </p:nvSpPr>
        <p:spPr>
          <a:xfrm>
            <a:off x="765363" y="5022163"/>
            <a:ext cx="932688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</a:t>
            </a:r>
            <a:r>
              <a:rPr dirty="0"/>
              <a:t> memory of </a:t>
            </a:r>
            <a:r>
              <a:rPr lang="en-AU" dirty="0"/>
              <a:t>the machine</a:t>
            </a:r>
            <a:endParaRPr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A080DB1B-FF02-48D8-8198-4E816D675CDE}"/>
              </a:ext>
            </a:extLst>
          </p:cNvPr>
          <p:cNvSpPr txBox="1">
            <a:spLocks/>
          </p:cNvSpPr>
          <p:nvPr/>
        </p:nvSpPr>
        <p:spPr>
          <a:xfrm>
            <a:off x="415880" y="3608956"/>
            <a:ext cx="3316770" cy="5680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Physical memory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0497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3561681" cy="566309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Arial"/>
              </a:defRPr>
            </a:pPr>
            <a:r>
              <a:rPr sz="3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Page-aligned address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340" y="1307592"/>
            <a:ext cx="3063240" cy="10058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0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0060" y="1307592"/>
            <a:ext cx="3063240" cy="100584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1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64780" y="1307592"/>
            <a:ext cx="3063240" cy="100584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2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287" y="2793468"/>
            <a:ext cx="1285865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sz="1600" dirty="0"/>
              <a:t>0x60000000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842010" y="2313432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5339" y="5866826"/>
            <a:ext cx="10012681" cy="685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rPr dirty="0"/>
              <a:t>For a 4 K</a:t>
            </a:r>
            <a:r>
              <a:rPr lang="en-AU" dirty="0" err="1"/>
              <a:t>i</a:t>
            </a:r>
            <a:r>
              <a:rPr dirty="0"/>
              <a:t>B page</a:t>
            </a:r>
            <a:r>
              <a:rPr lang="en-AU" dirty="0"/>
              <a:t>, </a:t>
            </a:r>
            <a:r>
              <a:rPr dirty="0"/>
              <a:t>page-aligned addresses are </a:t>
            </a:r>
            <a:r>
              <a:rPr lang="en-US" dirty="0"/>
              <a:t>end with 000 in hexadecimal format</a:t>
            </a:r>
            <a:r>
              <a:rPr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8DC589-60CE-465E-A2F9-75809ABDF125}"/>
              </a:ext>
            </a:extLst>
          </p:cNvPr>
          <p:cNvSpPr txBox="1"/>
          <p:nvPr/>
        </p:nvSpPr>
        <p:spPr>
          <a:xfrm>
            <a:off x="4230046" y="2811732"/>
            <a:ext cx="1285865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sz="1600" dirty="0"/>
              <a:t>0x6000</a:t>
            </a:r>
            <a:r>
              <a:rPr lang="en-AU" sz="1600" dirty="0"/>
              <a:t>1</a:t>
            </a:r>
            <a:r>
              <a:rPr sz="1600" dirty="0"/>
              <a:t>000</a:t>
            </a:r>
          </a:p>
        </p:txBody>
      </p:sp>
      <p:cxnSp>
        <p:nvCxnSpPr>
          <p:cNvPr id="17" name="Connector 10">
            <a:extLst>
              <a:ext uri="{FF2B5EF4-FFF2-40B4-BE49-F238E27FC236}">
                <a16:creationId xmlns:a16="http://schemas.microsoft.com/office/drawing/2014/main" id="{468E7A2A-1948-4C80-837B-B848D686AD2B}"/>
              </a:ext>
            </a:extLst>
          </p:cNvPr>
          <p:cNvCxnSpPr/>
          <p:nvPr/>
        </p:nvCxnSpPr>
        <p:spPr>
          <a:xfrm flipV="1">
            <a:off x="4335769" y="2331696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9C9637-9713-4A5D-BA7B-AEE20E28CA59}"/>
              </a:ext>
            </a:extLst>
          </p:cNvPr>
          <p:cNvSpPr txBox="1"/>
          <p:nvPr/>
        </p:nvSpPr>
        <p:spPr>
          <a:xfrm>
            <a:off x="7704754" y="2829233"/>
            <a:ext cx="1285865" cy="320088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sz="1600" dirty="0"/>
              <a:t>0x6000</a:t>
            </a:r>
            <a:r>
              <a:rPr lang="en-AU" sz="1600" dirty="0"/>
              <a:t>2</a:t>
            </a:r>
            <a:r>
              <a:rPr sz="1600" dirty="0"/>
              <a:t>000</a:t>
            </a:r>
          </a:p>
        </p:txBody>
      </p:sp>
      <p:cxnSp>
        <p:nvCxnSpPr>
          <p:cNvPr id="19" name="Connector 10">
            <a:extLst>
              <a:ext uri="{FF2B5EF4-FFF2-40B4-BE49-F238E27FC236}">
                <a16:creationId xmlns:a16="http://schemas.microsoft.com/office/drawing/2014/main" id="{5D222431-7291-409D-B78A-278555A51CA2}"/>
              </a:ext>
            </a:extLst>
          </p:cNvPr>
          <p:cNvCxnSpPr/>
          <p:nvPr/>
        </p:nvCxnSpPr>
        <p:spPr>
          <a:xfrm flipV="1">
            <a:off x="7810477" y="2349197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0E1B9A99-19A7-49A7-80C7-6F388582FFBB}"/>
              </a:ext>
            </a:extLst>
          </p:cNvPr>
          <p:cNvSpPr/>
          <p:nvPr/>
        </p:nvSpPr>
        <p:spPr>
          <a:xfrm>
            <a:off x="921063" y="3686467"/>
            <a:ext cx="3063240" cy="10058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0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EBF640A9-8071-4583-A273-247CA1C7863B}"/>
              </a:ext>
            </a:extLst>
          </p:cNvPr>
          <p:cNvSpPr/>
          <p:nvPr/>
        </p:nvSpPr>
        <p:spPr>
          <a:xfrm>
            <a:off x="4395783" y="3686467"/>
            <a:ext cx="3063240" cy="100584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1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71DB2B56-4CE9-450A-BCB1-2501FCFBD995}"/>
              </a:ext>
            </a:extLst>
          </p:cNvPr>
          <p:cNvSpPr/>
          <p:nvPr/>
        </p:nvSpPr>
        <p:spPr>
          <a:xfrm>
            <a:off x="7870503" y="3686467"/>
            <a:ext cx="3063240" cy="100584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Page 2</a:t>
            </a:r>
            <a:br>
              <a:rPr dirty="0"/>
            </a:br>
            <a:r>
              <a:rPr dirty="0"/>
              <a:t>4 K</a:t>
            </a:r>
            <a:r>
              <a:rPr lang="en-AU" dirty="0" err="1"/>
              <a:t>i</a:t>
            </a:r>
            <a:r>
              <a:rPr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0F03C9-9DCF-43CE-AA7E-CE35C7E848B3}"/>
              </a:ext>
            </a:extLst>
          </p:cNvPr>
          <p:cNvSpPr txBox="1"/>
          <p:nvPr/>
        </p:nvSpPr>
        <p:spPr>
          <a:xfrm>
            <a:off x="842010" y="5172343"/>
            <a:ext cx="1141595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lang="en-AU" sz="1400" dirty="0"/>
              <a:t>0x70000000</a:t>
            </a:r>
            <a:endParaRPr sz="1600" dirty="0"/>
          </a:p>
        </p:txBody>
      </p:sp>
      <p:cxnSp>
        <p:nvCxnSpPr>
          <p:cNvPr id="25" name="Connector 10">
            <a:extLst>
              <a:ext uri="{FF2B5EF4-FFF2-40B4-BE49-F238E27FC236}">
                <a16:creationId xmlns:a16="http://schemas.microsoft.com/office/drawing/2014/main" id="{7C69A987-82E9-40AC-861E-0140EE708DA4}"/>
              </a:ext>
            </a:extLst>
          </p:cNvPr>
          <p:cNvCxnSpPr/>
          <p:nvPr/>
        </p:nvCxnSpPr>
        <p:spPr>
          <a:xfrm flipV="1">
            <a:off x="947733" y="4692307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84771C-0096-4217-829B-C9448D59B720}"/>
              </a:ext>
            </a:extLst>
          </p:cNvPr>
          <p:cNvSpPr txBox="1"/>
          <p:nvPr/>
        </p:nvSpPr>
        <p:spPr>
          <a:xfrm>
            <a:off x="4335769" y="5190607"/>
            <a:ext cx="1141595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lang="en-AU" sz="1400" dirty="0"/>
              <a:t>0x70001000</a:t>
            </a:r>
            <a:endParaRPr sz="1600" dirty="0"/>
          </a:p>
        </p:txBody>
      </p:sp>
      <p:cxnSp>
        <p:nvCxnSpPr>
          <p:cNvPr id="27" name="Connector 10">
            <a:extLst>
              <a:ext uri="{FF2B5EF4-FFF2-40B4-BE49-F238E27FC236}">
                <a16:creationId xmlns:a16="http://schemas.microsoft.com/office/drawing/2014/main" id="{2812630A-8D80-40E1-AD18-322C1064A0C6}"/>
              </a:ext>
            </a:extLst>
          </p:cNvPr>
          <p:cNvCxnSpPr/>
          <p:nvPr/>
        </p:nvCxnSpPr>
        <p:spPr>
          <a:xfrm flipV="1">
            <a:off x="4441492" y="4710571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8D6A32-45B6-4EA4-AA6B-D59A54E16FC2}"/>
              </a:ext>
            </a:extLst>
          </p:cNvPr>
          <p:cNvSpPr txBox="1"/>
          <p:nvPr/>
        </p:nvSpPr>
        <p:spPr>
          <a:xfrm>
            <a:off x="7810477" y="5208108"/>
            <a:ext cx="1141595" cy="28931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rial"/>
              </a:defRPr>
            </a:pPr>
            <a:r>
              <a:rPr lang="en-AU" sz="1400" dirty="0"/>
              <a:t>0x70002000</a:t>
            </a:r>
            <a:endParaRPr sz="1600" dirty="0"/>
          </a:p>
        </p:txBody>
      </p:sp>
      <p:cxnSp>
        <p:nvCxnSpPr>
          <p:cNvPr id="29" name="Connector 10">
            <a:extLst>
              <a:ext uri="{FF2B5EF4-FFF2-40B4-BE49-F238E27FC236}">
                <a16:creationId xmlns:a16="http://schemas.microsoft.com/office/drawing/2014/main" id="{1251E510-5F47-442F-BC22-24079A4038D5}"/>
              </a:ext>
            </a:extLst>
          </p:cNvPr>
          <p:cNvCxnSpPr/>
          <p:nvPr/>
        </p:nvCxnSpPr>
        <p:spPr>
          <a:xfrm flipV="1">
            <a:off x="7916200" y="4728072"/>
            <a:ext cx="0" cy="5029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1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2603918" cy="566309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Arial"/>
              </a:defRPr>
            </a:pPr>
            <a:r>
              <a:rPr lang="en-AU" sz="3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Virtual Address</a:t>
            </a:r>
            <a:endParaRPr sz="32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05840" y="1143000"/>
            <a:ext cx="10149840" cy="5029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100" b="1">
                <a:solidFill>
                  <a:srgbClr val="282828"/>
                </a:solidFill>
                <a:latin typeface="Arial"/>
              </a:defRPr>
            </a:pPr>
            <a:r>
              <a:rPr dirty="0"/>
              <a:t>0x60001800</a:t>
            </a:r>
            <a:r>
              <a:rPr lang="en-AU" dirty="0"/>
              <a:t>: page starting at 0x60001000 + offset 0x800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6309360" cy="10058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dirty="0"/>
              <a:t>Virtual page base</a:t>
            </a:r>
            <a:br>
              <a:rPr dirty="0"/>
            </a:br>
            <a:r>
              <a:rPr dirty="0"/>
              <a:t>0x60001000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965960"/>
            <a:ext cx="3611880" cy="100584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Page offset</a:t>
            </a:r>
            <a:br/>
            <a:r>
              <a:t>0x800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1645920"/>
            <a:ext cx="0" cy="29260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1645920"/>
            <a:ext cx="0" cy="29260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83F850C9-53E8-4BB9-9175-F4C83FB6D8A3}"/>
              </a:ext>
            </a:extLst>
          </p:cNvPr>
          <p:cNvSpPr/>
          <p:nvPr/>
        </p:nvSpPr>
        <p:spPr>
          <a:xfrm>
            <a:off x="1005840" y="4255008"/>
            <a:ext cx="10149840" cy="5029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1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0x70001800: page starting at 0x70001000 + offset 0x800</a:t>
            </a:r>
            <a:endParaRPr dirty="0"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E1C9C4F6-E21D-4CF5-A922-F34DECDB924A}"/>
              </a:ext>
            </a:extLst>
          </p:cNvPr>
          <p:cNvSpPr/>
          <p:nvPr/>
        </p:nvSpPr>
        <p:spPr>
          <a:xfrm>
            <a:off x="1005840" y="5077968"/>
            <a:ext cx="6309360" cy="100584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Physical</a:t>
            </a:r>
            <a:r>
              <a:rPr dirty="0"/>
              <a:t> page base</a:t>
            </a:r>
            <a:br>
              <a:rPr dirty="0"/>
            </a:br>
            <a:r>
              <a:rPr lang="en-AU" dirty="0"/>
              <a:t>0x70001000</a:t>
            </a:r>
            <a:endParaRPr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9FD26A02-EBAC-416B-B1C3-E018316A5FAF}"/>
              </a:ext>
            </a:extLst>
          </p:cNvPr>
          <p:cNvSpPr/>
          <p:nvPr/>
        </p:nvSpPr>
        <p:spPr>
          <a:xfrm>
            <a:off x="7543800" y="5077968"/>
            <a:ext cx="3611880" cy="100584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Page offset</a:t>
            </a:r>
            <a:br/>
            <a:r>
              <a:t>0x800</a:t>
            </a:r>
          </a:p>
        </p:txBody>
      </p:sp>
      <p:cxnSp>
        <p:nvCxnSpPr>
          <p:cNvPr id="18" name="Connector 7">
            <a:extLst>
              <a:ext uri="{FF2B5EF4-FFF2-40B4-BE49-F238E27FC236}">
                <a16:creationId xmlns:a16="http://schemas.microsoft.com/office/drawing/2014/main" id="{23B16419-D82E-4863-9111-3BBB9ED26CAF}"/>
              </a:ext>
            </a:extLst>
          </p:cNvPr>
          <p:cNvCxnSpPr/>
          <p:nvPr/>
        </p:nvCxnSpPr>
        <p:spPr>
          <a:xfrm>
            <a:off x="4206240" y="4757928"/>
            <a:ext cx="0" cy="29260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78180679-B057-4EB3-9D2C-B5BE02BF908B}"/>
              </a:ext>
            </a:extLst>
          </p:cNvPr>
          <p:cNvCxnSpPr/>
          <p:nvPr/>
        </p:nvCxnSpPr>
        <p:spPr>
          <a:xfrm>
            <a:off x="9326880" y="4757928"/>
            <a:ext cx="0" cy="29260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81284B-9879-46EF-824F-45013709F762}"/>
              </a:ext>
            </a:extLst>
          </p:cNvPr>
          <p:cNvSpPr txBox="1"/>
          <p:nvPr/>
        </p:nvSpPr>
        <p:spPr>
          <a:xfrm>
            <a:off x="411480" y="3651813"/>
            <a:ext cx="2801664" cy="566309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Arial"/>
              </a:defRPr>
            </a:pPr>
            <a:r>
              <a:rPr lang="en-AU" sz="3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Physical Address</a:t>
            </a:r>
            <a:endParaRPr sz="32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469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5684520" cy="56630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Arial"/>
              </a:defRPr>
            </a:pPr>
            <a:r>
              <a:rPr lang="en-AU" sz="3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Memory Map: page granularity</a:t>
            </a:r>
            <a:endParaRPr sz="32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3291840" cy="1325880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t>Virtual page</a:t>
            </a:r>
            <a:br/>
            <a:r>
              <a:t>base: 0x60001000</a:t>
            </a:r>
            <a:br/>
            <a:r>
              <a:t>size: 4 KB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572768"/>
            <a:ext cx="3200400" cy="14173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Memory map</a:t>
            </a:r>
            <a:br>
              <a:rPr dirty="0"/>
            </a:br>
            <a:br>
              <a:rPr dirty="0"/>
            </a:br>
            <a:r>
              <a:rPr dirty="0"/>
              <a:t>0x60001000 → 0x70001000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600200"/>
            <a:ext cx="3291840" cy="132588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rPr dirty="0"/>
              <a:t>Physical page</a:t>
            </a:r>
            <a:br>
              <a:rPr dirty="0"/>
            </a:br>
            <a:r>
              <a:rPr dirty="0"/>
              <a:t>base: 0x70001000</a:t>
            </a:r>
            <a:br>
              <a:rPr dirty="0"/>
            </a:br>
            <a:r>
              <a:rPr dirty="0"/>
              <a:t>size: 4 KB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6240" y="2258568"/>
            <a:ext cx="301752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26679" y="2258568"/>
            <a:ext cx="338329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39" y="4728068"/>
            <a:ext cx="3291840" cy="32004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rial"/>
              </a:defRPr>
            </a:pPr>
            <a:r>
              <a:t>Inside the virtual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728068"/>
            <a:ext cx="3291840" cy="320040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rial"/>
              </a:defRPr>
            </a:pPr>
            <a:r>
              <a:t>Inside the physical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239" y="5139548"/>
            <a:ext cx="1400320" cy="350865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Arial"/>
              </a:defRPr>
            </a:pPr>
            <a:r>
              <a:rPr sz="1800" dirty="0"/>
              <a:t>offset 0x</a:t>
            </a:r>
            <a:r>
              <a:rPr lang="en-AU" sz="1800" dirty="0"/>
              <a:t>1</a:t>
            </a:r>
            <a:r>
              <a:rPr sz="1800" dirty="0"/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5279" y="5139548"/>
            <a:ext cx="1400320" cy="350865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Arial"/>
              </a:defRPr>
            </a:pPr>
            <a:r>
              <a:rPr sz="1800" dirty="0"/>
              <a:t>offset 0x</a:t>
            </a:r>
            <a:r>
              <a:rPr lang="en-AU" sz="1800" dirty="0"/>
              <a:t>1</a:t>
            </a:r>
            <a:r>
              <a:rPr sz="1800" dirty="0"/>
              <a:t>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19" y="5249276"/>
            <a:ext cx="425196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91D934E0-CE31-497E-B0CB-AA9CEBA2E379}"/>
              </a:ext>
            </a:extLst>
          </p:cNvPr>
          <p:cNvSpPr/>
          <p:nvPr/>
        </p:nvSpPr>
        <p:spPr>
          <a:xfrm>
            <a:off x="914400" y="3611880"/>
            <a:ext cx="10469880" cy="685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rPr lang="en-AU" altLang="zh-CN" dirty="0"/>
              <a:t>The</a:t>
            </a:r>
            <a:r>
              <a:rPr lang="zh-CN" altLang="en-US" dirty="0"/>
              <a:t> </a:t>
            </a:r>
            <a:r>
              <a:rPr lang="en-AU" altLang="zh-CN" dirty="0"/>
              <a:t>page offset</a:t>
            </a:r>
            <a:r>
              <a:rPr lang="zh-CN" altLang="en-US" dirty="0"/>
              <a:t> </a:t>
            </a:r>
            <a:r>
              <a:rPr lang="en-AU" altLang="zh-CN" dirty="0"/>
              <a:t>for</a:t>
            </a:r>
            <a:r>
              <a:rPr lang="zh-CN" altLang="en-US" dirty="0"/>
              <a:t> </a:t>
            </a:r>
            <a:r>
              <a:rPr lang="en-AU" altLang="zh-CN" dirty="0"/>
              <a:t>a virtual</a:t>
            </a:r>
            <a:r>
              <a:rPr lang="zh-CN" altLang="en-US" dirty="0"/>
              <a:t> </a:t>
            </a:r>
            <a:r>
              <a:rPr lang="en-AU" altLang="zh-CN" dirty="0"/>
              <a:t>address and its mapped physical address is the same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906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4CD49D-D917-4002-82CD-150D4358FEAD}"/>
              </a:ext>
            </a:extLst>
          </p:cNvPr>
          <p:cNvSpPr/>
          <p:nvPr/>
        </p:nvSpPr>
        <p:spPr>
          <a:xfrm>
            <a:off x="2488292" y="1359873"/>
            <a:ext cx="1184564" cy="1609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4KB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9AAF72-34F2-4DA0-9044-41BF785F6F2E}"/>
              </a:ext>
            </a:extLst>
          </p:cNvPr>
          <p:cNvCxnSpPr/>
          <p:nvPr/>
        </p:nvCxnSpPr>
        <p:spPr>
          <a:xfrm>
            <a:off x="1533026" y="2969589"/>
            <a:ext cx="768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496F255-B84F-46AF-81BE-42E1EE0DF460}"/>
              </a:ext>
            </a:extLst>
          </p:cNvPr>
          <p:cNvSpPr/>
          <p:nvPr/>
        </p:nvSpPr>
        <p:spPr>
          <a:xfrm>
            <a:off x="805662" y="3056601"/>
            <a:ext cx="2327564" cy="4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VA = 0x60001000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3484C-F945-433F-8ADF-F60A6D424A4C}"/>
              </a:ext>
            </a:extLst>
          </p:cNvPr>
          <p:cNvSpPr/>
          <p:nvPr/>
        </p:nvSpPr>
        <p:spPr>
          <a:xfrm>
            <a:off x="7823688" y="1359873"/>
            <a:ext cx="1184564" cy="1609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4KB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76A209-6F52-4D14-8E6F-0262E4A6CF50}"/>
              </a:ext>
            </a:extLst>
          </p:cNvPr>
          <p:cNvCxnSpPr>
            <a:cxnSpLocks/>
          </p:cNvCxnSpPr>
          <p:nvPr/>
        </p:nvCxnSpPr>
        <p:spPr>
          <a:xfrm flipH="1">
            <a:off x="9184199" y="2969589"/>
            <a:ext cx="759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D094906-4F28-4C93-8DC4-0C3FEC9C00CA}"/>
              </a:ext>
            </a:extLst>
          </p:cNvPr>
          <p:cNvSpPr/>
          <p:nvPr/>
        </p:nvSpPr>
        <p:spPr>
          <a:xfrm>
            <a:off x="8779651" y="3056600"/>
            <a:ext cx="2327564" cy="4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PA = 0x70001000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F9A641-917F-46F6-967F-C1EBA85C6022}"/>
              </a:ext>
            </a:extLst>
          </p:cNvPr>
          <p:cNvSpPr/>
          <p:nvPr/>
        </p:nvSpPr>
        <p:spPr>
          <a:xfrm>
            <a:off x="5128280" y="1805807"/>
            <a:ext cx="1433946" cy="717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Memory Map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2DA359-47F9-4D7D-BFEF-18562CCD4187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3672856" y="2164731"/>
            <a:ext cx="14554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5A4A82-6C89-4920-9DC9-9B3B4ABB60A1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>
            <a:off x="6562226" y="2164731"/>
            <a:ext cx="12614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415EA-686F-4E6F-9D3F-1411F8518ECB}"/>
              </a:ext>
            </a:extLst>
          </p:cNvPr>
          <p:cNvSpPr/>
          <p:nvPr/>
        </p:nvSpPr>
        <p:spPr>
          <a:xfrm>
            <a:off x="2549940" y="4074623"/>
            <a:ext cx="1184564" cy="1609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4KB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0DA883-E084-4BC4-95AD-55334A9C2B21}"/>
              </a:ext>
            </a:extLst>
          </p:cNvPr>
          <p:cNvCxnSpPr/>
          <p:nvPr/>
        </p:nvCxnSpPr>
        <p:spPr>
          <a:xfrm>
            <a:off x="1720063" y="4879481"/>
            <a:ext cx="768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F0AD4F2-45D7-40F6-80AB-F3ECE012254A}"/>
              </a:ext>
            </a:extLst>
          </p:cNvPr>
          <p:cNvSpPr/>
          <p:nvPr/>
        </p:nvSpPr>
        <p:spPr>
          <a:xfrm>
            <a:off x="411480" y="4879480"/>
            <a:ext cx="2327564" cy="4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VA1 = 0x60001800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DB7C17-0656-4F31-B5C0-5BBCB98BFE90}"/>
              </a:ext>
            </a:extLst>
          </p:cNvPr>
          <p:cNvSpPr/>
          <p:nvPr/>
        </p:nvSpPr>
        <p:spPr>
          <a:xfrm>
            <a:off x="7885336" y="4074623"/>
            <a:ext cx="1184564" cy="1609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4KB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6A9391-F856-436C-8D02-D66DD039776A}"/>
              </a:ext>
            </a:extLst>
          </p:cNvPr>
          <p:cNvCxnSpPr>
            <a:cxnSpLocks/>
          </p:cNvCxnSpPr>
          <p:nvPr/>
        </p:nvCxnSpPr>
        <p:spPr>
          <a:xfrm flipH="1">
            <a:off x="9245847" y="4892593"/>
            <a:ext cx="759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6A266C6-7489-4A23-AF89-CC3B4F2D0510}"/>
              </a:ext>
            </a:extLst>
          </p:cNvPr>
          <p:cNvSpPr/>
          <p:nvPr/>
        </p:nvSpPr>
        <p:spPr>
          <a:xfrm>
            <a:off x="9008252" y="4953380"/>
            <a:ext cx="1606429" cy="420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FF0000"/>
                </a:solidFill>
              </a:rPr>
              <a:t>PA1 = 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8E4ADE-D9AA-495B-BAD5-6EDE4E063744}"/>
              </a:ext>
            </a:extLst>
          </p:cNvPr>
          <p:cNvSpPr/>
          <p:nvPr/>
        </p:nvSpPr>
        <p:spPr>
          <a:xfrm>
            <a:off x="5189928" y="4520557"/>
            <a:ext cx="1433946" cy="717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Memory Map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48DEEB-10DE-4BBB-87AE-22AE16C3D0C9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>
            <a:off x="3734504" y="4879481"/>
            <a:ext cx="14554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B5301F-BA20-4BC1-937A-5A88D1E084D9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>
            <a:off x="6623874" y="4879481"/>
            <a:ext cx="12614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D730D1-5149-4E4F-A96E-3088C789D443}"/>
              </a:ext>
            </a:extLst>
          </p:cNvPr>
          <p:cNvCxnSpPr/>
          <p:nvPr/>
        </p:nvCxnSpPr>
        <p:spPr>
          <a:xfrm>
            <a:off x="1699282" y="5686095"/>
            <a:ext cx="7682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855E8C0-76F9-4CB3-B50E-289AD0FA2B25}"/>
              </a:ext>
            </a:extLst>
          </p:cNvPr>
          <p:cNvSpPr/>
          <p:nvPr/>
        </p:nvSpPr>
        <p:spPr>
          <a:xfrm>
            <a:off x="971918" y="5773107"/>
            <a:ext cx="2327564" cy="4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VA = 0x60001000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63EE7F-7102-4589-B2F1-C2D3A85F26A2}"/>
              </a:ext>
            </a:extLst>
          </p:cNvPr>
          <p:cNvCxnSpPr>
            <a:cxnSpLocks/>
          </p:cNvCxnSpPr>
          <p:nvPr/>
        </p:nvCxnSpPr>
        <p:spPr>
          <a:xfrm flipH="1">
            <a:off x="9245847" y="5658114"/>
            <a:ext cx="759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B7B6431-9AEA-48C0-8A08-0D5CC2507550}"/>
              </a:ext>
            </a:extLst>
          </p:cNvPr>
          <p:cNvSpPr/>
          <p:nvPr/>
        </p:nvSpPr>
        <p:spPr>
          <a:xfrm>
            <a:off x="8841299" y="5745125"/>
            <a:ext cx="2327564" cy="4948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PA = 0x70001000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25CCB-8A33-4266-A992-FADEA7DC1D32}"/>
              </a:ext>
            </a:extLst>
          </p:cNvPr>
          <p:cNvSpPr txBox="1"/>
          <p:nvPr/>
        </p:nvSpPr>
        <p:spPr>
          <a:xfrm>
            <a:off x="411480" y="256032"/>
            <a:ext cx="2365071" cy="566309"/>
          </a:xfrm>
          <a:prstGeom prst="rect">
            <a:avLst/>
          </a:prstGeom>
          <a:noFill/>
        </p:spPr>
        <p:txBody>
          <a:bodyPr wrap="none" lIns="73152" tIns="36576" rIns="73152" bIns="36576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  <a:latin typeface="Arial"/>
              </a:defRPr>
            </a:pPr>
            <a:r>
              <a:rPr lang="en-AU" sz="32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Memory Map</a:t>
            </a:r>
            <a:endParaRPr sz="3200" b="1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11885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0014" y="210755"/>
            <a:ext cx="37605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AU" sz="3200" dirty="0">
                <a:solidFill>
                  <a:srgbClr val="000000"/>
                </a:solidFill>
              </a:rPr>
              <a:t>V</a:t>
            </a:r>
            <a:r>
              <a:rPr sz="3200" dirty="0" err="1">
                <a:solidFill>
                  <a:srgbClr val="000000"/>
                </a:solidFill>
              </a:rPr>
              <a:t>irtual</a:t>
            </a:r>
            <a:r>
              <a:rPr sz="3200" dirty="0">
                <a:solidFill>
                  <a:srgbClr val="000000"/>
                </a:solidFill>
              </a:rPr>
              <a:t> memory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80" y="104698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solidFill>
                  <a:srgbClr val="222222"/>
                </a:solidFill>
              </a:rPr>
              <a:t>The CPU and OS decide how many bits are used for a virtual address.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193" y="1938528"/>
            <a:ext cx="2955005" cy="1234440"/>
          </a:xfrm>
          <a:prstGeom prst="roundRect">
            <a:avLst/>
          </a:prstGeom>
          <a:solidFill>
            <a:srgbClr val="E7F3FF"/>
          </a:solidFill>
          <a:ln w="1905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dirty="0">
                <a:solidFill>
                  <a:srgbClr val="222222"/>
                </a:solidFill>
              </a:rPr>
              <a:t>Virtual-address bits</a:t>
            </a:r>
          </a:p>
          <a:p>
            <a:pPr algn="ctr"/>
            <a:r>
              <a:rPr sz="1800" b="0" dirty="0">
                <a:solidFill>
                  <a:srgbClr val="222222"/>
                </a:solidFill>
              </a:rPr>
              <a:t>supported by CPU + 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02110" y="1938527"/>
            <a:ext cx="2690576" cy="1234439"/>
          </a:xfrm>
          <a:prstGeom prst="roundRect">
            <a:avLst/>
          </a:prstGeom>
          <a:solidFill>
            <a:srgbClr val="F8F2FF"/>
          </a:solidFill>
          <a:ln w="1905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dirty="0">
                <a:solidFill>
                  <a:srgbClr val="222222"/>
                </a:solidFill>
              </a:rPr>
              <a:t>Possible virtual addresses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1597" y="1938526"/>
            <a:ext cx="2955005" cy="1233882"/>
          </a:xfrm>
          <a:prstGeom prst="roundRect">
            <a:avLst/>
          </a:prstGeom>
          <a:solidFill>
            <a:srgbClr val="FFF7E1"/>
          </a:solidFill>
          <a:ln w="1905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AU" sz="2100" b="1" dirty="0">
                <a:solidFill>
                  <a:srgbClr val="222222"/>
                </a:solidFill>
              </a:rPr>
              <a:t>V</a:t>
            </a:r>
            <a:r>
              <a:rPr sz="2100" b="1" dirty="0" err="1">
                <a:solidFill>
                  <a:srgbClr val="222222"/>
                </a:solidFill>
              </a:rPr>
              <a:t>irtual</a:t>
            </a:r>
            <a:r>
              <a:rPr lang="en-AU" sz="2100" b="1" dirty="0">
                <a:solidFill>
                  <a:srgbClr val="222222"/>
                </a:solidFill>
              </a:rPr>
              <a:t> memory size</a:t>
            </a:r>
            <a:endParaRPr sz="2100" b="1" dirty="0">
              <a:solidFill>
                <a:srgbClr val="222222"/>
              </a:solidFill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663198" y="2551176"/>
            <a:ext cx="438912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92686" y="2508442"/>
            <a:ext cx="438912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08193" y="3574540"/>
            <a:ext cx="8416352" cy="9144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AU" sz="2400" b="1" dirty="0">
                <a:solidFill>
                  <a:srgbClr val="222222"/>
                </a:solidFill>
              </a:rPr>
              <a:t>i386 CPU with 32-bit: </a:t>
            </a:r>
            <a:r>
              <a:rPr sz="2400" b="1" dirty="0">
                <a:solidFill>
                  <a:srgbClr val="222222"/>
                </a:solidFill>
              </a:rPr>
              <a:t>32 address bits  →  </a:t>
            </a:r>
            <a:r>
              <a:rPr lang="en-AU" sz="2400" b="1" dirty="0">
                <a:solidFill>
                  <a:srgbClr val="222222"/>
                </a:solidFill>
              </a:rPr>
              <a:t>? </a:t>
            </a:r>
            <a:r>
              <a:rPr sz="2400" b="1" dirty="0">
                <a:solidFill>
                  <a:srgbClr val="222222"/>
                </a:solidFill>
              </a:rPr>
              <a:t>bytes</a:t>
            </a:r>
            <a:endParaRPr sz="2400" b="0" dirty="0">
              <a:solidFill>
                <a:srgbClr val="22222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08192" y="5055103"/>
            <a:ext cx="8416353" cy="914400"/>
          </a:xfrm>
          <a:prstGeom prst="roundRect">
            <a:avLst/>
          </a:prstGeom>
          <a:solidFill>
            <a:srgbClr val="E8F8EA"/>
          </a:solidFill>
          <a:ln w="19050">
            <a:solidFill>
              <a:srgbClr val="52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222222"/>
                </a:solidFill>
              </a:rPr>
              <a:t>x86-64 </a:t>
            </a:r>
            <a:r>
              <a:rPr lang="en-AU" sz="2400" b="1" dirty="0">
                <a:solidFill>
                  <a:srgbClr val="222222"/>
                </a:solidFill>
              </a:rPr>
              <a:t>with 64-bit</a:t>
            </a:r>
            <a:r>
              <a:rPr sz="2400" b="1" dirty="0">
                <a:solidFill>
                  <a:srgbClr val="222222"/>
                </a:solidFill>
              </a:rPr>
              <a:t>: </a:t>
            </a:r>
            <a:r>
              <a:rPr lang="en-AU" sz="2400" b="1" dirty="0">
                <a:solidFill>
                  <a:srgbClr val="222222"/>
                </a:solidFill>
              </a:rPr>
              <a:t>only </a:t>
            </a:r>
            <a:r>
              <a:rPr sz="2400" b="1" dirty="0">
                <a:solidFill>
                  <a:srgbClr val="222222"/>
                </a:solidFill>
              </a:rPr>
              <a:t>48 address bits</a:t>
            </a:r>
            <a:r>
              <a:rPr lang="en-AU" sz="2400" b="1" dirty="0">
                <a:solidFill>
                  <a:srgbClr val="222222"/>
                </a:solidFill>
              </a:rPr>
              <a:t> →  ? bytes</a:t>
            </a:r>
            <a:endParaRPr sz="2400" b="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92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3001" y="173736"/>
            <a:ext cx="40295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AU" sz="3200" dirty="0">
                <a:solidFill>
                  <a:srgbClr val="000000"/>
                </a:solidFill>
              </a:rPr>
              <a:t>P</a:t>
            </a:r>
            <a:r>
              <a:rPr sz="3200" dirty="0" err="1">
                <a:solidFill>
                  <a:srgbClr val="000000"/>
                </a:solidFill>
              </a:rPr>
              <a:t>hysical</a:t>
            </a:r>
            <a:r>
              <a:rPr sz="3200" dirty="0">
                <a:solidFill>
                  <a:srgbClr val="000000"/>
                </a:solidFill>
              </a:rPr>
              <a:t> memory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56021" y="2085367"/>
            <a:ext cx="1828801" cy="1462595"/>
          </a:xfrm>
          <a:prstGeom prst="roundRect">
            <a:avLst/>
          </a:prstGeom>
          <a:solidFill>
            <a:srgbClr val="E7F3FF"/>
          </a:solidFill>
          <a:ln w="1905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4584822" y="2787914"/>
            <a:ext cx="822960" cy="0"/>
          </a:xfrm>
          <a:prstGeom prst="line">
            <a:avLst/>
          </a:prstGeom>
          <a:ln w="254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67051" y="2010674"/>
            <a:ext cx="3615584" cy="1554480"/>
          </a:xfrm>
          <a:prstGeom prst="roundRect">
            <a:avLst/>
          </a:prstGeom>
          <a:solidFill>
            <a:srgbClr val="FFF7E1"/>
          </a:solidFill>
          <a:ln w="1905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 dirty="0">
                <a:solidFill>
                  <a:srgbClr val="222222"/>
                </a:solidFill>
              </a:rPr>
              <a:t>16 GiB of </a:t>
            </a:r>
            <a:r>
              <a:rPr lang="en-AU" sz="1800" b="0" dirty="0">
                <a:solidFill>
                  <a:srgbClr val="222222"/>
                </a:solidFill>
              </a:rPr>
              <a:t>D</a:t>
            </a:r>
            <a:r>
              <a:rPr sz="1800" b="0" dirty="0">
                <a:solidFill>
                  <a:srgbClr val="222222"/>
                </a:solidFill>
              </a:rPr>
              <a:t>RAM installed</a:t>
            </a:r>
            <a:r>
              <a:rPr lang="en-AU" sz="1800" b="0" dirty="0">
                <a:solidFill>
                  <a:srgbClr val="222222"/>
                </a:solidFill>
              </a:rPr>
              <a:t> </a:t>
            </a:r>
            <a:r>
              <a:rPr sz="1800" b="0" dirty="0">
                <a:solidFill>
                  <a:srgbClr val="222222"/>
                </a:solidFill>
              </a:rPr>
              <a:t>→ 16 GiB physical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" y="4895126"/>
            <a:ext cx="102412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300" b="1" dirty="0">
                <a:solidFill>
                  <a:srgbClr val="222222"/>
                </a:solidFill>
              </a:rPr>
              <a:t>Does adding DRAM </a:t>
            </a:r>
            <a:r>
              <a:rPr sz="2300" b="1" dirty="0">
                <a:solidFill>
                  <a:srgbClr val="222222"/>
                </a:solidFill>
              </a:rPr>
              <a:t>change</a:t>
            </a:r>
            <a:r>
              <a:rPr lang="en-AU" sz="2300" b="1" dirty="0">
                <a:solidFill>
                  <a:srgbClr val="222222"/>
                </a:solidFill>
              </a:rPr>
              <a:t> the virtual memory size?</a:t>
            </a:r>
            <a:endParaRPr sz="2300" b="1" dirty="0">
              <a:solidFill>
                <a:srgbClr val="22222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28069" y="1513695"/>
            <a:ext cx="277637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222222"/>
                </a:solidFill>
              </a:rPr>
              <a:t>Physical machine</a:t>
            </a:r>
          </a:p>
        </p:txBody>
      </p:sp>
      <p:grpSp>
        <p:nvGrpSpPr>
          <p:cNvPr id="18" name="Group 56">
            <a:extLst>
              <a:ext uri="{FF2B5EF4-FFF2-40B4-BE49-F238E27FC236}">
                <a16:creationId xmlns:a16="http://schemas.microsoft.com/office/drawing/2014/main" id="{4AE76845-ABBF-41FE-B054-929E815A02FE}"/>
              </a:ext>
            </a:extLst>
          </p:cNvPr>
          <p:cNvGrpSpPr/>
          <p:nvPr/>
        </p:nvGrpSpPr>
        <p:grpSpPr>
          <a:xfrm>
            <a:off x="2917742" y="2973062"/>
            <a:ext cx="650334" cy="431621"/>
            <a:chOff x="0" y="0"/>
            <a:chExt cx="351939" cy="376407"/>
          </a:xfrm>
        </p:grpSpPr>
        <p:pic>
          <p:nvPicPr>
            <p:cNvPr id="19" name="Picture 47" descr="Picture 47">
              <a:extLst>
                <a:ext uri="{FF2B5EF4-FFF2-40B4-BE49-F238E27FC236}">
                  <a16:creationId xmlns:a16="http://schemas.microsoft.com/office/drawing/2014/main" id="{113AC8DA-8307-46AE-B661-005443522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" name="Picture 48" descr="Picture 48">
              <a:extLst>
                <a:ext uri="{FF2B5EF4-FFF2-40B4-BE49-F238E27FC236}">
                  <a16:creationId xmlns:a16="http://schemas.microsoft.com/office/drawing/2014/main" id="{9E781303-D29F-41AB-99FF-FF66A7F45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" name="Picture 49" descr="Picture 49">
              <a:extLst>
                <a:ext uri="{FF2B5EF4-FFF2-40B4-BE49-F238E27FC236}">
                  <a16:creationId xmlns:a16="http://schemas.microsoft.com/office/drawing/2014/main" id="{87FB2341-E721-4505-8A79-B92247C89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" name="Picture 50" descr="Picture 50">
              <a:extLst>
                <a:ext uri="{FF2B5EF4-FFF2-40B4-BE49-F238E27FC236}">
                  <a16:creationId xmlns:a16="http://schemas.microsoft.com/office/drawing/2014/main" id="{EC58DE55-8AC6-4B8A-ABA0-25CF214E5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3" name="Group 56">
            <a:extLst>
              <a:ext uri="{FF2B5EF4-FFF2-40B4-BE49-F238E27FC236}">
                <a16:creationId xmlns:a16="http://schemas.microsoft.com/office/drawing/2014/main" id="{E2BA3444-7EAA-45D7-8B69-C13D84DA44C5}"/>
              </a:ext>
            </a:extLst>
          </p:cNvPr>
          <p:cNvGrpSpPr/>
          <p:nvPr/>
        </p:nvGrpSpPr>
        <p:grpSpPr>
          <a:xfrm>
            <a:off x="2929644" y="2362068"/>
            <a:ext cx="650334" cy="431623"/>
            <a:chOff x="0" y="0"/>
            <a:chExt cx="351939" cy="376407"/>
          </a:xfrm>
        </p:grpSpPr>
        <p:pic>
          <p:nvPicPr>
            <p:cNvPr id="24" name="Picture 47" descr="Picture 47">
              <a:extLst>
                <a:ext uri="{FF2B5EF4-FFF2-40B4-BE49-F238E27FC236}">
                  <a16:creationId xmlns:a16="http://schemas.microsoft.com/office/drawing/2014/main" id="{ACCBEAF9-94CF-4BD5-B1AA-FA98FEB16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" name="Picture 48" descr="Picture 48">
              <a:extLst>
                <a:ext uri="{FF2B5EF4-FFF2-40B4-BE49-F238E27FC236}">
                  <a16:creationId xmlns:a16="http://schemas.microsoft.com/office/drawing/2014/main" id="{8CE09347-4806-4E1E-86DF-932DE0740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" name="Picture 49" descr="Picture 49">
              <a:extLst>
                <a:ext uri="{FF2B5EF4-FFF2-40B4-BE49-F238E27FC236}">
                  <a16:creationId xmlns:a16="http://schemas.microsoft.com/office/drawing/2014/main" id="{26BAADD9-13C2-4BE0-A510-8959BCC79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" name="Picture 50" descr="Picture 50">
              <a:extLst>
                <a:ext uri="{FF2B5EF4-FFF2-40B4-BE49-F238E27FC236}">
                  <a16:creationId xmlns:a16="http://schemas.microsoft.com/office/drawing/2014/main" id="{5AF76255-014E-422B-B04D-5E241BC12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" name="Group 56">
            <a:extLst>
              <a:ext uri="{FF2B5EF4-FFF2-40B4-BE49-F238E27FC236}">
                <a16:creationId xmlns:a16="http://schemas.microsoft.com/office/drawing/2014/main" id="{F47969A8-1C62-4297-AC64-32A0E96D4FEE}"/>
              </a:ext>
            </a:extLst>
          </p:cNvPr>
          <p:cNvGrpSpPr/>
          <p:nvPr/>
        </p:nvGrpSpPr>
        <p:grpSpPr>
          <a:xfrm>
            <a:off x="3736517" y="2356289"/>
            <a:ext cx="650334" cy="431623"/>
            <a:chOff x="0" y="0"/>
            <a:chExt cx="351939" cy="376407"/>
          </a:xfrm>
        </p:grpSpPr>
        <p:pic>
          <p:nvPicPr>
            <p:cNvPr id="29" name="Picture 47" descr="Picture 47">
              <a:extLst>
                <a:ext uri="{FF2B5EF4-FFF2-40B4-BE49-F238E27FC236}">
                  <a16:creationId xmlns:a16="http://schemas.microsoft.com/office/drawing/2014/main" id="{09AAC260-2AEA-4D62-B8CB-E22268A8E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" name="Picture 48" descr="Picture 48">
              <a:extLst>
                <a:ext uri="{FF2B5EF4-FFF2-40B4-BE49-F238E27FC236}">
                  <a16:creationId xmlns:a16="http://schemas.microsoft.com/office/drawing/2014/main" id="{61319458-775B-4293-99E1-A8FBABD1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" name="Picture 49" descr="Picture 49">
              <a:extLst>
                <a:ext uri="{FF2B5EF4-FFF2-40B4-BE49-F238E27FC236}">
                  <a16:creationId xmlns:a16="http://schemas.microsoft.com/office/drawing/2014/main" id="{AAEB6C18-48EE-41A9-B1FD-79A6F32B6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" name="Picture 50" descr="Picture 50">
              <a:extLst>
                <a:ext uri="{FF2B5EF4-FFF2-40B4-BE49-F238E27FC236}">
                  <a16:creationId xmlns:a16="http://schemas.microsoft.com/office/drawing/2014/main" id="{C93057E7-A7DD-45E9-8941-D9C7454A2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" name="Group 56">
            <a:extLst>
              <a:ext uri="{FF2B5EF4-FFF2-40B4-BE49-F238E27FC236}">
                <a16:creationId xmlns:a16="http://schemas.microsoft.com/office/drawing/2014/main" id="{F205B9B5-44A9-4DB9-B45E-E93B4BB199A6}"/>
              </a:ext>
            </a:extLst>
          </p:cNvPr>
          <p:cNvGrpSpPr/>
          <p:nvPr/>
        </p:nvGrpSpPr>
        <p:grpSpPr>
          <a:xfrm>
            <a:off x="3742321" y="3004223"/>
            <a:ext cx="650334" cy="431621"/>
            <a:chOff x="0" y="0"/>
            <a:chExt cx="351939" cy="376407"/>
          </a:xfrm>
        </p:grpSpPr>
        <p:pic>
          <p:nvPicPr>
            <p:cNvPr id="34" name="Picture 47" descr="Picture 47">
              <a:extLst>
                <a:ext uri="{FF2B5EF4-FFF2-40B4-BE49-F238E27FC236}">
                  <a16:creationId xmlns:a16="http://schemas.microsoft.com/office/drawing/2014/main" id="{028E9341-FA79-4B3A-BE35-81B844916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" name="Picture 48" descr="Picture 48">
              <a:extLst>
                <a:ext uri="{FF2B5EF4-FFF2-40B4-BE49-F238E27FC236}">
                  <a16:creationId xmlns:a16="http://schemas.microsoft.com/office/drawing/2014/main" id="{CBCBDAF9-6938-449C-9FDC-4D96E6F29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6" name="Picture 49" descr="Picture 49">
              <a:extLst>
                <a:ext uri="{FF2B5EF4-FFF2-40B4-BE49-F238E27FC236}">
                  <a16:creationId xmlns:a16="http://schemas.microsoft.com/office/drawing/2014/main" id="{902391A7-A973-4C52-BB47-C24F9A5AA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" name="Picture 50" descr="Picture 50">
              <a:extLst>
                <a:ext uri="{FF2B5EF4-FFF2-40B4-BE49-F238E27FC236}">
                  <a16:creationId xmlns:a16="http://schemas.microsoft.com/office/drawing/2014/main" id="{94BCEE89-23EE-4CD9-99B6-AEB69ABD6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7840FC3-EB87-4160-89DB-61631F2E9827}"/>
              </a:ext>
            </a:extLst>
          </p:cNvPr>
          <p:cNvSpPr txBox="1"/>
          <p:nvPr/>
        </p:nvSpPr>
        <p:spPr>
          <a:xfrm>
            <a:off x="1620448" y="3758932"/>
            <a:ext cx="4099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0" dirty="0">
                <a:solidFill>
                  <a:srgbClr val="222222"/>
                </a:solidFill>
              </a:rPr>
              <a:t>Installed </a:t>
            </a:r>
            <a:r>
              <a:rPr lang="en-AU" sz="1800" dirty="0"/>
              <a:t>DRAM (Dynamic Random-Access Memory) Capacity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0997FF-9304-4730-A188-A5B9564374CB}"/>
              </a:ext>
            </a:extLst>
          </p:cNvPr>
          <p:cNvSpPr txBox="1"/>
          <p:nvPr/>
        </p:nvSpPr>
        <p:spPr>
          <a:xfrm>
            <a:off x="5367051" y="1516598"/>
            <a:ext cx="277637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AU" sz="2000" b="1" dirty="0">
                <a:solidFill>
                  <a:srgbClr val="222222"/>
                </a:solidFill>
              </a:rPr>
              <a:t>Example</a:t>
            </a:r>
            <a:endParaRPr sz="2000" b="1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06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6582" y="1417320"/>
            <a:ext cx="2493818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Virtual </a:t>
            </a:r>
            <a:r>
              <a:rPr lang="en-AU" dirty="0">
                <a:solidFill>
                  <a:srgbClr val="FFFFFF"/>
                </a:solidFill>
              </a:rPr>
              <a:t>memory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83280" y="1417320"/>
            <a:ext cx="2743200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Memory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3657600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lang="en-AU" dirty="0">
                <a:solidFill>
                  <a:srgbClr val="FFFFFF"/>
                </a:solidFill>
              </a:rPr>
              <a:t>Current</a:t>
            </a:r>
            <a:r>
              <a:rPr dirty="0">
                <a:solidFill>
                  <a:srgbClr val="FFFFFF"/>
                </a:solidFill>
              </a:rPr>
              <a:t>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6582" y="1920240"/>
            <a:ext cx="2493818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0: </a:t>
            </a:r>
            <a:r>
              <a:rPr lang="en-AU" dirty="0"/>
              <a:t>program </a:t>
            </a:r>
            <a:r>
              <a:rPr dirty="0"/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920240"/>
            <a:ext cx="27432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t>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36576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physical page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6582" y="2578608"/>
            <a:ext cx="2493818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1: </a:t>
            </a:r>
            <a:r>
              <a:rPr lang="en-AU" dirty="0"/>
              <a:t>variables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383280" y="2578608"/>
            <a:ext cx="27432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t>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78608"/>
            <a:ext cx="36576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physical page 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6582" y="3236976"/>
            <a:ext cx="2493818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2: library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236976"/>
            <a:ext cx="27432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t>not present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236976"/>
            <a:ext cx="36576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disk: </a:t>
            </a:r>
            <a:r>
              <a:rPr lang="en-AU" dirty="0"/>
              <a:t>library file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706582" y="3895344"/>
            <a:ext cx="2493818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3: unused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895344"/>
            <a:ext cx="2743200" cy="566928"/>
          </a:xfrm>
          <a:prstGeom prst="rect">
            <a:avLst/>
          </a:prstGeom>
          <a:noFill/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map </a:t>
            </a:r>
            <a:r>
              <a:rPr dirty="0"/>
              <a:t>not allocated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95344"/>
            <a:ext cx="36576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no real storage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56D2C19-8823-4897-8FEE-7E579AC73098}"/>
              </a:ext>
            </a:extLst>
          </p:cNvPr>
          <p:cNvSpPr txBox="1">
            <a:spLocks/>
          </p:cNvSpPr>
          <p:nvPr/>
        </p:nvSpPr>
        <p:spPr>
          <a:xfrm>
            <a:off x="415880" y="248313"/>
            <a:ext cx="3939255" cy="695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Virtual memory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0947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10779"/>
            <a:ext cx="7049954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800" b="0">
                <a:solidFill>
                  <a:srgbClr val="1E1E1E"/>
                </a:solidFill>
                <a:latin typeface="Arial"/>
              </a:defRPr>
            </a:pPr>
            <a:r>
              <a:rPr dirty="0"/>
              <a:t>Suppose the </a:t>
            </a:r>
            <a:r>
              <a:rPr lang="en-AU" dirty="0"/>
              <a:t>process</a:t>
            </a:r>
            <a:r>
              <a:rPr dirty="0"/>
              <a:t> calls </a:t>
            </a:r>
            <a:r>
              <a:rPr lang="en-US" sz="1800" dirty="0">
                <a:solidFill>
                  <a:srgbClr val="1E1E1E"/>
                </a:solidFill>
                <a:latin typeface="Arial"/>
              </a:rPr>
              <a:t>boto3.client() </a:t>
            </a:r>
            <a:r>
              <a:rPr sz="1800" dirty="0">
                <a:solidFill>
                  <a:srgbClr val="1E1E1E"/>
                </a:solidFill>
                <a:latin typeface="Arial"/>
              </a:rPr>
              <a:t>for </a:t>
            </a:r>
            <a:r>
              <a:rPr dirty="0"/>
              <a:t>the first time</a:t>
            </a:r>
            <a:r>
              <a:rPr lang="en-AU" dirty="0"/>
              <a:t>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1488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Virtual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17320"/>
            <a:ext cx="23774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1417320"/>
            <a:ext cx="28346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Before</a:t>
            </a:r>
            <a:r>
              <a:rPr lang="en-AU" dirty="0"/>
              <a:t> the</a:t>
            </a:r>
            <a:r>
              <a:rPr dirty="0"/>
              <a:t>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417320"/>
            <a:ext cx="310896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page 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56231"/>
            <a:ext cx="21488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t>page 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56231"/>
            <a:ext cx="23774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program</a:t>
            </a:r>
            <a:r>
              <a:rPr dirty="0"/>
              <a:t>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856231"/>
            <a:ext cx="28346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5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8001000" y="1856231"/>
            <a:ext cx="31089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5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21488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t>page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542032"/>
            <a:ext cx="23774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variables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166360" y="2542032"/>
            <a:ext cx="28346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9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01000" y="2542032"/>
            <a:ext cx="3108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9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40080" y="3227832"/>
            <a:ext cx="21488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dirty="0"/>
              <a:t>page </a:t>
            </a:r>
            <a:r>
              <a:rPr lang="en-AU" dirty="0"/>
              <a:t>2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2788920" y="3227832"/>
            <a:ext cx="23774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boto3.client</a:t>
            </a:r>
            <a:r>
              <a:rPr dirty="0"/>
              <a:t>()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3227832"/>
            <a:ext cx="28346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dirty="0"/>
              <a:t>not present; on disk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227832"/>
            <a:ext cx="310896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zh-CN" altLang="en-US" sz="1300" b="1" dirty="0">
                <a:solidFill>
                  <a:srgbClr val="FF0000"/>
                </a:solidFill>
                <a:latin typeface="Arial"/>
              </a:rPr>
              <a:t>？</a:t>
            </a:r>
            <a:endParaRPr sz="1300" b="1" dirty="0">
              <a:solidFill>
                <a:srgbClr val="FF0000"/>
              </a:solidFill>
              <a:latin typeface="Arial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508760" y="4343400"/>
            <a:ext cx="1325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0520" y="4343400"/>
            <a:ext cx="1325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3977639"/>
            <a:ext cx="1508760" cy="685800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400" b="1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Process </a:t>
            </a:r>
            <a:r>
              <a:rPr dirty="0"/>
              <a:t>call</a:t>
            </a:r>
            <a:r>
              <a:rPr lang="en-AU" dirty="0"/>
              <a:t>s</a:t>
            </a:r>
            <a:r>
              <a:rPr dirty="0"/>
              <a:t> 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boto3.client() 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2834640" y="3977639"/>
            <a:ext cx="1508760" cy="6858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4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400" b="1">
                <a:solidFill>
                  <a:srgbClr val="1E1E1E"/>
                </a:solidFill>
                <a:latin typeface="Arial"/>
              </a:defRPr>
            </a:pPr>
            <a:r>
              <a:rPr dirty="0"/>
              <a:t>page fault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EEF2683-E783-4847-9ED3-371D13CE9364}"/>
              </a:ext>
            </a:extLst>
          </p:cNvPr>
          <p:cNvSpPr txBox="1">
            <a:spLocks/>
          </p:cNvSpPr>
          <p:nvPr/>
        </p:nvSpPr>
        <p:spPr>
          <a:xfrm>
            <a:off x="435792" y="127852"/>
            <a:ext cx="4706256" cy="6952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On-demand Paging</a:t>
            </a:r>
            <a:endParaRPr lang="en-US" sz="32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CF87E3-F9A6-4936-ACC0-4AC431BD163C}"/>
              </a:ext>
            </a:extLst>
          </p:cNvPr>
          <p:cNvSpPr/>
          <p:nvPr/>
        </p:nvSpPr>
        <p:spPr>
          <a:xfrm>
            <a:off x="2271848" y="5029200"/>
            <a:ext cx="2743200" cy="566928"/>
          </a:xfrm>
          <a:prstGeom prst="rect">
            <a:avLst/>
          </a:prstGeom>
          <a:noFill/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b="1" dirty="0">
                <a:solidFill>
                  <a:srgbClr val="FF0000"/>
                </a:solidFill>
              </a:rPr>
              <a:t>Crash?</a:t>
            </a:r>
            <a:endParaRPr b="1" dirty="0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FE0214-5454-4483-8CEC-311F9E801E6A}"/>
              </a:ext>
            </a:extLst>
          </p:cNvPr>
          <p:cNvCxnSpPr>
            <a:stCxn id="29" idx="0"/>
            <a:endCxn id="24" idx="2"/>
          </p:cNvCxnSpPr>
          <p:nvPr/>
        </p:nvCxnSpPr>
        <p:spPr>
          <a:xfrm flipH="1" flipV="1">
            <a:off x="3589020" y="4663439"/>
            <a:ext cx="54428" cy="365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17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282828"/>
                </a:solidFill>
              </a:rPr>
              <a:t>Page 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5800" y="99394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1" dirty="0">
                <a:solidFill>
                  <a:srgbClr val="282828"/>
                </a:solidFill>
              </a:rPr>
              <a:t>A process </a:t>
            </a:r>
            <a:r>
              <a:rPr sz="1400" b="1" dirty="0">
                <a:solidFill>
                  <a:srgbClr val="282828"/>
                </a:solidFill>
              </a:rPr>
              <a:t>virtual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95270" y="1443757"/>
            <a:ext cx="2651760" cy="776212"/>
          </a:xfrm>
          <a:prstGeom prst="rect">
            <a:avLst/>
          </a:prstGeom>
          <a:solidFill>
            <a:srgbClr val="FCE4D6"/>
          </a:solidFill>
          <a:ln w="15240">
            <a:solidFill>
              <a:srgbClr val="C4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sz="1400" b="0" dirty="0">
                <a:solidFill>
                  <a:srgbClr val="282828"/>
                </a:solidFill>
              </a:rPr>
              <a:t>page-fault handler</a:t>
            </a:r>
            <a:endParaRPr lang="en-AU" sz="1400" b="0" dirty="0">
              <a:solidFill>
                <a:srgbClr val="282828"/>
              </a:solidFill>
            </a:endParaRPr>
          </a:p>
          <a:p>
            <a:pPr algn="ctr"/>
            <a:r>
              <a:rPr lang="en-AU" sz="1400" dirty="0">
                <a:solidFill>
                  <a:srgbClr val="282828"/>
                </a:solidFill>
              </a:rPr>
              <a:t>(OS kernel)</a:t>
            </a:r>
            <a:endParaRPr sz="1400" b="0" dirty="0">
              <a:solidFill>
                <a:srgbClr val="28282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95270" y="2283977"/>
            <a:ext cx="2651760" cy="521208"/>
          </a:xfrm>
          <a:prstGeom prst="rect">
            <a:avLst/>
          </a:prstGeom>
          <a:solidFill>
            <a:srgbClr val="F2F2F2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 lnSpcReduction="10000"/>
          </a:bodyPr>
          <a:lstStyle/>
          <a:p>
            <a:pPr algn="ctr"/>
            <a:r>
              <a:rPr sz="1400" b="0" dirty="0">
                <a:solidFill>
                  <a:srgbClr val="282828"/>
                </a:solidFill>
              </a:rPr>
              <a:t>Unused / reserved</a:t>
            </a:r>
          </a:p>
          <a:p>
            <a:pPr algn="ctr"/>
            <a:r>
              <a:rPr sz="1400" b="0" dirty="0">
                <a:solidFill>
                  <a:srgbClr val="282828"/>
                </a:solidFill>
              </a:rPr>
              <a:t>...</a:t>
            </a:r>
            <a:endParaRPr sz="1100" b="0" dirty="0">
              <a:solidFill>
                <a:srgbClr val="28282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270" y="2906503"/>
            <a:ext cx="2651760" cy="758217"/>
          </a:xfrm>
          <a:prstGeom prst="rect">
            <a:avLst/>
          </a:prstGeom>
          <a:solidFill>
            <a:srgbClr val="DEEBF7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/>
            <a:r>
              <a:rPr lang="en-AU" sz="1400" dirty="0">
                <a:solidFill>
                  <a:srgbClr val="282828"/>
                </a:solidFill>
              </a:rPr>
              <a:t>program</a:t>
            </a:r>
            <a:r>
              <a:rPr sz="1400" dirty="0">
                <a:solidFill>
                  <a:srgbClr val="282828"/>
                </a:solidFill>
              </a:rPr>
              <a:t> code</a:t>
            </a:r>
            <a:r>
              <a:rPr lang="en-AU" sz="1400" dirty="0">
                <a:solidFill>
                  <a:srgbClr val="282828"/>
                </a:solidFill>
              </a:rPr>
              <a:t>, </a:t>
            </a:r>
            <a:r>
              <a:rPr sz="1400" dirty="0">
                <a:solidFill>
                  <a:srgbClr val="282828"/>
                </a:solidFill>
              </a:rPr>
              <a:t>data</a:t>
            </a:r>
            <a:r>
              <a:rPr lang="en-AU" sz="1400" dirty="0">
                <a:solidFill>
                  <a:srgbClr val="282828"/>
                </a:solidFill>
              </a:rPr>
              <a:t> and libraries</a:t>
            </a:r>
            <a:endParaRPr sz="1400" dirty="0">
              <a:solidFill>
                <a:srgbClr val="282828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313352" y="1899929"/>
            <a:ext cx="2057400" cy="960120"/>
          </a:xfrm>
          <a:prstGeom prst="ellipse">
            <a:avLst/>
          </a:prstGeom>
          <a:solidFill>
            <a:srgbClr val="21BC9C"/>
          </a:solidFill>
          <a:ln w="19050">
            <a:solidFill>
              <a:srgbClr val="008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CPU</a:t>
            </a:r>
          </a:p>
          <a:p>
            <a:pPr algn="ctr"/>
            <a:r>
              <a:rPr sz="1200" dirty="0">
                <a:solidFill>
                  <a:srgbClr val="FFFFFF"/>
                </a:solidFill>
              </a:rPr>
              <a:t>detects page fault</a:t>
            </a:r>
          </a:p>
        </p:txBody>
      </p:sp>
      <p:cxnSp>
        <p:nvCxnSpPr>
          <p:cNvPr id="18" name="Connector 17"/>
          <p:cNvCxnSpPr>
            <a:cxnSpLocks/>
            <a:stCxn id="10" idx="3"/>
            <a:endCxn id="8" idx="3"/>
          </p:cNvCxnSpPr>
          <p:nvPr/>
        </p:nvCxnSpPr>
        <p:spPr>
          <a:xfrm flipH="1">
            <a:off x="7447030" y="2719443"/>
            <a:ext cx="2167621" cy="566169"/>
          </a:xfrm>
          <a:prstGeom prst="line">
            <a:avLst/>
          </a:prstGeom>
          <a:ln w="25400">
            <a:solidFill>
              <a:srgbClr val="E63737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5" idx="3"/>
            <a:endCxn id="10" idx="2"/>
          </p:cNvCxnSpPr>
          <p:nvPr/>
        </p:nvCxnSpPr>
        <p:spPr>
          <a:xfrm>
            <a:off x="7447030" y="1831863"/>
            <a:ext cx="1866322" cy="548126"/>
          </a:xfrm>
          <a:prstGeom prst="line">
            <a:avLst/>
          </a:prstGeom>
          <a:ln w="25400">
            <a:solidFill>
              <a:srgbClr val="E637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4799" y="2124775"/>
            <a:ext cx="1866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>
                <a:solidFill>
                  <a:srgbClr val="282828"/>
                </a:solidFill>
              </a:rPr>
              <a:t>executes the </a:t>
            </a:r>
            <a:r>
              <a:rPr sz="1400" dirty="0">
                <a:solidFill>
                  <a:srgbClr val="282828"/>
                </a:solidFill>
              </a:rPr>
              <a:t>handler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5CF2CF-DA42-47DF-AF79-88DA983AFC6A}"/>
              </a:ext>
            </a:extLst>
          </p:cNvPr>
          <p:cNvSpPr txBox="1"/>
          <p:nvPr/>
        </p:nvSpPr>
        <p:spPr>
          <a:xfrm>
            <a:off x="7433807" y="2533870"/>
            <a:ext cx="1879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>
                <a:solidFill>
                  <a:srgbClr val="282828"/>
                </a:solidFill>
              </a:rPr>
              <a:t>pause </a:t>
            </a:r>
            <a:r>
              <a:rPr lang="en-AU" sz="1400" b="0" dirty="0">
                <a:solidFill>
                  <a:srgbClr val="282828"/>
                </a:solidFill>
              </a:rPr>
              <a:t>program execution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FDCB2D-9DC7-46A4-953D-0652250011C3}"/>
              </a:ext>
            </a:extLst>
          </p:cNvPr>
          <p:cNvSpPr txBox="1"/>
          <p:nvPr/>
        </p:nvSpPr>
        <p:spPr>
          <a:xfrm>
            <a:off x="7913630" y="3245784"/>
            <a:ext cx="1879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>
                <a:solidFill>
                  <a:srgbClr val="282828"/>
                </a:solidFill>
              </a:rPr>
              <a:t>resume </a:t>
            </a:r>
            <a:r>
              <a:rPr lang="en-AU" sz="1400" b="0" dirty="0">
                <a:solidFill>
                  <a:srgbClr val="282828"/>
                </a:solidFill>
              </a:rPr>
              <a:t>program execution</a:t>
            </a:r>
          </a:p>
        </p:txBody>
      </p:sp>
      <p:cxnSp>
        <p:nvCxnSpPr>
          <p:cNvPr id="44" name="Connector 18">
            <a:extLst>
              <a:ext uri="{FF2B5EF4-FFF2-40B4-BE49-F238E27FC236}">
                <a16:creationId xmlns:a16="http://schemas.microsoft.com/office/drawing/2014/main" id="{FC8F4095-2CA6-4F7E-9EBE-ECF5AD739734}"/>
              </a:ext>
            </a:extLst>
          </p:cNvPr>
          <p:cNvCxnSpPr>
            <a:cxnSpLocks/>
          </p:cNvCxnSpPr>
          <p:nvPr/>
        </p:nvCxnSpPr>
        <p:spPr>
          <a:xfrm flipH="1">
            <a:off x="7447030" y="2805185"/>
            <a:ext cx="2377886" cy="679469"/>
          </a:xfrm>
          <a:prstGeom prst="line">
            <a:avLst/>
          </a:prstGeom>
          <a:ln w="25400">
            <a:solidFill>
              <a:srgbClr val="E63737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8">
            <a:extLst>
              <a:ext uri="{FF2B5EF4-FFF2-40B4-BE49-F238E27FC236}">
                <a16:creationId xmlns:a16="http://schemas.microsoft.com/office/drawing/2014/main" id="{CBD87020-7F66-447B-997D-5BB4CEA11807}"/>
              </a:ext>
            </a:extLst>
          </p:cNvPr>
          <p:cNvCxnSpPr>
            <a:cxnSpLocks/>
          </p:cNvCxnSpPr>
          <p:nvPr/>
        </p:nvCxnSpPr>
        <p:spPr>
          <a:xfrm flipH="1" flipV="1">
            <a:off x="7447030" y="1606590"/>
            <a:ext cx="1961861" cy="642930"/>
          </a:xfrm>
          <a:prstGeom prst="line">
            <a:avLst/>
          </a:prstGeom>
          <a:ln w="25400">
            <a:solidFill>
              <a:srgbClr val="E63737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F60073E-0E9C-4831-BD3F-BE5B4E2B739F}"/>
              </a:ext>
            </a:extLst>
          </p:cNvPr>
          <p:cNvSpPr txBox="1"/>
          <p:nvPr/>
        </p:nvSpPr>
        <p:spPr>
          <a:xfrm>
            <a:off x="7696200" y="1504967"/>
            <a:ext cx="2450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>
                <a:solidFill>
                  <a:srgbClr val="282828"/>
                </a:solidFill>
              </a:rPr>
              <a:t>return from the </a:t>
            </a:r>
            <a:r>
              <a:rPr sz="1400" dirty="0">
                <a:solidFill>
                  <a:srgbClr val="282828"/>
                </a:solidFill>
              </a:rPr>
              <a:t>handler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0CACB7-29C5-4B31-ADC3-D133B13C0094}"/>
              </a:ext>
            </a:extLst>
          </p:cNvPr>
          <p:cNvSpPr/>
          <p:nvPr/>
        </p:nvSpPr>
        <p:spPr>
          <a:xfrm>
            <a:off x="1512466" y="2283977"/>
            <a:ext cx="2743200" cy="505140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lang="en-AU" sz="1400" dirty="0">
                <a:solidFill>
                  <a:srgbClr val="1E1E1E"/>
                </a:solidFill>
                <a:latin typeface="Arial"/>
              </a:rPr>
              <a:t>not </a:t>
            </a:r>
            <a:r>
              <a:rPr sz="1400" dirty="0">
                <a:solidFill>
                  <a:srgbClr val="1E1E1E"/>
                </a:solidFill>
                <a:latin typeface="Arial"/>
              </a:rPr>
              <a:t>present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58DAA7-C9DD-4C35-9DEF-50C44B689679}"/>
              </a:ext>
            </a:extLst>
          </p:cNvPr>
          <p:cNvSpPr/>
          <p:nvPr/>
        </p:nvSpPr>
        <p:spPr>
          <a:xfrm>
            <a:off x="1504424" y="3245785"/>
            <a:ext cx="2743200" cy="418936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not present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43793D-5DE6-4F70-940F-78D69A74773B}"/>
              </a:ext>
            </a:extLst>
          </p:cNvPr>
          <p:cNvSpPr/>
          <p:nvPr/>
        </p:nvSpPr>
        <p:spPr>
          <a:xfrm>
            <a:off x="1512466" y="2906503"/>
            <a:ext cx="2743200" cy="339281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t>present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8556DFE-B16A-4AE9-B616-C3D0D55A06DE}"/>
              </a:ext>
            </a:extLst>
          </p:cNvPr>
          <p:cNvSpPr/>
          <p:nvPr/>
        </p:nvSpPr>
        <p:spPr>
          <a:xfrm>
            <a:off x="1512467" y="1443757"/>
            <a:ext cx="2735158" cy="776212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present</a:t>
            </a:r>
            <a:endParaRPr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C06EE1-3299-45A4-AB52-5EF089BA8645}"/>
              </a:ext>
            </a:extLst>
          </p:cNvPr>
          <p:cNvSpPr txBox="1"/>
          <p:nvPr/>
        </p:nvSpPr>
        <p:spPr>
          <a:xfrm>
            <a:off x="1512466" y="969521"/>
            <a:ext cx="2756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1" dirty="0">
                <a:solidFill>
                  <a:srgbClr val="282828"/>
                </a:solidFill>
              </a:rPr>
              <a:t>memory map</a:t>
            </a:r>
            <a:endParaRPr sz="1400" b="1" dirty="0">
              <a:solidFill>
                <a:srgbClr val="2828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480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10779"/>
            <a:ext cx="7049954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800" b="0">
                <a:solidFill>
                  <a:srgbClr val="1E1E1E"/>
                </a:solidFill>
                <a:latin typeface="Arial"/>
              </a:defRPr>
            </a:pPr>
            <a:r>
              <a:rPr dirty="0"/>
              <a:t>Suppose the </a:t>
            </a:r>
            <a:r>
              <a:rPr lang="en-AU" dirty="0"/>
              <a:t>process</a:t>
            </a:r>
            <a:r>
              <a:rPr dirty="0"/>
              <a:t> calls </a:t>
            </a:r>
            <a:r>
              <a:rPr lang="en-US" sz="1800" dirty="0">
                <a:solidFill>
                  <a:srgbClr val="1E1E1E"/>
                </a:solidFill>
                <a:latin typeface="Arial"/>
              </a:rPr>
              <a:t>boto3.client() </a:t>
            </a:r>
            <a:r>
              <a:rPr sz="1800" dirty="0">
                <a:solidFill>
                  <a:srgbClr val="1E1E1E"/>
                </a:solidFill>
                <a:latin typeface="Arial"/>
              </a:rPr>
              <a:t>for </a:t>
            </a:r>
            <a:r>
              <a:rPr dirty="0"/>
              <a:t>the first time</a:t>
            </a:r>
            <a:r>
              <a:rPr lang="en-AU" dirty="0"/>
              <a:t>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1488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Virtual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17320"/>
            <a:ext cx="23774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1417320"/>
            <a:ext cx="283464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Before</a:t>
            </a:r>
            <a:r>
              <a:rPr lang="en-AU" dirty="0"/>
              <a:t> the</a:t>
            </a:r>
            <a:r>
              <a:rPr dirty="0"/>
              <a:t>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417320"/>
            <a:ext cx="3108960" cy="438912"/>
          </a:xfrm>
          <a:prstGeom prst="rect">
            <a:avLst/>
          </a:prstGeom>
          <a:solidFill>
            <a:srgbClr val="3C4655"/>
          </a:solidFill>
          <a:ln w="1270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After page 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56231"/>
            <a:ext cx="21488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t>page 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56231"/>
            <a:ext cx="23774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program</a:t>
            </a:r>
            <a:r>
              <a:rPr dirty="0"/>
              <a:t>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856231"/>
            <a:ext cx="283464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5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8001000" y="1856231"/>
            <a:ext cx="3108960" cy="566928"/>
          </a:xfrm>
          <a:prstGeom prst="rect">
            <a:avLst/>
          </a:prstGeom>
          <a:solidFill>
            <a:srgbClr val="FAFAF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5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21488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t>page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542032"/>
            <a:ext cx="23774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variables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166360" y="2542032"/>
            <a:ext cx="28346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9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01000" y="2542032"/>
            <a:ext cx="3108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9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640080" y="3227832"/>
            <a:ext cx="21488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dirty="0"/>
              <a:t>page </a:t>
            </a:r>
            <a:r>
              <a:rPr lang="en-AU" dirty="0"/>
              <a:t>2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2788920" y="3227832"/>
            <a:ext cx="23774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US" sz="1400" dirty="0">
                <a:solidFill>
                  <a:srgbClr val="1E1E1E"/>
                </a:solidFill>
                <a:latin typeface="Arial"/>
              </a:rPr>
              <a:t>boto3.client</a:t>
            </a:r>
            <a:r>
              <a:rPr dirty="0"/>
              <a:t>()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3227832"/>
            <a:ext cx="283464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t>not present; on disk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227832"/>
            <a:ext cx="3108960" cy="566928"/>
          </a:xfrm>
          <a:prstGeom prst="rect">
            <a:avLst/>
          </a:prstGeom>
          <a:solidFill>
            <a:srgbClr val="FFF7E1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physical page </a:t>
            </a:r>
            <a:r>
              <a:rPr dirty="0"/>
              <a:t>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08760" y="4343400"/>
            <a:ext cx="1325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0520" y="4343400"/>
            <a:ext cx="132588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6812280" y="4343400"/>
            <a:ext cx="118872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3977639"/>
            <a:ext cx="1508760" cy="685800"/>
          </a:xfrm>
          <a:prstGeom prst="roundRect">
            <a:avLst/>
          </a:prstGeom>
          <a:solidFill>
            <a:srgbClr val="E7F3FF"/>
          </a:solidFill>
          <a:ln w="12700">
            <a:solidFill>
              <a:srgbClr val="40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400" b="1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Process </a:t>
            </a:r>
            <a:r>
              <a:rPr dirty="0"/>
              <a:t>call</a:t>
            </a:r>
            <a:r>
              <a:rPr lang="en-AU" dirty="0"/>
              <a:t>s</a:t>
            </a:r>
            <a:r>
              <a:rPr dirty="0"/>
              <a:t> 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boto3.client() 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2834640" y="3977639"/>
            <a:ext cx="1508760" cy="6858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4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400" b="1">
                <a:solidFill>
                  <a:srgbClr val="1E1E1E"/>
                </a:solidFill>
                <a:latin typeface="Arial"/>
              </a:defRPr>
            </a:pPr>
            <a:r>
              <a:rPr dirty="0"/>
              <a:t>page 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977639"/>
            <a:ext cx="1508760" cy="685800"/>
          </a:xfrm>
          <a:prstGeom prst="roundRect">
            <a:avLst/>
          </a:prstGeom>
          <a:solidFill>
            <a:srgbClr val="E8F8EA"/>
          </a:solidFill>
          <a:ln w="12700">
            <a:solidFill>
              <a:srgbClr val="52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rPr dirty="0"/>
              <a:t>load </a:t>
            </a:r>
            <a:r>
              <a:rPr lang="en-AU" dirty="0"/>
              <a:t>virtual </a:t>
            </a:r>
            <a:r>
              <a:rPr dirty="0"/>
              <a:t>page </a:t>
            </a:r>
            <a:r>
              <a:rPr lang="en-AU" dirty="0"/>
              <a:t>2 </a:t>
            </a:r>
            <a:r>
              <a:rPr dirty="0"/>
              <a:t>from disk</a:t>
            </a:r>
            <a:r>
              <a:rPr lang="en-AU" dirty="0"/>
              <a:t> into physical page 7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8001000" y="3977639"/>
            <a:ext cx="1508760" cy="685800"/>
          </a:xfrm>
          <a:prstGeom prst="roundRect">
            <a:avLst/>
          </a:prstGeom>
          <a:solidFill>
            <a:srgbClr val="E8F8EA"/>
          </a:solidFill>
          <a:ln w="12700">
            <a:solidFill>
              <a:srgbClr val="52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r>
              <a:rPr lang="en-AU" sz="1300" b="1" dirty="0">
                <a:solidFill>
                  <a:srgbClr val="1E1E1E"/>
                </a:solidFill>
                <a:latin typeface="Arial"/>
              </a:rPr>
              <a:t>update memory map</a:t>
            </a:r>
            <a:endParaRPr sz="13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EEF2683-E783-4847-9ED3-371D13CE9364}"/>
              </a:ext>
            </a:extLst>
          </p:cNvPr>
          <p:cNvSpPr txBox="1">
            <a:spLocks/>
          </p:cNvSpPr>
          <p:nvPr/>
        </p:nvSpPr>
        <p:spPr>
          <a:xfrm>
            <a:off x="435792" y="127852"/>
            <a:ext cx="4706256" cy="6952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On-demand Paging</a:t>
            </a:r>
            <a:endParaRPr lang="en-US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D83085-A23B-441C-98A7-F8ADCEA90D67}"/>
              </a:ext>
            </a:extLst>
          </p:cNvPr>
          <p:cNvSpPr txBox="1"/>
          <p:nvPr/>
        </p:nvSpPr>
        <p:spPr>
          <a:xfrm>
            <a:off x="576085" y="5742522"/>
            <a:ext cx="8110715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000" b="1">
                <a:solidFill>
                  <a:srgbClr val="1E1E1E"/>
                </a:solidFill>
                <a:latin typeface="Arial"/>
              </a:defRPr>
            </a:pPr>
            <a:r>
              <a:rPr sz="1800" dirty="0"/>
              <a:t>on-demand paging: the page is loaded only when it is actually </a:t>
            </a:r>
            <a:r>
              <a:rPr lang="en-AU" sz="1800" dirty="0"/>
              <a:t>accessed</a:t>
            </a:r>
            <a:r>
              <a:rPr sz="1800" dirty="0"/>
              <a:t>.</a:t>
            </a:r>
          </a:p>
        </p:txBody>
      </p:sp>
      <p:sp>
        <p:nvSpPr>
          <p:cNvPr id="30" name="Rounded Rectangle 25">
            <a:extLst>
              <a:ext uri="{FF2B5EF4-FFF2-40B4-BE49-F238E27FC236}">
                <a16:creationId xmlns:a16="http://schemas.microsoft.com/office/drawing/2014/main" id="{8B182BC0-CBD1-46CC-BE71-4DAE9498FF88}"/>
              </a:ext>
            </a:extLst>
          </p:cNvPr>
          <p:cNvSpPr/>
          <p:nvPr/>
        </p:nvSpPr>
        <p:spPr>
          <a:xfrm>
            <a:off x="10355580" y="3982571"/>
            <a:ext cx="1508760" cy="685800"/>
          </a:xfrm>
          <a:prstGeom prst="roundRect">
            <a:avLst/>
          </a:prstGeom>
          <a:solidFill>
            <a:srgbClr val="F8F2FF"/>
          </a:solidFill>
          <a:ln w="12700">
            <a:solidFill>
              <a:srgbClr val="8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 sz="1300" b="1">
                <a:solidFill>
                  <a:srgbClr val="1E1E1E"/>
                </a:solidFill>
                <a:latin typeface="Arial"/>
              </a:defRPr>
            </a:pPr>
            <a:r>
              <a:t>continue</a:t>
            </a:r>
            <a:br/>
            <a:r>
              <a:t>running</a:t>
            </a:r>
          </a:p>
        </p:txBody>
      </p:sp>
      <p:cxnSp>
        <p:nvCxnSpPr>
          <p:cNvPr id="33" name="Connector 21">
            <a:extLst>
              <a:ext uri="{FF2B5EF4-FFF2-40B4-BE49-F238E27FC236}">
                <a16:creationId xmlns:a16="http://schemas.microsoft.com/office/drawing/2014/main" id="{D57CDA61-B078-487B-9D7C-54C762088765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9509760" y="4320539"/>
            <a:ext cx="845820" cy="493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94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06582" y="1417320"/>
            <a:ext cx="2493818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Virtual </a:t>
            </a:r>
            <a:r>
              <a:rPr lang="en-AU" dirty="0">
                <a:solidFill>
                  <a:srgbClr val="FFFFFF"/>
                </a:solidFill>
              </a:rPr>
              <a:t>memory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83280" y="1417320"/>
            <a:ext cx="2743200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rgbClr val="FFFFFF"/>
                </a:solidFill>
              </a:rPr>
              <a:t>Memory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3657600" cy="502920"/>
          </a:xfrm>
          <a:prstGeom prst="rect">
            <a:avLst/>
          </a:prstGeom>
          <a:solidFill>
            <a:srgbClr val="3C4655"/>
          </a:solidFill>
          <a:ln w="15240">
            <a:solidFill>
              <a:srgbClr val="3C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lang="en-AU" dirty="0">
                <a:solidFill>
                  <a:srgbClr val="FFFFFF"/>
                </a:solidFill>
              </a:rPr>
              <a:t>Current</a:t>
            </a:r>
            <a:r>
              <a:rPr dirty="0">
                <a:solidFill>
                  <a:srgbClr val="FFFFFF"/>
                </a:solidFill>
              </a:rPr>
              <a:t>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6582" y="1920240"/>
            <a:ext cx="2493818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0: </a:t>
            </a:r>
            <a:r>
              <a:rPr lang="en-AU" dirty="0"/>
              <a:t>program </a:t>
            </a:r>
            <a:r>
              <a:rPr dirty="0"/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920240"/>
            <a:ext cx="27432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36576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physical page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6582" y="2578608"/>
            <a:ext cx="2493818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1: </a:t>
            </a:r>
            <a:r>
              <a:rPr lang="en-AU" dirty="0"/>
              <a:t>variables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383280" y="2578608"/>
            <a:ext cx="27432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t>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78608"/>
            <a:ext cx="36576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physical page 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6582" y="3236976"/>
            <a:ext cx="2493818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2: library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236976"/>
            <a:ext cx="27432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>
                <a:solidFill>
                  <a:srgbClr val="FF0000"/>
                </a:solidFill>
              </a:rPr>
              <a:t>?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0" y="3236976"/>
            <a:ext cx="3657600" cy="566928"/>
          </a:xfrm>
          <a:prstGeom prst="rect">
            <a:avLst/>
          </a:prstGeom>
          <a:solidFill>
            <a:srgbClr val="FAFAFA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>
                <a:solidFill>
                  <a:srgbClr val="FF0000"/>
                </a:solidFill>
              </a:rPr>
              <a:t>?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6582" y="3895344"/>
            <a:ext cx="2493818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Virtual </a:t>
            </a:r>
            <a:r>
              <a:rPr dirty="0"/>
              <a:t>page 3: unused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895344"/>
            <a:ext cx="2743200" cy="566928"/>
          </a:xfrm>
          <a:prstGeom prst="rect">
            <a:avLst/>
          </a:prstGeom>
          <a:noFill/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lang="en-AU" dirty="0"/>
              <a:t>map </a:t>
            </a:r>
            <a:r>
              <a:rPr dirty="0"/>
              <a:t>not allocated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95344"/>
            <a:ext cx="3657600" cy="566928"/>
          </a:xfrm>
          <a:prstGeom prst="rect">
            <a:avLst/>
          </a:prstGeom>
          <a:solidFill>
            <a:srgbClr val="F0F4F8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0">
                <a:solidFill>
                  <a:srgbClr val="1E1E1E"/>
                </a:solidFill>
                <a:latin typeface="Arial"/>
              </a:defRPr>
            </a:pPr>
            <a:r>
              <a:rPr dirty="0"/>
              <a:t>no real storage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42DD90C-95C1-4D78-9E71-3F7016371717}"/>
              </a:ext>
            </a:extLst>
          </p:cNvPr>
          <p:cNvSpPr txBox="1">
            <a:spLocks/>
          </p:cNvSpPr>
          <p:nvPr/>
        </p:nvSpPr>
        <p:spPr>
          <a:xfrm>
            <a:off x="459239" y="328692"/>
            <a:ext cx="4706256" cy="6952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dirty="0">
                <a:solidFill>
                  <a:srgbClr val="000000"/>
                </a:solidFill>
              </a:rPr>
              <a:t>On-demand Paging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1484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07575" y="1700784"/>
            <a:ext cx="1950720" cy="502920"/>
          </a:xfrm>
          <a:prstGeom prst="roundRect">
            <a:avLst/>
          </a:prstGeom>
          <a:solidFill>
            <a:srgbClr val="D6EB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en-AU" sz="1050" kern="1200" dirty="0">
              <a:solidFill>
                <a:srgbClr val="191919"/>
              </a:solidFill>
              <a:latin typeface="Arial"/>
              <a:ea typeface="+mn-ea"/>
              <a:cs typeface="+mn-cs"/>
            </a:endParaRPr>
          </a:p>
          <a:p>
            <a:pPr algn="ctr"/>
            <a:r>
              <a:rPr lang="en-AU" sz="1050" b="0" dirty="0">
                <a:solidFill>
                  <a:srgbClr val="191919"/>
                </a:solidFill>
                <a:latin typeface="Arial"/>
              </a:rPr>
              <a:t>Virtual page 0 mapped to</a:t>
            </a:r>
            <a:endParaRPr lang="en-AU" sz="1050" kern="1200" dirty="0">
              <a:solidFill>
                <a:srgbClr val="191919"/>
              </a:solidFill>
              <a:latin typeface="Arial"/>
              <a:ea typeface="+mn-ea"/>
              <a:cs typeface="+mn-cs"/>
            </a:endParaRPr>
          </a:p>
          <a:p>
            <a:pPr algn="ctr"/>
            <a:r>
              <a:rPr lang="en-AU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AU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5</a:t>
            </a:r>
            <a:r>
              <a:rPr sz="1050" b="0" dirty="0">
                <a:solidFill>
                  <a:srgbClr val="191919"/>
                </a:solidFill>
                <a:latin typeface="Arial"/>
              </a:rPr>
              <a:t>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575" y="2267712"/>
            <a:ext cx="1950720" cy="685800"/>
          </a:xfrm>
          <a:prstGeom prst="roundRect">
            <a:avLst/>
          </a:prstGeom>
          <a:solidFill>
            <a:srgbClr val="D8F2D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AU" sz="1050" b="0" dirty="0">
                <a:solidFill>
                  <a:srgbClr val="191919"/>
                </a:solidFill>
                <a:latin typeface="Arial"/>
              </a:rPr>
              <a:t>Virtual page 1 mapped to </a:t>
            </a:r>
            <a:r>
              <a:rPr lang="en-AU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AU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</a:t>
            </a:r>
            <a:r>
              <a:rPr lang="en-AU" sz="1050" b="0" dirty="0">
                <a:solidFill>
                  <a:srgbClr val="191919"/>
                </a:solidFill>
                <a:latin typeface="Arial"/>
              </a:rPr>
              <a:t>9</a:t>
            </a:r>
            <a:endParaRPr sz="105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07575" y="1127986"/>
            <a:ext cx="1950720" cy="502920"/>
          </a:xfrm>
          <a:prstGeom prst="roundRect">
            <a:avLst/>
          </a:prstGeom>
          <a:solidFill>
            <a:srgbClr val="D6EB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AU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AU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</a:t>
            </a:r>
            <a:r>
              <a:rPr lang="en-AU" sz="1050" dirty="0">
                <a:solidFill>
                  <a:srgbClr val="191919"/>
                </a:solidFill>
                <a:latin typeface="Arial"/>
              </a:rPr>
              <a:t>7</a:t>
            </a:r>
            <a:r>
              <a:rPr lang="en-AU" sz="1050" b="0" dirty="0">
                <a:solidFill>
                  <a:srgbClr val="191919"/>
                </a:solidFill>
                <a:latin typeface="Arial"/>
              </a:rPr>
              <a:t> occupied by another process</a:t>
            </a:r>
            <a:endParaRPr sz="1050" b="0" dirty="0">
              <a:solidFill>
                <a:srgbClr val="191919"/>
              </a:solidFill>
              <a:latin typeface="Arial"/>
            </a:endParaRPr>
          </a:p>
        </p:txBody>
      </p:sp>
      <p:cxnSp>
        <p:nvCxnSpPr>
          <p:cNvPr id="8" name="Connector 7"/>
          <p:cNvCxnSpPr>
            <a:cxnSpLocks/>
            <a:stCxn id="6" idx="3"/>
            <a:endCxn id="9" idx="1"/>
          </p:cNvCxnSpPr>
          <p:nvPr/>
        </p:nvCxnSpPr>
        <p:spPr>
          <a:xfrm flipV="1">
            <a:off x="2258295" y="2603026"/>
            <a:ext cx="1485453" cy="7586"/>
          </a:xfrm>
          <a:prstGeom prst="line">
            <a:avLst/>
          </a:prstGeom>
          <a:ln w="20320">
            <a:solidFill>
              <a:srgbClr val="D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3748" y="2257078"/>
            <a:ext cx="1805941" cy="691895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Swap out
inactive</a:t>
            </a:r>
            <a:r>
              <a:rPr lang="en-AU" sz="1100" b="1" dirty="0">
                <a:solidFill>
                  <a:srgbClr val="191919"/>
                </a:solidFill>
                <a:latin typeface="Arial"/>
              </a:rPr>
              <a:t> Virtual</a:t>
            </a:r>
            <a:r>
              <a:rPr sz="1100" b="1" dirty="0">
                <a:solidFill>
                  <a:srgbClr val="191919"/>
                </a:solidFill>
                <a:latin typeface="Arial"/>
              </a:rPr>
              <a:t> page 1</a:t>
            </a:r>
            <a:r>
              <a:rPr lang="en-AU" sz="1100" b="1" dirty="0">
                <a:solidFill>
                  <a:srgbClr val="191919"/>
                </a:solidFill>
                <a:latin typeface="Arial"/>
              </a:rPr>
              <a:t> to swap slot 3</a:t>
            </a:r>
            <a:endParaRPr sz="11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94105" y="2267712"/>
            <a:ext cx="1691640" cy="681261"/>
          </a:xfrm>
          <a:prstGeom prst="roundRect">
            <a:avLst/>
          </a:prstGeom>
          <a:solidFill>
            <a:srgbClr val="FFE5CC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 dirty="0">
                <a:solidFill>
                  <a:srgbClr val="191919"/>
                </a:solidFill>
                <a:latin typeface="Arial"/>
              </a:rPr>
              <a:t>Load </a:t>
            </a:r>
            <a:r>
              <a:rPr lang="en-AU" sz="1100" b="1" dirty="0">
                <a:solidFill>
                  <a:srgbClr val="191919"/>
                </a:solidFill>
                <a:latin typeface="Arial"/>
              </a:rPr>
              <a:t>Virtual </a:t>
            </a:r>
            <a:r>
              <a:rPr sz="1100" b="1" dirty="0">
                <a:solidFill>
                  <a:srgbClr val="191919"/>
                </a:solidFill>
                <a:latin typeface="Arial"/>
              </a:rPr>
              <a:t>page </a:t>
            </a:r>
            <a:r>
              <a:rPr lang="en-AU" sz="1100" b="1" dirty="0">
                <a:solidFill>
                  <a:srgbClr val="191919"/>
                </a:solidFill>
                <a:latin typeface="Arial"/>
              </a:rPr>
              <a:t>2</a:t>
            </a:r>
            <a:r>
              <a:rPr sz="1100" b="1" dirty="0">
                <a:solidFill>
                  <a:srgbClr val="191919"/>
                </a:solidFill>
                <a:latin typeface="Arial"/>
              </a:rPr>
              <a:t>
into freed </a:t>
            </a:r>
            <a:r>
              <a:rPr lang="en-AU" sz="1100" b="1" dirty="0">
                <a:solidFill>
                  <a:srgbClr val="191919"/>
                </a:solidFill>
                <a:latin typeface="Arial"/>
              </a:rPr>
              <a:t>Physical page 9</a:t>
            </a:r>
            <a:endParaRPr sz="11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92640" y="1700784"/>
            <a:ext cx="1958340" cy="502920"/>
          </a:xfrm>
          <a:prstGeom prst="roundRect">
            <a:avLst/>
          </a:prstGeom>
          <a:solidFill>
            <a:srgbClr val="D6EB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050" b="0" dirty="0">
                <a:solidFill>
                  <a:srgbClr val="191919"/>
                </a:solidFill>
                <a:latin typeface="Arial"/>
              </a:rPr>
              <a:t>Virtual page 0 mapped to</a:t>
            </a:r>
            <a:endParaRPr lang="en-US" sz="1050" kern="1200" dirty="0">
              <a:solidFill>
                <a:srgbClr val="191919"/>
              </a:solidFill>
              <a:latin typeface="Arial"/>
              <a:ea typeface="+mn-ea"/>
              <a:cs typeface="+mn-cs"/>
            </a:endParaRPr>
          </a:p>
          <a:p>
            <a:pPr algn="ctr"/>
            <a:r>
              <a:rPr lang="en-US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US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5</a:t>
            </a:r>
            <a:endParaRPr sz="105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700260" y="3016222"/>
            <a:ext cx="1958339" cy="502920"/>
          </a:xfrm>
          <a:prstGeom prst="roundRect">
            <a:avLst/>
          </a:prstGeom>
          <a:solidFill>
            <a:srgbClr val="FFEFB2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050" b="0" dirty="0">
                <a:solidFill>
                  <a:srgbClr val="191919"/>
                </a:solidFill>
                <a:latin typeface="Arial"/>
              </a:rPr>
              <a:t>Virtual page 2 mapped to</a:t>
            </a:r>
            <a:endParaRPr lang="en-US" sz="1050" kern="1200" dirty="0">
              <a:solidFill>
                <a:srgbClr val="191919"/>
              </a:solidFill>
              <a:latin typeface="Arial"/>
              <a:ea typeface="+mn-ea"/>
              <a:cs typeface="+mn-cs"/>
            </a:endParaRPr>
          </a:p>
          <a:p>
            <a:pPr algn="ctr"/>
            <a:r>
              <a:rPr lang="en-US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US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</a:t>
            </a:r>
            <a:r>
              <a:rPr lang="en-US" sz="1050" b="0" dirty="0">
                <a:solidFill>
                  <a:srgbClr val="191919"/>
                </a:solidFill>
                <a:latin typeface="Arial"/>
              </a:rPr>
              <a:t>9</a:t>
            </a:r>
            <a:endParaRPr sz="105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92639" y="2270661"/>
            <a:ext cx="1958338" cy="673771"/>
          </a:xfrm>
          <a:prstGeom prst="roundRect">
            <a:avLst/>
          </a:prstGeom>
          <a:solidFill>
            <a:srgbClr val="FFE5CC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050" b="0" dirty="0">
                <a:solidFill>
                  <a:srgbClr val="191919"/>
                </a:solidFill>
                <a:latin typeface="Arial"/>
              </a:rPr>
              <a:t>Virtual page 1 mapped to</a:t>
            </a:r>
            <a:endParaRPr lang="en-US" sz="1050" kern="1200" dirty="0">
              <a:solidFill>
                <a:srgbClr val="191919"/>
              </a:solidFill>
              <a:latin typeface="Arial"/>
              <a:ea typeface="+mn-ea"/>
              <a:cs typeface="+mn-cs"/>
            </a:endParaRPr>
          </a:p>
          <a:p>
            <a:pPr algn="ctr"/>
            <a:r>
              <a:rPr sz="1050" b="0" dirty="0">
                <a:solidFill>
                  <a:srgbClr val="191919"/>
                </a:solidFill>
                <a:latin typeface="Arial"/>
              </a:rPr>
              <a:t>Disk</a:t>
            </a:r>
            <a:r>
              <a:rPr lang="en-AU" sz="1050" b="0" dirty="0">
                <a:solidFill>
                  <a:srgbClr val="191919"/>
                </a:solidFill>
                <a:latin typeface="Arial"/>
              </a:rPr>
              <a:t> </a:t>
            </a:r>
            <a:r>
              <a:rPr lang="en-AU" sz="1050" dirty="0">
                <a:solidFill>
                  <a:srgbClr val="191919"/>
                </a:solidFill>
                <a:latin typeface="Arial"/>
              </a:rPr>
              <a:t>swap</a:t>
            </a:r>
            <a:r>
              <a:rPr sz="1050" b="0" dirty="0">
                <a:solidFill>
                  <a:srgbClr val="191919"/>
                </a:solidFill>
                <a:latin typeface="Arial"/>
              </a:rPr>
              <a:t> </a:t>
            </a:r>
            <a:r>
              <a:rPr lang="en-AU" sz="1050" b="0" dirty="0">
                <a:solidFill>
                  <a:srgbClr val="191919"/>
                </a:solidFill>
                <a:latin typeface="Arial"/>
              </a:rPr>
              <a:t>slot </a:t>
            </a:r>
            <a:r>
              <a:rPr sz="1050" b="0" dirty="0">
                <a:solidFill>
                  <a:srgbClr val="191919"/>
                </a:solidFill>
                <a:latin typeface="Arial"/>
              </a:rPr>
              <a:t>S3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360804"/>
              </p:ext>
            </p:extLst>
          </p:nvPr>
        </p:nvGraphicFramePr>
        <p:xfrm>
          <a:off x="1801743" y="3590318"/>
          <a:ext cx="7863840" cy="17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6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91919"/>
                          </a:solidFill>
                          <a:latin typeface="Arial"/>
                        </a:rPr>
                        <a:t>Virtual page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91919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 dirty="0">
                          <a:solidFill>
                            <a:srgbClr val="191919"/>
                          </a:solidFill>
                          <a:latin typeface="Arial"/>
                        </a:rPr>
                        <a:t>Memory map</a:t>
                      </a:r>
                      <a:endParaRPr sz="1200" b="1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Arial"/>
                        </a:rPr>
                        <a:t>Current location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page 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solidFill>
                            <a:srgbClr val="191919"/>
                          </a:solidFill>
                          <a:latin typeface="Arial"/>
                        </a:rPr>
                        <a:t>program</a:t>
                      </a:r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 code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kern="1200" dirty="0">
                          <a:solidFill>
                            <a:srgbClr val="191919"/>
                          </a:solidFill>
                          <a:latin typeface="Arial"/>
                          <a:ea typeface="+mn-ea"/>
                          <a:cs typeface="+mn-cs"/>
                        </a:rPr>
                        <a:t>present</a:t>
                      </a:r>
                      <a:endParaRPr sz="1200" kern="1200" dirty="0">
                        <a:solidFill>
                          <a:srgbClr val="191919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kern="1200" dirty="0">
                          <a:solidFill>
                            <a:srgbClr val="191919"/>
                          </a:solidFill>
                          <a:latin typeface="Arial"/>
                          <a:ea typeface="+mn-ea"/>
                          <a:cs typeface="+mn-cs"/>
                        </a:rPr>
                        <a:t>physical page </a:t>
                      </a:r>
                      <a:r>
                        <a:rPr sz="1200" kern="1200" dirty="0">
                          <a:solidFill>
                            <a:srgbClr val="191919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AU" sz="1200" dirty="0">
                          <a:solidFill>
                            <a:srgbClr val="191919"/>
                          </a:solidFill>
                          <a:latin typeface="Arial"/>
                        </a:rPr>
                        <a:t>5</a:t>
                      </a:r>
                      <a:endParaRPr sz="1200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page 1</a:t>
                      </a:r>
                    </a:p>
                  </a:txBody>
                  <a:tcPr>
                    <a:solidFill>
                      <a:srgbClr val="FFE5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variables</a:t>
                      </a:r>
                    </a:p>
                  </a:txBody>
                  <a:tcPr>
                    <a:solidFill>
                      <a:srgbClr val="FFE5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sz="1200" kern="1200" dirty="0">
                        <a:solidFill>
                          <a:srgbClr val="FF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E5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solidFill>
                            <a:srgbClr val="FF0000"/>
                          </a:solidFill>
                          <a:latin typeface="Arial"/>
                        </a:rPr>
                        <a:t>?</a:t>
                      </a:r>
                      <a:endParaRPr sz="1200" dirty="0">
                        <a:solidFill>
                          <a:srgbClr val="FF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E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6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page </a:t>
                      </a:r>
                      <a:r>
                        <a:rPr lang="en-AU" sz="1200" dirty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  <a:endParaRPr sz="1200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E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dirty="0">
                          <a:solidFill>
                            <a:srgbClr val="191919"/>
                          </a:solidFill>
                          <a:latin typeface="Arial"/>
                        </a:rPr>
                        <a:t>boto3.client() </a:t>
                      </a:r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>
                    <a:solidFill>
                      <a:srgbClr val="FFE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E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kern="1200" dirty="0">
                          <a:solidFill>
                            <a:srgbClr val="FF0000"/>
                          </a:solidFill>
                          <a:latin typeface="Arial"/>
                          <a:ea typeface="+mn-ea"/>
                          <a:cs typeface="+mn-cs"/>
                        </a:rPr>
                        <a:t>?</a:t>
                      </a:r>
                      <a:endParaRPr sz="1200" dirty="0">
                        <a:solidFill>
                          <a:srgbClr val="FF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E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6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page </a:t>
                      </a:r>
                      <a:r>
                        <a:rPr lang="en-AU" sz="1200" dirty="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  <a:endParaRPr sz="1200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91919"/>
                          </a:solidFill>
                          <a:latin typeface="Arial"/>
                        </a:rPr>
                        <a:t>unused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dirty="0"/>
                        <a:t>map not allocated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lang="en-AU" sz="1200" dirty="0"/>
                        <a:t>no real storage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itle 1">
            <a:extLst>
              <a:ext uri="{FF2B5EF4-FFF2-40B4-BE49-F238E27FC236}">
                <a16:creationId xmlns:a16="http://schemas.microsoft.com/office/drawing/2014/main" id="{5EA62020-ABE9-49D1-AE8D-66752CE60A1B}"/>
              </a:ext>
            </a:extLst>
          </p:cNvPr>
          <p:cNvSpPr txBox="1">
            <a:spLocks/>
          </p:cNvSpPr>
          <p:nvPr/>
        </p:nvSpPr>
        <p:spPr>
          <a:xfrm>
            <a:off x="307575" y="259740"/>
            <a:ext cx="8501881" cy="6952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3300" dirty="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rPr>
              <a:t>Swapping: </a:t>
            </a:r>
            <a:r>
              <a:rPr lang="en-US" sz="3300" dirty="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rPr>
              <a:t>if memory is full</a:t>
            </a:r>
          </a:p>
          <a:p>
            <a:pPr fontAlgn="auto">
              <a:spcAft>
                <a:spcPts val="0"/>
              </a:spcAft>
              <a:buClrTx/>
              <a:buSzTx/>
              <a:buFontTx/>
            </a:pPr>
            <a:endParaRPr lang="en-US" sz="3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2C6660-16B1-4463-B5F5-62032ACB4588}"/>
              </a:ext>
            </a:extLst>
          </p:cNvPr>
          <p:cNvSpPr txBox="1"/>
          <p:nvPr/>
        </p:nvSpPr>
        <p:spPr>
          <a:xfrm>
            <a:off x="421875" y="2978620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dirty="0">
                <a:solidFill>
                  <a:srgbClr val="191919"/>
                </a:solidFill>
                <a:latin typeface="Arial"/>
              </a:rPr>
              <a:t>inactive</a:t>
            </a:r>
            <a:endParaRPr lang="en-AU" sz="1600" dirty="0"/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01DE2FD2-20EF-4115-9DEB-A0F1E2994B20}"/>
              </a:ext>
            </a:extLst>
          </p:cNvPr>
          <p:cNvSpPr/>
          <p:nvPr/>
        </p:nvSpPr>
        <p:spPr>
          <a:xfrm>
            <a:off x="9700260" y="1127986"/>
            <a:ext cx="1950720" cy="502920"/>
          </a:xfrm>
          <a:prstGeom prst="roundRect">
            <a:avLst/>
          </a:prstGeom>
          <a:solidFill>
            <a:srgbClr val="D6EB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AU" sz="1050" dirty="0">
                <a:solidFill>
                  <a:srgbClr val="191919"/>
                </a:solidFill>
                <a:latin typeface="Arial"/>
              </a:rPr>
              <a:t>P</a:t>
            </a:r>
            <a:r>
              <a:rPr lang="en-AU" sz="1050" kern="1200" dirty="0">
                <a:solidFill>
                  <a:srgbClr val="191919"/>
                </a:solidFill>
                <a:latin typeface="Arial"/>
                <a:ea typeface="+mn-ea"/>
                <a:cs typeface="+mn-cs"/>
              </a:rPr>
              <a:t>hysical page 7</a:t>
            </a:r>
            <a:r>
              <a:rPr lang="en-AU" sz="1050" b="0" dirty="0">
                <a:solidFill>
                  <a:srgbClr val="191919"/>
                </a:solidFill>
                <a:latin typeface="Arial"/>
              </a:rPr>
              <a:t> occupied by another process</a:t>
            </a:r>
            <a:endParaRPr sz="1050" b="0" dirty="0">
              <a:solidFill>
                <a:srgbClr val="191919"/>
              </a:solidFill>
              <a:latin typeface="Arial"/>
            </a:endParaRPr>
          </a:p>
        </p:txBody>
      </p:sp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6657D069-4581-4A74-B2E1-05DDA965265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549689" y="2603026"/>
            <a:ext cx="1044416" cy="5317"/>
          </a:xfrm>
          <a:prstGeom prst="line">
            <a:avLst/>
          </a:prstGeom>
          <a:ln w="20320">
            <a:solidFill>
              <a:srgbClr val="D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7">
            <a:extLst>
              <a:ext uri="{FF2B5EF4-FFF2-40B4-BE49-F238E27FC236}">
                <a16:creationId xmlns:a16="http://schemas.microsoft.com/office/drawing/2014/main" id="{C67071E1-B118-4178-B0C4-B206FCA3CCFC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 flipV="1">
            <a:off x="8285745" y="2607547"/>
            <a:ext cx="1406894" cy="796"/>
          </a:xfrm>
          <a:prstGeom prst="line">
            <a:avLst/>
          </a:prstGeom>
          <a:ln w="20320">
            <a:solidFill>
              <a:srgbClr val="D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361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680" y="70703"/>
            <a:ext cx="40659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dirty="0">
                <a:solidFill>
                  <a:srgbClr val="000000"/>
                </a:solidFill>
              </a:rPr>
              <a:t>Memory virtualization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4778" y="773291"/>
            <a:ext cx="5394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900" b="1" dirty="0">
                <a:solidFill>
                  <a:srgbClr val="000000"/>
                </a:solidFill>
              </a:rPr>
              <a:t>In a normal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662940"/>
            <a:ext cx="53035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900" b="1" dirty="0">
                <a:solidFill>
                  <a:srgbClr val="000000"/>
                </a:solidFill>
              </a:rPr>
              <a:t>Inside a virtual machine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22258" y="2007731"/>
            <a:ext cx="0" cy="502920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22258" y="3150731"/>
            <a:ext cx="0" cy="502920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32520" y="1691640"/>
            <a:ext cx="0" cy="457200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2743200"/>
            <a:ext cx="0" cy="411480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3749039"/>
            <a:ext cx="0" cy="411481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4754880"/>
            <a:ext cx="0" cy="411480"/>
          </a:xfrm>
          <a:prstGeom prst="line">
            <a:avLst/>
          </a:prstGeom>
          <a:ln w="25400">
            <a:solidFill>
              <a:srgbClr val="4472C4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62138" y="1413371"/>
            <a:ext cx="1920240" cy="59436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Process</a:t>
            </a:r>
            <a:endParaRPr sz="1600" b="1" dirty="0">
              <a:solidFill>
                <a:srgbClr val="000000"/>
              </a:solidFill>
            </a:endParaRPr>
          </a:p>
          <a:p>
            <a:pPr algn="ctr"/>
            <a:r>
              <a:rPr sz="1600" b="1" dirty="0">
                <a:solidFill>
                  <a:srgbClr val="000000"/>
                </a:solidFill>
              </a:rPr>
              <a:t>virtual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0698" y="2510651"/>
            <a:ext cx="2103120" cy="640080"/>
          </a:xfrm>
          <a:prstGeom prst="roundRect">
            <a:avLst/>
          </a:prstGeom>
          <a:solidFill>
            <a:srgbClr val="D9D2E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OS </a:t>
            </a:r>
            <a:r>
              <a:rPr lang="en-US" altLang="zh-CN" sz="1600" b="1" dirty="0">
                <a:solidFill>
                  <a:srgbClr val="000000"/>
                </a:solidFill>
              </a:rPr>
              <a:t>memory map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70698" y="3653651"/>
            <a:ext cx="2103120" cy="68580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Physical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2377440" cy="54864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Process</a:t>
            </a:r>
            <a:r>
              <a:rPr sz="1600" b="1" dirty="0">
                <a:solidFill>
                  <a:srgbClr val="000000"/>
                </a:solidFill>
              </a:rPr>
              <a:t> inside 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48840"/>
            <a:ext cx="2651760" cy="594360"/>
          </a:xfrm>
          <a:prstGeom prst="roundRect">
            <a:avLst/>
          </a:prstGeom>
          <a:solidFill>
            <a:srgbClr val="D9D2E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Guest OS </a:t>
            </a:r>
            <a:r>
              <a:rPr lang="en-US" altLang="zh-CN" sz="1600" b="1" dirty="0">
                <a:solidFill>
                  <a:srgbClr val="000000"/>
                </a:solidFill>
              </a:rPr>
              <a:t>memory map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06640" y="3154680"/>
            <a:ext cx="2651760" cy="59436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Guest physical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160520"/>
            <a:ext cx="2651760" cy="594360"/>
          </a:xfrm>
          <a:prstGeom prst="roundRect">
            <a:avLst/>
          </a:prstGeom>
          <a:solidFill>
            <a:srgbClr val="D9D2E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VMM </a:t>
            </a:r>
            <a:r>
              <a:rPr lang="en-US" altLang="zh-CN" sz="1600" b="1" dirty="0">
                <a:solidFill>
                  <a:srgbClr val="000000"/>
                </a:solidFill>
              </a:rPr>
              <a:t>memory map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06640" y="5166360"/>
            <a:ext cx="2651760" cy="59436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Host</a:t>
            </a:r>
            <a:r>
              <a:rPr sz="1600" b="1" dirty="0">
                <a:solidFill>
                  <a:srgbClr val="000000"/>
                </a:solidFill>
              </a:rPr>
              <a:t> </a:t>
            </a:r>
            <a:r>
              <a:rPr lang="en-AU" sz="1600" b="1" dirty="0">
                <a:solidFill>
                  <a:srgbClr val="000000"/>
                </a:solidFill>
              </a:rPr>
              <a:t>(real) </a:t>
            </a:r>
            <a:r>
              <a:rPr sz="1600" b="1" dirty="0">
                <a:solidFill>
                  <a:srgbClr val="000000"/>
                </a:solidFill>
              </a:rPr>
              <a:t>physical memory</a:t>
            </a:r>
            <a:r>
              <a:rPr lang="en-AU" sz="1600" b="1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510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91" y="2723820"/>
            <a:ext cx="447566" cy="447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066235" y="3787444"/>
            <a:ext cx="8306476" cy="14621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sz="2000" dirty="0"/>
              <a:t>A</a:t>
            </a:r>
            <a:r>
              <a:rPr lang="en-US" sz="2000" dirty="0"/>
              <a:t>lice has a machine with 64 GiB of memory. </a:t>
            </a:r>
            <a:endParaRPr sz="2000" dirty="0"/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Bob is assigned with 32 GiB of guest physical memory.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Charlie is assigned with 32 GiB of guest physical memory.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Daniel is assigned with 8 GiB of guest physical memory.</a:t>
            </a:r>
            <a:endParaRPr lang="en-AU" sz="2000" dirty="0"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804" y="1604572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927" y="2062965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360738" y="1392642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4780" y="2199886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3558398" y="2642799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345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113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7488" y="205701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8970" y="206415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0088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000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7375026" y="2735667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7400893" y="1714112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7311307" y="2428487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7348101" y="3114287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48" y="2004623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4024175" y="2907118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5997726" y="3197242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Virtual machines</a:t>
            </a:r>
          </a:p>
        </p:txBody>
      </p: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80" y="1397404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TextBox 59"/>
          <p:cNvSpPr txBox="1"/>
          <p:nvPr/>
        </p:nvSpPr>
        <p:spPr>
          <a:xfrm>
            <a:off x="5459851" y="1985574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5096170" y="2297199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6139157" y="1864129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7" name="Straight Arrow Connector 66"/>
          <p:cNvSpPr/>
          <p:nvPr/>
        </p:nvSpPr>
        <p:spPr>
          <a:xfrm>
            <a:off x="6132792" y="2297198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8" name="Straight Arrow Connector 68"/>
          <p:cNvSpPr/>
          <p:nvPr/>
        </p:nvSpPr>
        <p:spPr>
          <a:xfrm>
            <a:off x="6146301" y="2449918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774" name="Cloud Callout 69"/>
          <p:cNvGrpSpPr/>
          <p:nvPr/>
        </p:nvGrpSpPr>
        <p:grpSpPr>
          <a:xfrm>
            <a:off x="7660266" y="986924"/>
            <a:ext cx="600872" cy="561296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7745991" y="1629861"/>
            <a:ext cx="600872" cy="561296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7795998" y="2279942"/>
            <a:ext cx="600872" cy="561296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6508" y="1056887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6521" y="1685537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2240" y="2349905"/>
            <a:ext cx="321469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2E55797-DCEF-4021-886B-EEB8F18B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171" y="226711"/>
            <a:ext cx="3717061" cy="743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Memory Virtualization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75766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7929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AU" sz="3200" dirty="0">
                <a:solidFill>
                  <a:srgbClr val="000000"/>
                </a:solidFill>
              </a:rPr>
              <a:t>M</a:t>
            </a:r>
            <a:r>
              <a:rPr sz="3200" dirty="0" err="1">
                <a:solidFill>
                  <a:srgbClr val="000000"/>
                </a:solidFill>
              </a:rPr>
              <a:t>emory</a:t>
            </a:r>
            <a:r>
              <a:rPr lang="en-AU" sz="3200" dirty="0">
                <a:solidFill>
                  <a:srgbClr val="000000"/>
                </a:solidFill>
              </a:rPr>
              <a:t> overcommitment</a:t>
            </a: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996696"/>
            <a:ext cx="2834640" cy="96012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Alice</a:t>
            </a:r>
            <a:r>
              <a:rPr lang="en-AU" sz="2000" b="1" dirty="0">
                <a:solidFill>
                  <a:srgbClr val="000000"/>
                </a:solidFill>
              </a:rPr>
              <a:t>’s</a:t>
            </a:r>
            <a:r>
              <a:rPr sz="2000" b="1" dirty="0">
                <a:solidFill>
                  <a:srgbClr val="000000"/>
                </a:solidFill>
              </a:rPr>
              <a:t> machine</a:t>
            </a:r>
          </a:p>
          <a:p>
            <a:pPr algn="ctr"/>
            <a:r>
              <a:rPr sz="2000" b="1" dirty="0">
                <a:solidFill>
                  <a:srgbClr val="000000"/>
                </a:solidFill>
              </a:rPr>
              <a:t>64 G</a:t>
            </a:r>
            <a:r>
              <a:rPr lang="en-AU" sz="2000" b="1" dirty="0" err="1">
                <a:solidFill>
                  <a:srgbClr val="000000"/>
                </a:solidFill>
              </a:rPr>
              <a:t>i</a:t>
            </a:r>
            <a:r>
              <a:rPr sz="2000" b="1" dirty="0">
                <a:solidFill>
                  <a:srgbClr val="000000"/>
                </a:solidFill>
              </a:rPr>
              <a:t>B physical </a:t>
            </a:r>
            <a:r>
              <a:rPr lang="en-AU" sz="2000" b="1" dirty="0">
                <a:solidFill>
                  <a:srgbClr val="000000"/>
                </a:solidFill>
              </a:rPr>
              <a:t>memory</a:t>
            </a:r>
            <a:endParaRPr sz="2000" b="1" dirty="0">
              <a:solidFill>
                <a:srgbClr val="00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977639" y="960120"/>
            <a:ext cx="2057400" cy="96012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700" b="1" dirty="0">
                <a:solidFill>
                  <a:srgbClr val="000000"/>
                </a:solidFill>
              </a:rPr>
              <a:t>Bob</a:t>
            </a:r>
          </a:p>
          <a:p>
            <a:pPr algn="ctr"/>
            <a:r>
              <a:rPr sz="1700" b="1" dirty="0">
                <a:solidFill>
                  <a:srgbClr val="000000"/>
                </a:solidFill>
              </a:rPr>
              <a:t>32 G</a:t>
            </a:r>
            <a:r>
              <a:rPr lang="en-AU" sz="1700" b="1" dirty="0" err="1">
                <a:solidFill>
                  <a:srgbClr val="000000"/>
                </a:solidFill>
              </a:rPr>
              <a:t>i</a:t>
            </a:r>
            <a:r>
              <a:rPr sz="17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960120"/>
            <a:ext cx="2057400" cy="96012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700" b="1" dirty="0">
                <a:solidFill>
                  <a:srgbClr val="000000"/>
                </a:solidFill>
              </a:rPr>
              <a:t>Charlie</a:t>
            </a:r>
          </a:p>
          <a:p>
            <a:pPr algn="ctr"/>
            <a:r>
              <a:rPr sz="1700" b="1" dirty="0">
                <a:solidFill>
                  <a:srgbClr val="000000"/>
                </a:solidFill>
              </a:rPr>
              <a:t>32 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960120"/>
            <a:ext cx="2057400" cy="96012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700" b="1" dirty="0">
                <a:solidFill>
                  <a:srgbClr val="000000"/>
                </a:solidFill>
              </a:rPr>
              <a:t>Daniel</a:t>
            </a:r>
          </a:p>
          <a:p>
            <a:pPr algn="ctr"/>
            <a:r>
              <a:rPr sz="1700" b="1" dirty="0">
                <a:solidFill>
                  <a:srgbClr val="000000"/>
                </a:solidFill>
              </a:rPr>
              <a:t>8 G</a:t>
            </a:r>
            <a:r>
              <a:rPr lang="en-AU" sz="1700" b="1" dirty="0" err="1">
                <a:solidFill>
                  <a:srgbClr val="000000"/>
                </a:solidFill>
              </a:rPr>
              <a:t>i</a:t>
            </a:r>
            <a:r>
              <a:rPr sz="1700" b="1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" y="2209062"/>
            <a:ext cx="8881607" cy="594360"/>
          </a:xfrm>
          <a:prstGeom prst="roundRect">
            <a:avLst/>
          </a:prstGeom>
          <a:solidFill>
            <a:srgbClr val="F4B084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2000" b="1" dirty="0">
                <a:solidFill>
                  <a:srgbClr val="000000"/>
                </a:solidFill>
              </a:rPr>
              <a:t>Total assigned guest</a:t>
            </a:r>
            <a:r>
              <a:rPr lang="en-AU" sz="2000" b="1" dirty="0">
                <a:solidFill>
                  <a:srgbClr val="000000"/>
                </a:solidFill>
              </a:rPr>
              <a:t> physical</a:t>
            </a:r>
            <a:r>
              <a:rPr sz="2000" b="1" dirty="0">
                <a:solidFill>
                  <a:srgbClr val="000000"/>
                </a:solidFill>
              </a:rPr>
              <a:t> memory = 72 G</a:t>
            </a:r>
            <a:r>
              <a:rPr lang="en-AU" sz="2000" b="1" dirty="0" err="1">
                <a:solidFill>
                  <a:srgbClr val="000000"/>
                </a:solidFill>
              </a:rPr>
              <a:t>i</a:t>
            </a:r>
            <a:r>
              <a:rPr sz="2000" b="1" dirty="0">
                <a:solidFill>
                  <a:srgbClr val="000000"/>
                </a:solidFill>
              </a:rPr>
              <a:t>B  &gt;  64 G</a:t>
            </a:r>
            <a:r>
              <a:rPr lang="en-AU" sz="2000" b="1" dirty="0" err="1">
                <a:solidFill>
                  <a:srgbClr val="000000"/>
                </a:solidFill>
              </a:rPr>
              <a:t>i</a:t>
            </a:r>
            <a:r>
              <a:rPr sz="2000" b="1" dirty="0">
                <a:solidFill>
                  <a:srgbClr val="000000"/>
                </a:solidFill>
              </a:rPr>
              <a:t>B </a:t>
            </a:r>
            <a:r>
              <a:rPr lang="en-AU" sz="2000" b="1" dirty="0">
                <a:solidFill>
                  <a:srgbClr val="000000"/>
                </a:solidFill>
              </a:rPr>
              <a:t>host </a:t>
            </a:r>
            <a:r>
              <a:rPr sz="2000" b="1" dirty="0">
                <a:solidFill>
                  <a:srgbClr val="000000"/>
                </a:solidFill>
              </a:rPr>
              <a:t>physical </a:t>
            </a:r>
            <a:r>
              <a:rPr lang="en-AU" sz="2000" b="1" dirty="0">
                <a:solidFill>
                  <a:srgbClr val="000000"/>
                </a:solidFill>
              </a:rPr>
              <a:t>memory</a:t>
            </a:r>
            <a:endParaRPr sz="2000" b="1" dirty="0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34F68-9348-4203-BE32-A09FB1646006}"/>
              </a:ext>
            </a:extLst>
          </p:cNvPr>
          <p:cNvSpPr txBox="1"/>
          <p:nvPr/>
        </p:nvSpPr>
        <p:spPr>
          <a:xfrm>
            <a:off x="643670" y="3183225"/>
            <a:ext cx="10904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+mn-lt"/>
              </a:rPr>
              <a:t>Not every guest physical memory page is mapped to a host physical memory page. </a:t>
            </a:r>
          </a:p>
        </p:txBody>
      </p:sp>
    </p:spTree>
    <p:extLst>
      <p:ext uri="{BB962C8B-B14F-4D97-AF65-F5344CB8AC3E}">
        <p14:creationId xmlns:p14="http://schemas.microsoft.com/office/powerpoint/2010/main" val="1492171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0563"/>
            <a:ext cx="23679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AU" sz="3200" dirty="0">
                <a:solidFill>
                  <a:srgbClr val="000000"/>
                </a:solidFill>
              </a:rPr>
              <a:t>VM isolation</a:t>
            </a: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148840" cy="77724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</a:rPr>
              <a:t>Bob VM</a:t>
            </a:r>
          </a:p>
          <a:p>
            <a:pPr algn="ctr"/>
            <a:r>
              <a:rPr sz="1400" b="1" dirty="0">
                <a:solidFill>
                  <a:srgbClr val="000000"/>
                </a:solidFill>
              </a:rPr>
              <a:t>32 G</a:t>
            </a:r>
            <a:r>
              <a:rPr lang="en-AU" sz="1400" b="1" dirty="0" err="1">
                <a:solidFill>
                  <a:srgbClr val="000000"/>
                </a:solidFill>
              </a:rPr>
              <a:t>i</a:t>
            </a:r>
            <a:r>
              <a:rPr sz="1400" b="1" dirty="0">
                <a:solidFill>
                  <a:srgbClr val="000000"/>
                </a:solidFill>
              </a:rPr>
              <a:t>B guest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46960"/>
            <a:ext cx="2148840" cy="77724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</a:rPr>
              <a:t>Charlie VM</a:t>
            </a:r>
          </a:p>
          <a:p>
            <a:pPr algn="ctr"/>
            <a:r>
              <a:rPr sz="1400" b="1" dirty="0">
                <a:solidFill>
                  <a:srgbClr val="000000"/>
                </a:solidFill>
              </a:rPr>
              <a:t>32 G</a:t>
            </a:r>
            <a:r>
              <a:rPr lang="en-US" sz="1400" b="1" dirty="0">
                <a:solidFill>
                  <a:srgbClr val="000000"/>
                </a:solidFill>
              </a:rPr>
              <a:t>i</a:t>
            </a:r>
            <a:r>
              <a:rPr sz="1400" b="1" dirty="0">
                <a:solidFill>
                  <a:srgbClr val="000000"/>
                </a:solidFill>
              </a:rPr>
              <a:t>B guest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49323"/>
            <a:ext cx="2148840" cy="7772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</a:rPr>
              <a:t>Daniel VM</a:t>
            </a:r>
          </a:p>
          <a:p>
            <a:pPr algn="ctr"/>
            <a:r>
              <a:rPr sz="1400" b="1" dirty="0">
                <a:solidFill>
                  <a:srgbClr val="000000"/>
                </a:solidFill>
              </a:rPr>
              <a:t>8 G</a:t>
            </a:r>
            <a:r>
              <a:rPr lang="en-AU" sz="1400" b="1" dirty="0" err="1">
                <a:solidFill>
                  <a:srgbClr val="000000"/>
                </a:solidFill>
              </a:rPr>
              <a:t>i</a:t>
            </a:r>
            <a:r>
              <a:rPr sz="1400" b="1" dirty="0">
                <a:solidFill>
                  <a:srgbClr val="000000"/>
                </a:solidFill>
              </a:rPr>
              <a:t>B guest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6260" y="1129950"/>
            <a:ext cx="2148840" cy="3466695"/>
          </a:xfrm>
          <a:prstGeom prst="roundRect">
            <a:avLst/>
          </a:prstGeom>
          <a:solidFill>
            <a:srgbClr val="D9D2E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  <a:p>
            <a:pPr algn="ctr"/>
            <a:endParaRPr lang="en-AU" sz="1700" b="1" dirty="0">
              <a:solidFill>
                <a:srgbClr val="0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0" y="4403553"/>
            <a:ext cx="192024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Alice</a:t>
            </a:r>
            <a:r>
              <a:rPr lang="en-AU" sz="1600" b="1" dirty="0">
                <a:solidFill>
                  <a:srgbClr val="000000"/>
                </a:solidFill>
              </a:rPr>
              <a:t>’s</a:t>
            </a:r>
            <a:r>
              <a:rPr sz="1600" b="1" dirty="0">
                <a:solidFill>
                  <a:srgbClr val="000000"/>
                </a:solidFill>
              </a:rPr>
              <a:t> 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619670"/>
            <a:ext cx="1920240" cy="579930"/>
          </a:xfrm>
          <a:prstGeom prst="rect">
            <a:avLst/>
          </a:prstGeom>
          <a:solidFill>
            <a:srgbClr val="BDD7EE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Host page</a:t>
            </a:r>
            <a:r>
              <a:rPr lang="en-AU" sz="1300" b="0" dirty="0">
                <a:solidFill>
                  <a:srgbClr val="000000"/>
                </a:solidFill>
              </a:rPr>
              <a:t>s </a:t>
            </a:r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80960" y="2300430"/>
            <a:ext cx="1920240" cy="579929"/>
          </a:xfrm>
          <a:prstGeom prst="rect">
            <a:avLst/>
          </a:prstGeom>
          <a:solidFill>
            <a:srgbClr val="C6E0B4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Host page</a:t>
            </a:r>
            <a:r>
              <a:rPr lang="en-AU" sz="1300" dirty="0">
                <a:solidFill>
                  <a:srgbClr val="000000"/>
                </a:solidFill>
              </a:rPr>
              <a:t>s</a:t>
            </a:r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80960" y="2986228"/>
            <a:ext cx="1920240" cy="579929"/>
          </a:xfrm>
          <a:prstGeom prst="rect">
            <a:avLst/>
          </a:prstGeom>
          <a:solidFill>
            <a:srgbClr val="FFE699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Host </a:t>
            </a:r>
            <a:r>
              <a:rPr sz="1300" b="0" dirty="0" err="1">
                <a:solidFill>
                  <a:srgbClr val="000000"/>
                </a:solidFill>
              </a:rPr>
              <a:t>pag</a:t>
            </a:r>
            <a:r>
              <a:rPr lang="en-AU" sz="1300" dirty="0">
                <a:solidFill>
                  <a:srgbClr val="000000"/>
                </a:solidFill>
              </a:rPr>
              <a:t>es</a:t>
            </a:r>
            <a:endParaRPr sz="1300" b="0" dirty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80960" y="3672033"/>
            <a:ext cx="1920240" cy="579930"/>
          </a:xfrm>
          <a:prstGeom prst="rect">
            <a:avLst/>
          </a:prstGeom>
          <a:solidFill>
            <a:srgbClr val="EBEBEB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</a:rPr>
              <a:t>Other pages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600203"/>
            <a:ext cx="1920240" cy="2651759"/>
          </a:xfrm>
          <a:prstGeom prst="rect">
            <a:avLst/>
          </a:prstGeom>
          <a:noFill/>
          <a:ln w="1524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4A15C011-3EB6-4E91-BCAA-517C8D4D1F27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743200" y="1805940"/>
            <a:ext cx="4937760" cy="0"/>
          </a:xfrm>
          <a:prstGeom prst="line">
            <a:avLst/>
          </a:prstGeom>
          <a:ln w="25400">
            <a:solidFill>
              <a:srgbClr val="5A5A5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7">
            <a:extLst>
              <a:ext uri="{FF2B5EF4-FFF2-40B4-BE49-F238E27FC236}">
                <a16:creationId xmlns:a16="http://schemas.microsoft.com/office/drawing/2014/main" id="{9C2B2B80-AF8F-425F-9FCD-74078FDE81C6}"/>
              </a:ext>
            </a:extLst>
          </p:cNvPr>
          <p:cNvCxnSpPr>
            <a:cxnSpLocks/>
            <a:stCxn id="18" idx="1"/>
            <a:endCxn id="10" idx="3"/>
          </p:cNvCxnSpPr>
          <p:nvPr/>
        </p:nvCxnSpPr>
        <p:spPr>
          <a:xfrm flipH="1">
            <a:off x="2743200" y="2590395"/>
            <a:ext cx="4937760" cy="145185"/>
          </a:xfrm>
          <a:prstGeom prst="line">
            <a:avLst/>
          </a:prstGeom>
          <a:ln w="25400">
            <a:solidFill>
              <a:srgbClr val="5A5A5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7">
            <a:extLst>
              <a:ext uri="{FF2B5EF4-FFF2-40B4-BE49-F238E27FC236}">
                <a16:creationId xmlns:a16="http://schemas.microsoft.com/office/drawing/2014/main" id="{73315D01-EE95-450F-9152-5F07F9B997A6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743200" y="3330978"/>
            <a:ext cx="4937760" cy="306965"/>
          </a:xfrm>
          <a:prstGeom prst="line">
            <a:avLst/>
          </a:prstGeom>
          <a:ln w="25400">
            <a:solidFill>
              <a:srgbClr val="5A5A5A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FDA7F838-E78E-49A8-B53B-E90E6CCFF171}"/>
              </a:ext>
            </a:extLst>
          </p:cNvPr>
          <p:cNvSpPr/>
          <p:nvPr/>
        </p:nvSpPr>
        <p:spPr>
          <a:xfrm>
            <a:off x="4594860" y="1376174"/>
            <a:ext cx="1645920" cy="73152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Memory map </a:t>
            </a:r>
            <a:r>
              <a:rPr lang="en-AU" dirty="0"/>
              <a:t>for Bob</a:t>
            </a:r>
            <a:endParaRPr dirty="0"/>
          </a:p>
        </p:txBody>
      </p:sp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1C2907EA-AF92-40C6-AF06-2EE95A238A67}"/>
              </a:ext>
            </a:extLst>
          </p:cNvPr>
          <p:cNvSpPr/>
          <p:nvPr/>
        </p:nvSpPr>
        <p:spPr>
          <a:xfrm>
            <a:off x="4594860" y="2279983"/>
            <a:ext cx="1645920" cy="73152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Memory map </a:t>
            </a:r>
            <a:r>
              <a:rPr lang="en-AU" dirty="0"/>
              <a:t>for Charlie</a:t>
            </a:r>
            <a:endParaRPr dirty="0"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C59F11D3-3308-4F85-A7FE-728B162B18BB}"/>
              </a:ext>
            </a:extLst>
          </p:cNvPr>
          <p:cNvSpPr/>
          <p:nvPr/>
        </p:nvSpPr>
        <p:spPr>
          <a:xfrm>
            <a:off x="4594860" y="3218281"/>
            <a:ext cx="1645920" cy="731520"/>
          </a:xfrm>
          <a:prstGeom prst="roundRect">
            <a:avLst/>
          </a:prstGeom>
          <a:solidFill>
            <a:srgbClr val="FFF7E1"/>
          </a:solidFill>
          <a:ln w="1524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rPr dirty="0"/>
              <a:t>Memory map </a:t>
            </a:r>
            <a:r>
              <a:rPr lang="en-AU" dirty="0"/>
              <a:t>for Charlie</a:t>
            </a:r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99C91D-4B45-43FA-90BD-36E182DCB4EB}"/>
              </a:ext>
            </a:extLst>
          </p:cNvPr>
          <p:cNvSpPr txBox="1"/>
          <p:nvPr/>
        </p:nvSpPr>
        <p:spPr>
          <a:xfrm>
            <a:off x="3291840" y="4704079"/>
            <a:ext cx="4526280" cy="34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VMM Memory map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36E99E-F93F-4DFB-A035-7B71682EED67}"/>
              </a:ext>
            </a:extLst>
          </p:cNvPr>
          <p:cNvSpPr txBox="1"/>
          <p:nvPr/>
        </p:nvSpPr>
        <p:spPr>
          <a:xfrm>
            <a:off x="594360" y="5327940"/>
            <a:ext cx="10904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+mn-lt"/>
              </a:rPr>
              <a:t>On-demand paging is still used. </a:t>
            </a:r>
          </a:p>
        </p:txBody>
      </p:sp>
    </p:spTree>
    <p:extLst>
      <p:ext uri="{BB962C8B-B14F-4D97-AF65-F5344CB8AC3E}">
        <p14:creationId xmlns:p14="http://schemas.microsoft.com/office/powerpoint/2010/main" val="88372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110025" y="2140420"/>
            <a:ext cx="2349910" cy="530352"/>
          </a:xfrm>
          <a:prstGeom prst="roundRect">
            <a:avLst/>
          </a:prstGeom>
          <a:solidFill>
            <a:srgbClr val="DEEBF7"/>
          </a:solidFill>
          <a:ln w="177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Guest physical</a:t>
            </a:r>
            <a:r>
              <a:rPr lang="en-AU" sz="1600" b="1" dirty="0">
                <a:solidFill>
                  <a:srgbClr val="000000"/>
                </a:solidFill>
              </a:rPr>
              <a:t> </a:t>
            </a:r>
            <a:r>
              <a:rPr sz="1600" b="1" dirty="0">
                <a:solidFill>
                  <a:srgbClr val="000000"/>
                </a:solidFill>
              </a:rPr>
              <a:t>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2184" y="2140420"/>
            <a:ext cx="2349910" cy="530352"/>
          </a:xfrm>
          <a:prstGeom prst="roundRect">
            <a:avLst/>
          </a:prstGeom>
          <a:solidFill>
            <a:srgbClr val="DEEBF7"/>
          </a:solidFill>
          <a:ln w="177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Host physical</a:t>
            </a:r>
            <a:r>
              <a:rPr lang="en-AU" sz="1600" b="1" dirty="0">
                <a:solidFill>
                  <a:srgbClr val="000000"/>
                </a:solidFill>
              </a:rPr>
              <a:t> </a:t>
            </a:r>
            <a:r>
              <a:rPr sz="1600" b="1" dirty="0">
                <a:solidFill>
                  <a:srgbClr val="000000"/>
                </a:solidFill>
              </a:rPr>
              <a:t>page</a:t>
            </a:r>
          </a:p>
        </p:txBody>
      </p:sp>
      <p:cxnSp>
        <p:nvCxnSpPr>
          <p:cNvPr id="14" name="Connector 13"/>
          <p:cNvCxnSpPr>
            <a:cxnSpLocks/>
            <a:stCxn id="12" idx="3"/>
            <a:endCxn id="13" idx="1"/>
          </p:cNvCxnSpPr>
          <p:nvPr/>
        </p:nvCxnSpPr>
        <p:spPr>
          <a:xfrm>
            <a:off x="4459935" y="2405596"/>
            <a:ext cx="1962249" cy="0"/>
          </a:xfrm>
          <a:prstGeom prst="line">
            <a:avLst/>
          </a:prstGeom>
          <a:ln w="2540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49942" y="2454877"/>
            <a:ext cx="2582236" cy="4214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AU" sz="1600" b="0" dirty="0">
                <a:solidFill>
                  <a:srgbClr val="E04646"/>
                </a:solidFill>
              </a:rPr>
              <a:t>Map not present</a:t>
            </a:r>
            <a:r>
              <a:rPr sz="1600" b="0" dirty="0">
                <a:solidFill>
                  <a:srgbClr val="E04646"/>
                </a:solidFill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4980" y="3590466"/>
            <a:ext cx="4389119" cy="676656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VMM</a:t>
            </a:r>
            <a:r>
              <a:rPr lang="en-AU" sz="1600" b="1" dirty="0">
                <a:solidFill>
                  <a:srgbClr val="000000"/>
                </a:solidFill>
              </a:rPr>
              <a:t> kernel</a:t>
            </a:r>
            <a:r>
              <a:rPr sz="1600" b="1" dirty="0">
                <a:solidFill>
                  <a:srgbClr val="000000"/>
                </a:solidFill>
              </a:rPr>
              <a:t> allocates </a:t>
            </a:r>
            <a:r>
              <a:rPr lang="en-AU" sz="1600" b="1" dirty="0">
                <a:solidFill>
                  <a:srgbClr val="000000"/>
                </a:solidFill>
              </a:rPr>
              <a:t>a </a:t>
            </a:r>
            <a:r>
              <a:rPr sz="1600" b="1" dirty="0">
                <a:solidFill>
                  <a:srgbClr val="000000"/>
                </a:solidFill>
              </a:rPr>
              <a:t>host </a:t>
            </a:r>
            <a:r>
              <a:rPr lang="en-AU" sz="1600" b="1" dirty="0">
                <a:solidFill>
                  <a:srgbClr val="000000"/>
                </a:solidFill>
              </a:rPr>
              <a:t>physical memory page</a:t>
            </a:r>
            <a:endParaRPr sz="1600" b="1" dirty="0">
              <a:solidFill>
                <a:srgbClr val="000000"/>
              </a:solidFill>
            </a:endParaRPr>
          </a:p>
          <a:p>
            <a:pPr algn="ctr"/>
            <a:r>
              <a:rPr sz="1600" b="1" dirty="0">
                <a:solidFill>
                  <a:srgbClr val="000000"/>
                </a:solidFill>
              </a:rPr>
              <a:t>and updates </a:t>
            </a:r>
            <a:r>
              <a:rPr lang="en-AU" sz="1600" b="1" dirty="0">
                <a:solidFill>
                  <a:srgbClr val="000000"/>
                </a:solidFill>
              </a:rPr>
              <a:t>VMM memory map</a:t>
            </a:r>
            <a:endParaRPr sz="1600" b="1" dirty="0">
              <a:solidFill>
                <a:srgbClr val="000000"/>
              </a:solidFill>
            </a:endParaRP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5441059" y="2876367"/>
            <a:ext cx="1" cy="714099"/>
          </a:xfrm>
          <a:prstGeom prst="line">
            <a:avLst/>
          </a:prstGeom>
          <a:ln w="2540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9835A8-A84F-46D2-A471-3D954DE3892C}"/>
              </a:ext>
            </a:extLst>
          </p:cNvPr>
          <p:cNvSpPr txBox="1"/>
          <p:nvPr/>
        </p:nvSpPr>
        <p:spPr>
          <a:xfrm>
            <a:off x="512700" y="105818"/>
            <a:ext cx="38209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>
                <a:solidFill>
                  <a:srgbClr val="000000"/>
                </a:solidFill>
              </a:rPr>
              <a:t>Extended page fault</a:t>
            </a:r>
          </a:p>
        </p:txBody>
      </p:sp>
    </p:spTree>
    <p:extLst>
      <p:ext uri="{BB962C8B-B14F-4D97-AF65-F5344CB8AC3E}">
        <p14:creationId xmlns:p14="http://schemas.microsoft.com/office/powerpoint/2010/main" val="2414162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8623" y="319452"/>
            <a:ext cx="63977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>
                <a:solidFill>
                  <a:srgbClr val="000000"/>
                </a:solidFill>
              </a:rPr>
              <a:t>Page fault vs. </a:t>
            </a:r>
            <a:r>
              <a:rPr lang="en-AU" sz="3200" dirty="0">
                <a:solidFill>
                  <a:srgbClr val="000000"/>
                </a:solidFill>
              </a:rPr>
              <a:t>E</a:t>
            </a:r>
            <a:r>
              <a:rPr sz="3200" dirty="0" err="1">
                <a:solidFill>
                  <a:srgbClr val="000000"/>
                </a:solidFill>
              </a:rPr>
              <a:t>xtended</a:t>
            </a:r>
            <a:r>
              <a:rPr sz="3200" dirty="0">
                <a:solidFill>
                  <a:srgbClr val="000000"/>
                </a:solidFill>
              </a:rPr>
              <a:t> page 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111" y="2128022"/>
            <a:ext cx="1943100" cy="530352"/>
          </a:xfrm>
          <a:prstGeom prst="roundRect">
            <a:avLst/>
          </a:prstGeom>
          <a:solidFill>
            <a:srgbClr val="DEEBF7"/>
          </a:solidFill>
          <a:ln w="177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Guest </a:t>
            </a:r>
            <a:r>
              <a:rPr sz="1600" b="1" dirty="0">
                <a:solidFill>
                  <a:srgbClr val="000000"/>
                </a:solidFill>
              </a:rPr>
              <a:t>Virtual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5813" y="2115450"/>
            <a:ext cx="1874521" cy="530352"/>
          </a:xfrm>
          <a:prstGeom prst="roundRect">
            <a:avLst/>
          </a:prstGeom>
          <a:solidFill>
            <a:srgbClr val="DEEBF7"/>
          </a:solidFill>
          <a:ln w="177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ctr"/>
            <a:r>
              <a:rPr lang="en-AU" sz="1600" b="1" dirty="0">
                <a:solidFill>
                  <a:srgbClr val="000000"/>
                </a:solidFill>
              </a:rPr>
              <a:t>Guest p</a:t>
            </a:r>
            <a:r>
              <a:rPr sz="1600" b="1" dirty="0" err="1">
                <a:solidFill>
                  <a:srgbClr val="000000"/>
                </a:solidFill>
              </a:rPr>
              <a:t>hysical</a:t>
            </a:r>
            <a:r>
              <a:rPr sz="1600" b="1" dirty="0">
                <a:solidFill>
                  <a:srgbClr val="000000"/>
                </a:solidFill>
              </a:rPr>
              <a:t> page</a:t>
            </a:r>
          </a:p>
        </p:txBody>
      </p:sp>
      <p:cxnSp>
        <p:nvCxnSpPr>
          <p:cNvPr id="8" name="Connector 7"/>
          <p:cNvCxnSpPr>
            <a:cxnSpLocks/>
            <a:stCxn id="6" idx="3"/>
            <a:endCxn id="7" idx="1"/>
          </p:cNvCxnSpPr>
          <p:nvPr/>
        </p:nvCxnSpPr>
        <p:spPr>
          <a:xfrm flipV="1">
            <a:off x="2869211" y="2380626"/>
            <a:ext cx="1816602" cy="12572"/>
          </a:xfrm>
          <a:prstGeom prst="line">
            <a:avLst/>
          </a:prstGeom>
          <a:ln w="2540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91574" y="3382383"/>
            <a:ext cx="3571876" cy="676656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AU" sz="1500" b="1" dirty="0">
                <a:solidFill>
                  <a:srgbClr val="000000"/>
                </a:solidFill>
              </a:rPr>
              <a:t>Guest </a:t>
            </a:r>
            <a:r>
              <a:rPr sz="1500" b="1" dirty="0">
                <a:solidFill>
                  <a:srgbClr val="000000"/>
                </a:solidFill>
              </a:rPr>
              <a:t>OS</a:t>
            </a:r>
            <a:r>
              <a:rPr lang="en-AU" sz="1500" b="1" dirty="0">
                <a:solidFill>
                  <a:srgbClr val="000000"/>
                </a:solidFill>
              </a:rPr>
              <a:t> kernel </a:t>
            </a:r>
            <a:r>
              <a:rPr sz="1500" b="1" dirty="0">
                <a:solidFill>
                  <a:srgbClr val="000000"/>
                </a:solidFill>
              </a:rPr>
              <a:t>allocates</a:t>
            </a:r>
            <a:r>
              <a:rPr lang="en-AU" sz="1500" b="1" dirty="0">
                <a:solidFill>
                  <a:srgbClr val="000000"/>
                </a:solidFill>
              </a:rPr>
              <a:t> a guest</a:t>
            </a:r>
            <a:r>
              <a:rPr sz="1500" b="1" dirty="0">
                <a:solidFill>
                  <a:srgbClr val="000000"/>
                </a:solidFill>
              </a:rPr>
              <a:t> physical page</a:t>
            </a:r>
            <a:r>
              <a:rPr lang="en-AU" sz="1500" b="1" dirty="0">
                <a:solidFill>
                  <a:srgbClr val="000000"/>
                </a:solidFill>
              </a:rPr>
              <a:t> and updates OS memory map</a:t>
            </a:r>
            <a:endParaRPr sz="1500" b="1" dirty="0">
              <a:solidFill>
                <a:srgbClr val="00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40594" y="2106444"/>
            <a:ext cx="2087407" cy="530352"/>
          </a:xfrm>
          <a:prstGeom prst="roundRect">
            <a:avLst/>
          </a:prstGeom>
          <a:solidFill>
            <a:srgbClr val="DEEBF7"/>
          </a:solidFill>
          <a:ln w="177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AU" sz="1400" b="1" dirty="0">
                <a:solidFill>
                  <a:srgbClr val="000000"/>
                </a:solidFill>
              </a:rPr>
              <a:t>Host physical page</a:t>
            </a:r>
          </a:p>
        </p:txBody>
      </p:sp>
      <p:cxnSp>
        <p:nvCxnSpPr>
          <p:cNvPr id="14" name="Connector 13"/>
          <p:cNvCxnSpPr>
            <a:cxnSpLocks/>
            <a:stCxn id="7" idx="3"/>
            <a:endCxn id="13" idx="1"/>
          </p:cNvCxnSpPr>
          <p:nvPr/>
        </p:nvCxnSpPr>
        <p:spPr>
          <a:xfrm flipV="1">
            <a:off x="6560334" y="2371620"/>
            <a:ext cx="2080260" cy="9006"/>
          </a:xfrm>
          <a:prstGeom prst="line">
            <a:avLst/>
          </a:prstGeom>
          <a:ln w="2540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65892" y="2819540"/>
            <a:ext cx="0" cy="521208"/>
          </a:xfrm>
          <a:prstGeom prst="line">
            <a:avLst/>
          </a:prstGeom>
          <a:ln w="2286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DA9DA2-80E5-4860-B5F0-B0DE73F27AAE}"/>
              </a:ext>
            </a:extLst>
          </p:cNvPr>
          <p:cNvSpPr txBox="1"/>
          <p:nvPr/>
        </p:nvSpPr>
        <p:spPr>
          <a:xfrm>
            <a:off x="2514586" y="2508780"/>
            <a:ext cx="2582236" cy="4214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AU" sz="1600" b="0" dirty="0">
                <a:solidFill>
                  <a:srgbClr val="E04646"/>
                </a:solidFill>
              </a:rPr>
              <a:t>Map not present</a:t>
            </a:r>
            <a:r>
              <a:rPr sz="1600" b="0" dirty="0">
                <a:solidFill>
                  <a:srgbClr val="E04646"/>
                </a:solidFill>
              </a:rPr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76CF3-50CD-4B1A-B98B-ECE0D8FCE59D}"/>
              </a:ext>
            </a:extLst>
          </p:cNvPr>
          <p:cNvSpPr txBox="1"/>
          <p:nvPr/>
        </p:nvSpPr>
        <p:spPr>
          <a:xfrm>
            <a:off x="6215617" y="2477624"/>
            <a:ext cx="2582236" cy="4214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AU" sz="1600" b="0" dirty="0">
                <a:solidFill>
                  <a:srgbClr val="E04646"/>
                </a:solidFill>
              </a:rPr>
              <a:t>Map not present</a:t>
            </a:r>
            <a:r>
              <a:rPr sz="1600" b="0" dirty="0">
                <a:solidFill>
                  <a:srgbClr val="E04646"/>
                </a:solidFill>
              </a:rPr>
              <a:t>?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BE89EC1E-6E51-4072-BBCC-ECAE76D2E33D}"/>
              </a:ext>
            </a:extLst>
          </p:cNvPr>
          <p:cNvSpPr/>
          <p:nvPr/>
        </p:nvSpPr>
        <p:spPr>
          <a:xfrm>
            <a:off x="6215617" y="3358040"/>
            <a:ext cx="4389119" cy="676656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ctr"/>
            <a:r>
              <a:rPr sz="1600" b="1" dirty="0">
                <a:solidFill>
                  <a:srgbClr val="000000"/>
                </a:solidFill>
              </a:rPr>
              <a:t>VMM </a:t>
            </a:r>
            <a:r>
              <a:rPr lang="en-AU" sz="1600" b="1" dirty="0">
                <a:solidFill>
                  <a:srgbClr val="000000"/>
                </a:solidFill>
              </a:rPr>
              <a:t>kernel </a:t>
            </a:r>
            <a:r>
              <a:rPr sz="1600" b="1" dirty="0">
                <a:solidFill>
                  <a:srgbClr val="000000"/>
                </a:solidFill>
              </a:rPr>
              <a:t>allocates </a:t>
            </a:r>
            <a:r>
              <a:rPr lang="en-AU" sz="1600" b="1" dirty="0">
                <a:solidFill>
                  <a:srgbClr val="000000"/>
                </a:solidFill>
              </a:rPr>
              <a:t>a </a:t>
            </a:r>
            <a:r>
              <a:rPr sz="1600" b="1" dirty="0">
                <a:solidFill>
                  <a:srgbClr val="000000"/>
                </a:solidFill>
              </a:rPr>
              <a:t>host </a:t>
            </a:r>
            <a:r>
              <a:rPr lang="en-AU" sz="1600" b="1" dirty="0">
                <a:solidFill>
                  <a:srgbClr val="000000"/>
                </a:solidFill>
              </a:rPr>
              <a:t>physical memory page</a:t>
            </a:r>
            <a:endParaRPr sz="1600" b="1" dirty="0">
              <a:solidFill>
                <a:srgbClr val="000000"/>
              </a:solidFill>
            </a:endParaRPr>
          </a:p>
          <a:p>
            <a:pPr algn="ctr"/>
            <a:r>
              <a:rPr sz="1600" b="1" dirty="0">
                <a:solidFill>
                  <a:srgbClr val="000000"/>
                </a:solidFill>
              </a:rPr>
              <a:t>and updates </a:t>
            </a:r>
            <a:r>
              <a:rPr lang="en-AU" sz="1600" b="1" dirty="0">
                <a:solidFill>
                  <a:srgbClr val="000000"/>
                </a:solidFill>
              </a:rPr>
              <a:t>VMM memory map</a:t>
            </a:r>
            <a:endParaRPr sz="1600" b="1" dirty="0">
              <a:solidFill>
                <a:srgbClr val="000000"/>
              </a:solidFill>
            </a:endParaRPr>
          </a:p>
        </p:txBody>
      </p:sp>
      <p:cxnSp>
        <p:nvCxnSpPr>
          <p:cNvPr id="40" name="Connector 16">
            <a:extLst>
              <a:ext uri="{FF2B5EF4-FFF2-40B4-BE49-F238E27FC236}">
                <a16:creationId xmlns:a16="http://schemas.microsoft.com/office/drawing/2014/main" id="{0AB23822-5DAA-4D3A-88EE-580F63949E42}"/>
              </a:ext>
            </a:extLst>
          </p:cNvPr>
          <p:cNvCxnSpPr/>
          <p:nvPr/>
        </p:nvCxnSpPr>
        <p:spPr>
          <a:xfrm>
            <a:off x="3777512" y="2831924"/>
            <a:ext cx="0" cy="521208"/>
          </a:xfrm>
          <a:prstGeom prst="line">
            <a:avLst/>
          </a:prstGeom>
          <a:ln w="22860">
            <a:solidFill>
              <a:srgbClr val="E0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149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947" y="155005"/>
            <a:ext cx="6230782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What is hardware virtualization?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947" y="148056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Hardware virtualization is the ability to run multiple operating systems on a single physical machine.</a:t>
            </a:r>
          </a:p>
          <a:p>
            <a:pPr lvl="1"/>
            <a:r>
              <a:rPr lang="en-US" dirty="0"/>
              <a:t>Allows one computer software (called Virtual Machine Monitor or Hypervisor) to provide the appearance of many computers (called virtual machines).</a:t>
            </a:r>
          </a:p>
        </p:txBody>
      </p:sp>
    </p:spTree>
    <p:extLst>
      <p:ext uri="{BB962C8B-B14F-4D97-AF65-F5344CB8AC3E}">
        <p14:creationId xmlns:p14="http://schemas.microsoft.com/office/powerpoint/2010/main" val="2360553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1DE11-4F3B-40D8-A195-E55FAB0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91" y="179208"/>
            <a:ext cx="2905664" cy="911584"/>
          </a:xfrm>
        </p:spPr>
        <p:txBody>
          <a:bodyPr>
            <a:normAutofit/>
          </a:bodyPr>
          <a:lstStyle/>
          <a:p>
            <a:r>
              <a:rPr lang="en-US" sz="3200" b="1" dirty="0"/>
              <a:t>VMM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122A9-4AF5-43F3-AD73-D9D6BF8F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723" y="1090792"/>
            <a:ext cx="8052332" cy="453231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8C2740E-0927-415E-B820-A84B58BA8BE5}"/>
              </a:ext>
            </a:extLst>
          </p:cNvPr>
          <p:cNvSpPr txBox="1">
            <a:spLocks/>
          </p:cNvSpPr>
          <p:nvPr/>
        </p:nvSpPr>
        <p:spPr>
          <a:xfrm>
            <a:off x="6738669" y="5167312"/>
            <a:ext cx="2819400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Hosted Architecture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4D2317-276E-46BB-92B0-34B551378C27}"/>
              </a:ext>
            </a:extLst>
          </p:cNvPr>
          <p:cNvSpPr txBox="1">
            <a:spLocks/>
          </p:cNvSpPr>
          <p:nvPr/>
        </p:nvSpPr>
        <p:spPr>
          <a:xfrm>
            <a:off x="1909119" y="5167312"/>
            <a:ext cx="4186881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Bare-metal/Native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29026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1DE11-4F3B-40D8-A195-E55FAB0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91" y="179208"/>
            <a:ext cx="2905664" cy="911584"/>
          </a:xfrm>
        </p:spPr>
        <p:txBody>
          <a:bodyPr>
            <a:normAutofit/>
          </a:bodyPr>
          <a:lstStyle/>
          <a:p>
            <a:r>
              <a:rPr lang="en-US" sz="3200" b="1" dirty="0"/>
              <a:t>VMM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122A9-4AF5-43F3-AD73-D9D6BF8F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723" y="1090792"/>
            <a:ext cx="8052332" cy="453231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8C2740E-0927-415E-B820-A84B58BA8BE5}"/>
              </a:ext>
            </a:extLst>
          </p:cNvPr>
          <p:cNvSpPr txBox="1">
            <a:spLocks/>
          </p:cNvSpPr>
          <p:nvPr/>
        </p:nvSpPr>
        <p:spPr>
          <a:xfrm>
            <a:off x="6738669" y="5167312"/>
            <a:ext cx="2819400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Hosted Architecture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4D2317-276E-46BB-92B0-34B551378C27}"/>
              </a:ext>
            </a:extLst>
          </p:cNvPr>
          <p:cNvSpPr txBox="1">
            <a:spLocks/>
          </p:cNvSpPr>
          <p:nvPr/>
        </p:nvSpPr>
        <p:spPr>
          <a:xfrm>
            <a:off x="1909119" y="5167312"/>
            <a:ext cx="4186881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Bare-metal/Native Architecture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1F415E-BA94-4706-BEFA-0CC36E2DCDE3}"/>
              </a:ext>
            </a:extLst>
          </p:cNvPr>
          <p:cNvSpPr txBox="1">
            <a:spLocks/>
          </p:cNvSpPr>
          <p:nvPr/>
        </p:nvSpPr>
        <p:spPr>
          <a:xfrm>
            <a:off x="7247040" y="5749850"/>
            <a:ext cx="1802658" cy="737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0000"/>
                </a:solidFill>
              </a:rPr>
              <a:t>Examples:?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B24575-63E2-45B2-A58E-954178D793B1}"/>
              </a:ext>
            </a:extLst>
          </p:cNvPr>
          <p:cNvSpPr txBox="1">
            <a:spLocks/>
          </p:cNvSpPr>
          <p:nvPr/>
        </p:nvSpPr>
        <p:spPr>
          <a:xfrm>
            <a:off x="2018959" y="5767208"/>
            <a:ext cx="3967199" cy="737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0000"/>
                </a:solidFill>
              </a:rPr>
              <a:t>Examples: KVM, Xen, Hyper-V</a:t>
            </a:r>
          </a:p>
        </p:txBody>
      </p:sp>
    </p:spTree>
    <p:extLst>
      <p:ext uri="{BB962C8B-B14F-4D97-AF65-F5344CB8AC3E}">
        <p14:creationId xmlns:p14="http://schemas.microsoft.com/office/powerpoint/2010/main" val="3677971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1DE11-4F3B-40D8-A195-E55FAB0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91" y="179208"/>
            <a:ext cx="2905664" cy="911584"/>
          </a:xfrm>
        </p:spPr>
        <p:txBody>
          <a:bodyPr>
            <a:normAutofit/>
          </a:bodyPr>
          <a:lstStyle/>
          <a:p>
            <a:r>
              <a:rPr lang="en-US" sz="3200" b="1" dirty="0"/>
              <a:t>VMM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122A9-4AF5-43F3-AD73-D9D6BF8F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723" y="1090792"/>
            <a:ext cx="8052332" cy="4532312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8C2740E-0927-415E-B820-A84B58BA8BE5}"/>
              </a:ext>
            </a:extLst>
          </p:cNvPr>
          <p:cNvSpPr txBox="1">
            <a:spLocks/>
          </p:cNvSpPr>
          <p:nvPr/>
        </p:nvSpPr>
        <p:spPr>
          <a:xfrm>
            <a:off x="6738669" y="5167312"/>
            <a:ext cx="2819400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Hosted Architecture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4D2317-276E-46BB-92B0-34B551378C27}"/>
              </a:ext>
            </a:extLst>
          </p:cNvPr>
          <p:cNvSpPr txBox="1">
            <a:spLocks/>
          </p:cNvSpPr>
          <p:nvPr/>
        </p:nvSpPr>
        <p:spPr>
          <a:xfrm>
            <a:off x="1909119" y="5167312"/>
            <a:ext cx="4186881" cy="91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/>
              <a:t>Bare-metal/Native Architecture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1F415E-BA94-4706-BEFA-0CC36E2DCDE3}"/>
              </a:ext>
            </a:extLst>
          </p:cNvPr>
          <p:cNvSpPr txBox="1">
            <a:spLocks/>
          </p:cNvSpPr>
          <p:nvPr/>
        </p:nvSpPr>
        <p:spPr>
          <a:xfrm>
            <a:off x="6052850" y="5797226"/>
            <a:ext cx="4790932" cy="737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0000"/>
                </a:solidFill>
              </a:rPr>
              <a:t>Examples: VirtualBox, UTM, </a:t>
            </a:r>
            <a:r>
              <a:rPr lang="en-US" sz="2400" b="1" dirty="0" err="1">
                <a:solidFill>
                  <a:srgbClr val="FF0000"/>
                </a:solidFill>
              </a:rPr>
              <a:t>Vmware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B24575-63E2-45B2-A58E-954178D793B1}"/>
              </a:ext>
            </a:extLst>
          </p:cNvPr>
          <p:cNvSpPr txBox="1">
            <a:spLocks/>
          </p:cNvSpPr>
          <p:nvPr/>
        </p:nvSpPr>
        <p:spPr>
          <a:xfrm>
            <a:off x="2018959" y="5767208"/>
            <a:ext cx="3967199" cy="737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0000"/>
                </a:solidFill>
              </a:rPr>
              <a:t>Examples: KVM, Xen, Hyper-V</a:t>
            </a:r>
          </a:p>
        </p:txBody>
      </p:sp>
    </p:spTree>
    <p:extLst>
      <p:ext uri="{BB962C8B-B14F-4D97-AF65-F5344CB8AC3E}">
        <p14:creationId xmlns:p14="http://schemas.microsoft.com/office/powerpoint/2010/main" val="1891057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F3A2-607F-5E44-824D-DEA8DA7B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46" y="318368"/>
            <a:ext cx="2905664" cy="911584"/>
          </a:xfrm>
        </p:spPr>
        <p:txBody>
          <a:bodyPr>
            <a:normAutofit/>
          </a:bodyPr>
          <a:lstStyle/>
          <a:p>
            <a:r>
              <a:rPr lang="en-US" sz="3200" b="1" dirty="0"/>
              <a:t>VMM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0A18-CC1F-B44B-A070-EA1DB223F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46" y="1276710"/>
            <a:ext cx="11450444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Bare-Metal/Native Architecture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VMM or Hypervisor is installed directly on hardware as the most privileged software.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Acknowledged as preferred architecture for mainstream public clouds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Examples: KVM, Xen, Hyper-V</a:t>
            </a:r>
          </a:p>
          <a:p>
            <a:endParaRPr lang="en-US" sz="2400" b="1" dirty="0"/>
          </a:p>
          <a:p>
            <a:r>
              <a:rPr lang="en-US" sz="2400" b="1" dirty="0"/>
              <a:t>Hosted Architecture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Install as an application on an existing host OS, </a:t>
            </a:r>
            <a:r>
              <a:rPr lang="en-US" i="1" dirty="0"/>
              <a:t>e.g., </a:t>
            </a:r>
            <a:r>
              <a:rPr lang="en-US" dirty="0"/>
              <a:t>Windows, Linux, MacOS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Examples: </a:t>
            </a:r>
            <a:r>
              <a:rPr lang="en-US" dirty="0" err="1"/>
              <a:t>Virtualbox</a:t>
            </a:r>
            <a:r>
              <a:rPr lang="en-US" dirty="0"/>
              <a:t>, UTM, </a:t>
            </a:r>
            <a:r>
              <a:rPr lang="en-US" dirty="0" err="1"/>
              <a:t>Vmware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Which is the most privileges software? Host OS or Hosted hypervisor?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39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4150" y="288272"/>
            <a:ext cx="4307395" cy="73809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C179EF9-AE9D-41A3-B138-F990AC5984D5}"/>
              </a:ext>
            </a:extLst>
          </p:cNvPr>
          <p:cNvSpPr txBox="1">
            <a:spLocks/>
          </p:cNvSpPr>
          <p:nvPr/>
        </p:nvSpPr>
        <p:spPr>
          <a:xfrm>
            <a:off x="704150" y="1222091"/>
            <a:ext cx="1026865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</a:t>
            </a:r>
            <a:r>
              <a:rPr lang="en-US" sz="2200" dirty="0"/>
              <a:t>Describe what virtualization is. Describe three types of virtualization (Language, Operating System and Hardware) and their respective attribute.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13107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4150" y="288272"/>
            <a:ext cx="4307395" cy="73809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CC002E6-A581-402E-86A7-88FDF1E0F20F}"/>
              </a:ext>
            </a:extLst>
          </p:cNvPr>
          <p:cNvSpPr txBox="1">
            <a:spLocks/>
          </p:cNvSpPr>
          <p:nvPr/>
        </p:nvSpPr>
        <p:spPr>
          <a:xfrm>
            <a:off x="704149" y="1810139"/>
            <a:ext cx="11345611" cy="4068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Virtualization is a technology that allows multiple virtual instances of hardware/software resources (e.g., operating systems) to run.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Language virtualization</a:t>
            </a:r>
            <a:r>
              <a:rPr lang="en-US" sz="2200" dirty="0"/>
              <a:t>: 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Operating system virtualization</a:t>
            </a:r>
            <a:r>
              <a:rPr lang="en-US" sz="2200" dirty="0"/>
              <a:t>: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dirty="0"/>
              <a:t>Hardware virtualization: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7840721-9BFB-4FAB-AED3-789F2625B771}"/>
              </a:ext>
            </a:extLst>
          </p:cNvPr>
          <p:cNvSpPr txBox="1">
            <a:spLocks/>
          </p:cNvSpPr>
          <p:nvPr/>
        </p:nvSpPr>
        <p:spPr>
          <a:xfrm>
            <a:off x="704149" y="1301604"/>
            <a:ext cx="1026865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</a:t>
            </a:r>
            <a:r>
              <a:rPr lang="en-US" sz="2200" dirty="0"/>
              <a:t>Describe what virtualization is. Describe three types of virtualization (Language, Operating System and Hardware) and their respective attribute.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89586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4150" y="288272"/>
            <a:ext cx="4307395" cy="73809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CC002E6-A581-402E-86A7-88FDF1E0F20F}"/>
              </a:ext>
            </a:extLst>
          </p:cNvPr>
          <p:cNvSpPr txBox="1">
            <a:spLocks/>
          </p:cNvSpPr>
          <p:nvPr/>
        </p:nvSpPr>
        <p:spPr>
          <a:xfrm>
            <a:off x="460309" y="1810139"/>
            <a:ext cx="11487851" cy="4068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Virtualization is a technology that allows multiple virtual instances of hardware/software resources (e.g., operating systems) to run.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i="0" dirty="0">
                <a:effectLst/>
              </a:rPr>
              <a:t>Language virtualization</a:t>
            </a:r>
            <a:r>
              <a:rPr lang="en-US" sz="2200" i="0" dirty="0">
                <a:effectLst/>
              </a:rPr>
              <a:t>: </a:t>
            </a:r>
            <a:r>
              <a:rPr lang="en-US" sz="2200" dirty="0"/>
              <a:t>provides </a:t>
            </a:r>
            <a:r>
              <a:rPr lang="en-AU" sz="2200" dirty="0"/>
              <a:t>a virtual runtime environment (e.g., Python interpreter) that </a:t>
            </a:r>
            <a:r>
              <a:rPr lang="en-US" sz="2200" dirty="0"/>
              <a:t>allows code written in a specific programming language (e.g., Python) to execute.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Cross-OS: code can be executed in a virtual runtime environment across different OSes without modification.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i="0" dirty="0">
                <a:effectLst/>
              </a:rPr>
              <a:t>Operating system virtualization</a:t>
            </a:r>
            <a:r>
              <a:rPr lang="en-US" sz="2200" dirty="0"/>
              <a:t>: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 [2 marks] </a:t>
            </a:r>
            <a:r>
              <a:rPr lang="en-AU" sz="2200" i="0" dirty="0">
                <a:effectLst/>
              </a:rPr>
              <a:t>Hardware virtualization</a:t>
            </a:r>
            <a:r>
              <a:rPr lang="en-AU" sz="2200" dirty="0">
                <a:solidFill>
                  <a:srgbClr val="374151"/>
                </a:solidFill>
              </a:rPr>
              <a:t>: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0C7A8B0-6694-496D-AA98-02D0192AF533}"/>
              </a:ext>
            </a:extLst>
          </p:cNvPr>
          <p:cNvSpPr txBox="1">
            <a:spLocks/>
          </p:cNvSpPr>
          <p:nvPr/>
        </p:nvSpPr>
        <p:spPr>
          <a:xfrm>
            <a:off x="460309" y="1151578"/>
            <a:ext cx="1026865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</a:t>
            </a:r>
            <a:r>
              <a:rPr lang="en-US" sz="2200" dirty="0"/>
              <a:t>Describe what virtualization is. Describe three types of virtualization (Language, Operating System and Hardware) and their respective attribute.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79918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2074" y="288272"/>
            <a:ext cx="4307395" cy="676201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CC002E6-A581-402E-86A7-88FDF1E0F20F}"/>
              </a:ext>
            </a:extLst>
          </p:cNvPr>
          <p:cNvSpPr txBox="1">
            <a:spLocks/>
          </p:cNvSpPr>
          <p:nvPr/>
        </p:nvSpPr>
        <p:spPr>
          <a:xfrm>
            <a:off x="352075" y="1684928"/>
            <a:ext cx="11487851" cy="40267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Virtualization is a technology that allows multiple virtual instances of hardware/software resources (e.g., operating systems) to run.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i="0" dirty="0">
                <a:effectLst/>
              </a:rPr>
              <a:t>Language virtualization</a:t>
            </a:r>
            <a:r>
              <a:rPr lang="en-US" sz="2200" i="0" dirty="0">
                <a:effectLst/>
              </a:rPr>
              <a:t>: </a:t>
            </a:r>
            <a:r>
              <a:rPr lang="en-US" sz="2200" dirty="0"/>
              <a:t>provides </a:t>
            </a:r>
            <a:r>
              <a:rPr lang="en-AU" sz="2200" dirty="0"/>
              <a:t>a virtual runtime environment (e.g., Python interpreter) that </a:t>
            </a:r>
            <a:r>
              <a:rPr lang="en-US" sz="2200" dirty="0"/>
              <a:t>allows code written in a specific programming language (e.g., Python) to execute.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Cross-OS: code can be executed in a virtual runtime environment across different OSes without modification.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i="0" dirty="0">
                <a:effectLst/>
              </a:rPr>
              <a:t>Operating system virtualization</a:t>
            </a:r>
            <a:r>
              <a:rPr lang="en-US" sz="2200" dirty="0"/>
              <a:t>: allows multiple isolated user-space environments (e.g., docker containers) to run on top of a single OS kernel (e.g., Linux kernel).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Limited Isolation: while user-space environments are isolated, they share the same OS kernel, which means a vulnerability in the kernel could affect all user-space environments.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dirty="0"/>
              <a:t>Hardware virtualiz</a:t>
            </a:r>
            <a:r>
              <a:rPr lang="en-AU" sz="2200" b="1" i="0" dirty="0">
                <a:effectLst/>
              </a:rPr>
              <a:t>ation</a:t>
            </a:r>
            <a:r>
              <a:rPr lang="en-AU" sz="2200" dirty="0">
                <a:solidFill>
                  <a:srgbClr val="374151"/>
                </a:solidFill>
              </a:rPr>
              <a:t>: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AU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3F9304A-006E-4E24-A19A-7A01D967E9BE}"/>
              </a:ext>
            </a:extLst>
          </p:cNvPr>
          <p:cNvSpPr txBox="1">
            <a:spLocks/>
          </p:cNvSpPr>
          <p:nvPr/>
        </p:nvSpPr>
        <p:spPr>
          <a:xfrm>
            <a:off x="352074" y="1146291"/>
            <a:ext cx="1026865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</a:t>
            </a:r>
            <a:r>
              <a:rPr lang="en-US" sz="2200" dirty="0"/>
              <a:t>Describe what virtualization is. Describe three types of virtualization (Language, Operating System and Hardware) and their respective attribute.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79358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DBB025-D4A2-4D0E-B8EB-83187D2AE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536" y="1458193"/>
            <a:ext cx="8297342" cy="46548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0758B2-C016-41C8-9EC1-254C21B7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48" y="234496"/>
            <a:ext cx="9289491" cy="82686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Containers</a:t>
            </a:r>
            <a:br>
              <a:rPr lang="en-US" sz="3600" b="1" dirty="0"/>
            </a:br>
            <a:r>
              <a:rPr lang="en-US" sz="3200" b="1" dirty="0"/>
              <a:t>	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143C9F4-5558-4E0E-9DB0-0F2F15F361AE}"/>
              </a:ext>
            </a:extLst>
          </p:cNvPr>
          <p:cNvSpPr/>
          <p:nvPr/>
        </p:nvSpPr>
        <p:spPr>
          <a:xfrm>
            <a:off x="1350586" y="1576552"/>
            <a:ext cx="291950" cy="2081048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B721138-C7A7-497F-B901-941DF69C9BFB}"/>
              </a:ext>
            </a:extLst>
          </p:cNvPr>
          <p:cNvSpPr/>
          <p:nvPr/>
        </p:nvSpPr>
        <p:spPr>
          <a:xfrm>
            <a:off x="9969864" y="1540073"/>
            <a:ext cx="261964" cy="1274843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3A74C2-9816-4825-982A-73F8B57D2D0C}"/>
              </a:ext>
            </a:extLst>
          </p:cNvPr>
          <p:cNvSpPr txBox="1">
            <a:spLocks/>
          </p:cNvSpPr>
          <p:nvPr/>
        </p:nvSpPr>
        <p:spPr>
          <a:xfrm>
            <a:off x="301557" y="2485172"/>
            <a:ext cx="1269263" cy="407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buClrTx/>
              <a:buSzTx/>
              <a:buFontTx/>
            </a:pPr>
            <a:r>
              <a:rPr lang="en-US" sz="9600" dirty="0">
                <a:latin typeface="+mn-lt"/>
              </a:rPr>
              <a:t>VM</a:t>
            </a:r>
            <a:br>
              <a:rPr lang="en-US" sz="3600" b="1" dirty="0"/>
            </a:br>
            <a:r>
              <a:rPr lang="en-US" sz="3200" b="1" dirty="0"/>
              <a:t>	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C587F0-63AA-4893-9CE9-959C6DFC623D}"/>
              </a:ext>
            </a:extLst>
          </p:cNvPr>
          <p:cNvSpPr txBox="1">
            <a:spLocks/>
          </p:cNvSpPr>
          <p:nvPr/>
        </p:nvSpPr>
        <p:spPr>
          <a:xfrm>
            <a:off x="10296300" y="1877814"/>
            <a:ext cx="1440226" cy="607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latin typeface="+mn-lt"/>
              </a:rPr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212296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2074" y="288272"/>
            <a:ext cx="4307395" cy="676201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257318" y="1202213"/>
            <a:ext cx="10268650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[7 marks] Q1: </a:t>
            </a:r>
            <a:r>
              <a:rPr lang="en-US" sz="2200" dirty="0"/>
              <a:t>Describe what virtualization is. Describe three types of virtualization (Language, Operating System and Hardware) and their respective attribute. 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CC002E6-A581-402E-86A7-88FDF1E0F20F}"/>
              </a:ext>
            </a:extLst>
          </p:cNvPr>
          <p:cNvSpPr txBox="1">
            <a:spLocks/>
          </p:cNvSpPr>
          <p:nvPr/>
        </p:nvSpPr>
        <p:spPr>
          <a:xfrm>
            <a:off x="257318" y="1684928"/>
            <a:ext cx="11467322" cy="48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Virtualization is a technology that allows multiple virtual instances of hardware/software resources (e.g., operating systems) to run.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i="0" dirty="0">
                <a:effectLst/>
              </a:rPr>
              <a:t>Language virtualization</a:t>
            </a:r>
            <a:r>
              <a:rPr lang="en-US" sz="2200" i="0" dirty="0">
                <a:effectLst/>
              </a:rPr>
              <a:t>: </a:t>
            </a:r>
            <a:r>
              <a:rPr lang="en-US" sz="2200" dirty="0"/>
              <a:t>provides </a:t>
            </a:r>
            <a:r>
              <a:rPr lang="en-AU" sz="2200" dirty="0"/>
              <a:t>a virtual runtime environment (e.g., Python interpreter) that </a:t>
            </a:r>
            <a:r>
              <a:rPr lang="en-US" sz="2200" dirty="0"/>
              <a:t>allows code written in a specific programming language (e.g., Python) to execute</a:t>
            </a:r>
            <a:r>
              <a:rPr lang="en-US" sz="2200" i="0" dirty="0">
                <a:effectLst/>
              </a:rPr>
              <a:t>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Cross-OS: code can be executed in a virtual runtime environment across different OSes without modification.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i="0" dirty="0">
                <a:effectLst/>
              </a:rPr>
              <a:t>Operating system virtualization</a:t>
            </a:r>
            <a:r>
              <a:rPr lang="en-US" sz="2200" dirty="0"/>
              <a:t>: allows multiple isolated user-space environments (e.g., docker containers) to run on top of a single OS kernel (e.g., Linux kernel).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Limited Isolation: while user-space environments are isolated, they share the same OS kernel, which means a vulnerability in the kernel could affect all user-space environments.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[2 marks] </a:t>
            </a:r>
            <a:r>
              <a:rPr lang="en-AU" sz="2200" b="1" dirty="0"/>
              <a:t>Hardware virtualiz</a:t>
            </a:r>
            <a:r>
              <a:rPr lang="en-AU" sz="2200" b="1" i="0" dirty="0">
                <a:effectLst/>
              </a:rPr>
              <a:t>ation</a:t>
            </a:r>
            <a:r>
              <a:rPr lang="en-AU" sz="2200" dirty="0">
                <a:solidFill>
                  <a:srgbClr val="374151"/>
                </a:solidFill>
              </a:rPr>
              <a:t>: </a:t>
            </a:r>
            <a:r>
              <a:rPr lang="en-US" sz="2200" dirty="0"/>
              <a:t>creates multiple virtual machines sharing a single physical server.</a:t>
            </a:r>
          </a:p>
          <a:p>
            <a:pPr lvl="1" fontAlgn="auto">
              <a:spcAft>
                <a:spcPts val="0"/>
              </a:spcAft>
              <a:buClrTx/>
              <a:buSzTx/>
            </a:pPr>
            <a:r>
              <a:rPr lang="en-US" sz="2200" dirty="0"/>
              <a:t>VM isolation: one VM cannot access data of another VM .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7102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07736" cy="951611"/>
          </a:xfrm>
        </p:spPr>
        <p:txBody>
          <a:bodyPr>
            <a:normAutofit/>
          </a:bodyPr>
          <a:lstStyle/>
          <a:p>
            <a:r>
              <a:rPr lang="en-US" sz="3200" b="1" dirty="0"/>
              <a:t>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951611"/>
          </a:xfrm>
        </p:spPr>
        <p:txBody>
          <a:bodyPr>
            <a:normAutofit/>
          </a:bodyPr>
          <a:lstStyle/>
          <a:p>
            <a:r>
              <a:rPr lang="en-US" sz="2400" dirty="0"/>
              <a:t>A fast and flexible non-relational database service</a:t>
            </a:r>
          </a:p>
          <a:p>
            <a:pPr lvl="1"/>
            <a:r>
              <a:rPr lang="en-US" dirty="0"/>
              <a:t>relational database service: </a:t>
            </a:r>
            <a:r>
              <a:rPr lang="en-US" dirty="0">
                <a:solidFill>
                  <a:srgbClr val="C00000"/>
                </a:solidFill>
              </a:rPr>
              <a:t>MySQL, </a:t>
            </a:r>
            <a:r>
              <a:rPr lang="en-AU" dirty="0">
                <a:solidFill>
                  <a:srgbClr val="C00000"/>
                </a:solidFill>
              </a:rPr>
              <a:t>PostgreSQL, etc.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625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115" y="1435560"/>
            <a:ext cx="10645391" cy="4532312"/>
          </a:xfrm>
        </p:spPr>
        <p:txBody>
          <a:bodyPr>
            <a:normAutofit/>
          </a:bodyPr>
          <a:lstStyle/>
          <a:p>
            <a:pPr lvl="1"/>
            <a:r>
              <a:rPr lang="en-AU" dirty="0"/>
              <a:t>From a terminal:</a:t>
            </a:r>
          </a:p>
          <a:p>
            <a:pPr lvl="2"/>
            <a:r>
              <a:rPr lang="en-AU" sz="2400" dirty="0" err="1"/>
              <a:t>mkdir</a:t>
            </a:r>
            <a:r>
              <a:rPr lang="en-AU" sz="2400" dirty="0"/>
              <a:t> </a:t>
            </a:r>
            <a:r>
              <a:rPr lang="en-AU" sz="2400" dirty="0" err="1"/>
              <a:t>dynamodb</a:t>
            </a:r>
            <a:r>
              <a:rPr lang="en-AU" sz="2400" dirty="0"/>
              <a:t>; cd </a:t>
            </a:r>
            <a:r>
              <a:rPr lang="en-AU" sz="2400" dirty="0" err="1"/>
              <a:t>dynamodb</a:t>
            </a:r>
            <a:endParaRPr lang="en-AU" sz="2400" dirty="0"/>
          </a:p>
          <a:p>
            <a:pPr lvl="2"/>
            <a:r>
              <a:rPr lang="en-AU" sz="2400" dirty="0"/>
              <a:t>install </a:t>
            </a:r>
            <a:r>
              <a:rPr lang="en-AU" sz="2400" dirty="0" err="1"/>
              <a:t>jre</a:t>
            </a:r>
            <a:r>
              <a:rPr lang="en-AU" sz="2400" dirty="0"/>
              <a:t> if not done (</a:t>
            </a:r>
            <a:r>
              <a:rPr lang="en-AU" sz="2400" dirty="0" err="1"/>
              <a:t>sudo</a:t>
            </a:r>
            <a:r>
              <a:rPr lang="en-AU" sz="2400" dirty="0"/>
              <a:t> apt-get install default-</a:t>
            </a:r>
            <a:r>
              <a:rPr lang="en-AU" sz="2400" dirty="0" err="1"/>
              <a:t>jre</a:t>
            </a:r>
            <a:r>
              <a:rPr lang="en-AU" sz="2400" dirty="0"/>
              <a:t>)</a:t>
            </a:r>
          </a:p>
          <a:p>
            <a:pPr lvl="2"/>
            <a:r>
              <a:rPr lang="en-AU" sz="2400" dirty="0" err="1"/>
              <a:t>wget</a:t>
            </a:r>
            <a:r>
              <a:rPr lang="en-AU" sz="2400" dirty="0"/>
              <a:t> </a:t>
            </a:r>
            <a:r>
              <a:rPr lang="en-AU" sz="2400" dirty="0">
                <a:hlinkClick r:id="rId3"/>
              </a:rPr>
              <a:t>https://s3-ap-northeast-1.amazonaws.com/dynamodb-local-tokyo/dynamodb_local_latest.tar.gz</a:t>
            </a:r>
            <a:endParaRPr lang="en-AU" sz="2400" dirty="0"/>
          </a:p>
          <a:p>
            <a:pPr lvl="2"/>
            <a:r>
              <a:rPr lang="en-AU" sz="2400" dirty="0"/>
              <a:t>tar -</a:t>
            </a:r>
            <a:r>
              <a:rPr lang="en-AU" sz="2400" dirty="0" err="1"/>
              <a:t>zxvf</a:t>
            </a:r>
            <a:r>
              <a:rPr lang="en-AU" sz="2400" dirty="0"/>
              <a:t> dynamodb_local_latest.tar.gz</a:t>
            </a:r>
          </a:p>
          <a:p>
            <a:pPr lvl="2"/>
            <a:r>
              <a:rPr lang="en-AU" sz="2400" dirty="0"/>
              <a:t>java -</a:t>
            </a:r>
            <a:r>
              <a:rPr lang="en-AU" sz="2400" dirty="0" err="1"/>
              <a:t>Djava.library.path</a:t>
            </a:r>
            <a:r>
              <a:rPr lang="en-AU" sz="2400" dirty="0"/>
              <a:t>=./</a:t>
            </a:r>
            <a:r>
              <a:rPr lang="en-AU" sz="2400" dirty="0" err="1"/>
              <a:t>DynamoDBLocal_lib</a:t>
            </a:r>
            <a:r>
              <a:rPr lang="en-AU" sz="2400" dirty="0"/>
              <a:t> -jar </a:t>
            </a:r>
            <a:r>
              <a:rPr lang="en-AU" sz="2400" dirty="0" err="1"/>
              <a:t>DynamoDBLocal.jar</a:t>
            </a:r>
            <a:r>
              <a:rPr lang="en-AU" sz="2400" dirty="0"/>
              <a:t> –</a:t>
            </a:r>
            <a:r>
              <a:rPr lang="en-AU" sz="2400" dirty="0" err="1"/>
              <a:t>sharedDb</a:t>
            </a:r>
            <a:endParaRPr lang="en-AU" sz="2400" dirty="0"/>
          </a:p>
          <a:p>
            <a:pPr lvl="1"/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6E42C4-BF0D-4416-A87F-A06499F1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27" y="316999"/>
            <a:ext cx="5082373" cy="805949"/>
          </a:xfrm>
        </p:spPr>
        <p:txBody>
          <a:bodyPr>
            <a:normAutofit/>
          </a:bodyPr>
          <a:lstStyle/>
          <a:p>
            <a:r>
              <a:rPr lang="en-AU" sz="3200" b="1" dirty="0"/>
              <a:t>Set up a local DynamoDB</a:t>
            </a:r>
          </a:p>
        </p:txBody>
      </p:sp>
    </p:spTree>
    <p:extLst>
      <p:ext uri="{BB962C8B-B14F-4D97-AF65-F5344CB8AC3E}">
        <p14:creationId xmlns:p14="http://schemas.microsoft.com/office/powerpoint/2010/main" val="42089294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027" y="88397"/>
            <a:ext cx="3814011" cy="805949"/>
          </a:xfrm>
        </p:spPr>
        <p:txBody>
          <a:bodyPr>
            <a:normAutofit/>
          </a:bodyPr>
          <a:lstStyle/>
          <a:p>
            <a:r>
              <a:rPr lang="en-US" sz="3200" b="1" dirty="0"/>
              <a:t>Create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990141" y="1126184"/>
            <a:ext cx="9409085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Song,KeyType</a:t>
            </a:r>
            <a:r>
              <a:rPr lang="en-AU" sz="1600" dirty="0">
                <a:latin typeface="Courier" pitchFamily="2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5DA73-89CC-4E84-AEDB-0443ED5811F0}"/>
              </a:ext>
            </a:extLst>
          </p:cNvPr>
          <p:cNvSpPr txBox="1"/>
          <p:nvPr/>
        </p:nvSpPr>
        <p:spPr>
          <a:xfrm>
            <a:off x="1428014" y="1126184"/>
            <a:ext cx="559168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9C586-AB15-4179-8639-D23DD48BB64A}"/>
              </a:ext>
            </a:extLst>
          </p:cNvPr>
          <p:cNvSpPr txBox="1"/>
          <p:nvPr/>
        </p:nvSpPr>
        <p:spPr>
          <a:xfrm>
            <a:off x="-377153" y="6378346"/>
            <a:ext cx="4380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+mn-lt"/>
              </a:rPr>
              <a:t>hash 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1A091F-3306-41DC-AE5A-D5D90B94F36F}"/>
              </a:ext>
            </a:extLst>
          </p:cNvPr>
          <p:cNvCxnSpPr>
            <a:cxnSpLocks/>
          </p:cNvCxnSpPr>
          <p:nvPr/>
        </p:nvCxnSpPr>
        <p:spPr bwMode="auto">
          <a:xfrm flipV="1">
            <a:off x="1991280" y="5383123"/>
            <a:ext cx="1194518" cy="99180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69CE73-5C7C-45CD-A559-CE200CD74356}"/>
              </a:ext>
            </a:extLst>
          </p:cNvPr>
          <p:cNvSpPr txBox="1"/>
          <p:nvPr/>
        </p:nvSpPr>
        <p:spPr>
          <a:xfrm>
            <a:off x="8556747" y="6252020"/>
            <a:ext cx="3749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+mn-lt"/>
              </a:rPr>
              <a:t>range key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6AE42-1D4F-427E-80BA-BDC962CFBFD7}"/>
              </a:ext>
            </a:extLst>
          </p:cNvPr>
          <p:cNvSpPr txBox="1"/>
          <p:nvPr/>
        </p:nvSpPr>
        <p:spPr>
          <a:xfrm>
            <a:off x="3185798" y="3761914"/>
            <a:ext cx="5370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+mn-lt"/>
              </a:rPr>
              <a:t>A composite primary key composed of hash key and range key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47CEC0B5-2739-4890-BD86-B0FC1AD3BBC6}"/>
              </a:ext>
            </a:extLst>
          </p:cNvPr>
          <p:cNvSpPr/>
          <p:nvPr/>
        </p:nvSpPr>
        <p:spPr>
          <a:xfrm rot="5400000">
            <a:off x="5686045" y="2183175"/>
            <a:ext cx="418173" cy="541866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C58505-E434-41EB-BCF1-9172D0FAD4D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748749" y="5427203"/>
            <a:ext cx="3050233" cy="8305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4F970C07-C882-47DF-A257-F04AAD833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302805"/>
              </p:ext>
            </p:extLst>
          </p:nvPr>
        </p:nvGraphicFramePr>
        <p:xfrm>
          <a:off x="3185798" y="5202101"/>
          <a:ext cx="5418666" cy="877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</a:tblGrid>
              <a:tr h="877711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</a:tbl>
          </a:graphicData>
        </a:graphic>
      </p:graphicFrame>
      <p:sp>
        <p:nvSpPr>
          <p:cNvPr id="17" name="Title 1">
            <a:extLst>
              <a:ext uri="{FF2B5EF4-FFF2-40B4-BE49-F238E27FC236}">
                <a16:creationId xmlns:a16="http://schemas.microsoft.com/office/drawing/2014/main" id="{3A0A7A83-D92B-4FB0-B510-E8326806A449}"/>
              </a:ext>
            </a:extLst>
          </p:cNvPr>
          <p:cNvSpPr txBox="1">
            <a:spLocks/>
          </p:cNvSpPr>
          <p:nvPr/>
        </p:nvSpPr>
        <p:spPr>
          <a:xfrm>
            <a:off x="1594044" y="4833172"/>
            <a:ext cx="1988991" cy="6535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1800" b="1" dirty="0" err="1"/>
              <a:t>MusicAlbum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47738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027" y="316999"/>
            <a:ext cx="3814011" cy="805949"/>
          </a:xfrm>
        </p:spPr>
        <p:txBody>
          <a:bodyPr>
            <a:normAutofit/>
          </a:bodyPr>
          <a:lstStyle/>
          <a:p>
            <a:r>
              <a:rPr lang="en-US" sz="3200" b="1" dirty="0"/>
              <a:t>Create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990141" y="1354786"/>
            <a:ext cx="9409085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Song,KeyType</a:t>
            </a:r>
            <a:r>
              <a:rPr lang="en-AU" sz="1600" dirty="0">
                <a:latin typeface="Courier" pitchFamily="2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5DA73-89CC-4E84-AEDB-0443ED5811F0}"/>
              </a:ext>
            </a:extLst>
          </p:cNvPr>
          <p:cNvSpPr txBox="1"/>
          <p:nvPr/>
        </p:nvSpPr>
        <p:spPr>
          <a:xfrm>
            <a:off x="1428014" y="1354786"/>
            <a:ext cx="559168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332381-8128-4C8A-A3CF-D1814B54A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014" y="3993437"/>
            <a:ext cx="9678136" cy="1283413"/>
          </a:xfrm>
        </p:spPr>
        <p:txBody>
          <a:bodyPr>
            <a:normAutofit fontScale="85000" lnSpcReduction="10000"/>
          </a:bodyPr>
          <a:lstStyle/>
          <a:p>
            <a:r>
              <a:rPr lang="en-AU" sz="2400" dirty="0"/>
              <a:t>Throughput capacity</a:t>
            </a:r>
          </a:p>
          <a:p>
            <a:pPr lvl="1"/>
            <a:r>
              <a:rPr lang="en-AU" dirty="0"/>
              <a:t>1 write capacity unit (WCU) = </a:t>
            </a:r>
            <a:r>
              <a:rPr lang="en-US" dirty="0"/>
              <a:t>one write per second for a table item up to 1 KiB.</a:t>
            </a:r>
            <a:endParaRPr lang="en-AU" dirty="0"/>
          </a:p>
          <a:p>
            <a:pPr lvl="1"/>
            <a:r>
              <a:rPr lang="en-AU" dirty="0"/>
              <a:t>1 read capacity unit (RCU) = </a:t>
            </a:r>
            <a:r>
              <a:rPr lang="en-US" altLang="zh-CN" dirty="0"/>
              <a:t>one </a:t>
            </a:r>
            <a:r>
              <a:rPr lang="en-AU" dirty="0"/>
              <a:t>strongly consistent </a:t>
            </a:r>
            <a:r>
              <a:rPr lang="en-US" dirty="0"/>
              <a:t>read per second for a table item up to 4 KiB.</a:t>
            </a:r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6288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923" y="263977"/>
            <a:ext cx="3814011" cy="480978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Create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82AED-9B4B-4E1D-937D-AFA612C0A3B6}"/>
              </a:ext>
            </a:extLst>
          </p:cNvPr>
          <p:cNvSpPr txBox="1"/>
          <p:nvPr/>
        </p:nvSpPr>
        <p:spPr>
          <a:xfrm>
            <a:off x="1250305" y="1045029"/>
            <a:ext cx="9297118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Song,KeyType</a:t>
            </a:r>
            <a:r>
              <a:rPr lang="en-AU" sz="1600" dirty="0">
                <a:latin typeface="Courier" pitchFamily="2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2262A9-E085-452F-B1B4-A1742E90E7AC}"/>
              </a:ext>
            </a:extLst>
          </p:cNvPr>
          <p:cNvSpPr txBox="1">
            <a:spLocks/>
          </p:cNvSpPr>
          <p:nvPr/>
        </p:nvSpPr>
        <p:spPr>
          <a:xfrm>
            <a:off x="691137" y="3924502"/>
            <a:ext cx="10431625" cy="1888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Creates a table named "</a:t>
            </a:r>
            <a:r>
              <a:rPr lang="en-AU" sz="2400" dirty="0" err="1">
                <a:latin typeface="+mn-lt"/>
                <a:ea typeface="+mn-ea"/>
                <a:cs typeface="+mn-cs"/>
              </a:rPr>
              <a:t>MusicAlbum</a:t>
            </a:r>
            <a:r>
              <a:rPr lang="en-US" sz="2400" dirty="0">
                <a:latin typeface="+mn-lt"/>
                <a:ea typeface="+mn-ea"/>
                <a:cs typeface="+mn-cs"/>
              </a:rPr>
              <a:t>" with two attributes ("Artist" and "Song"), 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Sets up "Artist" as the hash key and "Song" as the range key, 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Assigns provisioned throughput capacity of 1 read capacity unit and 1 write capacity unit,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Connects to a DynamoDB instance running 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at a local computer on</a:t>
            </a:r>
            <a:r>
              <a:rPr lang="en-US" sz="2400" dirty="0">
                <a:latin typeface="+mn-lt"/>
                <a:ea typeface="+mn-ea"/>
                <a:cs typeface="+mn-cs"/>
              </a:rPr>
              <a:t> port 8000.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6591E-640B-4A78-9D43-DCC8FB6D8C7F}"/>
              </a:ext>
            </a:extLst>
          </p:cNvPr>
          <p:cNvSpPr txBox="1"/>
          <p:nvPr/>
        </p:nvSpPr>
        <p:spPr>
          <a:xfrm>
            <a:off x="691137" y="1045090"/>
            <a:ext cx="559168" cy="2406813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83171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270728" y="992419"/>
            <a:ext cx="9687242" cy="3016210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\</a:t>
            </a:r>
            <a:r>
              <a:rPr lang="en-AU" sz="1600" dirty="0">
                <a:latin typeface="Courier" pitchFamily="2" charset="0"/>
              </a:rPr>
              <a:t> '{"Artist": {"S": “Tom"}, "Song": {"S": "Call Me Today"}}’\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 </a:t>
            </a:r>
            <a:r>
              <a:rPr lang="en-AU" sz="1600" dirty="0">
                <a:latin typeface="Courier" pitchFamily="2" charset="0"/>
              </a:rPr>
              <a:t>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'{</a:t>
            </a:r>
            <a:r>
              <a:rPr lang="en-AU" sz="1600" dirty="0">
                <a:latin typeface="Courier" pitchFamily="2" charset="0"/>
              </a:rPr>
              <a:t>"Artist": {"S": “Jerry"}, "Song": {"S": "Happy Day"}}’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</a:t>
            </a:r>
            <a:r>
              <a:rPr lang="en-AU" sz="1600" dirty="0">
                <a:latin typeface="Courier" pitchFamily="2" charset="0"/>
              </a:rPr>
              <a:t>  </a:t>
            </a:r>
            <a:r>
              <a:rPr lang="en-AU" sz="1700" dirty="0">
                <a:latin typeface="Courier" pitchFamily="2" charset="0"/>
              </a:rPr>
              <a:t>--endpoint-</a:t>
            </a:r>
            <a:r>
              <a:rPr lang="en-AU" sz="1700" dirty="0" err="1">
                <a:latin typeface="Courier" pitchFamily="2" charset="0"/>
              </a:rPr>
              <a:t>url</a:t>
            </a:r>
            <a:r>
              <a:rPr lang="en-AU" sz="1700" dirty="0">
                <a:latin typeface="Courier" pitchFamily="2" charset="0"/>
              </a:rPr>
              <a:t>=http://localhost:8000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0" y="165966"/>
            <a:ext cx="4728411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Create 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0042-9305-4A84-ADD0-40621D58E2F2}"/>
              </a:ext>
            </a:extLst>
          </p:cNvPr>
          <p:cNvSpPr txBox="1"/>
          <p:nvPr/>
        </p:nvSpPr>
        <p:spPr>
          <a:xfrm>
            <a:off x="711560" y="992420"/>
            <a:ext cx="559168" cy="299774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9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13969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09" y="227012"/>
            <a:ext cx="10515600" cy="815975"/>
          </a:xfrm>
        </p:spPr>
        <p:txBody>
          <a:bodyPr>
            <a:normAutofit/>
          </a:bodyPr>
          <a:lstStyle/>
          <a:p>
            <a:r>
              <a:rPr lang="en-US" sz="3200" b="1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328738"/>
            <a:ext cx="10645391" cy="3967162"/>
          </a:xfrm>
        </p:spPr>
        <p:txBody>
          <a:bodyPr>
            <a:normAutofit/>
          </a:bodyPr>
          <a:lstStyle/>
          <a:p>
            <a:r>
              <a:rPr lang="en-US" sz="2400" dirty="0"/>
              <a:t>Attributes can be:</a:t>
            </a:r>
          </a:p>
          <a:p>
            <a:pPr lvl="1"/>
            <a:r>
              <a:rPr lang="en-US" dirty="0"/>
              <a:t>Scalar: represent exactly one value</a:t>
            </a:r>
          </a:p>
          <a:p>
            <a:pPr lvl="2"/>
            <a:r>
              <a:rPr lang="en-US" sz="2400" dirty="0"/>
              <a:t>Number, String, Binary, Boolean, null</a:t>
            </a:r>
          </a:p>
          <a:p>
            <a:pPr lvl="1"/>
            <a:r>
              <a:rPr lang="en-US" dirty="0"/>
              <a:t>Set: an array of the same scalar type</a:t>
            </a:r>
          </a:p>
          <a:p>
            <a:pPr lvl="2"/>
            <a:r>
              <a:rPr lang="en-AU" sz="2400" dirty="0"/>
              <a:t>["Black", "Green" ,"Red"] </a:t>
            </a:r>
          </a:p>
          <a:p>
            <a:pPr lvl="2"/>
            <a:r>
              <a:rPr lang="en-AU" sz="2400" dirty="0"/>
              <a:t>[42.2, -19, 7.5, 3.14]</a:t>
            </a:r>
          </a:p>
          <a:p>
            <a:pPr lvl="1"/>
            <a:r>
              <a:rPr lang="en-US" dirty="0"/>
              <a:t>Document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211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09" y="133707"/>
            <a:ext cx="10515600" cy="815975"/>
          </a:xfrm>
        </p:spPr>
        <p:txBody>
          <a:bodyPr>
            <a:normAutofit/>
          </a:bodyPr>
          <a:lstStyle/>
          <a:p>
            <a:r>
              <a:rPr lang="en-US" sz="3200" b="1" dirty="0"/>
              <a:t>Document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304" y="875036"/>
            <a:ext cx="10645391" cy="4532312"/>
          </a:xfrm>
        </p:spPr>
        <p:txBody>
          <a:bodyPr>
            <a:normAutofit/>
          </a:bodyPr>
          <a:lstStyle/>
          <a:p>
            <a:r>
              <a:rPr lang="en-US" sz="2400" b="1" dirty="0"/>
              <a:t>List</a:t>
            </a:r>
            <a:r>
              <a:rPr lang="en-US" sz="2400" dirty="0"/>
              <a:t>: a collection of values, </a:t>
            </a:r>
            <a:r>
              <a:rPr lang="en-AU" sz="2400" dirty="0"/>
              <a:t>enclosed in square brackets: [ ... ]</a:t>
            </a:r>
            <a:endParaRPr lang="en-US" sz="2400" dirty="0"/>
          </a:p>
          <a:p>
            <a:pPr lvl="1"/>
            <a:r>
              <a:rPr lang="en-AU" dirty="0" err="1"/>
              <a:t>FavoriteThings</a:t>
            </a:r>
            <a:r>
              <a:rPr lang="en-AU" dirty="0"/>
              <a:t>: ["Cookies", "Coffee", 3.14159]</a:t>
            </a:r>
            <a:endParaRPr lang="en-US" dirty="0"/>
          </a:p>
          <a:p>
            <a:r>
              <a:rPr lang="en-US" sz="2400" b="1" dirty="0"/>
              <a:t>Map</a:t>
            </a:r>
            <a:r>
              <a:rPr lang="en-US" sz="2400" dirty="0"/>
              <a:t>: a </a:t>
            </a:r>
            <a:r>
              <a:rPr lang="en-AU" sz="2400" dirty="0"/>
              <a:t>hierarchical</a:t>
            </a:r>
            <a:r>
              <a:rPr lang="en-US" sz="2400" dirty="0"/>
              <a:t> structure of attributes within a single attribute, </a:t>
            </a:r>
            <a:r>
              <a:rPr lang="en-AU" sz="2400" dirty="0"/>
              <a:t>enclosed in </a:t>
            </a:r>
            <a:r>
              <a:rPr lang="en-US" altLang="zh-CN" sz="2400" dirty="0"/>
              <a:t>curly</a:t>
            </a:r>
            <a:r>
              <a:rPr lang="en-AU" sz="2400" dirty="0"/>
              <a:t> brackets: {...} </a:t>
            </a:r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D0E6B-F89C-4B3E-B470-2C34749938FA}"/>
              </a:ext>
            </a:extLst>
          </p:cNvPr>
          <p:cNvSpPr txBox="1"/>
          <p:nvPr/>
        </p:nvSpPr>
        <p:spPr>
          <a:xfrm>
            <a:off x="1122588" y="2555483"/>
            <a:ext cx="9687242" cy="358867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>
                <a:latin typeface="Courier"/>
              </a:rPr>
              <a:t>{ </a:t>
            </a:r>
          </a:p>
          <a:p>
            <a:pPr marL="49213" lvl="2" algn="l"/>
            <a:r>
              <a:rPr lang="en-AU" sz="1600" dirty="0">
                <a:latin typeface="Courier"/>
              </a:rPr>
              <a:t>	Day: "Monday", </a:t>
            </a:r>
          </a:p>
          <a:p>
            <a:pPr marL="49213" lvl="2" algn="l"/>
            <a:r>
              <a:rPr lang="en-AU" sz="1600" dirty="0">
                <a:latin typeface="Courier"/>
              </a:rPr>
              <a:t>	</a:t>
            </a:r>
            <a:r>
              <a:rPr lang="en-AU" sz="1600" dirty="0" err="1">
                <a:latin typeface="Courier"/>
              </a:rPr>
              <a:t>UnreadEmails</a:t>
            </a:r>
            <a:r>
              <a:rPr lang="en-AU" sz="1600" dirty="0">
                <a:latin typeface="Courier"/>
              </a:rPr>
              <a:t>: 42, </a:t>
            </a:r>
          </a:p>
          <a:p>
            <a:pPr marL="49213" lvl="2" algn="l"/>
            <a:r>
              <a:rPr lang="en-AU" sz="1600" dirty="0">
                <a:latin typeface="Courier"/>
              </a:rPr>
              <a:t>	</a:t>
            </a:r>
            <a:r>
              <a:rPr lang="en-AU" sz="1600" dirty="0" err="1">
                <a:latin typeface="Courier"/>
              </a:rPr>
              <a:t>ItemsOnMyDesk</a:t>
            </a:r>
            <a:r>
              <a:rPr lang="en-AU" sz="1600" dirty="0">
                <a:latin typeface="Courier"/>
              </a:rPr>
              <a:t>: [ </a:t>
            </a:r>
          </a:p>
          <a:p>
            <a:pPr marL="49213" lvl="2" algn="l"/>
            <a:r>
              <a:rPr lang="en-AU" sz="1600" dirty="0">
                <a:latin typeface="Courier"/>
              </a:rPr>
              <a:t>		"Coffee Cup", </a:t>
            </a:r>
          </a:p>
          <a:p>
            <a:pPr marL="49213" lvl="2" algn="l"/>
            <a:r>
              <a:rPr lang="en-AU" sz="1600" dirty="0">
                <a:latin typeface="Courier"/>
              </a:rPr>
              <a:t>		"Telephone", </a:t>
            </a:r>
          </a:p>
          <a:p>
            <a:pPr marL="49213" lvl="2" algn="l"/>
            <a:r>
              <a:rPr lang="en-AU" sz="1600" dirty="0">
                <a:latin typeface="Courier"/>
              </a:rPr>
              <a:t>		{ </a:t>
            </a:r>
          </a:p>
          <a:p>
            <a:pPr marL="49213" lvl="2" algn="l"/>
            <a:r>
              <a:rPr lang="en-AU" sz="1600" dirty="0">
                <a:latin typeface="Courier"/>
              </a:rPr>
              <a:t>			Pens: { Quantity : 3}, </a:t>
            </a:r>
          </a:p>
          <a:p>
            <a:pPr marL="49213" lvl="2" algn="l"/>
            <a:r>
              <a:rPr lang="en-AU" sz="1600" dirty="0">
                <a:latin typeface="Courier"/>
              </a:rPr>
              <a:t>			Pencils: { Quantity : 2} </a:t>
            </a:r>
          </a:p>
          <a:p>
            <a:pPr marL="49213" lvl="2" algn="l"/>
            <a:r>
              <a:rPr lang="en-AU" sz="1600" dirty="0">
                <a:latin typeface="Courier"/>
              </a:rPr>
              <a:t>		} </a:t>
            </a:r>
          </a:p>
          <a:p>
            <a:pPr marL="49213" lvl="2" algn="l"/>
            <a:r>
              <a:rPr lang="en-AU" sz="1600" dirty="0">
                <a:latin typeface="Courier"/>
              </a:rPr>
              <a:t>	] </a:t>
            </a:r>
          </a:p>
          <a:p>
            <a:pPr marL="49213" lvl="2" algn="l"/>
            <a:r>
              <a:rPr lang="en-AU" sz="1600" dirty="0">
                <a:latin typeface="Courier"/>
              </a:rPr>
              <a:t>}</a:t>
            </a:r>
            <a:endParaRPr lang="en-US" sz="16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54313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270728" y="992419"/>
            <a:ext cx="9687242" cy="3016210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\</a:t>
            </a:r>
            <a:r>
              <a:rPr lang="en-AU" sz="1600" dirty="0">
                <a:latin typeface="Courier" pitchFamily="2" charset="0"/>
              </a:rPr>
              <a:t> '{"Artist": {"S": “Tom"}, "Song": {"S": "Call Me Today"}}’\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 </a:t>
            </a:r>
            <a:r>
              <a:rPr lang="en-AU" sz="1600" dirty="0">
                <a:latin typeface="Courier" pitchFamily="2" charset="0"/>
              </a:rPr>
              <a:t>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'{</a:t>
            </a:r>
            <a:r>
              <a:rPr lang="en-AU" sz="1600" dirty="0">
                <a:latin typeface="Courier" pitchFamily="2" charset="0"/>
              </a:rPr>
              <a:t>"Artist": {"S": “Jerry"}, "Song": {"S": "Happy Day"}}’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</a:t>
            </a:r>
            <a:r>
              <a:rPr lang="en-AU" sz="1600" dirty="0">
                <a:latin typeface="Courier" pitchFamily="2" charset="0"/>
              </a:rPr>
              <a:t>  </a:t>
            </a:r>
            <a:r>
              <a:rPr lang="en-AU" sz="1700" dirty="0">
                <a:latin typeface="Courier" pitchFamily="2" charset="0"/>
              </a:rPr>
              <a:t>--endpoint-</a:t>
            </a:r>
            <a:r>
              <a:rPr lang="en-AU" sz="1700" dirty="0" err="1">
                <a:latin typeface="Courier" pitchFamily="2" charset="0"/>
              </a:rPr>
              <a:t>url</a:t>
            </a:r>
            <a:r>
              <a:rPr lang="en-AU" sz="1700" dirty="0">
                <a:latin typeface="Courier" pitchFamily="2" charset="0"/>
              </a:rPr>
              <a:t>=http://localhost:8000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0" y="203289"/>
            <a:ext cx="4728411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Create 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0042-9305-4A84-ADD0-40621D58E2F2}"/>
              </a:ext>
            </a:extLst>
          </p:cNvPr>
          <p:cNvSpPr txBox="1"/>
          <p:nvPr/>
        </p:nvSpPr>
        <p:spPr>
          <a:xfrm>
            <a:off x="711560" y="992420"/>
            <a:ext cx="559168" cy="2997744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9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10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2D75CC-887B-497D-8852-C0FCEB1FE68F}"/>
              </a:ext>
            </a:extLst>
          </p:cNvPr>
          <p:cNvSpPr txBox="1">
            <a:spLocks/>
          </p:cNvSpPr>
          <p:nvPr/>
        </p:nvSpPr>
        <p:spPr>
          <a:xfrm>
            <a:off x="711560" y="5669813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hat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if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we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one more attribute to this table, e.g., </a:t>
            </a:r>
            <a:r>
              <a:rPr lang="en-AU" sz="24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AlbumTitle</a:t>
            </a:r>
            <a:r>
              <a:rPr lang="en-AU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?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62D9B07-825A-4252-983A-B3D508CC3A29}"/>
              </a:ext>
            </a:extLst>
          </p:cNvPr>
          <p:cNvSpPr txBox="1">
            <a:spLocks/>
          </p:cNvSpPr>
          <p:nvPr/>
        </p:nvSpPr>
        <p:spPr>
          <a:xfrm>
            <a:off x="711560" y="4273854"/>
            <a:ext cx="10431625" cy="1888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Insert two items with values of the attributes,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Request information about the consumed capacity for the write operations,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Specify a local DynamoDB for the connection.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24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3580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270728" y="992419"/>
            <a:ext cx="9687242" cy="3607141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\</a:t>
            </a:r>
            <a:r>
              <a:rPr lang="en-AU" sz="1600" dirty="0">
                <a:latin typeface="Courier" pitchFamily="2" charset="0"/>
              </a:rPr>
              <a:t> '{"Artist": {"S": “Tom"}, "Song": {"S": "Call Me Today"}, 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</a:t>
            </a:r>
            <a:r>
              <a:rPr lang="en-AU" sz="1600" b="1" dirty="0">
                <a:latin typeface="Courier" pitchFamily="2" charset="0"/>
              </a:rPr>
              <a:t>"</a:t>
            </a:r>
            <a:r>
              <a:rPr lang="en-AU" sz="1600" b="1" dirty="0" err="1">
                <a:latin typeface="Courier" pitchFamily="2" charset="0"/>
              </a:rPr>
              <a:t>AlbumTitle</a:t>
            </a:r>
            <a:r>
              <a:rPr lang="en-AU" sz="1600" b="1" dirty="0">
                <a:latin typeface="Courier" pitchFamily="2" charset="0"/>
              </a:rPr>
              <a:t>": {"S": "Somewhat Famous"}</a:t>
            </a:r>
            <a:r>
              <a:rPr lang="en-AU" sz="1600" dirty="0">
                <a:latin typeface="Courier" pitchFamily="2" charset="0"/>
              </a:rPr>
              <a:t>}’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 </a:t>
            </a:r>
            <a:r>
              <a:rPr lang="en-AU" sz="1600" dirty="0">
                <a:latin typeface="Courier" pitchFamily="2" charset="0"/>
              </a:rPr>
              <a:t>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'{</a:t>
            </a:r>
            <a:r>
              <a:rPr lang="en-AU" sz="1600" dirty="0">
                <a:latin typeface="Courier" pitchFamily="2" charset="0"/>
              </a:rPr>
              <a:t>"Artist": {"S": “Jerry"}, "Song": {"S": "Happy Day"},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</a:t>
            </a:r>
            <a:r>
              <a:rPr lang="en-AU" sz="1600" b="1" dirty="0">
                <a:latin typeface="Courier" pitchFamily="2" charset="0"/>
              </a:rPr>
              <a:t>"</a:t>
            </a:r>
            <a:r>
              <a:rPr lang="en-AU" sz="1600" b="1" dirty="0" err="1">
                <a:latin typeface="Courier" pitchFamily="2" charset="0"/>
              </a:rPr>
              <a:t>AlbumTitle</a:t>
            </a:r>
            <a:r>
              <a:rPr lang="en-AU" sz="1600" b="1" dirty="0">
                <a:latin typeface="Courier" pitchFamily="2" charset="0"/>
              </a:rPr>
              <a:t>": {"S": "Songs About Life"} </a:t>
            </a:r>
            <a:r>
              <a:rPr lang="en-AU" sz="1600" dirty="0">
                <a:latin typeface="Courier" pitchFamily="2" charset="0"/>
              </a:rPr>
              <a:t>}’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--return-consumed-capacity TOTAL</a:t>
            </a:r>
            <a:r>
              <a:rPr lang="en-AU" sz="1600" dirty="0">
                <a:latin typeface="Courier" pitchFamily="2" charset="0"/>
              </a:rPr>
              <a:t>  </a:t>
            </a:r>
            <a:r>
              <a:rPr lang="en-AU" sz="1700" dirty="0">
                <a:latin typeface="Courier" pitchFamily="2" charset="0"/>
              </a:rPr>
              <a:t>--endpoint-</a:t>
            </a:r>
            <a:r>
              <a:rPr lang="en-AU" sz="1700" dirty="0" err="1">
                <a:latin typeface="Courier" pitchFamily="2" charset="0"/>
              </a:rPr>
              <a:t>url</a:t>
            </a:r>
            <a:r>
              <a:rPr lang="en-AU" sz="1700" dirty="0">
                <a:latin typeface="Courier" pitchFamily="2" charset="0"/>
              </a:rPr>
              <a:t>=http://localhost:8000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0" y="320386"/>
            <a:ext cx="4728411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Create Entries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0042-9305-4A84-ADD0-40621D58E2F2}"/>
              </a:ext>
            </a:extLst>
          </p:cNvPr>
          <p:cNvSpPr txBox="1"/>
          <p:nvPr/>
        </p:nvSpPr>
        <p:spPr>
          <a:xfrm>
            <a:off x="711560" y="992420"/>
            <a:ext cx="559168" cy="358867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9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10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88216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0" y="320386"/>
            <a:ext cx="4728411" cy="653568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MusicAlbum</a:t>
            </a:r>
            <a:r>
              <a:rPr lang="en-US" sz="3200" b="1" dirty="0"/>
              <a:t> Table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8F0FE6CB-B53A-41A3-B466-116D5EB511ED}"/>
              </a:ext>
            </a:extLst>
          </p:cNvPr>
          <p:cNvGraphicFramePr>
            <a:graphicFrameLocks noGrp="1"/>
          </p:cNvGraphicFramePr>
          <p:nvPr/>
        </p:nvGraphicFramePr>
        <p:xfrm>
          <a:off x="1889760" y="1857586"/>
          <a:ext cx="8127999" cy="2633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3173947"/>
                    </a:ext>
                  </a:extLst>
                </a:gridCol>
              </a:tblGrid>
              <a:tr h="877711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AlbumTitle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Somewhat Famous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33187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Songs About Life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658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027" y="320024"/>
            <a:ext cx="3701716" cy="532176"/>
          </a:xfrm>
        </p:spPr>
        <p:txBody>
          <a:bodyPr/>
          <a:lstStyle/>
          <a:p>
            <a:r>
              <a:rPr lang="en-US" sz="3200" b="1" dirty="0"/>
              <a:t>Query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163460" y="1238017"/>
            <a:ext cx="8591550" cy="15204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 err="1">
                <a:latin typeface="Courier" pitchFamily="2" charset="0"/>
              </a:rPr>
              <a:t>aws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dynamodb</a:t>
            </a:r>
            <a:r>
              <a:rPr lang="en-US" sz="1600" dirty="0">
                <a:latin typeface="Courier" pitchFamily="2" charset="0"/>
              </a:rPr>
              <a:t> query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US" sz="1600" dirty="0">
                <a:latin typeface="Courier" pitchFamily="2" charset="0"/>
              </a:rPr>
              <a:t>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--key-condition-expression "Artist = :</a:t>
            </a:r>
            <a:r>
              <a:rPr lang="en-US" sz="1600" b="1" dirty="0">
                <a:latin typeface="Courier" pitchFamily="2" charset="0"/>
              </a:rPr>
              <a:t>artist</a:t>
            </a:r>
            <a:r>
              <a:rPr lang="en-US" sz="1600" dirty="0">
                <a:latin typeface="Courier" pitchFamily="2" charset="0"/>
              </a:rPr>
              <a:t>"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--expression-attribute-values '{":</a:t>
            </a:r>
            <a:r>
              <a:rPr lang="en-US" sz="1600" b="1" dirty="0">
                <a:latin typeface="Courier" pitchFamily="2" charset="0"/>
              </a:rPr>
              <a:t>artist</a:t>
            </a:r>
            <a:r>
              <a:rPr lang="en-US" sz="1600" dirty="0">
                <a:latin typeface="Courier" pitchFamily="2" charset="0"/>
              </a:rPr>
              <a:t>":{"</a:t>
            </a:r>
            <a:r>
              <a:rPr lang="en-US" sz="1600" dirty="0" err="1">
                <a:latin typeface="Courier" pitchFamily="2" charset="0"/>
              </a:rPr>
              <a:t>S":"Tom</a:t>
            </a:r>
            <a:r>
              <a:rPr lang="en-US" sz="1600" dirty="0">
                <a:latin typeface="Courier" pitchFamily="2" charset="0"/>
              </a:rPr>
              <a:t>"}}’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--endpoint-</a:t>
            </a:r>
            <a:r>
              <a:rPr lang="en-US" sz="1600" dirty="0" err="1">
                <a:latin typeface="Courier" pitchFamily="2" charset="0"/>
              </a:rPr>
              <a:t>url</a:t>
            </a:r>
            <a:r>
              <a:rPr lang="en-US" sz="1600" dirty="0">
                <a:latin typeface="Courier" pitchFamily="2" charset="0"/>
              </a:rPr>
              <a:t>=http://localhost:8000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B7A14-D235-4D28-B14E-B13E5C7C7351}"/>
              </a:ext>
            </a:extLst>
          </p:cNvPr>
          <p:cNvSpPr txBox="1"/>
          <p:nvPr/>
        </p:nvSpPr>
        <p:spPr>
          <a:xfrm>
            <a:off x="604292" y="1241001"/>
            <a:ext cx="559168" cy="15204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D8E4A-8E8B-49A3-B103-8D62AB2EBC2E}"/>
              </a:ext>
            </a:extLst>
          </p:cNvPr>
          <p:cNvSpPr txBox="1">
            <a:spLocks/>
          </p:cNvSpPr>
          <p:nvPr/>
        </p:nvSpPr>
        <p:spPr>
          <a:xfrm>
            <a:off x="604292" y="3728591"/>
            <a:ext cx="10431625" cy="1290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‘artist’ works as a placeholder and can be changed by other word.</a:t>
            </a:r>
          </a:p>
        </p:txBody>
      </p:sp>
    </p:spTree>
    <p:extLst>
      <p:ext uri="{BB962C8B-B14F-4D97-AF65-F5344CB8AC3E}">
        <p14:creationId xmlns:p14="http://schemas.microsoft.com/office/powerpoint/2010/main" val="39696463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027" y="320024"/>
            <a:ext cx="3701716" cy="532176"/>
          </a:xfrm>
        </p:spPr>
        <p:txBody>
          <a:bodyPr/>
          <a:lstStyle/>
          <a:p>
            <a:r>
              <a:rPr lang="en-US" sz="3200" b="1" dirty="0"/>
              <a:t>Query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163460" y="1238017"/>
            <a:ext cx="8591550" cy="15204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 err="1">
                <a:latin typeface="Courier" pitchFamily="2" charset="0"/>
              </a:rPr>
              <a:t>aws</a:t>
            </a:r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 err="1">
                <a:latin typeface="Courier" pitchFamily="2" charset="0"/>
              </a:rPr>
              <a:t>dynamodb</a:t>
            </a:r>
            <a:r>
              <a:rPr lang="en-US" sz="1600" dirty="0">
                <a:latin typeface="Courier" pitchFamily="2" charset="0"/>
              </a:rPr>
              <a:t> query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US" sz="1600" dirty="0">
                <a:latin typeface="Courier" pitchFamily="2" charset="0"/>
              </a:rPr>
              <a:t>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--key-condition-expression "Artist = :artist"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--expression-attribute-values '{":artist":{"</a:t>
            </a:r>
            <a:r>
              <a:rPr lang="en-US" sz="1600" dirty="0" err="1">
                <a:latin typeface="Courier" pitchFamily="2" charset="0"/>
              </a:rPr>
              <a:t>S":"Tom</a:t>
            </a:r>
            <a:r>
              <a:rPr lang="en-US" sz="1600" dirty="0">
                <a:latin typeface="Courier" pitchFamily="2" charset="0"/>
              </a:rPr>
              <a:t>"}}’ \ 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  --endpoint-</a:t>
            </a:r>
            <a:r>
              <a:rPr lang="en-US" sz="1600" dirty="0" err="1">
                <a:latin typeface="Courier" pitchFamily="2" charset="0"/>
              </a:rPr>
              <a:t>url</a:t>
            </a:r>
            <a:r>
              <a:rPr lang="en-US" sz="1600" dirty="0">
                <a:latin typeface="Courier" pitchFamily="2" charset="0"/>
              </a:rPr>
              <a:t>=http://localhost:8000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B7A14-D235-4D28-B14E-B13E5C7C7351}"/>
              </a:ext>
            </a:extLst>
          </p:cNvPr>
          <p:cNvSpPr txBox="1"/>
          <p:nvPr/>
        </p:nvSpPr>
        <p:spPr>
          <a:xfrm>
            <a:off x="604292" y="1241001"/>
            <a:ext cx="559168" cy="152041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228A72-794A-401C-9BE0-B48D9FB41B14}"/>
              </a:ext>
            </a:extLst>
          </p:cNvPr>
          <p:cNvSpPr txBox="1">
            <a:spLocks/>
          </p:cNvSpPr>
          <p:nvPr/>
        </p:nvSpPr>
        <p:spPr>
          <a:xfrm>
            <a:off x="604292" y="2835883"/>
            <a:ext cx="10431625" cy="1260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+mn-ea"/>
                <a:cs typeface="+mn-cs"/>
              </a:rPr>
              <a:t>Queries the "</a:t>
            </a:r>
            <a:r>
              <a:rPr lang="en-AU" sz="2400" dirty="0" err="1">
                <a:latin typeface="+mn-lt"/>
                <a:ea typeface="+mn-ea"/>
                <a:cs typeface="+mn-cs"/>
              </a:rPr>
              <a:t>MusicAlbum</a:t>
            </a:r>
            <a:r>
              <a:rPr lang="en-US" sz="2400" dirty="0">
                <a:latin typeface="+mn-lt"/>
                <a:ea typeface="+mn-ea"/>
                <a:cs typeface="+mn-cs"/>
              </a:rPr>
              <a:t>" table for items where the "Artist" is "Tom".</a:t>
            </a:r>
          </a:p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F081B1-B1DD-4AB5-8BDA-74A73F8329EA}"/>
              </a:ext>
            </a:extLst>
          </p:cNvPr>
          <p:cNvSpPr txBox="1">
            <a:spLocks/>
          </p:cNvSpPr>
          <p:nvPr/>
        </p:nvSpPr>
        <p:spPr>
          <a:xfrm>
            <a:off x="604292" y="3707454"/>
            <a:ext cx="4639512" cy="704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sz="2400" dirty="0">
                <a:latin typeface="+mn-lt"/>
                <a:ea typeface="+mn-ea"/>
                <a:cs typeface="+mn-cs"/>
              </a:rPr>
              <a:t>Table output:</a:t>
            </a:r>
            <a:endParaRPr lang="en-US" sz="24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147575B5-83AE-43A9-A8EA-B6CAB2A5F2C1}"/>
              </a:ext>
            </a:extLst>
          </p:cNvPr>
          <p:cNvGraphicFramePr>
            <a:graphicFrameLocks noGrp="1"/>
          </p:cNvGraphicFramePr>
          <p:nvPr/>
        </p:nvGraphicFramePr>
        <p:xfrm>
          <a:off x="690346" y="4411930"/>
          <a:ext cx="8127999" cy="1755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3173947"/>
                    </a:ext>
                  </a:extLst>
                </a:gridCol>
              </a:tblGrid>
              <a:tr h="877711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AlbumTitle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Somewhat Famous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33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523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16" y="288926"/>
            <a:ext cx="3701716" cy="667875"/>
          </a:xfrm>
        </p:spPr>
        <p:txBody>
          <a:bodyPr/>
          <a:lstStyle/>
          <a:p>
            <a:r>
              <a:rPr lang="en-US" sz="3200" b="1" dirty="0"/>
              <a:t>Scan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EEA6E-186B-4CAC-8CCF-46AB3D0E5447}"/>
              </a:ext>
            </a:extLst>
          </p:cNvPr>
          <p:cNvSpPr txBox="1"/>
          <p:nvPr/>
        </p:nvSpPr>
        <p:spPr>
          <a:xfrm>
            <a:off x="1314684" y="1404884"/>
            <a:ext cx="5933607" cy="92948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scan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5C24E-E2CB-404C-AA4A-F176CB7681BE}"/>
              </a:ext>
            </a:extLst>
          </p:cNvPr>
          <p:cNvSpPr txBox="1"/>
          <p:nvPr/>
        </p:nvSpPr>
        <p:spPr>
          <a:xfrm>
            <a:off x="755516" y="1404884"/>
            <a:ext cx="559168" cy="929485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F4675-0FA0-47ED-8B33-4F5D225F65E4}"/>
              </a:ext>
            </a:extLst>
          </p:cNvPr>
          <p:cNvSpPr txBox="1">
            <a:spLocks/>
          </p:cNvSpPr>
          <p:nvPr/>
        </p:nvSpPr>
        <p:spPr>
          <a:xfrm>
            <a:off x="755516" y="2782452"/>
            <a:ext cx="3443260" cy="704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AU" sz="2400" dirty="0">
                <a:latin typeface="+mn-lt"/>
                <a:ea typeface="+mn-ea"/>
                <a:cs typeface="+mn-cs"/>
              </a:rPr>
              <a:t>Table output:</a:t>
            </a:r>
            <a:endParaRPr lang="en-US" sz="24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04C19E-C4C0-4498-AE9E-D77C59F817A4}"/>
              </a:ext>
            </a:extLst>
          </p:cNvPr>
          <p:cNvGraphicFramePr>
            <a:graphicFrameLocks noGrp="1"/>
          </p:cNvGraphicFramePr>
          <p:nvPr/>
        </p:nvGraphicFramePr>
        <p:xfrm>
          <a:off x="755516" y="3648286"/>
          <a:ext cx="8127999" cy="2633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3173947"/>
                    </a:ext>
                  </a:extLst>
                </a:gridCol>
              </a:tblGrid>
              <a:tr h="877711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AlbumTitle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Somewhat Famous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33187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Songs About Life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274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270728" y="992419"/>
            <a:ext cx="9687242" cy="331167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\</a:t>
            </a:r>
            <a:r>
              <a:rPr lang="en-AU" sz="1600" dirty="0">
                <a:latin typeface="Courier" pitchFamily="2" charset="0"/>
              </a:rPr>
              <a:t> '{"Artist": {"S": "Tom"}, "Song": {"S": "Call Me Today"}, 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</a:t>
            </a:r>
            <a:r>
              <a:rPr lang="en-AU" sz="1600" b="1" dirty="0">
                <a:latin typeface="Courier" pitchFamily="2" charset="0"/>
              </a:rPr>
              <a:t>"</a:t>
            </a:r>
            <a:r>
              <a:rPr lang="en-AU" sz="1600" b="1" dirty="0" err="1">
                <a:latin typeface="Courier" pitchFamily="2" charset="0"/>
              </a:rPr>
              <a:t>AlbumTitle</a:t>
            </a:r>
            <a:r>
              <a:rPr lang="en-AU" sz="1600" b="1" dirty="0">
                <a:latin typeface="Courier" pitchFamily="2" charset="0"/>
              </a:rPr>
              <a:t>": {"S": "Somewhat Famous"}}</a:t>
            </a:r>
            <a:r>
              <a:rPr lang="en-AU" sz="1600" dirty="0">
                <a:latin typeface="Courier" pitchFamily="2" charset="0"/>
              </a:rPr>
              <a:t>'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 </a:t>
            </a:r>
            <a:r>
              <a:rPr lang="en-AU" sz="1600" dirty="0">
                <a:latin typeface="Courier" pitchFamily="2" charset="0"/>
              </a:rPr>
              <a:t>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'{</a:t>
            </a:r>
            <a:r>
              <a:rPr lang="en-AU" sz="1600" dirty="0">
                <a:latin typeface="Courier" pitchFamily="2" charset="0"/>
              </a:rPr>
              <a:t>"Artist": {"S": "Jerry"}, "Song": {"S": "Happy Day"}}'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--return-consumed-capacity TOTAL</a:t>
            </a:r>
            <a:r>
              <a:rPr lang="en-AU" sz="1600" dirty="0">
                <a:latin typeface="Courier" pitchFamily="2" charset="0"/>
              </a:rPr>
              <a:t>  </a:t>
            </a:r>
            <a:r>
              <a:rPr lang="en-AU" sz="1700" dirty="0">
                <a:latin typeface="Courier" pitchFamily="2" charset="0"/>
              </a:rPr>
              <a:t>--endpoint-</a:t>
            </a:r>
            <a:r>
              <a:rPr lang="en-AU" sz="1700" dirty="0" err="1">
                <a:latin typeface="Courier" pitchFamily="2" charset="0"/>
              </a:rPr>
              <a:t>url</a:t>
            </a:r>
            <a:r>
              <a:rPr lang="en-AU" sz="1700" dirty="0">
                <a:latin typeface="Courier" pitchFamily="2" charset="0"/>
              </a:rPr>
              <a:t>=http://localhost:8000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1" y="189058"/>
            <a:ext cx="3304628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Create Entries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0042-9305-4A84-ADD0-40621D58E2F2}"/>
              </a:ext>
            </a:extLst>
          </p:cNvPr>
          <p:cNvSpPr txBox="1"/>
          <p:nvPr/>
        </p:nvSpPr>
        <p:spPr>
          <a:xfrm>
            <a:off x="711560" y="992420"/>
            <a:ext cx="559168" cy="329320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9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10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932BC9-38CB-4FBA-B3BC-6CD1E475A29D}"/>
              </a:ext>
            </a:extLst>
          </p:cNvPr>
          <p:cNvSpPr txBox="1">
            <a:spLocks/>
          </p:cNvSpPr>
          <p:nvPr/>
        </p:nvSpPr>
        <p:spPr>
          <a:xfrm>
            <a:off x="711560" y="4880682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hat will the table be like if we create the first item with 3 attributes and the second item with 2 attributes? 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836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057F6-1E23-584E-AE1D-3089F26B0C84}"/>
              </a:ext>
            </a:extLst>
          </p:cNvPr>
          <p:cNvSpPr txBox="1"/>
          <p:nvPr/>
        </p:nvSpPr>
        <p:spPr>
          <a:xfrm>
            <a:off x="1270728" y="992419"/>
            <a:ext cx="9687242" cy="3311676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\</a:t>
            </a:r>
            <a:r>
              <a:rPr lang="en-AU" sz="1600" dirty="0">
                <a:latin typeface="Courier" pitchFamily="2" charset="0"/>
              </a:rPr>
              <a:t> '{"Artist": {"S": "Tom"}, "Song": {"S": "Call Me Today"}, 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          </a:t>
            </a:r>
            <a:r>
              <a:rPr lang="en-AU" sz="1600" b="1" dirty="0">
                <a:latin typeface="Courier" pitchFamily="2" charset="0"/>
              </a:rPr>
              <a:t>"</a:t>
            </a:r>
            <a:r>
              <a:rPr lang="en-AU" sz="1600" b="1" dirty="0" err="1">
                <a:latin typeface="Courier" pitchFamily="2" charset="0"/>
              </a:rPr>
              <a:t>AlbumTitle</a:t>
            </a:r>
            <a:r>
              <a:rPr lang="en-AU" sz="1600" b="1" dirty="0">
                <a:latin typeface="Courier" pitchFamily="2" charset="0"/>
              </a:rPr>
              <a:t>": {"S": "Somewhat Famous"}}</a:t>
            </a:r>
            <a:r>
              <a:rPr lang="en-AU" sz="1600" dirty="0">
                <a:latin typeface="Courier" pitchFamily="2" charset="0"/>
              </a:rPr>
              <a:t>'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--return-consumed-capacity TOTAL </a:t>
            </a:r>
            <a:r>
              <a:rPr lang="en-AU" sz="1600" dirty="0">
                <a:latin typeface="Courier" pitchFamily="2" charset="0"/>
              </a:rPr>
              <a:t>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endParaRPr lang="en-AU" sz="1600" i="1" dirty="0">
              <a:latin typeface="Courier" pitchFamily="2" charset="0"/>
            </a:endParaRPr>
          </a:p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put-item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i="1" dirty="0">
                <a:latin typeface="Courier" pitchFamily="2" charset="0"/>
              </a:rPr>
              <a:t> \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  --item '{</a:t>
            </a:r>
            <a:r>
              <a:rPr lang="en-AU" sz="1600" dirty="0">
                <a:latin typeface="Courier" pitchFamily="2" charset="0"/>
              </a:rPr>
              <a:t>"Artist": {"S": "Jerry"}, "Song": {"S": "Happy Day"}}' \ </a:t>
            </a:r>
          </a:p>
          <a:p>
            <a:pPr marL="49213" lvl="2" algn="l"/>
            <a:r>
              <a:rPr lang="en-AU" sz="1600" i="1" dirty="0">
                <a:latin typeface="Courier" pitchFamily="2" charset="0"/>
              </a:rPr>
              <a:t>--return-consumed-capacity TOTAL</a:t>
            </a:r>
            <a:r>
              <a:rPr lang="en-AU" sz="1600" dirty="0">
                <a:latin typeface="Courier" pitchFamily="2" charset="0"/>
              </a:rPr>
              <a:t>  </a:t>
            </a:r>
            <a:r>
              <a:rPr lang="en-AU" sz="1700" dirty="0">
                <a:latin typeface="Courier" pitchFamily="2" charset="0"/>
              </a:rPr>
              <a:t>--endpoint-</a:t>
            </a:r>
            <a:r>
              <a:rPr lang="en-AU" sz="1700" dirty="0" err="1">
                <a:latin typeface="Courier" pitchFamily="2" charset="0"/>
              </a:rPr>
              <a:t>url</a:t>
            </a:r>
            <a:r>
              <a:rPr lang="en-AU" sz="1700" dirty="0">
                <a:latin typeface="Courier" pitchFamily="2" charset="0"/>
              </a:rPr>
              <a:t>=http://localhost:8000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561" y="189058"/>
            <a:ext cx="3304628" cy="653568"/>
          </a:xfrm>
        </p:spPr>
        <p:txBody>
          <a:bodyPr>
            <a:normAutofit/>
          </a:bodyPr>
          <a:lstStyle/>
          <a:p>
            <a:r>
              <a:rPr lang="en-US" sz="3200" b="1" dirty="0"/>
              <a:t>Create Entries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0042-9305-4A84-ADD0-40621D58E2F2}"/>
              </a:ext>
            </a:extLst>
          </p:cNvPr>
          <p:cNvSpPr txBox="1"/>
          <p:nvPr/>
        </p:nvSpPr>
        <p:spPr>
          <a:xfrm>
            <a:off x="711560" y="992420"/>
            <a:ext cx="559168" cy="329320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7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8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9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10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11</a:t>
            </a: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F2A1780-180B-41CC-922C-5D0F416A87A1}"/>
              </a:ext>
            </a:extLst>
          </p:cNvPr>
          <p:cNvGraphicFramePr>
            <a:graphicFrameLocks noGrp="1"/>
          </p:cNvGraphicFramePr>
          <p:nvPr/>
        </p:nvGraphicFramePr>
        <p:xfrm>
          <a:off x="711560" y="4435423"/>
          <a:ext cx="8127999" cy="2263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93173947"/>
                    </a:ext>
                  </a:extLst>
                </a:gridCol>
              </a:tblGrid>
              <a:tr h="877711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 err="1">
                          <a:solidFill>
                            <a:schemeClr val="tx1"/>
                          </a:solidFill>
                        </a:rPr>
                        <a:t>AlbumTitle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877711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 Me Today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Somewhat Famous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033187"/>
                  </a:ext>
                </a:extLst>
              </a:tr>
              <a:tr h="508535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154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69FBCF-CAFE-430A-80E8-8CAC90FEC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7" y="3366108"/>
            <a:ext cx="9971212" cy="1815881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0756447-528D-4B22-86B2-C50A30E29B40}"/>
              </a:ext>
            </a:extLst>
          </p:cNvPr>
          <p:cNvSpPr txBox="1">
            <a:spLocks/>
          </p:cNvSpPr>
          <p:nvPr/>
        </p:nvSpPr>
        <p:spPr>
          <a:xfrm>
            <a:off x="603406" y="295461"/>
            <a:ext cx="646992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if the hash key is NOT provided?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7BBA1-8ECA-412C-8962-9C910765AA09}"/>
              </a:ext>
            </a:extLst>
          </p:cNvPr>
          <p:cNvSpPr txBox="1"/>
          <p:nvPr/>
        </p:nvSpPr>
        <p:spPr>
          <a:xfrm>
            <a:off x="1165533" y="1058745"/>
            <a:ext cx="9409085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Song,KeyType</a:t>
            </a:r>
            <a:r>
              <a:rPr lang="en-AU" sz="1600" dirty="0">
                <a:latin typeface="Courier" pitchFamily="2" charset="0"/>
              </a:rPr>
              <a:t>=RANGE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F2C1D-5A3E-4B02-8828-863831EA6B0C}"/>
              </a:ext>
            </a:extLst>
          </p:cNvPr>
          <p:cNvSpPr txBox="1"/>
          <p:nvPr/>
        </p:nvSpPr>
        <p:spPr>
          <a:xfrm>
            <a:off x="603406" y="1058745"/>
            <a:ext cx="559168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26163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ED390B-49FB-495A-84BE-E47FB731C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65" y="3099010"/>
            <a:ext cx="9350125" cy="310784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2F2E7A2-8784-469E-8222-779C254F1ECA}"/>
              </a:ext>
            </a:extLst>
          </p:cNvPr>
          <p:cNvSpPr txBox="1">
            <a:spLocks/>
          </p:cNvSpPr>
          <p:nvPr/>
        </p:nvSpPr>
        <p:spPr>
          <a:xfrm>
            <a:off x="414979" y="230882"/>
            <a:ext cx="7318607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if the range key is NOT provided?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AA0F-EFB7-435C-8FE2-526F6EEE9A61}"/>
              </a:ext>
            </a:extLst>
          </p:cNvPr>
          <p:cNvSpPr txBox="1"/>
          <p:nvPr/>
        </p:nvSpPr>
        <p:spPr>
          <a:xfrm>
            <a:off x="1165534" y="1058745"/>
            <a:ext cx="8823856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AU" sz="1600" dirty="0" err="1">
                <a:latin typeface="Courier" pitchFamily="2" charset="0"/>
              </a:rPr>
              <a:t>aws</a:t>
            </a:r>
            <a:r>
              <a:rPr lang="en-AU" sz="1600" dirty="0">
                <a:latin typeface="Courier" pitchFamily="2" charset="0"/>
              </a:rPr>
              <a:t> </a:t>
            </a:r>
            <a:r>
              <a:rPr lang="en-AU" sz="1600" dirty="0" err="1">
                <a:latin typeface="Courier" pitchFamily="2" charset="0"/>
              </a:rPr>
              <a:t>dynamodb</a:t>
            </a:r>
            <a:r>
              <a:rPr lang="en-AU" sz="1600" dirty="0">
                <a:latin typeface="Courier" pitchFamily="2" charset="0"/>
              </a:rPr>
              <a:t> create-table --table-name </a:t>
            </a:r>
            <a:r>
              <a:rPr lang="en-AU" sz="1600" dirty="0" err="1">
                <a:latin typeface="Courier" pitchFamily="2" charset="0"/>
              </a:rPr>
              <a:t>MusicAlbum</a:t>
            </a:r>
            <a:r>
              <a:rPr lang="en-AU" sz="1600" dirty="0">
                <a:latin typeface="Courier" pitchFamily="2" charset="0"/>
              </a:rPr>
              <a:t>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--attribute-definitions \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Artist,AttributeType</a:t>
            </a:r>
            <a:r>
              <a:rPr lang="en-AU" sz="1600" dirty="0">
                <a:latin typeface="Courier" pitchFamily="2" charset="0"/>
              </a:rPr>
              <a:t>=S \ </a:t>
            </a:r>
          </a:p>
          <a:p>
            <a:pPr marL="49213" lvl="2" algn="l"/>
            <a:r>
              <a:rPr lang="en-AU" sz="1600" dirty="0">
                <a:latin typeface="Courier" pitchFamily="2" charset="0"/>
              </a:rPr>
              <a:t>  --key-schema  </a:t>
            </a:r>
            <a:r>
              <a:rPr lang="en-AU" sz="1600" dirty="0" err="1">
                <a:latin typeface="Courier" pitchFamily="2" charset="0"/>
              </a:rPr>
              <a:t>AttributeName</a:t>
            </a:r>
            <a:r>
              <a:rPr lang="en-AU" sz="1600" dirty="0">
                <a:latin typeface="Courier" pitchFamily="2" charset="0"/>
              </a:rPr>
              <a:t>=</a:t>
            </a:r>
            <a:r>
              <a:rPr lang="en-AU" sz="1600" dirty="0" err="1">
                <a:latin typeface="Courier" pitchFamily="2" charset="0"/>
              </a:rPr>
              <a:t>Artist,KeyType</a:t>
            </a:r>
            <a:r>
              <a:rPr lang="en-AU" sz="1600" dirty="0">
                <a:latin typeface="Courier" pitchFamily="2" charset="0"/>
              </a:rPr>
              <a:t>=HASH 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--provisioned-throughput </a:t>
            </a:r>
            <a:r>
              <a:rPr lang="en-AU" sz="1600" dirty="0" err="1">
                <a:latin typeface="Courier" pitchFamily="2" charset="0"/>
              </a:rPr>
              <a:t>ReadCapacityUnits</a:t>
            </a:r>
            <a:r>
              <a:rPr lang="en-AU" sz="1600" dirty="0">
                <a:latin typeface="Courier" pitchFamily="2" charset="0"/>
              </a:rPr>
              <a:t>=1,WriteCapacityUnits=1 \</a:t>
            </a:r>
          </a:p>
          <a:p>
            <a:pPr marL="7938" lvl="2" algn="l"/>
            <a:r>
              <a:rPr lang="en-AU" sz="1600" dirty="0">
                <a:latin typeface="Courier" pitchFamily="2" charset="0"/>
              </a:rPr>
              <a:t>  --endpoint-</a:t>
            </a:r>
            <a:r>
              <a:rPr lang="en-AU" sz="1600" dirty="0" err="1">
                <a:latin typeface="Courier" pitchFamily="2" charset="0"/>
              </a:rPr>
              <a:t>url</a:t>
            </a:r>
            <a:r>
              <a:rPr lang="en-AU" sz="1600" dirty="0">
                <a:latin typeface="Courier" pitchFamily="2" charset="0"/>
              </a:rPr>
              <a:t>=http://localhost:8000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9D8C-5365-454D-91FB-955BD53B2BFB}"/>
              </a:ext>
            </a:extLst>
          </p:cNvPr>
          <p:cNvSpPr txBox="1"/>
          <p:nvPr/>
        </p:nvSpPr>
        <p:spPr>
          <a:xfrm>
            <a:off x="617694" y="1058745"/>
            <a:ext cx="524389" cy="1815882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9213" lvl="2" algn="l"/>
            <a:r>
              <a:rPr lang="en-US" sz="1600" dirty="0">
                <a:latin typeface="Courier" pitchFamily="2" charset="0"/>
              </a:rPr>
              <a:t>1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2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3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4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5</a:t>
            </a:r>
          </a:p>
          <a:p>
            <a:pPr marL="49213" lvl="2" algn="l"/>
            <a:r>
              <a:rPr lang="en-US" sz="1600" dirty="0">
                <a:latin typeface="Courier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76786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E723ED-FA6C-43B4-899A-0711BA5B5CA0}"/>
              </a:ext>
            </a:extLst>
          </p:cNvPr>
          <p:cNvGraphicFramePr>
            <a:graphicFrameLocks noGrp="1"/>
          </p:cNvGraphicFramePr>
          <p:nvPr/>
        </p:nvGraphicFramePr>
        <p:xfrm>
          <a:off x="429637" y="1171508"/>
          <a:ext cx="5418666" cy="118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</a:tblGrid>
              <a:tr h="593933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695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D9AE5CD-9B2C-4D1E-B9C9-3E4796D510A4}"/>
              </a:ext>
            </a:extLst>
          </p:cNvPr>
          <p:cNvSpPr txBox="1">
            <a:spLocks/>
          </p:cNvSpPr>
          <p:nvPr/>
        </p:nvSpPr>
        <p:spPr>
          <a:xfrm>
            <a:off x="340567" y="2531477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hat will the table be like if we create an item by adding a value of “Tom” to the “Artist” key? 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5CFCB6-C71D-4989-9BBD-DDC20974EFAD}"/>
              </a:ext>
            </a:extLst>
          </p:cNvPr>
          <p:cNvSpPr txBox="1">
            <a:spLocks/>
          </p:cNvSpPr>
          <p:nvPr/>
        </p:nvSpPr>
        <p:spPr>
          <a:xfrm>
            <a:off x="340567" y="231327"/>
            <a:ext cx="550773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A </a:t>
            </a:r>
            <a:r>
              <a:rPr lang="en-US" sz="3200" b="1" dirty="0" err="1"/>
              <a:t>dynamodb</a:t>
            </a:r>
            <a:r>
              <a:rPr lang="en-US" sz="3200" b="1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16229737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E723ED-FA6C-43B4-899A-0711BA5B5CA0}"/>
              </a:ext>
            </a:extLst>
          </p:cNvPr>
          <p:cNvGraphicFramePr>
            <a:graphicFrameLocks noGrp="1"/>
          </p:cNvGraphicFramePr>
          <p:nvPr/>
        </p:nvGraphicFramePr>
        <p:xfrm>
          <a:off x="429637" y="1171508"/>
          <a:ext cx="5418666" cy="157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88033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44225687"/>
                    </a:ext>
                  </a:extLst>
                </a:gridCol>
              </a:tblGrid>
              <a:tr h="604538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Artist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Song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315626"/>
                  </a:ext>
                </a:extLst>
              </a:tr>
              <a:tr h="483059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Happy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76957"/>
                  </a:ext>
                </a:extLst>
              </a:tr>
              <a:tr h="483059">
                <a:tc>
                  <a:txBody>
                    <a:bodyPr/>
                    <a:lstStyle/>
                    <a:p>
                      <a:r>
                        <a:rPr lang="en-A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05979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D9AE5CD-9B2C-4D1E-B9C9-3E4796D510A4}"/>
              </a:ext>
            </a:extLst>
          </p:cNvPr>
          <p:cNvSpPr txBox="1">
            <a:spLocks/>
          </p:cNvSpPr>
          <p:nvPr/>
        </p:nvSpPr>
        <p:spPr>
          <a:xfrm>
            <a:off x="340567" y="3237484"/>
            <a:ext cx="10576448" cy="984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AU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hat will the table be like if we create an item by adding a value of “Poker Face” to the “Song” key? </a:t>
            </a:r>
            <a:endParaRPr 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5CFCB6-C71D-4989-9BBD-DDC20974EFAD}"/>
              </a:ext>
            </a:extLst>
          </p:cNvPr>
          <p:cNvSpPr txBox="1">
            <a:spLocks/>
          </p:cNvSpPr>
          <p:nvPr/>
        </p:nvSpPr>
        <p:spPr>
          <a:xfrm>
            <a:off x="340567" y="231327"/>
            <a:ext cx="5507736" cy="763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A </a:t>
            </a:r>
            <a:r>
              <a:rPr lang="en-US" sz="3200" b="1" dirty="0" err="1"/>
              <a:t>dynamodb</a:t>
            </a:r>
            <a:r>
              <a:rPr lang="en-US" sz="3200" b="1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3698081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728132" y="1100618"/>
            <a:ext cx="9277513" cy="1578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Q3: </a:t>
            </a:r>
            <a:r>
              <a:rPr lang="en-US" sz="2200" dirty="0"/>
              <a:t>You are asked to store data about music in a local DynamoDB table. Specifically, you need to record the artist name and their song names. Describe the AWS CLI commands you would use to create a table to store such information and write entries to that table.</a:t>
            </a:r>
          </a:p>
        </p:txBody>
      </p:sp>
    </p:spTree>
    <p:extLst>
      <p:ext uri="{BB962C8B-B14F-4D97-AF65-F5344CB8AC3E}">
        <p14:creationId xmlns:p14="http://schemas.microsoft.com/office/powerpoint/2010/main" val="2705980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1C5-5333-2248-B03B-703C97F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7" y="446597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7" y="1371600"/>
            <a:ext cx="10948858" cy="4779818"/>
          </a:xfrm>
        </p:spPr>
        <p:txBody>
          <a:bodyPr>
            <a:normAutofit/>
          </a:bodyPr>
          <a:lstStyle/>
          <a:p>
            <a:r>
              <a:rPr lang="en-AU" sz="2800" dirty="0"/>
              <a:t>The exam has a time limit of 6</a:t>
            </a:r>
            <a:r>
              <a:rPr lang="en-AU" dirty="0"/>
              <a:t>0 mins.</a:t>
            </a:r>
          </a:p>
          <a:p>
            <a:r>
              <a:rPr lang="en-AU" sz="2800" dirty="0"/>
              <a:t>The exam is at </a:t>
            </a:r>
            <a:r>
              <a:rPr lang="en-AU" sz="2800" dirty="0">
                <a:solidFill>
                  <a:srgbClr val="FF0000"/>
                </a:solidFill>
              </a:rPr>
              <a:t>5:15pm-6:15pm on August 24 2026.</a:t>
            </a:r>
          </a:p>
          <a:p>
            <a:pPr lvl="1"/>
            <a:r>
              <a:rPr lang="en-AU" sz="2800" dirty="0"/>
              <a:t>arrive at </a:t>
            </a:r>
            <a:r>
              <a:rPr lang="en-AU" sz="2800" dirty="0">
                <a:solidFill>
                  <a:srgbClr val="FF0000"/>
                </a:solidFill>
              </a:rPr>
              <a:t>5:00pm</a:t>
            </a:r>
            <a:r>
              <a:rPr lang="en-AU" sz="2800" dirty="0"/>
              <a:t> with your ID such as student card, driver license, etc.</a:t>
            </a:r>
          </a:p>
          <a:p>
            <a:r>
              <a:rPr lang="en-AU" sz="2800" dirty="0"/>
              <a:t>No lecture on </a:t>
            </a:r>
            <a:r>
              <a:rPr lang="en-AU" dirty="0"/>
              <a:t>August 24 2026 </a:t>
            </a:r>
            <a:r>
              <a:rPr lang="en-AU" sz="2800" dirty="0"/>
              <a:t>and lab sessions are still open in week 5 and week 6.</a:t>
            </a:r>
          </a:p>
          <a:p>
            <a:r>
              <a:rPr lang="en-AU" dirty="0"/>
              <a:t>Check out your test venue from LMS. </a:t>
            </a:r>
          </a:p>
          <a:p>
            <a:pPr marL="0" indent="0">
              <a:buNone/>
            </a:pPr>
            <a:endParaRPr lang="en-AU" sz="2800" dirty="0"/>
          </a:p>
          <a:p>
            <a:pPr marL="3690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A124F-EA3A-4CF9-B200-9702CA4AB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6" y="4322738"/>
            <a:ext cx="8278889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CFAE0F-C323-41DD-942D-5766A873E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6" y="5191370"/>
            <a:ext cx="8278889" cy="9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289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1C5-5333-2248-B03B-703C97F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97" y="446597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7" y="1371600"/>
            <a:ext cx="10948858" cy="4779818"/>
          </a:xfrm>
        </p:spPr>
        <p:txBody>
          <a:bodyPr>
            <a:normAutofit/>
          </a:bodyPr>
          <a:lstStyle/>
          <a:p>
            <a:r>
              <a:rPr lang="en-AU" sz="2800" dirty="0"/>
              <a:t>The exam is close-book: </a:t>
            </a:r>
            <a:r>
              <a:rPr lang="en-AU" dirty="0"/>
              <a:t>NO</a:t>
            </a:r>
            <a:r>
              <a:rPr lang="en-AU" sz="2800" dirty="0"/>
              <a:t> notes are allowed.</a:t>
            </a:r>
          </a:p>
          <a:p>
            <a:r>
              <a:rPr lang="en-AU" dirty="0"/>
              <a:t>The exam is F2F for all students.</a:t>
            </a:r>
          </a:p>
          <a:p>
            <a:pPr lvl="1"/>
            <a:r>
              <a:rPr lang="en-US" sz="2800" dirty="0"/>
              <a:t>Your name and student ID must be written on the cover page of the question booklet.</a:t>
            </a:r>
            <a:endParaRPr lang="en-AU" sz="2800" dirty="0"/>
          </a:p>
          <a:p>
            <a:pPr lvl="1"/>
            <a:r>
              <a:rPr lang="en-AU" sz="2800" dirty="0"/>
              <a:t>Please do NOT use a pencil or a red pen.</a:t>
            </a:r>
          </a:p>
          <a:p>
            <a:pPr lvl="1"/>
            <a:r>
              <a:rPr lang="en-AU" sz="2800" dirty="0"/>
              <a:t>Please use readable handwriting. What cannot be read cannot be marked.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34866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1195842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</a:p>
          <a:p>
            <a:pPr lvl="1"/>
            <a:r>
              <a:rPr lang="en-AU" sz="2200" dirty="0"/>
              <a:t>15 questions</a:t>
            </a:r>
          </a:p>
          <a:p>
            <a:pPr lvl="1"/>
            <a:r>
              <a:rPr lang="en-AU" sz="2200" dirty="0"/>
              <a:t>Each question has only one correct answer and is worth 1 mark</a:t>
            </a:r>
          </a:p>
          <a:p>
            <a:pPr lvl="1"/>
            <a:endParaRPr lang="en-AU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328961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D49C8-16AB-4D4A-8875-F780C89D2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6" y="2517206"/>
            <a:ext cx="7988502" cy="377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72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1195842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  <a:endParaRPr lang="en-AU" sz="2200" dirty="0"/>
          </a:p>
          <a:p>
            <a:r>
              <a:rPr lang="en-AU" sz="2600" dirty="0"/>
              <a:t>Part 2: Multi-answer questions (15 marks)</a:t>
            </a:r>
          </a:p>
          <a:p>
            <a:pPr lvl="1"/>
            <a:r>
              <a:rPr lang="en-AU" sz="2200" dirty="0"/>
              <a:t>5 questions</a:t>
            </a:r>
          </a:p>
          <a:p>
            <a:pPr lvl="1"/>
            <a:endParaRPr lang="en-AU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328961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75A88E-0DC9-4028-8A5C-E9C917D8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6" y="2650162"/>
            <a:ext cx="8581795" cy="272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896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929986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  <a:endParaRPr lang="en-AU" sz="2200" dirty="0"/>
          </a:p>
          <a:p>
            <a:r>
              <a:rPr lang="en-AU" sz="2600" dirty="0"/>
              <a:t>Part 2: Multi-answer questions (15 marks)</a:t>
            </a:r>
          </a:p>
          <a:p>
            <a:pPr lvl="1"/>
            <a:r>
              <a:rPr lang="en-AU" dirty="0"/>
              <a:t>5 questions</a:t>
            </a:r>
          </a:p>
          <a:p>
            <a:endParaRPr lang="en-AU" sz="2600" dirty="0"/>
          </a:p>
          <a:p>
            <a:pPr lvl="1"/>
            <a:endParaRPr lang="en-AU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204142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75A88E-0DC9-4028-8A5C-E9C917D88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35" y="2237272"/>
            <a:ext cx="8581795" cy="23834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27D799-0F15-4DA6-ACEA-B35586579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35" y="4588482"/>
            <a:ext cx="7553374" cy="20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26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929986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</a:p>
          <a:p>
            <a:pPr lvl="1"/>
            <a:r>
              <a:rPr lang="en-US" sz="2600" dirty="0"/>
              <a:t>All answers to Part 1 must be written in the provided table.</a:t>
            </a:r>
            <a:endParaRPr lang="en-AU" sz="2600" dirty="0"/>
          </a:p>
          <a:p>
            <a:r>
              <a:rPr lang="en-AU" sz="2600" dirty="0"/>
              <a:t>Part 2: Multi-answer questions (15 marks)</a:t>
            </a:r>
          </a:p>
          <a:p>
            <a:pPr lvl="1"/>
            <a:r>
              <a:rPr lang="en-US" sz="2600" dirty="0"/>
              <a:t>All answers to Part 2 must be written in the provided table.</a:t>
            </a:r>
            <a:endParaRPr lang="en-AU" sz="2600" dirty="0"/>
          </a:p>
          <a:p>
            <a:r>
              <a:rPr lang="en-AU" sz="2600" dirty="0"/>
              <a:t>Part 3: Short answer questions including reading code (30 marks)</a:t>
            </a:r>
            <a:r>
              <a:rPr lang="en-AU" sz="2200" dirty="0"/>
              <a:t> </a:t>
            </a:r>
          </a:p>
          <a:p>
            <a:pPr lvl="1"/>
            <a:r>
              <a:rPr lang="en-AU" sz="2600" dirty="0"/>
              <a:t>5 </a:t>
            </a:r>
            <a:r>
              <a:rPr lang="en-US" sz="2600" dirty="0"/>
              <a:t>themed questions</a:t>
            </a:r>
            <a:endParaRPr lang="en-AU" sz="2600" dirty="0"/>
          </a:p>
          <a:p>
            <a:pPr lvl="1"/>
            <a:r>
              <a:rPr lang="en-US" sz="2600" dirty="0"/>
              <a:t>All answers to Part 3 must be written on the provided blank pages.</a:t>
            </a:r>
            <a:endParaRPr lang="en-AU" sz="2600" dirty="0"/>
          </a:p>
          <a:p>
            <a:pPr lvl="1"/>
            <a:endParaRPr lang="en-AU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204142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42282219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929986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</a:p>
          <a:p>
            <a:pPr lvl="1"/>
            <a:r>
              <a:rPr lang="en-US" sz="2600" dirty="0"/>
              <a:t>All answers to Part 1 must be written in the provided table.</a:t>
            </a:r>
            <a:endParaRPr lang="en-AU" sz="2600" dirty="0"/>
          </a:p>
          <a:p>
            <a:r>
              <a:rPr lang="en-AU" sz="2600" dirty="0"/>
              <a:t>Part 2: Multi-answer questions (15 marks)</a:t>
            </a:r>
          </a:p>
          <a:p>
            <a:pPr lvl="1"/>
            <a:r>
              <a:rPr lang="en-US" sz="2600" dirty="0"/>
              <a:t>All answers to Part 2 must be written in the provided table.</a:t>
            </a:r>
            <a:endParaRPr lang="en-AU" sz="2600" dirty="0"/>
          </a:p>
          <a:p>
            <a:r>
              <a:rPr lang="en-AU" sz="2600" dirty="0"/>
              <a:t>Part 3: Short answer questions including reading code (30 marks) </a:t>
            </a:r>
          </a:p>
          <a:p>
            <a:pPr lvl="1"/>
            <a:r>
              <a:rPr lang="en-AU" sz="2600" dirty="0"/>
              <a:t>5 </a:t>
            </a:r>
            <a:r>
              <a:rPr lang="en-US" sz="2600" dirty="0"/>
              <a:t>themed questions</a:t>
            </a:r>
            <a:endParaRPr lang="en-AU" sz="2600" dirty="0"/>
          </a:p>
          <a:p>
            <a:pPr lvl="1"/>
            <a:r>
              <a:rPr lang="en-US" sz="2600" dirty="0"/>
              <a:t>All answers to Part 3 must be written on the provided blank pages.</a:t>
            </a:r>
            <a:endParaRPr lang="en-AU" sz="2600" dirty="0"/>
          </a:p>
          <a:p>
            <a:r>
              <a:rPr lang="en-AU" sz="2600" dirty="0"/>
              <a:t>Test Content:</a:t>
            </a: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Lectures of Weeks 1-5 and Labs 1-3 (not just checkpoints).</a:t>
            </a:r>
          </a:p>
          <a:p>
            <a:pPr lvl="1"/>
            <a:endParaRPr lang="en-AU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204142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20539439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DCB-C7E2-1B4F-BD83-3B7AF005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56" y="929986"/>
            <a:ext cx="11307942" cy="4732172"/>
          </a:xfrm>
        </p:spPr>
        <p:txBody>
          <a:bodyPr>
            <a:noAutofit/>
          </a:bodyPr>
          <a:lstStyle/>
          <a:p>
            <a:r>
              <a:rPr lang="en-AU" sz="2600" dirty="0"/>
              <a:t>Part 1: Multi-choice questions (15 marks)</a:t>
            </a:r>
            <a:endParaRPr lang="en-AU" sz="2200" dirty="0"/>
          </a:p>
          <a:p>
            <a:r>
              <a:rPr lang="en-AU" sz="2600" dirty="0"/>
              <a:t>Part 2: Multi-answer questions (15 marks)</a:t>
            </a:r>
          </a:p>
          <a:p>
            <a:r>
              <a:rPr lang="en-AU" sz="2600" dirty="0"/>
              <a:t>Part 3: Short answer questions including reading code (30 marks)</a:t>
            </a:r>
            <a:r>
              <a:rPr lang="en-US" sz="2600" dirty="0"/>
              <a:t>.</a:t>
            </a:r>
            <a:endParaRPr lang="en-AU" sz="2600" dirty="0"/>
          </a:p>
          <a:p>
            <a:r>
              <a:rPr lang="en-AU" sz="2600" dirty="0"/>
              <a:t>T</a:t>
            </a:r>
            <a:r>
              <a:rPr lang="en-US" altLang="zh-CN" sz="2600" dirty="0" err="1"/>
              <a:t>est</a:t>
            </a:r>
            <a:r>
              <a:rPr lang="en-AU" sz="2600" dirty="0"/>
              <a:t> Content:</a:t>
            </a: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Lectures of Weeks 1-5 and Labs 1-3 (not just checkpoints).</a:t>
            </a:r>
            <a:endParaRPr lang="en-AU" sz="2600" dirty="0"/>
          </a:p>
          <a:p>
            <a:r>
              <a:rPr lang="en-AU" sz="2600" dirty="0"/>
              <a:t>For practice</a:t>
            </a:r>
            <a:r>
              <a:rPr lang="en-AU" sz="2200" dirty="0"/>
              <a:t> (</a:t>
            </a:r>
            <a:r>
              <a:rPr lang="en-AU" sz="2400" dirty="0">
                <a:solidFill>
                  <a:srgbClr val="FF0000"/>
                </a:solidFill>
              </a:rPr>
              <a:t>will be provided next week</a:t>
            </a:r>
            <a:r>
              <a:rPr lang="en-AU" sz="2400" dirty="0"/>
              <a:t>)</a:t>
            </a:r>
            <a:endParaRPr lang="en-AU" sz="2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D8459-40A7-4431-99DF-FE4D1ADE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6" y="204142"/>
            <a:ext cx="4153203" cy="725844"/>
          </a:xfrm>
        </p:spPr>
        <p:txBody>
          <a:bodyPr>
            <a:normAutofit/>
          </a:bodyPr>
          <a:lstStyle/>
          <a:p>
            <a:r>
              <a:rPr lang="en-AU" sz="3200" b="1" dirty="0"/>
              <a:t>Mid-</a:t>
            </a:r>
            <a:r>
              <a:rPr lang="en-AU" sz="3200" b="1" dirty="0" err="1"/>
              <a:t>sem</a:t>
            </a:r>
            <a:r>
              <a:rPr lang="en-AU" sz="3200" b="1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90116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4353</Words>
  <Application>Microsoft Office PowerPoint</Application>
  <PresentationFormat>Widescreen</PresentationFormat>
  <Paragraphs>825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Courier</vt:lpstr>
      <vt:lpstr>Arial</vt:lpstr>
      <vt:lpstr>Calibri</vt:lpstr>
      <vt:lpstr>Calibri Light</vt:lpstr>
      <vt:lpstr>Courier New</vt:lpstr>
      <vt:lpstr>Tahoma</vt:lpstr>
      <vt:lpstr>Times New Roman</vt:lpstr>
      <vt:lpstr>Wingdings</vt:lpstr>
      <vt:lpstr>Office Theme</vt:lpstr>
      <vt:lpstr>Week 4 Memory Virtualization and DynamoDB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Virtualization</vt:lpstr>
      <vt:lpstr>PowerPoint Presentation</vt:lpstr>
      <vt:lpstr>PowerPoint Presentation</vt:lpstr>
      <vt:lpstr>PowerPoint Presentation</vt:lpstr>
      <vt:lpstr>PowerPoint Presentation</vt:lpstr>
      <vt:lpstr>What is hardware virtualization?</vt:lpstr>
      <vt:lpstr>VMM Types</vt:lpstr>
      <vt:lpstr>VMM Types</vt:lpstr>
      <vt:lpstr>VMM Types</vt:lpstr>
      <vt:lpstr>VMM Types</vt:lpstr>
      <vt:lpstr>Practice Question</vt:lpstr>
      <vt:lpstr>Practice Question</vt:lpstr>
      <vt:lpstr>Practice Question</vt:lpstr>
      <vt:lpstr>Practice Question</vt:lpstr>
      <vt:lpstr>Containers  </vt:lpstr>
      <vt:lpstr>Practice Question</vt:lpstr>
      <vt:lpstr>DynamoDB</vt:lpstr>
      <vt:lpstr>Set up a local DynamoDB</vt:lpstr>
      <vt:lpstr>Create Table</vt:lpstr>
      <vt:lpstr>Create Table</vt:lpstr>
      <vt:lpstr>Create Table</vt:lpstr>
      <vt:lpstr>Create Items</vt:lpstr>
      <vt:lpstr>Data Types</vt:lpstr>
      <vt:lpstr>Document Types</vt:lpstr>
      <vt:lpstr>Create Items</vt:lpstr>
      <vt:lpstr>Create Entries</vt:lpstr>
      <vt:lpstr>MusicAlbum Table</vt:lpstr>
      <vt:lpstr>Query</vt:lpstr>
      <vt:lpstr>Query</vt:lpstr>
      <vt:lpstr>Scan</vt:lpstr>
      <vt:lpstr>Create Entries</vt:lpstr>
      <vt:lpstr>Create Entries</vt:lpstr>
      <vt:lpstr>PowerPoint Presentation</vt:lpstr>
      <vt:lpstr>PowerPoint Presentation</vt:lpstr>
      <vt:lpstr>PowerPoint Presentation</vt:lpstr>
      <vt:lpstr>PowerPoint Presentation</vt:lpstr>
      <vt:lpstr>Practice Questions</vt:lpstr>
      <vt:lpstr>Mid-sem test</vt:lpstr>
      <vt:lpstr>Mid-sem test</vt:lpstr>
      <vt:lpstr>Mid-sem test</vt:lpstr>
      <vt:lpstr>Mid-sem test</vt:lpstr>
      <vt:lpstr>Mid-sem test</vt:lpstr>
      <vt:lpstr>Mid-sem test</vt:lpstr>
      <vt:lpstr>Mid-sem test</vt:lpstr>
      <vt:lpstr>Mid-sem test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2026-08-10T03:59:10Z</dcterms:created>
  <dcterms:modified xsi:type="dcterms:W3CDTF">2026-08-10T04:03:39Z</dcterms:modified>
  <cp:category/>
</cp:coreProperties>
</file>