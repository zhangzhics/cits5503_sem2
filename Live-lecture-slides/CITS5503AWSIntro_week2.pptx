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saveSubsetFonts="1">
  <p:sldMasterIdLst>
    <p:sldMasterId id="2147483749" r:id="rId1"/>
  </p:sldMasterIdLst>
  <p:notesMasterIdLst>
    <p:notesMasterId r:id="rId63"/>
  </p:notesMasterIdLst>
  <p:handoutMasterIdLst>
    <p:handoutMasterId r:id="rId64"/>
  </p:handoutMasterIdLst>
  <p:sldIdLst>
    <p:sldId id="1344" r:id="rId2"/>
    <p:sldId id="343" r:id="rId3"/>
    <p:sldId id="1411" r:id="rId4"/>
    <p:sldId id="1414" r:id="rId5"/>
    <p:sldId id="1415" r:id="rId6"/>
    <p:sldId id="1413" r:id="rId7"/>
    <p:sldId id="307" r:id="rId8"/>
    <p:sldId id="308" r:id="rId9"/>
    <p:sldId id="312" r:id="rId10"/>
    <p:sldId id="310" r:id="rId11"/>
    <p:sldId id="309" r:id="rId12"/>
    <p:sldId id="1416" r:id="rId13"/>
    <p:sldId id="1418" r:id="rId14"/>
    <p:sldId id="1406" r:id="rId15"/>
    <p:sldId id="1417" r:id="rId16"/>
    <p:sldId id="313" r:id="rId17"/>
    <p:sldId id="1174" r:id="rId18"/>
    <p:sldId id="1404" r:id="rId19"/>
    <p:sldId id="294" r:id="rId20"/>
    <p:sldId id="1409" r:id="rId21"/>
    <p:sldId id="295" r:id="rId22"/>
    <p:sldId id="293" r:id="rId23"/>
    <p:sldId id="296" r:id="rId24"/>
    <p:sldId id="1410" r:id="rId25"/>
    <p:sldId id="297" r:id="rId26"/>
    <p:sldId id="1357" r:id="rId27"/>
    <p:sldId id="1361" r:id="rId28"/>
    <p:sldId id="1134" r:id="rId29"/>
    <p:sldId id="1362" r:id="rId30"/>
    <p:sldId id="1364" r:id="rId31"/>
    <p:sldId id="1366" r:id="rId32"/>
    <p:sldId id="1367" r:id="rId33"/>
    <p:sldId id="1370" r:id="rId34"/>
    <p:sldId id="1190" r:id="rId35"/>
    <p:sldId id="1328" r:id="rId36"/>
    <p:sldId id="1375" r:id="rId37"/>
    <p:sldId id="1376" r:id="rId38"/>
    <p:sldId id="1407" r:id="rId39"/>
    <p:sldId id="1226" r:id="rId40"/>
    <p:sldId id="1408" r:id="rId41"/>
    <p:sldId id="1379" r:id="rId42"/>
    <p:sldId id="1377" r:id="rId43"/>
    <p:sldId id="1378" r:id="rId44"/>
    <p:sldId id="1380" r:id="rId45"/>
    <p:sldId id="1382" r:id="rId46"/>
    <p:sldId id="1384" r:id="rId47"/>
    <p:sldId id="1386" r:id="rId48"/>
    <p:sldId id="1383" r:id="rId49"/>
    <p:sldId id="1389" r:id="rId50"/>
    <p:sldId id="1373" r:id="rId51"/>
    <p:sldId id="1412" r:id="rId52"/>
    <p:sldId id="1402" r:id="rId53"/>
    <p:sldId id="1400" r:id="rId54"/>
    <p:sldId id="1399" r:id="rId55"/>
    <p:sldId id="1403" r:id="rId56"/>
    <p:sldId id="1392" r:id="rId57"/>
    <p:sldId id="1394" r:id="rId58"/>
    <p:sldId id="1395" r:id="rId59"/>
    <p:sldId id="1396" r:id="rId60"/>
    <p:sldId id="1359" r:id="rId61"/>
    <p:sldId id="1397" r:id="rId62"/>
  </p:sldIdLst>
  <p:sldSz cx="9144000" cy="6858000" type="screen4x3"/>
  <p:notesSz cx="7315200" cy="96012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55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8B00"/>
    <a:srgbClr val="FF9900"/>
    <a:srgbClr val="00CC00"/>
    <a:srgbClr val="33CC33"/>
    <a:srgbClr val="FF3399"/>
    <a:srgbClr val="66FF33"/>
    <a:srgbClr val="FFCC99"/>
    <a:srgbClr val="FF3300"/>
    <a:srgbClr val="FFFF00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956" autoAdjust="0"/>
    <p:restoredTop sz="73635" autoAdjust="0"/>
  </p:normalViewPr>
  <p:slideViewPr>
    <p:cSldViewPr snapToGrid="0">
      <p:cViewPr varScale="1">
        <p:scale>
          <a:sx n="52" d="100"/>
          <a:sy n="52" d="100"/>
        </p:scale>
        <p:origin x="1296" y="72"/>
      </p:cViewPr>
      <p:guideLst>
        <p:guide orient="horz" pos="3888"/>
        <p:guide pos="55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-3492" y="-10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170265" cy="479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37" y="1"/>
            <a:ext cx="3170264" cy="479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2065"/>
            <a:ext cx="3170265" cy="479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37" y="9122065"/>
            <a:ext cx="3170264" cy="479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66017A74-8498-4425-B905-56B59BE89ABC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63155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170265" cy="479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37" y="1"/>
            <a:ext cx="3170264" cy="479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671" y="4561803"/>
            <a:ext cx="5365858" cy="4318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3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2065"/>
            <a:ext cx="3170265" cy="479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37" y="9122065"/>
            <a:ext cx="3170264" cy="479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D37F8DB4-A4FF-4A8B-9A85-9B1874A58FC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4556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389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937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1244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760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8100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16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30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163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538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65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234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7464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701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106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833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11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6315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589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8997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7000"/>
              </a:lnSpc>
              <a:spcBef>
                <a:spcPct val="300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4607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6980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7000"/>
              </a:lnSpc>
              <a:spcBef>
                <a:spcPct val="300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691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7514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273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52238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36398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217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970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209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013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7231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9398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082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199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0595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4867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764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1394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7052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Font typeface="Courier New" panose="02070309020205020404" pitchFamily="49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6094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207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964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14178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7664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21562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49756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1140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7237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3356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3580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2510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6589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3816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0467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6050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4321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0398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7578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159837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2439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24EC0-117D-3241-9E7D-7E6821D75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BABFE-96D0-7B40-B735-5F4FAB79C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24355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FF9E0-7368-FE48-ABC7-7B6CDC72D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E819C-9B63-C844-BF9E-99C8984B8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3771779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36403-B80C-AD47-8E92-DDB417F06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250AC-A367-404A-9102-99599C424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917619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AC6CB-6DF2-8E45-BBD4-FD2B8F872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0ED82-904D-A742-BD00-B51BABB90C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25BE2-D9D3-B946-983C-CFAA431FC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151911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734E9-A2C0-5149-97FE-8B67B9ADB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F9C92-1B00-EC40-83B5-DD8E878C4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F2A3F-35FE-1246-AE60-0FCFAE021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2D0A6-1D92-BF47-BDCA-991F540C28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B092DB-3336-8042-BAA3-836B640A2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8255482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A816E-19A0-DE4F-B259-15305AD21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230870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4259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AE461-B255-F441-9A84-2E5FD8A0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02D54-45C4-214C-A1CA-08827EECD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D2236-160D-CC4C-9D2D-B26FB86D5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787239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810ED-8E34-1B45-93BE-4FE24E422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54B50-CC6F-EB47-A9B6-AB8F32766B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18F83A-ED88-614E-852D-02667E1E7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0115166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83E80-82A4-3443-B954-4879D00F6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CDACE-B35B-844C-BFF1-9309B1AFF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515359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A4A55E-2B7B-C049-932A-E7AB359B8C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4AADDF-398C-2843-AF28-44AF2CA89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772553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513" y="1990725"/>
            <a:ext cx="7793037" cy="990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111"/>
          <p:cNvSpPr>
            <a:spLocks noChangeArrowheads="1"/>
          </p:cNvSpPr>
          <p:nvPr userDrawn="1"/>
        </p:nvSpPr>
        <p:spPr bwMode="auto">
          <a:xfrm>
            <a:off x="304800" y="838200"/>
            <a:ext cx="787400" cy="3429000"/>
          </a:xfrm>
          <a:prstGeom prst="rect">
            <a:avLst/>
          </a:prstGeom>
          <a:gradFill rotWithShape="0">
            <a:gsLst>
              <a:gs pos="0">
                <a:srgbClr val="708FE6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110"/>
          <p:cNvSpPr>
            <a:spLocks noChangeShapeType="1"/>
          </p:cNvSpPr>
          <p:nvPr userDrawn="1"/>
        </p:nvSpPr>
        <p:spPr bwMode="auto">
          <a:xfrm>
            <a:off x="842963" y="1143000"/>
            <a:ext cx="0" cy="2895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63663" y="3944938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 flipV="1">
            <a:off x="201613" y="3011488"/>
            <a:ext cx="8693150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1" name="Picture 10" descr="Penn shield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5795" y="2612508"/>
            <a:ext cx="659107" cy="74019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E6B61A-66B2-BF48-888C-025882E8E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4478A-031A-F047-B581-67CB51BB7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045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658" r:id="rId12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zhangzhics.gitbook.io/cits5503#live-lab-assessme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zhangzhics.gitbook.io/cits5503#live-lab-assessme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zhangzhics.gitbook.io/cits5503#live-lab-assessme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hangzhics.gitbook.io/cits5503#aws-resource-usage-rules-for-labs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gif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gi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gi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gi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gi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gi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489389878001.signin.aws.amazon.com/console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 title="intersecting circles">
            <a:extLst>
              <a:ext uri="{FF2B5EF4-FFF2-40B4-BE49-F238E27FC236}">
                <a16:creationId xmlns:a16="http://schemas.microsoft.com/office/drawing/2014/main" id="{D2C4BFA1-2075-4901-9E24-E41D1FDD51F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6610" y="498348"/>
            <a:ext cx="7426997" cy="5861304"/>
            <a:chOff x="1155481" y="498348"/>
            <a:chExt cx="9902663" cy="5861304"/>
          </a:xfrm>
        </p:grpSpPr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</p:grpSp>
      <p:sp>
        <p:nvSpPr>
          <p:cNvPr id="15" name="Rectangle 14" title="ribbon">
            <a:extLst>
              <a:ext uri="{FF2B5EF4-FFF2-40B4-BE49-F238E27FC236}">
                <a16:creationId xmlns:a16="http://schemas.microsoft.com/office/drawing/2014/main" id="{053FB2EE-284F-4C87-AB3D-BBF87A9FAB9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9144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A9A19-EA4A-3140-9F24-20270B76E6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495800"/>
            <a:ext cx="6858000" cy="762000"/>
          </a:xfrm>
        </p:spPr>
        <p:txBody>
          <a:bodyPr>
            <a:normAutofit/>
          </a:bodyPr>
          <a:lstStyle/>
          <a:p>
            <a:r>
              <a:rPr lang="en-US" dirty="0"/>
              <a:t>D</a:t>
            </a:r>
            <a:r>
              <a:rPr lang="en-AU" dirty="0"/>
              <a:t>r</a:t>
            </a:r>
            <a:r>
              <a:rPr lang="zh-CN" altLang="en-US" dirty="0"/>
              <a:t> </a:t>
            </a:r>
            <a:r>
              <a:rPr lang="en-AU" altLang="zh-CN" dirty="0" err="1"/>
              <a:t>Zhi</a:t>
            </a:r>
            <a:r>
              <a:rPr lang="en-AU" altLang="zh-CN" dirty="0"/>
              <a:t> Zhang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9600650-6680-49D3-9469-763C5995063D}"/>
              </a:ext>
            </a:extLst>
          </p:cNvPr>
          <p:cNvSpPr txBox="1">
            <a:spLocks/>
          </p:cNvSpPr>
          <p:nvPr/>
        </p:nvSpPr>
        <p:spPr>
          <a:xfrm>
            <a:off x="1143000" y="2776538"/>
            <a:ext cx="6858000" cy="138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3500" dirty="0">
                <a:solidFill>
                  <a:schemeClr val="bg2"/>
                </a:solidFill>
              </a:rPr>
              <a:t>Week 2 </a:t>
            </a:r>
            <a:r>
              <a:rPr lang="en-US" sz="3600" dirty="0">
                <a:solidFill>
                  <a:schemeClr val="bg2"/>
                </a:solidFill>
              </a:rPr>
              <a:t>Amazon Web Services Introduction</a:t>
            </a:r>
            <a:endParaRPr lang="en-US" sz="35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633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12784-199A-4366-8059-4B353600D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347108"/>
            <a:ext cx="7765322" cy="2355097"/>
          </a:xfrm>
        </p:spPr>
        <p:txBody>
          <a:bodyPr>
            <a:normAutofit/>
          </a:bodyPr>
          <a:lstStyle/>
          <a:p>
            <a:r>
              <a:rPr lang="en-AU" sz="2800" dirty="0"/>
              <a:t>Live lab assessment and the use of AWS resources</a:t>
            </a:r>
            <a:endParaRPr lang="en-AU" altLang="zh-CN" sz="2800" dirty="0"/>
          </a:p>
          <a:p>
            <a:r>
              <a:rPr lang="en-AU" altLang="zh-CN" sz="2800" dirty="0"/>
              <a:t>I</a:t>
            </a:r>
            <a:r>
              <a:rPr lang="en-US" altLang="zh-CN" sz="2800" dirty="0" err="1"/>
              <a:t>ntroduction</a:t>
            </a:r>
            <a:r>
              <a:rPr lang="en-US" altLang="zh-CN" sz="2800" dirty="0"/>
              <a:t> to virtualization</a:t>
            </a:r>
            <a:endParaRPr lang="en-AU" sz="2800" dirty="0"/>
          </a:p>
          <a:p>
            <a:r>
              <a:rPr lang="en-AU" sz="2800" dirty="0"/>
              <a:t>Introduction to AWS</a:t>
            </a:r>
          </a:p>
          <a:p>
            <a:pPr marL="27675" indent="0">
              <a:buNone/>
            </a:pPr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0ABAFD-759F-44AD-9737-4DC91D283D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345" y="292238"/>
            <a:ext cx="7568747" cy="99417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AU" sz="3200" b="1" dirty="0"/>
              <a:t>Overview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3039451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0021AC7-D7FE-4F19-8271-3D489ED80BFA}"/>
              </a:ext>
            </a:extLst>
          </p:cNvPr>
          <p:cNvSpPr txBox="1">
            <a:spLocks/>
          </p:cNvSpPr>
          <p:nvPr/>
        </p:nvSpPr>
        <p:spPr>
          <a:xfrm>
            <a:off x="216568" y="351674"/>
            <a:ext cx="8335538" cy="731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 fontAlgn="auto">
              <a:spcAft>
                <a:spcPts val="0"/>
              </a:spcAft>
              <a:buClrTx/>
              <a:buSzTx/>
              <a:buNone/>
            </a:pPr>
            <a:r>
              <a:rPr lang="en-AU" sz="2400" b="1" dirty="0">
                <a:hlinkClick r:id="rId3"/>
              </a:rPr>
              <a:t>https://zhangzhics.gitbook.io/cits5503#live-lab-assessment</a:t>
            </a:r>
            <a:endParaRPr lang="en-AU" sz="2400" b="1" dirty="0"/>
          </a:p>
          <a:p>
            <a:pPr marL="342900" lvl="1" indent="0" fontAlgn="auto">
              <a:spcAft>
                <a:spcPts val="0"/>
              </a:spcAft>
              <a:buClrTx/>
              <a:buSzTx/>
              <a:buNone/>
            </a:pPr>
            <a:endParaRPr lang="en-AU" sz="2100" b="1" dirty="0"/>
          </a:p>
          <a:p>
            <a:pPr lvl="1" fontAlgn="auto">
              <a:spcAft>
                <a:spcPts val="0"/>
              </a:spcAft>
              <a:buClrTx/>
              <a:buSzTx/>
            </a:pPr>
            <a:endParaRPr lang="en-AU" sz="2100" b="1" dirty="0"/>
          </a:p>
          <a:p>
            <a:pPr marL="342900" lvl="1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0BDDC6-CF4E-4F31-8F6D-560E7EA15C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62" y="1215189"/>
            <a:ext cx="8569675" cy="447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319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0021AC7-D7FE-4F19-8271-3D489ED80BFA}"/>
              </a:ext>
            </a:extLst>
          </p:cNvPr>
          <p:cNvSpPr txBox="1">
            <a:spLocks/>
          </p:cNvSpPr>
          <p:nvPr/>
        </p:nvSpPr>
        <p:spPr>
          <a:xfrm>
            <a:off x="216568" y="351674"/>
            <a:ext cx="8335538" cy="731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 fontAlgn="auto">
              <a:spcAft>
                <a:spcPts val="0"/>
              </a:spcAft>
              <a:buClrTx/>
              <a:buSzTx/>
              <a:buNone/>
            </a:pPr>
            <a:r>
              <a:rPr lang="en-AU" sz="2400" b="1" dirty="0">
                <a:hlinkClick r:id="rId3"/>
              </a:rPr>
              <a:t>https://zhangzhics.gitbook.io/cits5503#live-lab-assessment</a:t>
            </a:r>
            <a:endParaRPr lang="en-AU" sz="2400" b="1" dirty="0"/>
          </a:p>
          <a:p>
            <a:pPr marL="342900" lvl="1" indent="0" fontAlgn="auto">
              <a:spcAft>
                <a:spcPts val="0"/>
              </a:spcAft>
              <a:buClrTx/>
              <a:buSzTx/>
              <a:buNone/>
            </a:pPr>
            <a:endParaRPr lang="en-AU" sz="2100" b="1" dirty="0"/>
          </a:p>
          <a:p>
            <a:pPr lvl="1" fontAlgn="auto">
              <a:spcAft>
                <a:spcPts val="0"/>
              </a:spcAft>
              <a:buClrTx/>
              <a:buSzTx/>
            </a:pPr>
            <a:endParaRPr lang="en-AU" sz="2100" b="1" dirty="0"/>
          </a:p>
          <a:p>
            <a:pPr marL="342900" lvl="1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74AE7D-424A-423A-AA68-FEA2A47F1F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37" y="1082842"/>
            <a:ext cx="7125925" cy="528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68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0021AC7-D7FE-4F19-8271-3D489ED80BFA}"/>
              </a:ext>
            </a:extLst>
          </p:cNvPr>
          <p:cNvSpPr txBox="1">
            <a:spLocks/>
          </p:cNvSpPr>
          <p:nvPr/>
        </p:nvSpPr>
        <p:spPr>
          <a:xfrm>
            <a:off x="216568" y="351674"/>
            <a:ext cx="8335538" cy="731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 fontAlgn="auto">
              <a:spcAft>
                <a:spcPts val="0"/>
              </a:spcAft>
              <a:buClrTx/>
              <a:buSzTx/>
              <a:buNone/>
            </a:pPr>
            <a:r>
              <a:rPr lang="en-AU" sz="2400" b="1" dirty="0">
                <a:hlinkClick r:id="rId3"/>
              </a:rPr>
              <a:t>https://zhangzhics.gitbook.io/cits5503#live-lab-assessment</a:t>
            </a:r>
            <a:endParaRPr lang="en-AU" sz="2400" b="1" dirty="0"/>
          </a:p>
          <a:p>
            <a:pPr marL="342900" lvl="1" indent="0" fontAlgn="auto">
              <a:spcAft>
                <a:spcPts val="0"/>
              </a:spcAft>
              <a:buClrTx/>
              <a:buSzTx/>
              <a:buNone/>
            </a:pPr>
            <a:endParaRPr lang="en-AU" sz="2100" b="1" dirty="0"/>
          </a:p>
          <a:p>
            <a:pPr lvl="1" fontAlgn="auto">
              <a:spcAft>
                <a:spcPts val="0"/>
              </a:spcAft>
              <a:buClrTx/>
              <a:buSzTx/>
            </a:pPr>
            <a:endParaRPr lang="en-AU" sz="2100" b="1" dirty="0"/>
          </a:p>
          <a:p>
            <a:pPr marL="342900" lvl="1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076E2E-33C4-4269-91F4-38371C0EB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834" y="810804"/>
            <a:ext cx="7586331" cy="523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226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8CC2E9-EBDE-4D98-9962-AC73F3F00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" y="658781"/>
            <a:ext cx="7130648" cy="58657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423F53-B9D7-4D66-B0C8-CBFCFA06FDE6}"/>
              </a:ext>
            </a:extLst>
          </p:cNvPr>
          <p:cNvSpPr txBox="1"/>
          <p:nvPr/>
        </p:nvSpPr>
        <p:spPr>
          <a:xfrm>
            <a:off x="0" y="80476"/>
            <a:ext cx="8961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latin typeface="+mn-lt"/>
                <a:hlinkClick r:id="rId4"/>
              </a:rPr>
              <a:t>https://zhangzhics.gitbook.io/cits5503#aws-resource-usage-rules-for-labs</a:t>
            </a:r>
            <a:endParaRPr lang="en-AU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607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Title 1"/>
          <p:cNvSpPr txBox="1">
            <a:spLocks noGrp="1"/>
          </p:cNvSpPr>
          <p:nvPr>
            <p:ph type="title"/>
          </p:nvPr>
        </p:nvSpPr>
        <p:spPr>
          <a:xfrm>
            <a:off x="367393" y="292238"/>
            <a:ext cx="7886700" cy="7755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AU" sz="2800" b="1" dirty="0"/>
              <a:t>Virtualization: the core technique of cloud computing</a:t>
            </a:r>
            <a:endParaRPr sz="2800" b="1" dirty="0"/>
          </a:p>
        </p:txBody>
      </p:sp>
      <p:sp>
        <p:nvSpPr>
          <p:cNvPr id="665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767443" y="4126599"/>
            <a:ext cx="8048819" cy="1991123"/>
          </a:xfrm>
          <a:prstGeom prst="rect">
            <a:avLst/>
          </a:prstGeom>
        </p:spPr>
        <p:txBody>
          <a:bodyPr>
            <a:noAutofit/>
          </a:bodyPr>
          <a:lstStyle/>
          <a:p>
            <a:pPr marL="168020" indent="-168020" defTabSz="672083">
              <a:lnSpc>
                <a:spcPct val="81000"/>
              </a:lnSpc>
              <a:spcBef>
                <a:spcPts val="675"/>
              </a:spcBef>
              <a:defRPr sz="2450"/>
            </a:pPr>
            <a:r>
              <a:rPr lang="en-US" sz="2000" dirty="0"/>
              <a:t>Suppose Alice has a machine with 16 CPUs and 64 GB of memory. There are three customers:</a:t>
            </a:r>
          </a:p>
          <a:p>
            <a:pPr marL="504063" lvl="1" indent="-168020" defTabSz="672083">
              <a:lnSpc>
                <a:spcPct val="81000"/>
              </a:lnSpc>
              <a:spcBef>
                <a:spcPts val="300"/>
              </a:spcBef>
              <a:defRPr sz="2156"/>
            </a:pPr>
            <a:r>
              <a:rPr sz="2000" dirty="0"/>
              <a:t>Bob </a:t>
            </a:r>
            <a:r>
              <a:rPr lang="en-AU" sz="2000" dirty="0"/>
              <a:t>wants a machine with 8</a:t>
            </a:r>
            <a:r>
              <a:rPr sz="2000" dirty="0"/>
              <a:t> CPU</a:t>
            </a:r>
            <a:r>
              <a:rPr lang="en-AU" sz="2000" dirty="0"/>
              <a:t>s</a:t>
            </a:r>
            <a:r>
              <a:rPr sz="2000" dirty="0"/>
              <a:t> and </a:t>
            </a:r>
            <a:r>
              <a:rPr lang="en-AU" sz="2000" dirty="0"/>
              <a:t>32 </a:t>
            </a:r>
            <a:r>
              <a:rPr sz="2000" dirty="0"/>
              <a:t>GB of memory</a:t>
            </a:r>
          </a:p>
          <a:p>
            <a:pPr marL="504063" lvl="1" indent="-168020" defTabSz="672083">
              <a:lnSpc>
                <a:spcPct val="81000"/>
              </a:lnSpc>
              <a:spcBef>
                <a:spcPts val="300"/>
              </a:spcBef>
              <a:defRPr sz="2156"/>
            </a:pPr>
            <a:r>
              <a:rPr sz="2000" dirty="0"/>
              <a:t>Charlie </a:t>
            </a:r>
            <a:r>
              <a:rPr lang="en-AU" sz="2000" dirty="0"/>
              <a:t>wants a machine with 8 </a:t>
            </a:r>
            <a:r>
              <a:rPr sz="2000" dirty="0"/>
              <a:t>CPU</a:t>
            </a:r>
            <a:r>
              <a:rPr lang="en-AU" sz="2000" dirty="0"/>
              <a:t>s</a:t>
            </a:r>
            <a:r>
              <a:rPr sz="2000" dirty="0"/>
              <a:t> and </a:t>
            </a:r>
            <a:r>
              <a:rPr lang="en-AU" sz="2000" dirty="0"/>
              <a:t>32 </a:t>
            </a:r>
            <a:r>
              <a:rPr sz="2000" dirty="0"/>
              <a:t>GB of memory</a:t>
            </a:r>
          </a:p>
          <a:p>
            <a:pPr marL="504063" lvl="1" indent="-168020" defTabSz="672083">
              <a:lnSpc>
                <a:spcPct val="81000"/>
              </a:lnSpc>
              <a:spcBef>
                <a:spcPts val="300"/>
              </a:spcBef>
              <a:defRPr sz="2156"/>
            </a:pPr>
            <a:r>
              <a:rPr sz="2000" dirty="0"/>
              <a:t>Daniel </a:t>
            </a:r>
            <a:r>
              <a:rPr lang="en-AU" sz="2000" dirty="0"/>
              <a:t>wants a machine with 4</a:t>
            </a:r>
            <a:r>
              <a:rPr sz="2000" dirty="0"/>
              <a:t> CPU</a:t>
            </a:r>
            <a:r>
              <a:rPr lang="en-AU" sz="2000" dirty="0"/>
              <a:t>s</a:t>
            </a:r>
            <a:r>
              <a:rPr sz="2000" dirty="0"/>
              <a:t> and </a:t>
            </a:r>
            <a:r>
              <a:rPr lang="en-AU" sz="2000" dirty="0"/>
              <a:t>8 </a:t>
            </a:r>
            <a:r>
              <a:rPr sz="2000" dirty="0"/>
              <a:t>GB of memory</a:t>
            </a:r>
          </a:p>
        </p:txBody>
      </p:sp>
      <p:pic>
        <p:nvPicPr>
          <p:cNvPr id="667" name="Picture 51" descr="Picture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187" y="2155466"/>
            <a:ext cx="1369111" cy="1369262"/>
          </a:xfrm>
          <a:prstGeom prst="rect">
            <a:avLst/>
          </a:prstGeom>
          <a:ln w="12700">
            <a:miter lim="400000"/>
          </a:ln>
        </p:spPr>
      </p:pic>
      <p:pic>
        <p:nvPicPr>
          <p:cNvPr id="668" name="Picture 2" descr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312" y="2613859"/>
            <a:ext cx="415528" cy="415528"/>
          </a:xfrm>
          <a:prstGeom prst="rect">
            <a:avLst/>
          </a:prstGeom>
          <a:ln w="12700">
            <a:miter lim="400000"/>
          </a:ln>
        </p:spPr>
      </p:pic>
      <p:pic>
        <p:nvPicPr>
          <p:cNvPr id="669" name="Picture 3" descr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153122" y="1943537"/>
            <a:ext cx="378620" cy="3786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0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7164" y="2750780"/>
            <a:ext cx="479822" cy="479822"/>
          </a:xfrm>
          <a:prstGeom prst="rect">
            <a:avLst/>
          </a:prstGeom>
          <a:ln w="12700">
            <a:miter lim="400000"/>
          </a:ln>
        </p:spPr>
      </p:pic>
      <p:sp>
        <p:nvSpPr>
          <p:cNvPr id="671" name="TextBox 9"/>
          <p:cNvSpPr txBox="1"/>
          <p:nvPr/>
        </p:nvSpPr>
        <p:spPr>
          <a:xfrm>
            <a:off x="1350782" y="3193692"/>
            <a:ext cx="38516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Alice</a:t>
            </a:r>
          </a:p>
        </p:txBody>
      </p:sp>
      <p:pic>
        <p:nvPicPr>
          <p:cNvPr id="672" name="Picture 3" descr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2729" y="2222142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3" name="Picture 14" descr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9615" y="2997110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674" name="Picture 3" descr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8498" y="2222142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5" name="Picture 3" descr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9873" y="2607904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6" name="Picture 3" descr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1354" y="2615048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7" name="Picture 23" descr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2527" y="2997110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678" name="Picture 26" descr="Picture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2471" y="3111410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679" name="Picture 27" descr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5384" y="3111410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680" name="Picture 28" descr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9615" y="321856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681" name="Picture 29" descr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2527" y="321856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682" name="Picture 30" descr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9615" y="3325723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683" name="Picture 31" descr="Picture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2527" y="3325723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684" name="Picture 5" descr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5167410" y="3286560"/>
            <a:ext cx="435662" cy="435662"/>
          </a:xfrm>
          <a:prstGeom prst="rect">
            <a:avLst/>
          </a:prstGeom>
          <a:ln w="12700">
            <a:miter lim="400000"/>
          </a:ln>
        </p:spPr>
      </p:pic>
      <p:sp>
        <p:nvSpPr>
          <p:cNvPr id="685" name="TextBox 33"/>
          <p:cNvSpPr txBox="1"/>
          <p:nvPr/>
        </p:nvSpPr>
        <p:spPr>
          <a:xfrm>
            <a:off x="5193276" y="2265005"/>
            <a:ext cx="32970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Bob</a:t>
            </a:r>
          </a:p>
        </p:txBody>
      </p:sp>
      <p:sp>
        <p:nvSpPr>
          <p:cNvPr id="686" name="TextBox 34"/>
          <p:cNvSpPr txBox="1"/>
          <p:nvPr/>
        </p:nvSpPr>
        <p:spPr>
          <a:xfrm>
            <a:off x="5103690" y="2979380"/>
            <a:ext cx="53745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Charlie</a:t>
            </a:r>
          </a:p>
        </p:txBody>
      </p:sp>
      <p:sp>
        <p:nvSpPr>
          <p:cNvPr id="687" name="TextBox 35"/>
          <p:cNvSpPr txBox="1"/>
          <p:nvPr/>
        </p:nvSpPr>
        <p:spPr>
          <a:xfrm>
            <a:off x="5140485" y="3665180"/>
            <a:ext cx="49244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Daniel</a:t>
            </a:r>
          </a:p>
        </p:txBody>
      </p:sp>
      <p:grpSp>
        <p:nvGrpSpPr>
          <p:cNvPr id="693" name="Cloud Callout 36"/>
          <p:cNvGrpSpPr/>
          <p:nvPr/>
        </p:nvGrpSpPr>
        <p:grpSpPr>
          <a:xfrm>
            <a:off x="5443813" y="1231398"/>
            <a:ext cx="1231496" cy="834644"/>
            <a:chOff x="0" y="0"/>
            <a:chExt cx="1641993" cy="1112858"/>
          </a:xfrm>
        </p:grpSpPr>
        <p:sp>
          <p:nvSpPr>
            <p:cNvPr id="688" name="Shape"/>
            <p:cNvSpPr/>
            <p:nvPr/>
          </p:nvSpPr>
          <p:spPr>
            <a:xfrm>
              <a:off x="58746" y="0"/>
              <a:ext cx="1583248" cy="925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lnTo>
                    <a:pt x="10857" y="1573"/>
                  </a:ln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lnTo>
                    <a:pt x="1038" y="12172"/>
                  </a:ln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689" name="Circle"/>
            <p:cNvSpPr/>
            <p:nvPr/>
          </p:nvSpPr>
          <p:spPr>
            <a:xfrm>
              <a:off x="191421" y="825352"/>
              <a:ext cx="153989" cy="153989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690" name="Circle"/>
            <p:cNvSpPr/>
            <p:nvPr/>
          </p:nvSpPr>
          <p:spPr>
            <a:xfrm>
              <a:off x="75293" y="958989"/>
              <a:ext cx="102659" cy="102659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691" name="Circle"/>
            <p:cNvSpPr/>
            <p:nvPr/>
          </p:nvSpPr>
          <p:spPr>
            <a:xfrm>
              <a:off x="0" y="1061528"/>
              <a:ext cx="51331" cy="5133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692" name="Shape"/>
            <p:cNvSpPr/>
            <p:nvPr/>
          </p:nvSpPr>
          <p:spPr>
            <a:xfrm>
              <a:off x="139140" y="47072"/>
              <a:ext cx="1450783" cy="785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</p:grpSp>
      <p:grpSp>
        <p:nvGrpSpPr>
          <p:cNvPr id="699" name="Cloud Callout 37"/>
          <p:cNvGrpSpPr/>
          <p:nvPr/>
        </p:nvGrpSpPr>
        <p:grpSpPr>
          <a:xfrm>
            <a:off x="5514656" y="1910492"/>
            <a:ext cx="1507815" cy="882266"/>
            <a:chOff x="0" y="0"/>
            <a:chExt cx="2250628" cy="1176353"/>
          </a:xfrm>
        </p:grpSpPr>
        <p:sp>
          <p:nvSpPr>
            <p:cNvPr id="694" name="Shape"/>
            <p:cNvSpPr/>
            <p:nvPr/>
          </p:nvSpPr>
          <p:spPr>
            <a:xfrm>
              <a:off x="621474" y="0"/>
              <a:ext cx="1629155" cy="11070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lnTo>
                    <a:pt x="10857" y="1573"/>
                  </a:ln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lnTo>
                    <a:pt x="1038" y="12172"/>
                  </a:ln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695" name="Circle"/>
            <p:cNvSpPr/>
            <p:nvPr/>
          </p:nvSpPr>
          <p:spPr>
            <a:xfrm>
              <a:off x="434696" y="842973"/>
              <a:ext cx="184151" cy="18415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696" name="Circle"/>
            <p:cNvSpPr/>
            <p:nvPr/>
          </p:nvSpPr>
          <p:spPr>
            <a:xfrm>
              <a:off x="189098" y="990966"/>
              <a:ext cx="122767" cy="122767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697" name="Circle"/>
            <p:cNvSpPr/>
            <p:nvPr/>
          </p:nvSpPr>
          <p:spPr>
            <a:xfrm>
              <a:off x="0" y="1114969"/>
              <a:ext cx="61385" cy="6138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698" name="Shape"/>
            <p:cNvSpPr/>
            <p:nvPr/>
          </p:nvSpPr>
          <p:spPr>
            <a:xfrm>
              <a:off x="704199" y="56292"/>
              <a:ext cx="1492850" cy="9399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</p:grpSp>
      <p:grpSp>
        <p:nvGrpSpPr>
          <p:cNvPr id="705" name="Cloud Callout 38"/>
          <p:cNvGrpSpPr/>
          <p:nvPr/>
        </p:nvGrpSpPr>
        <p:grpSpPr>
          <a:xfrm>
            <a:off x="5514276" y="2810029"/>
            <a:ext cx="1239505" cy="651346"/>
            <a:chOff x="0" y="0"/>
            <a:chExt cx="1652671" cy="868459"/>
          </a:xfrm>
        </p:grpSpPr>
        <p:sp>
          <p:nvSpPr>
            <p:cNvPr id="700" name="Shape"/>
            <p:cNvSpPr/>
            <p:nvPr/>
          </p:nvSpPr>
          <p:spPr>
            <a:xfrm>
              <a:off x="374628" y="0"/>
              <a:ext cx="1278044" cy="8684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lnTo>
                    <a:pt x="10857" y="1573"/>
                  </a:ln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lnTo>
                    <a:pt x="1038" y="12172"/>
                  </a:ln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01" name="Circle"/>
            <p:cNvSpPr/>
            <p:nvPr/>
          </p:nvSpPr>
          <p:spPr>
            <a:xfrm>
              <a:off x="260721" y="632747"/>
              <a:ext cx="144463" cy="144463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02" name="Circle"/>
            <p:cNvSpPr/>
            <p:nvPr/>
          </p:nvSpPr>
          <p:spPr>
            <a:xfrm>
              <a:off x="108028" y="728055"/>
              <a:ext cx="96309" cy="96309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03" name="Circle"/>
            <p:cNvSpPr/>
            <p:nvPr/>
          </p:nvSpPr>
          <p:spPr>
            <a:xfrm>
              <a:off x="0" y="805366"/>
              <a:ext cx="48155" cy="4815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04" name="Shape"/>
            <p:cNvSpPr/>
            <p:nvPr/>
          </p:nvSpPr>
          <p:spPr>
            <a:xfrm>
              <a:off x="439525" y="44160"/>
              <a:ext cx="1171114" cy="7373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</p:grpSp>
      <p:pic>
        <p:nvPicPr>
          <p:cNvPr id="706" name="Picture 3" descr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6035" y="1386323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09" name="Picture 42" descr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977" y="155248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10" name="Picture 3" descr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7535" y="2029260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12" name="Picture 45" descr="Picture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4446" y="2482760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13" name="Picture 3" descr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0360" y="2943660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17" name="Picture 50" descr="Picture 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645" y="3058458"/>
            <a:ext cx="383165" cy="88834"/>
          </a:xfrm>
          <a:prstGeom prst="rect">
            <a:avLst/>
          </a:prstGeom>
          <a:ln w="12700">
            <a:miter lim="400000"/>
          </a:ln>
        </p:spPr>
      </p:pic>
      <p:sp>
        <p:nvSpPr>
          <p:cNvPr id="718" name="TextBox 51"/>
          <p:cNvSpPr txBox="1"/>
          <p:nvPr/>
        </p:nvSpPr>
        <p:spPr>
          <a:xfrm>
            <a:off x="1816559" y="3458011"/>
            <a:ext cx="122527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Physical machine</a:t>
            </a: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20EBB34-6A03-481E-8D5B-8EF6000EF263}"/>
              </a:ext>
            </a:extLst>
          </p:cNvPr>
          <p:cNvSpPr txBox="1">
            <a:spLocks/>
          </p:cNvSpPr>
          <p:nvPr/>
        </p:nvSpPr>
        <p:spPr>
          <a:xfrm>
            <a:off x="789487" y="5779943"/>
            <a:ext cx="7086600" cy="675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8020" indent="-168020" defTabSz="672083" fontAlgn="auto">
              <a:lnSpc>
                <a:spcPct val="81000"/>
              </a:lnSpc>
              <a:spcBef>
                <a:spcPts val="675"/>
              </a:spcBef>
              <a:spcAft>
                <a:spcPts val="0"/>
              </a:spcAft>
              <a:buClrTx/>
              <a:buSzTx/>
              <a:defRPr sz="2450"/>
            </a:pPr>
            <a:r>
              <a:rPr lang="en-US" sz="2000" dirty="0"/>
              <a:t>What should Alice do?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" name="Picture 53" descr="Picture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091" y="2723820"/>
            <a:ext cx="447566" cy="447616"/>
          </a:xfrm>
          <a:prstGeom prst="rect">
            <a:avLst/>
          </a:prstGeom>
          <a:ln w="12700">
            <a:miter lim="400000"/>
          </a:ln>
        </p:spPr>
      </p:pic>
      <p:sp>
        <p:nvSpPr>
          <p:cNvPr id="722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542235" y="3787443"/>
            <a:ext cx="8306476" cy="1462111"/>
          </a:xfrm>
          <a:prstGeom prst="rect">
            <a:avLst/>
          </a:prstGeom>
        </p:spPr>
        <p:txBody>
          <a:bodyPr>
            <a:noAutofit/>
          </a:bodyPr>
          <a:lstStyle/>
          <a:p>
            <a:pPr marL="169735" indent="-169735" defTabSz="678941">
              <a:spcBef>
                <a:spcPts val="675"/>
              </a:spcBef>
              <a:defRPr sz="2772"/>
            </a:pPr>
            <a:r>
              <a:rPr sz="2000" dirty="0"/>
              <a:t>Alice </a:t>
            </a:r>
            <a:r>
              <a:rPr lang="en-AU" sz="2000" dirty="0"/>
              <a:t>installs a virtual machine monitor (VMM) and provides</a:t>
            </a:r>
            <a:r>
              <a:rPr sz="2000" dirty="0"/>
              <a:t> each customer</a:t>
            </a:r>
            <a:r>
              <a:rPr lang="en-AU" sz="2000" dirty="0"/>
              <a:t> with </a:t>
            </a:r>
            <a:r>
              <a:rPr sz="2000" dirty="0"/>
              <a:t> a </a:t>
            </a:r>
            <a:r>
              <a:rPr lang="en-AU" sz="2000" dirty="0">
                <a:solidFill>
                  <a:srgbClr val="FF9900"/>
                </a:solidFill>
              </a:rPr>
              <a:t>guest OS/</a:t>
            </a:r>
            <a:r>
              <a:rPr sz="2000" dirty="0">
                <a:solidFill>
                  <a:srgbClr val="FF9900"/>
                </a:solidFill>
              </a:rPr>
              <a:t>virtual machine </a:t>
            </a:r>
            <a:r>
              <a:rPr sz="2000" dirty="0"/>
              <a:t>(VM) </a:t>
            </a:r>
            <a:r>
              <a:rPr lang="en-AU" sz="2000" dirty="0"/>
              <a:t>and</a:t>
            </a:r>
            <a:r>
              <a:rPr sz="2000" dirty="0"/>
              <a:t> the requested resources</a:t>
            </a:r>
          </a:p>
          <a:p>
            <a:pPr marL="504063" lvl="1" indent="-168020" defTabSz="672083" fontAlgn="auto">
              <a:lnSpc>
                <a:spcPct val="81000"/>
              </a:lnSpc>
              <a:spcBef>
                <a:spcPts val="300"/>
              </a:spcBef>
              <a:spcAft>
                <a:spcPts val="0"/>
              </a:spcAft>
              <a:buClrTx/>
              <a:buSzTx/>
              <a:defRPr sz="2156"/>
            </a:pPr>
            <a:r>
              <a:rPr lang="en-US" sz="2000" dirty="0"/>
              <a:t>Bob is assigned with 8 vCPUs and 32 GB of guest physical memory</a:t>
            </a:r>
          </a:p>
          <a:p>
            <a:pPr marL="504063" lvl="1" indent="-168020" defTabSz="672083" fontAlgn="auto">
              <a:lnSpc>
                <a:spcPct val="81000"/>
              </a:lnSpc>
              <a:spcBef>
                <a:spcPts val="300"/>
              </a:spcBef>
              <a:spcAft>
                <a:spcPts val="0"/>
              </a:spcAft>
              <a:buClrTx/>
              <a:buSzTx/>
              <a:defRPr sz="2156"/>
            </a:pPr>
            <a:r>
              <a:rPr lang="en-US" sz="2000" dirty="0"/>
              <a:t>Charlie is assigned with 8 vCPUs and 32 GB of guest physical memory</a:t>
            </a:r>
          </a:p>
          <a:p>
            <a:pPr marL="504063" lvl="1" indent="-168020" defTabSz="672083" fontAlgn="auto">
              <a:lnSpc>
                <a:spcPct val="81000"/>
              </a:lnSpc>
              <a:spcBef>
                <a:spcPts val="300"/>
              </a:spcBef>
              <a:spcAft>
                <a:spcPts val="0"/>
              </a:spcAft>
              <a:buClrTx/>
              <a:buSzTx/>
              <a:defRPr sz="2156"/>
            </a:pPr>
            <a:r>
              <a:rPr lang="en-US" sz="2000" dirty="0"/>
              <a:t>Daniel is assigned with 4 vCPUs and 8 GB of guest physical memory</a:t>
            </a:r>
            <a:endParaRPr lang="en-AU" sz="2000" dirty="0"/>
          </a:p>
        </p:txBody>
      </p:sp>
      <p:pic>
        <p:nvPicPr>
          <p:cNvPr id="724" name="Picture 51" descr="Picture 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803" y="1604572"/>
            <a:ext cx="1369111" cy="1369262"/>
          </a:xfrm>
          <a:prstGeom prst="rect">
            <a:avLst/>
          </a:prstGeom>
          <a:ln w="12700">
            <a:miter lim="400000"/>
          </a:ln>
        </p:spPr>
      </p:pic>
      <p:pic>
        <p:nvPicPr>
          <p:cNvPr id="725" name="Picture 2" descr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7927" y="2062965"/>
            <a:ext cx="415528" cy="415528"/>
          </a:xfrm>
          <a:prstGeom prst="rect">
            <a:avLst/>
          </a:prstGeom>
          <a:ln w="12700">
            <a:miter lim="400000"/>
          </a:ln>
        </p:spPr>
      </p:pic>
      <p:pic>
        <p:nvPicPr>
          <p:cNvPr id="726" name="Picture 3" descr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836738" y="1392642"/>
            <a:ext cx="378620" cy="378620"/>
          </a:xfrm>
          <a:prstGeom prst="rect">
            <a:avLst/>
          </a:prstGeom>
          <a:ln w="12700">
            <a:miter lim="400000"/>
          </a:ln>
        </p:spPr>
      </p:pic>
      <p:pic>
        <p:nvPicPr>
          <p:cNvPr id="727" name="Picture 19" descr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0780" y="2199886"/>
            <a:ext cx="479822" cy="479822"/>
          </a:xfrm>
          <a:prstGeom prst="rect">
            <a:avLst/>
          </a:prstGeom>
          <a:ln w="12700">
            <a:miter lim="400000"/>
          </a:ln>
        </p:spPr>
      </p:pic>
      <p:sp>
        <p:nvSpPr>
          <p:cNvPr id="728" name="TextBox 9"/>
          <p:cNvSpPr txBox="1"/>
          <p:nvPr/>
        </p:nvSpPr>
        <p:spPr>
          <a:xfrm>
            <a:off x="2034398" y="2642798"/>
            <a:ext cx="38516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Alice</a:t>
            </a:r>
          </a:p>
        </p:txBody>
      </p:sp>
      <p:pic>
        <p:nvPicPr>
          <p:cNvPr id="729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86345" y="1671248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0" name="Picture 14" descr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3231" y="24462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1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2113" y="1671248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2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3488" y="2057010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3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4970" y="2064154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4" name="Picture 23" descr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6143" y="24462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5" name="Picture 26" descr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6087" y="25605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6" name="Picture 27" descr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8999" y="25605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7" name="Picture 28" descr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3231" y="2667673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8" name="Picture 29" descr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6143" y="2667673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9" name="Picture 30" descr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3231" y="2774829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0" name="Picture 31" descr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6143" y="2774829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1" name="Picture 5" descr="Picture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5851026" y="2735667"/>
            <a:ext cx="435662" cy="435662"/>
          </a:xfrm>
          <a:prstGeom prst="rect">
            <a:avLst/>
          </a:prstGeom>
          <a:ln w="12700">
            <a:miter lim="400000"/>
          </a:ln>
        </p:spPr>
      </p:pic>
      <p:sp>
        <p:nvSpPr>
          <p:cNvPr id="742" name="TextBox 33"/>
          <p:cNvSpPr txBox="1"/>
          <p:nvPr/>
        </p:nvSpPr>
        <p:spPr>
          <a:xfrm>
            <a:off x="5876892" y="1714111"/>
            <a:ext cx="32970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Bob</a:t>
            </a:r>
          </a:p>
        </p:txBody>
      </p:sp>
      <p:sp>
        <p:nvSpPr>
          <p:cNvPr id="743" name="TextBox 34"/>
          <p:cNvSpPr txBox="1"/>
          <p:nvPr/>
        </p:nvSpPr>
        <p:spPr>
          <a:xfrm>
            <a:off x="5787306" y="2428486"/>
            <a:ext cx="53745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Charlie</a:t>
            </a:r>
          </a:p>
        </p:txBody>
      </p:sp>
      <p:sp>
        <p:nvSpPr>
          <p:cNvPr id="744" name="TextBox 35"/>
          <p:cNvSpPr txBox="1"/>
          <p:nvPr/>
        </p:nvSpPr>
        <p:spPr>
          <a:xfrm>
            <a:off x="5824101" y="3114286"/>
            <a:ext cx="49244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Daniel</a:t>
            </a:r>
          </a:p>
        </p:txBody>
      </p:sp>
      <p:pic>
        <p:nvPicPr>
          <p:cNvPr id="751" name="Picture 52" descr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548" y="2004622"/>
            <a:ext cx="790466" cy="790553"/>
          </a:xfrm>
          <a:prstGeom prst="rect">
            <a:avLst/>
          </a:prstGeom>
          <a:ln w="12700">
            <a:miter lim="400000"/>
          </a:ln>
        </p:spPr>
      </p:pic>
      <p:sp>
        <p:nvSpPr>
          <p:cNvPr id="752" name="TextBox 54"/>
          <p:cNvSpPr txBox="1"/>
          <p:nvPr/>
        </p:nvSpPr>
        <p:spPr>
          <a:xfrm>
            <a:off x="2500175" y="2907117"/>
            <a:ext cx="122527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Physical machine</a:t>
            </a:r>
          </a:p>
        </p:txBody>
      </p:sp>
      <p:sp>
        <p:nvSpPr>
          <p:cNvPr id="753" name="TextBox 55"/>
          <p:cNvSpPr txBox="1"/>
          <p:nvPr/>
        </p:nvSpPr>
        <p:spPr>
          <a:xfrm>
            <a:off x="4473725" y="3197241"/>
            <a:ext cx="119295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 dirty="0"/>
              <a:t>Virtual machines</a:t>
            </a:r>
          </a:p>
        </p:txBody>
      </p:sp>
      <p:pic>
        <p:nvPicPr>
          <p:cNvPr id="758" name="Picture 51" descr="Picture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379" y="1397404"/>
            <a:ext cx="552391" cy="552452"/>
          </a:xfrm>
          <a:prstGeom prst="rect">
            <a:avLst/>
          </a:prstGeom>
          <a:ln w="12700">
            <a:miter lim="400000"/>
          </a:ln>
        </p:spPr>
      </p:pic>
      <p:sp>
        <p:nvSpPr>
          <p:cNvPr id="764" name="TextBox 59"/>
          <p:cNvSpPr txBox="1"/>
          <p:nvPr/>
        </p:nvSpPr>
        <p:spPr>
          <a:xfrm>
            <a:off x="3935851" y="1985573"/>
            <a:ext cx="639918" cy="646331"/>
          </a:xfrm>
          <a:prstGeom prst="rect">
            <a:avLst/>
          </a:prstGeom>
          <a:solidFill>
            <a:srgbClr val="00B0F0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/>
          <a:p>
            <a:pPr>
              <a:spcBef>
                <a:spcPts val="225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rPr sz="1200"/>
              <a:t>Virtual </a:t>
            </a:r>
            <a:br>
              <a:rPr sz="1200"/>
            </a:br>
            <a:r>
              <a:rPr sz="1200"/>
              <a:t>machine</a:t>
            </a:r>
            <a:br>
              <a:rPr sz="1200"/>
            </a:br>
            <a:r>
              <a:rPr sz="1200"/>
              <a:t>monitor</a:t>
            </a:r>
          </a:p>
        </p:txBody>
      </p:sp>
      <p:sp>
        <p:nvSpPr>
          <p:cNvPr id="765" name="Straight Arrow Connector 61"/>
          <p:cNvSpPr/>
          <p:nvPr/>
        </p:nvSpPr>
        <p:spPr>
          <a:xfrm flipV="1">
            <a:off x="3572170" y="2297198"/>
            <a:ext cx="330660" cy="9845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766" name="Straight Arrow Connector 64"/>
          <p:cNvSpPr/>
          <p:nvPr/>
        </p:nvSpPr>
        <p:spPr>
          <a:xfrm flipV="1">
            <a:off x="4615157" y="1864129"/>
            <a:ext cx="314326" cy="30718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767" name="Straight Arrow Connector 66"/>
          <p:cNvSpPr/>
          <p:nvPr/>
        </p:nvSpPr>
        <p:spPr>
          <a:xfrm>
            <a:off x="4608791" y="2297197"/>
            <a:ext cx="456423" cy="24133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768" name="Straight Arrow Connector 68"/>
          <p:cNvSpPr/>
          <p:nvPr/>
        </p:nvSpPr>
        <p:spPr>
          <a:xfrm>
            <a:off x="4622300" y="2449917"/>
            <a:ext cx="340575" cy="273905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grpSp>
        <p:nvGrpSpPr>
          <p:cNvPr id="774" name="Cloud Callout 69"/>
          <p:cNvGrpSpPr/>
          <p:nvPr/>
        </p:nvGrpSpPr>
        <p:grpSpPr>
          <a:xfrm>
            <a:off x="6136266" y="986924"/>
            <a:ext cx="600872" cy="561296"/>
            <a:chOff x="0" y="0"/>
            <a:chExt cx="801161" cy="748392"/>
          </a:xfrm>
        </p:grpSpPr>
        <p:sp>
          <p:nvSpPr>
            <p:cNvPr id="769" name="Shape"/>
            <p:cNvSpPr/>
            <p:nvPr/>
          </p:nvSpPr>
          <p:spPr>
            <a:xfrm>
              <a:off x="0" y="0"/>
              <a:ext cx="801162" cy="610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0" name="Circle"/>
            <p:cNvSpPr/>
            <p:nvPr/>
          </p:nvSpPr>
          <p:spPr>
            <a:xfrm>
              <a:off x="100949" y="558996"/>
              <a:ext cx="101601" cy="10160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1" name="Circle"/>
            <p:cNvSpPr/>
            <p:nvPr/>
          </p:nvSpPr>
          <p:spPr>
            <a:xfrm>
              <a:off x="57875" y="649912"/>
              <a:ext cx="67735" cy="6773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2" name="Circle"/>
            <p:cNvSpPr/>
            <p:nvPr/>
          </p:nvSpPr>
          <p:spPr>
            <a:xfrm>
              <a:off x="36136" y="714526"/>
              <a:ext cx="33867" cy="33867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3" name="Shape"/>
            <p:cNvSpPr/>
            <p:nvPr/>
          </p:nvSpPr>
          <p:spPr>
            <a:xfrm>
              <a:off x="40681" y="31057"/>
              <a:ext cx="734132" cy="518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</p:grpSp>
      <p:grpSp>
        <p:nvGrpSpPr>
          <p:cNvPr id="780" name="Cloud Callout 72"/>
          <p:cNvGrpSpPr/>
          <p:nvPr/>
        </p:nvGrpSpPr>
        <p:grpSpPr>
          <a:xfrm>
            <a:off x="6221991" y="1629861"/>
            <a:ext cx="600872" cy="561296"/>
            <a:chOff x="0" y="0"/>
            <a:chExt cx="801161" cy="748392"/>
          </a:xfrm>
        </p:grpSpPr>
        <p:sp>
          <p:nvSpPr>
            <p:cNvPr id="775" name="Shape"/>
            <p:cNvSpPr/>
            <p:nvPr/>
          </p:nvSpPr>
          <p:spPr>
            <a:xfrm>
              <a:off x="0" y="0"/>
              <a:ext cx="801162" cy="610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6" name="Circle"/>
            <p:cNvSpPr/>
            <p:nvPr/>
          </p:nvSpPr>
          <p:spPr>
            <a:xfrm>
              <a:off x="100949" y="558996"/>
              <a:ext cx="101601" cy="10160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7" name="Circle"/>
            <p:cNvSpPr/>
            <p:nvPr/>
          </p:nvSpPr>
          <p:spPr>
            <a:xfrm>
              <a:off x="57875" y="649912"/>
              <a:ext cx="67735" cy="6773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8" name="Circle"/>
            <p:cNvSpPr/>
            <p:nvPr/>
          </p:nvSpPr>
          <p:spPr>
            <a:xfrm>
              <a:off x="36136" y="714526"/>
              <a:ext cx="33867" cy="33867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9" name="Shape"/>
            <p:cNvSpPr/>
            <p:nvPr/>
          </p:nvSpPr>
          <p:spPr>
            <a:xfrm>
              <a:off x="40681" y="31057"/>
              <a:ext cx="734132" cy="518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</p:grpSp>
      <p:grpSp>
        <p:nvGrpSpPr>
          <p:cNvPr id="786" name="Cloud Callout 74"/>
          <p:cNvGrpSpPr/>
          <p:nvPr/>
        </p:nvGrpSpPr>
        <p:grpSpPr>
          <a:xfrm>
            <a:off x="6271998" y="2279942"/>
            <a:ext cx="600872" cy="561296"/>
            <a:chOff x="0" y="0"/>
            <a:chExt cx="801161" cy="748392"/>
          </a:xfrm>
        </p:grpSpPr>
        <p:sp>
          <p:nvSpPr>
            <p:cNvPr id="781" name="Shape"/>
            <p:cNvSpPr/>
            <p:nvPr/>
          </p:nvSpPr>
          <p:spPr>
            <a:xfrm>
              <a:off x="0" y="0"/>
              <a:ext cx="801162" cy="610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82" name="Circle"/>
            <p:cNvSpPr/>
            <p:nvPr/>
          </p:nvSpPr>
          <p:spPr>
            <a:xfrm>
              <a:off x="100949" y="558996"/>
              <a:ext cx="101601" cy="10160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83" name="Circle"/>
            <p:cNvSpPr/>
            <p:nvPr/>
          </p:nvSpPr>
          <p:spPr>
            <a:xfrm>
              <a:off x="57875" y="649912"/>
              <a:ext cx="67735" cy="6773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84" name="Circle"/>
            <p:cNvSpPr/>
            <p:nvPr/>
          </p:nvSpPr>
          <p:spPr>
            <a:xfrm>
              <a:off x="36136" y="714526"/>
              <a:ext cx="33867" cy="33867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85" name="Shape"/>
            <p:cNvSpPr/>
            <p:nvPr/>
          </p:nvSpPr>
          <p:spPr>
            <a:xfrm>
              <a:off x="40681" y="31057"/>
              <a:ext cx="734132" cy="518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</p:grpSp>
      <p:pic>
        <p:nvPicPr>
          <p:cNvPr id="787" name="Picture 60" descr="Picture 6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2507" y="1056886"/>
            <a:ext cx="321469" cy="321469"/>
          </a:xfrm>
          <a:prstGeom prst="rect">
            <a:avLst/>
          </a:prstGeom>
          <a:ln w="12700">
            <a:miter lim="400000"/>
          </a:ln>
        </p:spPr>
      </p:pic>
      <p:pic>
        <p:nvPicPr>
          <p:cNvPr id="788" name="Picture 62" descr="Picture 6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2520" y="1685536"/>
            <a:ext cx="321469" cy="321469"/>
          </a:xfrm>
          <a:prstGeom prst="rect">
            <a:avLst/>
          </a:prstGeom>
          <a:ln w="12700">
            <a:miter lim="400000"/>
          </a:ln>
        </p:spPr>
      </p:pic>
      <p:pic>
        <p:nvPicPr>
          <p:cNvPr id="789" name="Picture 63" descr="Picture 6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8239" y="2349904"/>
            <a:ext cx="321469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Title 1">
            <a:extLst>
              <a:ext uri="{FF2B5EF4-FFF2-40B4-BE49-F238E27FC236}">
                <a16:creationId xmlns:a16="http://schemas.microsoft.com/office/drawing/2014/main" id="{92E55797-DCEF-4021-886B-EEB8F18BD8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6333" y="93914"/>
            <a:ext cx="7886700" cy="7439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AU" sz="2800" b="1" dirty="0"/>
              <a:t>Virtualization: the core technique of cloud computing</a:t>
            </a:r>
            <a:endParaRPr sz="2800" b="1" dirty="0"/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76F54E32-6B9E-4C8C-ADC2-B6B214C4E533}"/>
              </a:ext>
            </a:extLst>
          </p:cNvPr>
          <p:cNvSpPr txBox="1">
            <a:spLocks/>
          </p:cNvSpPr>
          <p:nvPr/>
        </p:nvSpPr>
        <p:spPr>
          <a:xfrm>
            <a:off x="286333" y="5679219"/>
            <a:ext cx="8048819" cy="1991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4063" lvl="1" indent="-168020" defTabSz="672083" fontAlgn="auto">
              <a:lnSpc>
                <a:spcPct val="81000"/>
              </a:lnSpc>
              <a:spcBef>
                <a:spcPts val="300"/>
              </a:spcBef>
              <a:spcAft>
                <a:spcPts val="0"/>
              </a:spcAft>
              <a:buClrTx/>
              <a:buSzTx/>
              <a:defRPr sz="2156"/>
            </a:pPr>
            <a:endParaRPr lang="en-US" sz="2000" dirty="0"/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ACA60F7A-DBB3-4E70-AAB3-C57493D73375}"/>
              </a:ext>
            </a:extLst>
          </p:cNvPr>
          <p:cNvSpPr txBox="1">
            <a:spLocks/>
          </p:cNvSpPr>
          <p:nvPr/>
        </p:nvSpPr>
        <p:spPr>
          <a:xfrm>
            <a:off x="246577" y="5162448"/>
            <a:ext cx="7508008" cy="7842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81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sz="2000" dirty="0"/>
              <a:t> </a:t>
            </a:r>
          </a:p>
          <a:p>
            <a:pPr lvl="1" fontAlgn="auto">
              <a:lnSpc>
                <a:spcPct val="81000"/>
              </a:lnSpc>
              <a:spcAft>
                <a:spcPts val="0"/>
              </a:spcAft>
              <a:buClrTx/>
              <a:buSzTx/>
              <a:defRPr sz="2400"/>
            </a:pPr>
            <a:r>
              <a:rPr lang="en-US" sz="2000" dirty="0"/>
              <a:t>Obviously, more resources are provided by virtualization.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Title 1"/>
          <p:cNvSpPr txBox="1">
            <a:spLocks noGrp="1"/>
          </p:cNvSpPr>
          <p:nvPr>
            <p:ph type="title"/>
          </p:nvPr>
        </p:nvSpPr>
        <p:spPr>
          <a:xfrm>
            <a:off x="317831" y="23332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AU" b="1" dirty="0"/>
              <a:t>VM </a:t>
            </a:r>
            <a:r>
              <a:rPr lang="en-AU" b="1" dirty="0" err="1"/>
              <a:t>i</a:t>
            </a:r>
            <a:r>
              <a:rPr b="1" dirty="0"/>
              <a:t>solation</a:t>
            </a:r>
          </a:p>
        </p:txBody>
      </p:sp>
      <p:sp>
        <p:nvSpPr>
          <p:cNvPr id="1024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1086742" y="4106335"/>
            <a:ext cx="7478759" cy="177165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72000"/>
              </a:lnSpc>
              <a:defRPr sz="2500"/>
            </a:pPr>
            <a:r>
              <a:rPr lang="en-AU" dirty="0"/>
              <a:t>One VM cannot access data of another VM </a:t>
            </a:r>
            <a:endParaRPr dirty="0"/>
          </a:p>
        </p:txBody>
      </p:sp>
      <p:pic>
        <p:nvPicPr>
          <p:cNvPr id="64" name="Picture 53" descr="Picture 53">
            <a:extLst>
              <a:ext uri="{FF2B5EF4-FFF2-40B4-BE49-F238E27FC236}">
                <a16:creationId xmlns:a16="http://schemas.microsoft.com/office/drawing/2014/main" id="{DD39CF09-72BF-4A67-AFC6-C9A3952E1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091" y="3105453"/>
            <a:ext cx="447566" cy="447616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Picture 51" descr="Picture 51">
            <a:extLst>
              <a:ext uri="{FF2B5EF4-FFF2-40B4-BE49-F238E27FC236}">
                <a16:creationId xmlns:a16="http://schemas.microsoft.com/office/drawing/2014/main" id="{1ECA0479-AD15-4390-AB74-2225C194E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803" y="1986205"/>
            <a:ext cx="1369111" cy="1369262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2" descr="Picture 2">
            <a:extLst>
              <a:ext uri="{FF2B5EF4-FFF2-40B4-BE49-F238E27FC236}">
                <a16:creationId xmlns:a16="http://schemas.microsoft.com/office/drawing/2014/main" id="{C271B9DD-E15A-45EE-B0E9-39888B7CD8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7927" y="2444598"/>
            <a:ext cx="415528" cy="415528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Picture 3" descr="Picture 3">
            <a:extLst>
              <a:ext uri="{FF2B5EF4-FFF2-40B4-BE49-F238E27FC236}">
                <a16:creationId xmlns:a16="http://schemas.microsoft.com/office/drawing/2014/main" id="{0D4F2C3D-7434-497D-8A13-0DDC1A5020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836738" y="1774275"/>
            <a:ext cx="378620" cy="3786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Picture 19" descr="Picture 19">
            <a:extLst>
              <a:ext uri="{FF2B5EF4-FFF2-40B4-BE49-F238E27FC236}">
                <a16:creationId xmlns:a16="http://schemas.microsoft.com/office/drawing/2014/main" id="{F1487354-5CE7-4347-BD0C-ABE656271D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0780" y="2581519"/>
            <a:ext cx="479822" cy="479822"/>
          </a:xfrm>
          <a:prstGeom prst="rect">
            <a:avLst/>
          </a:prstGeom>
          <a:ln w="12700">
            <a:miter lim="400000"/>
          </a:ln>
        </p:spPr>
      </p:pic>
      <p:sp>
        <p:nvSpPr>
          <p:cNvPr id="69" name="TextBox 9">
            <a:extLst>
              <a:ext uri="{FF2B5EF4-FFF2-40B4-BE49-F238E27FC236}">
                <a16:creationId xmlns:a16="http://schemas.microsoft.com/office/drawing/2014/main" id="{8C77EA31-0137-4700-9B4B-E3A9A421A8B7}"/>
              </a:ext>
            </a:extLst>
          </p:cNvPr>
          <p:cNvSpPr txBox="1"/>
          <p:nvPr/>
        </p:nvSpPr>
        <p:spPr>
          <a:xfrm>
            <a:off x="2034398" y="3024431"/>
            <a:ext cx="38516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Alice</a:t>
            </a:r>
          </a:p>
        </p:txBody>
      </p:sp>
      <p:pic>
        <p:nvPicPr>
          <p:cNvPr id="70" name="Picture 3" descr="Picture 3">
            <a:extLst>
              <a:ext uri="{FF2B5EF4-FFF2-40B4-BE49-F238E27FC236}">
                <a16:creationId xmlns:a16="http://schemas.microsoft.com/office/drawing/2014/main" id="{569BAB51-F4DF-435E-B6E6-137B65B0D5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86345" y="2052881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Picture 14" descr="Picture 14">
            <a:extLst>
              <a:ext uri="{FF2B5EF4-FFF2-40B4-BE49-F238E27FC236}">
                <a16:creationId xmlns:a16="http://schemas.microsoft.com/office/drawing/2014/main" id="{79EE5A04-6C6B-47E8-910C-76CA05445A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3231" y="2827849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Picture 3" descr="Picture 3">
            <a:extLst>
              <a:ext uri="{FF2B5EF4-FFF2-40B4-BE49-F238E27FC236}">
                <a16:creationId xmlns:a16="http://schemas.microsoft.com/office/drawing/2014/main" id="{2489CBD3-4A70-4CDD-A744-BDA0EAA6C3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2113" y="2052881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" name="Picture 3" descr="Picture 3">
            <a:extLst>
              <a:ext uri="{FF2B5EF4-FFF2-40B4-BE49-F238E27FC236}">
                <a16:creationId xmlns:a16="http://schemas.microsoft.com/office/drawing/2014/main" id="{EF984A20-92C5-488A-990F-2A62435DCE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3488" y="2438643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Picture 3" descr="Picture 3">
            <a:extLst>
              <a:ext uri="{FF2B5EF4-FFF2-40B4-BE49-F238E27FC236}">
                <a16:creationId xmlns:a16="http://schemas.microsoft.com/office/drawing/2014/main" id="{BF5D1D17-B9D0-40D8-98AE-3201C24A9E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4970" y="2445787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Picture 23" descr="Picture 23">
            <a:extLst>
              <a:ext uri="{FF2B5EF4-FFF2-40B4-BE49-F238E27FC236}">
                <a16:creationId xmlns:a16="http://schemas.microsoft.com/office/drawing/2014/main" id="{515C4BFC-A859-4A4F-9BC3-E50CD25BE1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6143" y="2827849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Picture 26" descr="Picture 26">
            <a:extLst>
              <a:ext uri="{FF2B5EF4-FFF2-40B4-BE49-F238E27FC236}">
                <a16:creationId xmlns:a16="http://schemas.microsoft.com/office/drawing/2014/main" id="{E8CC13B1-6DE0-4A65-B47A-9511B5E872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6087" y="2942149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7" name="Picture 27" descr="Picture 27">
            <a:extLst>
              <a:ext uri="{FF2B5EF4-FFF2-40B4-BE49-F238E27FC236}">
                <a16:creationId xmlns:a16="http://schemas.microsoft.com/office/drawing/2014/main" id="{912B8B30-5FD5-4D91-B6C7-751EA28394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8999" y="2942149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Picture 28" descr="Picture 28">
            <a:extLst>
              <a:ext uri="{FF2B5EF4-FFF2-40B4-BE49-F238E27FC236}">
                <a16:creationId xmlns:a16="http://schemas.microsoft.com/office/drawing/2014/main" id="{B87CA24E-C6FC-42EB-85BB-FE9B0629FD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3231" y="304930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Picture 29" descr="Picture 29">
            <a:extLst>
              <a:ext uri="{FF2B5EF4-FFF2-40B4-BE49-F238E27FC236}">
                <a16:creationId xmlns:a16="http://schemas.microsoft.com/office/drawing/2014/main" id="{0B45DF36-7194-401E-B35D-701AFC6D3B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6143" y="304930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Picture 30" descr="Picture 30">
            <a:extLst>
              <a:ext uri="{FF2B5EF4-FFF2-40B4-BE49-F238E27FC236}">
                <a16:creationId xmlns:a16="http://schemas.microsoft.com/office/drawing/2014/main" id="{D8890AAE-FCFF-4287-9BF1-32E8805213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3231" y="3156462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Picture 31" descr="Picture 31">
            <a:extLst>
              <a:ext uri="{FF2B5EF4-FFF2-40B4-BE49-F238E27FC236}">
                <a16:creationId xmlns:a16="http://schemas.microsoft.com/office/drawing/2014/main" id="{6FD7698D-2E58-4668-BA6A-B22AF980DB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6143" y="3156462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Picture 5" descr="Picture 5">
            <a:extLst>
              <a:ext uri="{FF2B5EF4-FFF2-40B4-BE49-F238E27FC236}">
                <a16:creationId xmlns:a16="http://schemas.microsoft.com/office/drawing/2014/main" id="{60CF5626-DAED-476B-8E01-05DC79C0D0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5851026" y="3117300"/>
            <a:ext cx="435662" cy="435662"/>
          </a:xfrm>
          <a:prstGeom prst="rect">
            <a:avLst/>
          </a:prstGeom>
          <a:ln w="12700">
            <a:miter lim="400000"/>
          </a:ln>
        </p:spPr>
      </p:pic>
      <p:sp>
        <p:nvSpPr>
          <p:cNvPr id="83" name="TextBox 33">
            <a:extLst>
              <a:ext uri="{FF2B5EF4-FFF2-40B4-BE49-F238E27FC236}">
                <a16:creationId xmlns:a16="http://schemas.microsoft.com/office/drawing/2014/main" id="{260ECEF9-B059-4A6C-8CC7-D421F280EAC0}"/>
              </a:ext>
            </a:extLst>
          </p:cNvPr>
          <p:cNvSpPr txBox="1"/>
          <p:nvPr/>
        </p:nvSpPr>
        <p:spPr>
          <a:xfrm>
            <a:off x="5876892" y="2095744"/>
            <a:ext cx="32970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Bob</a:t>
            </a:r>
          </a:p>
        </p:txBody>
      </p:sp>
      <p:sp>
        <p:nvSpPr>
          <p:cNvPr id="84" name="TextBox 34">
            <a:extLst>
              <a:ext uri="{FF2B5EF4-FFF2-40B4-BE49-F238E27FC236}">
                <a16:creationId xmlns:a16="http://schemas.microsoft.com/office/drawing/2014/main" id="{5B93DB0E-D1CF-40C7-BB5A-52BB59ABA54D}"/>
              </a:ext>
            </a:extLst>
          </p:cNvPr>
          <p:cNvSpPr txBox="1"/>
          <p:nvPr/>
        </p:nvSpPr>
        <p:spPr>
          <a:xfrm>
            <a:off x="5787306" y="2810119"/>
            <a:ext cx="53745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Charlie</a:t>
            </a:r>
          </a:p>
        </p:txBody>
      </p:sp>
      <p:sp>
        <p:nvSpPr>
          <p:cNvPr id="85" name="TextBox 35">
            <a:extLst>
              <a:ext uri="{FF2B5EF4-FFF2-40B4-BE49-F238E27FC236}">
                <a16:creationId xmlns:a16="http://schemas.microsoft.com/office/drawing/2014/main" id="{A5357ED2-4627-46A4-A0C2-C23947151AE3}"/>
              </a:ext>
            </a:extLst>
          </p:cNvPr>
          <p:cNvSpPr txBox="1"/>
          <p:nvPr/>
        </p:nvSpPr>
        <p:spPr>
          <a:xfrm>
            <a:off x="5824101" y="3495919"/>
            <a:ext cx="49244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Daniel</a:t>
            </a:r>
          </a:p>
        </p:txBody>
      </p:sp>
      <p:pic>
        <p:nvPicPr>
          <p:cNvPr id="92" name="Picture 52" descr="Picture 52">
            <a:extLst>
              <a:ext uri="{FF2B5EF4-FFF2-40B4-BE49-F238E27FC236}">
                <a16:creationId xmlns:a16="http://schemas.microsoft.com/office/drawing/2014/main" id="{1F4D00BC-B9A8-4DB4-82DB-40FB33FBA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548" y="2386255"/>
            <a:ext cx="790466" cy="790553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TextBox 54">
            <a:extLst>
              <a:ext uri="{FF2B5EF4-FFF2-40B4-BE49-F238E27FC236}">
                <a16:creationId xmlns:a16="http://schemas.microsoft.com/office/drawing/2014/main" id="{D605AE4D-817C-4D89-906E-A80ABBED8E6A}"/>
              </a:ext>
            </a:extLst>
          </p:cNvPr>
          <p:cNvSpPr txBox="1"/>
          <p:nvPr/>
        </p:nvSpPr>
        <p:spPr>
          <a:xfrm>
            <a:off x="2500175" y="3288750"/>
            <a:ext cx="122527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Physical machine</a:t>
            </a:r>
          </a:p>
        </p:txBody>
      </p:sp>
      <p:sp>
        <p:nvSpPr>
          <p:cNvPr id="94" name="TextBox 55">
            <a:extLst>
              <a:ext uri="{FF2B5EF4-FFF2-40B4-BE49-F238E27FC236}">
                <a16:creationId xmlns:a16="http://schemas.microsoft.com/office/drawing/2014/main" id="{9C980E9A-959E-4378-BB61-09266C369DDC}"/>
              </a:ext>
            </a:extLst>
          </p:cNvPr>
          <p:cNvSpPr txBox="1"/>
          <p:nvPr/>
        </p:nvSpPr>
        <p:spPr>
          <a:xfrm>
            <a:off x="4473725" y="3560213"/>
            <a:ext cx="119295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Virtual machines</a:t>
            </a:r>
          </a:p>
        </p:txBody>
      </p:sp>
      <p:pic>
        <p:nvPicPr>
          <p:cNvPr id="99" name="Picture 51" descr="Picture 51">
            <a:extLst>
              <a:ext uri="{FF2B5EF4-FFF2-40B4-BE49-F238E27FC236}">
                <a16:creationId xmlns:a16="http://schemas.microsoft.com/office/drawing/2014/main" id="{DA601048-A072-49BE-86A6-89F789136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379" y="1779037"/>
            <a:ext cx="552391" cy="552452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TextBox 59">
            <a:extLst>
              <a:ext uri="{FF2B5EF4-FFF2-40B4-BE49-F238E27FC236}">
                <a16:creationId xmlns:a16="http://schemas.microsoft.com/office/drawing/2014/main" id="{A75A045B-D4F6-4896-A0E2-00315C9BDEE2}"/>
              </a:ext>
            </a:extLst>
          </p:cNvPr>
          <p:cNvSpPr txBox="1"/>
          <p:nvPr/>
        </p:nvSpPr>
        <p:spPr>
          <a:xfrm>
            <a:off x="3935851" y="2367206"/>
            <a:ext cx="639918" cy="646331"/>
          </a:xfrm>
          <a:prstGeom prst="rect">
            <a:avLst/>
          </a:prstGeom>
          <a:solidFill>
            <a:srgbClr val="00B0F0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/>
          <a:p>
            <a:pPr>
              <a:spcBef>
                <a:spcPts val="225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rPr sz="1200"/>
              <a:t>Virtual </a:t>
            </a:r>
            <a:br>
              <a:rPr sz="1200"/>
            </a:br>
            <a:r>
              <a:rPr sz="1200"/>
              <a:t>machine</a:t>
            </a:r>
            <a:br>
              <a:rPr sz="1200"/>
            </a:br>
            <a:r>
              <a:rPr sz="1200"/>
              <a:t>monitor</a:t>
            </a:r>
          </a:p>
        </p:txBody>
      </p:sp>
      <p:sp>
        <p:nvSpPr>
          <p:cNvPr id="106" name="Straight Arrow Connector 61">
            <a:extLst>
              <a:ext uri="{FF2B5EF4-FFF2-40B4-BE49-F238E27FC236}">
                <a16:creationId xmlns:a16="http://schemas.microsoft.com/office/drawing/2014/main" id="{FF810035-BFA6-4F18-81E9-E0B93C3EAA6F}"/>
              </a:ext>
            </a:extLst>
          </p:cNvPr>
          <p:cNvSpPr/>
          <p:nvPr/>
        </p:nvSpPr>
        <p:spPr>
          <a:xfrm flipV="1">
            <a:off x="3572170" y="2678831"/>
            <a:ext cx="330660" cy="9845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107" name="Straight Arrow Connector 64">
            <a:extLst>
              <a:ext uri="{FF2B5EF4-FFF2-40B4-BE49-F238E27FC236}">
                <a16:creationId xmlns:a16="http://schemas.microsoft.com/office/drawing/2014/main" id="{F6E0A7E0-D91F-48A5-B1C1-6B7AE78CBCB9}"/>
              </a:ext>
            </a:extLst>
          </p:cNvPr>
          <p:cNvSpPr/>
          <p:nvPr/>
        </p:nvSpPr>
        <p:spPr>
          <a:xfrm flipV="1">
            <a:off x="4615157" y="2245762"/>
            <a:ext cx="314326" cy="30718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108" name="Straight Arrow Connector 66">
            <a:extLst>
              <a:ext uri="{FF2B5EF4-FFF2-40B4-BE49-F238E27FC236}">
                <a16:creationId xmlns:a16="http://schemas.microsoft.com/office/drawing/2014/main" id="{9A59FAC3-A8D7-4B0F-97AA-1693EF61C3C4}"/>
              </a:ext>
            </a:extLst>
          </p:cNvPr>
          <p:cNvSpPr/>
          <p:nvPr/>
        </p:nvSpPr>
        <p:spPr>
          <a:xfrm>
            <a:off x="4608791" y="2678830"/>
            <a:ext cx="456423" cy="24133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109" name="Straight Arrow Connector 68">
            <a:extLst>
              <a:ext uri="{FF2B5EF4-FFF2-40B4-BE49-F238E27FC236}">
                <a16:creationId xmlns:a16="http://schemas.microsoft.com/office/drawing/2014/main" id="{BA2080D8-737F-402E-89BD-AFF50F823265}"/>
              </a:ext>
            </a:extLst>
          </p:cNvPr>
          <p:cNvSpPr/>
          <p:nvPr/>
        </p:nvSpPr>
        <p:spPr>
          <a:xfrm>
            <a:off x="4622300" y="2831550"/>
            <a:ext cx="340575" cy="273905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</p:spTree>
    <p:extLst>
      <p:ext uri="{BB962C8B-B14F-4D97-AF65-F5344CB8AC3E}">
        <p14:creationId xmlns:p14="http://schemas.microsoft.com/office/powerpoint/2010/main" val="342825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Title 1"/>
          <p:cNvSpPr txBox="1">
            <a:spLocks noGrp="1"/>
          </p:cNvSpPr>
          <p:nvPr>
            <p:ph type="title"/>
          </p:nvPr>
        </p:nvSpPr>
        <p:spPr>
          <a:xfrm>
            <a:off x="235094" y="403214"/>
            <a:ext cx="7886700" cy="555572"/>
          </a:xfrm>
          <a:prstGeom prst="rect">
            <a:avLst/>
          </a:prstGeom>
        </p:spPr>
        <p:txBody>
          <a:bodyPr/>
          <a:lstStyle/>
          <a:p>
            <a:r>
              <a:rPr lang="en-AU" b="1" dirty="0"/>
              <a:t>VM</a:t>
            </a:r>
            <a:r>
              <a:rPr b="1" dirty="0"/>
              <a:t> </a:t>
            </a:r>
            <a:r>
              <a:rPr lang="en-AU" b="1" dirty="0"/>
              <a:t>live m</a:t>
            </a:r>
            <a:r>
              <a:rPr b="1" dirty="0" err="1"/>
              <a:t>igration</a:t>
            </a:r>
            <a:endParaRPr b="1" dirty="0"/>
          </a:p>
        </p:txBody>
      </p:sp>
      <p:sp>
        <p:nvSpPr>
          <p:cNvPr id="84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874440" y="4710459"/>
            <a:ext cx="7448466" cy="144198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168020" indent="-168020" defTabSz="672083">
              <a:lnSpc>
                <a:spcPct val="72000"/>
              </a:lnSpc>
              <a:spcBef>
                <a:spcPts val="675"/>
              </a:spcBef>
              <a:defRPr sz="2450"/>
            </a:pPr>
            <a:r>
              <a:rPr sz="2000" dirty="0"/>
              <a:t>What if the machine needs to be shut down</a:t>
            </a:r>
            <a:r>
              <a:rPr lang="en-AU" sz="2000" dirty="0"/>
              <a:t> for</a:t>
            </a:r>
            <a:r>
              <a:rPr sz="2000" dirty="0"/>
              <a:t> maintenance</a:t>
            </a:r>
            <a:r>
              <a:rPr lang="en-AU" sz="2000" dirty="0"/>
              <a:t>?</a:t>
            </a:r>
            <a:endParaRPr sz="2000" dirty="0"/>
          </a:p>
          <a:p>
            <a:pPr marL="504063" lvl="1" indent="-168020" defTabSz="672083">
              <a:lnSpc>
                <a:spcPct val="72000"/>
              </a:lnSpc>
              <a:spcBef>
                <a:spcPts val="300"/>
              </a:spcBef>
              <a:defRPr sz="2156"/>
            </a:pPr>
            <a:r>
              <a:rPr sz="2000" dirty="0"/>
              <a:t>Alice can </a:t>
            </a:r>
            <a:r>
              <a:rPr sz="2000" dirty="0">
                <a:solidFill>
                  <a:srgbClr val="FF9900"/>
                </a:solidFill>
              </a:rPr>
              <a:t>migrate</a:t>
            </a:r>
            <a:r>
              <a:rPr sz="2000" dirty="0"/>
              <a:t> the </a:t>
            </a:r>
            <a:r>
              <a:rPr lang="en-AU" sz="2000" dirty="0"/>
              <a:t>running </a:t>
            </a:r>
            <a:r>
              <a:rPr sz="2000" dirty="0"/>
              <a:t>VMs to different physical machines without </a:t>
            </a:r>
            <a:r>
              <a:rPr lang="en-AU" sz="2000" dirty="0"/>
              <a:t>interrupting </a:t>
            </a:r>
            <a:r>
              <a:rPr sz="2000" dirty="0"/>
              <a:t>any customers</a:t>
            </a:r>
            <a:r>
              <a:rPr lang="en-AU" sz="2000" dirty="0"/>
              <a:t>.</a:t>
            </a:r>
            <a:endParaRPr sz="2000" dirty="0"/>
          </a:p>
        </p:txBody>
      </p:sp>
      <p:pic>
        <p:nvPicPr>
          <p:cNvPr id="842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06" y="3219754"/>
            <a:ext cx="447566" cy="447616"/>
          </a:xfrm>
          <a:prstGeom prst="rect">
            <a:avLst/>
          </a:prstGeom>
          <a:ln w="12700">
            <a:miter lim="400000"/>
          </a:ln>
        </p:spPr>
      </p:pic>
      <p:pic>
        <p:nvPicPr>
          <p:cNvPr id="843" name="Picture 51" descr="Picture 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818" y="1643306"/>
            <a:ext cx="1369111" cy="1369262"/>
          </a:xfrm>
          <a:prstGeom prst="rect">
            <a:avLst/>
          </a:prstGeom>
          <a:ln w="12700">
            <a:miter lim="400000"/>
          </a:ln>
        </p:spPr>
      </p:pic>
      <p:pic>
        <p:nvPicPr>
          <p:cNvPr id="844" name="Picture 2" descr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1942" y="2558899"/>
            <a:ext cx="415528" cy="415528"/>
          </a:xfrm>
          <a:prstGeom prst="rect">
            <a:avLst/>
          </a:prstGeom>
          <a:ln w="12700">
            <a:miter lim="400000"/>
          </a:ln>
        </p:spPr>
      </p:pic>
      <p:pic>
        <p:nvPicPr>
          <p:cNvPr id="845" name="Picture 3" descr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780753" y="1888576"/>
            <a:ext cx="378620" cy="3786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46" name="Picture 19" descr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3351" y="2331489"/>
            <a:ext cx="479822" cy="479822"/>
          </a:xfrm>
          <a:prstGeom prst="rect">
            <a:avLst/>
          </a:prstGeom>
          <a:ln w="12700">
            <a:miter lim="400000"/>
          </a:ln>
        </p:spPr>
      </p:pic>
      <p:sp>
        <p:nvSpPr>
          <p:cNvPr id="847" name="TextBox 10"/>
          <p:cNvSpPr txBox="1"/>
          <p:nvPr/>
        </p:nvSpPr>
        <p:spPr>
          <a:xfrm>
            <a:off x="1856969" y="2774401"/>
            <a:ext cx="38516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Alice</a:t>
            </a:r>
          </a:p>
        </p:txBody>
      </p:sp>
      <p:pic>
        <p:nvPicPr>
          <p:cNvPr id="848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0360" y="1709982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849" name="Picture 12" descr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7246" y="2484950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50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6128" y="1709982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851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7503" y="2095744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852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58985" y="2102888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853" name="Picture 16" descr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0158" y="2484950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54" name="Picture 17" descr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0102" y="2599250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55" name="Picture 18" descr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83014" y="2599250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56" name="Picture 19" descr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7246" y="2706407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57" name="Picture 20" descr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0158" y="2706407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58" name="Picture 21" descr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7246" y="2813563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59" name="Picture 22" descr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0158" y="2813563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60" name="Picture 5" descr="Picture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5795041" y="3231601"/>
            <a:ext cx="435662" cy="435662"/>
          </a:xfrm>
          <a:prstGeom prst="rect">
            <a:avLst/>
          </a:prstGeom>
          <a:ln w="12700">
            <a:miter lim="400000"/>
          </a:ln>
        </p:spPr>
      </p:pic>
      <p:sp>
        <p:nvSpPr>
          <p:cNvPr id="861" name="TextBox 24"/>
          <p:cNvSpPr txBox="1"/>
          <p:nvPr/>
        </p:nvSpPr>
        <p:spPr>
          <a:xfrm>
            <a:off x="5820907" y="2210045"/>
            <a:ext cx="32970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Bob</a:t>
            </a:r>
          </a:p>
        </p:txBody>
      </p:sp>
      <p:sp>
        <p:nvSpPr>
          <p:cNvPr id="862" name="TextBox 25"/>
          <p:cNvSpPr txBox="1"/>
          <p:nvPr/>
        </p:nvSpPr>
        <p:spPr>
          <a:xfrm>
            <a:off x="5731321" y="2924420"/>
            <a:ext cx="53745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Charlie</a:t>
            </a:r>
          </a:p>
        </p:txBody>
      </p:sp>
      <p:sp>
        <p:nvSpPr>
          <p:cNvPr id="863" name="TextBox 26"/>
          <p:cNvSpPr txBox="1"/>
          <p:nvPr/>
        </p:nvSpPr>
        <p:spPr>
          <a:xfrm>
            <a:off x="5768116" y="3610220"/>
            <a:ext cx="49244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Daniel</a:t>
            </a:r>
          </a:p>
        </p:txBody>
      </p:sp>
      <p:pic>
        <p:nvPicPr>
          <p:cNvPr id="870" name="Picture 33" descr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563" y="2500556"/>
            <a:ext cx="790466" cy="790553"/>
          </a:xfrm>
          <a:prstGeom prst="rect">
            <a:avLst/>
          </a:prstGeom>
          <a:ln w="12700">
            <a:miter lim="400000"/>
          </a:ln>
        </p:spPr>
      </p:pic>
      <p:sp>
        <p:nvSpPr>
          <p:cNvPr id="871" name="TextBox 34"/>
          <p:cNvSpPr txBox="1"/>
          <p:nvPr/>
        </p:nvSpPr>
        <p:spPr>
          <a:xfrm>
            <a:off x="2409726" y="4038845"/>
            <a:ext cx="129419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 dirty="0"/>
              <a:t>Physical machine</a:t>
            </a:r>
            <a:r>
              <a:rPr lang="en-AU" sz="1200" dirty="0"/>
              <a:t>s</a:t>
            </a:r>
            <a:endParaRPr sz="1200" dirty="0"/>
          </a:p>
        </p:txBody>
      </p:sp>
      <p:sp>
        <p:nvSpPr>
          <p:cNvPr id="872" name="TextBox 35"/>
          <p:cNvSpPr txBox="1"/>
          <p:nvPr/>
        </p:nvSpPr>
        <p:spPr>
          <a:xfrm>
            <a:off x="4417740" y="3674514"/>
            <a:ext cx="119295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Virtual machines</a:t>
            </a:r>
          </a:p>
        </p:txBody>
      </p:sp>
      <p:pic>
        <p:nvPicPr>
          <p:cNvPr id="877" name="Picture 40" descr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394" y="1893338"/>
            <a:ext cx="552391" cy="552452"/>
          </a:xfrm>
          <a:prstGeom prst="rect">
            <a:avLst/>
          </a:prstGeom>
          <a:ln w="12700">
            <a:miter lim="400000"/>
          </a:ln>
        </p:spPr>
      </p:pic>
      <p:sp>
        <p:nvSpPr>
          <p:cNvPr id="883" name="TextBox 46"/>
          <p:cNvSpPr txBox="1"/>
          <p:nvPr/>
        </p:nvSpPr>
        <p:spPr>
          <a:xfrm>
            <a:off x="3879866" y="2481507"/>
            <a:ext cx="639918" cy="646331"/>
          </a:xfrm>
          <a:prstGeom prst="rect">
            <a:avLst/>
          </a:prstGeom>
          <a:solidFill>
            <a:srgbClr val="00B0F0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/>
          <a:p>
            <a:pPr>
              <a:spcBef>
                <a:spcPts val="225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rPr sz="1200"/>
              <a:t>Virtual </a:t>
            </a:r>
            <a:br>
              <a:rPr sz="1200"/>
            </a:br>
            <a:r>
              <a:rPr sz="1200"/>
              <a:t>machine</a:t>
            </a:r>
            <a:br>
              <a:rPr sz="1200"/>
            </a:br>
            <a:r>
              <a:rPr sz="1200"/>
              <a:t>monitor</a:t>
            </a:r>
          </a:p>
        </p:txBody>
      </p:sp>
      <p:sp>
        <p:nvSpPr>
          <p:cNvPr id="884" name="Straight Arrow Connector 47"/>
          <p:cNvSpPr/>
          <p:nvPr/>
        </p:nvSpPr>
        <p:spPr>
          <a:xfrm>
            <a:off x="3516184" y="2345776"/>
            <a:ext cx="330660" cy="447356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885" name="Straight Arrow Connector 48"/>
          <p:cNvSpPr/>
          <p:nvPr/>
        </p:nvSpPr>
        <p:spPr>
          <a:xfrm flipV="1">
            <a:off x="4559172" y="2360063"/>
            <a:ext cx="314326" cy="30718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886" name="Straight Arrow Connector 49"/>
          <p:cNvSpPr/>
          <p:nvPr/>
        </p:nvSpPr>
        <p:spPr>
          <a:xfrm>
            <a:off x="4552806" y="2793131"/>
            <a:ext cx="456423" cy="24133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887" name="Straight Arrow Connector 50"/>
          <p:cNvSpPr/>
          <p:nvPr/>
        </p:nvSpPr>
        <p:spPr>
          <a:xfrm>
            <a:off x="4566315" y="2945851"/>
            <a:ext cx="340575" cy="273905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pic>
        <p:nvPicPr>
          <p:cNvPr id="889" name="Picture 51" descr="Picture 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362" y="3079248"/>
            <a:ext cx="926198" cy="926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0" name="Picture 51" descr="Picture 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1456" y="3064961"/>
            <a:ext cx="926198" cy="926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1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4641" y="3181594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2" name="Picture 58" descr="Picture 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4364" y="3542225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93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0310" y="3181594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4" name="Picture 60" descr="Picture 6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7221" y="3656525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95" name="Picture 61" descr="Picture 6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4364" y="3763682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96" name="Picture 62" descr="Picture 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4364" y="3870838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97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0453" y="3181594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8" name="Picture 64" descr="Picture 6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40177" y="3542225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99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6122" y="3181594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900" name="Picture 66" descr="Picture 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3033" y="3656525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901" name="Picture 67" descr="Picture 6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40177" y="3763682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902" name="Picture 68" descr="Picture 6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40177" y="3870838"/>
            <a:ext cx="383165" cy="88834"/>
          </a:xfrm>
          <a:prstGeom prst="rect">
            <a:avLst/>
          </a:prstGeom>
          <a:ln w="12700">
            <a:miter lim="400000"/>
          </a:ln>
        </p:spPr>
      </p:pic>
      <p:sp>
        <p:nvSpPr>
          <p:cNvPr id="903" name="Rectangle 69"/>
          <p:cNvSpPr/>
          <p:nvPr/>
        </p:nvSpPr>
        <p:spPr>
          <a:xfrm>
            <a:off x="2758948" y="1822568"/>
            <a:ext cx="135732" cy="130303"/>
          </a:xfrm>
          <a:prstGeom prst="rect">
            <a:avLst/>
          </a:prstGeom>
          <a:solidFill>
            <a:srgbClr val="7030A0"/>
          </a:solidFill>
          <a:ln w="19050">
            <a:solidFill>
              <a:srgbClr val="000000"/>
            </a:solidFill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sp>
        <p:nvSpPr>
          <p:cNvPr id="904" name="Rectangle 70"/>
          <p:cNvSpPr/>
          <p:nvPr/>
        </p:nvSpPr>
        <p:spPr>
          <a:xfrm>
            <a:off x="3194717" y="1815424"/>
            <a:ext cx="135732" cy="130303"/>
          </a:xfrm>
          <a:prstGeom prst="rect">
            <a:avLst/>
          </a:prstGeom>
          <a:solidFill>
            <a:srgbClr val="FF9900"/>
          </a:solidFill>
          <a:ln w="19050">
            <a:solidFill>
              <a:srgbClr val="000000"/>
            </a:solidFill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sp>
        <p:nvSpPr>
          <p:cNvPr id="905" name="Rectangle 71"/>
          <p:cNvSpPr/>
          <p:nvPr/>
        </p:nvSpPr>
        <p:spPr>
          <a:xfrm>
            <a:off x="2766092" y="2215474"/>
            <a:ext cx="135732" cy="130303"/>
          </a:xfrm>
          <a:prstGeom prst="rect">
            <a:avLst/>
          </a:prstGeom>
          <a:solidFill>
            <a:srgbClr val="FF9900"/>
          </a:solidFill>
          <a:ln w="19050">
            <a:solidFill>
              <a:srgbClr val="000000"/>
            </a:solidFill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sp>
        <p:nvSpPr>
          <p:cNvPr id="906" name="Rectangle 72"/>
          <p:cNvSpPr/>
          <p:nvPr/>
        </p:nvSpPr>
        <p:spPr>
          <a:xfrm>
            <a:off x="3187573" y="2208330"/>
            <a:ext cx="135732" cy="130303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grpSp>
        <p:nvGrpSpPr>
          <p:cNvPr id="910" name="Group 79"/>
          <p:cNvGrpSpPr/>
          <p:nvPr/>
        </p:nvGrpSpPr>
        <p:grpSpPr>
          <a:xfrm>
            <a:off x="2730373" y="2486937"/>
            <a:ext cx="235745" cy="294609"/>
            <a:chOff x="0" y="0"/>
            <a:chExt cx="314325" cy="392811"/>
          </a:xfrm>
        </p:grpSpPr>
        <p:sp>
          <p:nvSpPr>
            <p:cNvPr id="907" name="Rectangle 73"/>
            <p:cNvSpPr/>
            <p:nvPr/>
          </p:nvSpPr>
          <p:spPr>
            <a:xfrm>
              <a:off x="0" y="-1"/>
              <a:ext cx="314325" cy="97537"/>
            </a:xfrm>
            <a:prstGeom prst="rect">
              <a:avLst/>
            </a:prstGeom>
            <a:solidFill>
              <a:srgbClr val="7030A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908" name="Rectangle 74"/>
            <p:cNvSpPr/>
            <p:nvPr/>
          </p:nvSpPr>
          <p:spPr>
            <a:xfrm>
              <a:off x="0" y="152399"/>
              <a:ext cx="314325" cy="97538"/>
            </a:xfrm>
            <a:prstGeom prst="rect">
              <a:avLst/>
            </a:prstGeom>
            <a:solidFill>
              <a:srgbClr val="7030A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909" name="Rectangle 75"/>
            <p:cNvSpPr/>
            <p:nvPr/>
          </p:nvSpPr>
          <p:spPr>
            <a:xfrm>
              <a:off x="0" y="295275"/>
              <a:ext cx="314325" cy="97537"/>
            </a:xfrm>
            <a:prstGeom prst="rect">
              <a:avLst/>
            </a:prstGeom>
            <a:solidFill>
              <a:srgbClr val="7030A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</p:grpSp>
      <p:sp>
        <p:nvSpPr>
          <p:cNvPr id="911" name="Rectangle 76"/>
          <p:cNvSpPr/>
          <p:nvPr/>
        </p:nvSpPr>
        <p:spPr>
          <a:xfrm>
            <a:off x="2730373" y="2808405"/>
            <a:ext cx="235745" cy="73153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grpSp>
        <p:nvGrpSpPr>
          <p:cNvPr id="915" name="Group 81"/>
          <p:cNvGrpSpPr/>
          <p:nvPr/>
        </p:nvGrpSpPr>
        <p:grpSpPr>
          <a:xfrm>
            <a:off x="3180429" y="2486937"/>
            <a:ext cx="235745" cy="394622"/>
            <a:chOff x="0" y="0"/>
            <a:chExt cx="314325" cy="526161"/>
          </a:xfrm>
        </p:grpSpPr>
        <p:sp>
          <p:nvSpPr>
            <p:cNvPr id="912" name="Rectangle 77"/>
            <p:cNvSpPr/>
            <p:nvPr/>
          </p:nvSpPr>
          <p:spPr>
            <a:xfrm>
              <a:off x="0" y="-1"/>
              <a:ext cx="314325" cy="97537"/>
            </a:xfrm>
            <a:prstGeom prst="rect">
              <a:avLst/>
            </a:prstGeom>
            <a:solidFill>
              <a:srgbClr val="FF99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913" name="Rectangle 78"/>
            <p:cNvSpPr/>
            <p:nvPr/>
          </p:nvSpPr>
          <p:spPr>
            <a:xfrm>
              <a:off x="0" y="152399"/>
              <a:ext cx="314325" cy="97538"/>
            </a:xfrm>
            <a:prstGeom prst="rect">
              <a:avLst/>
            </a:prstGeom>
            <a:solidFill>
              <a:srgbClr val="FF99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914" name="Rectangle 80"/>
            <p:cNvSpPr/>
            <p:nvPr/>
          </p:nvSpPr>
          <p:spPr>
            <a:xfrm>
              <a:off x="0" y="428625"/>
              <a:ext cx="314325" cy="97537"/>
            </a:xfrm>
            <a:prstGeom prst="rect">
              <a:avLst/>
            </a:prstGeom>
            <a:solidFill>
              <a:srgbClr val="FF99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1" name="Picture 21" descr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445" y="3145864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92" name="Picture 22" descr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301" y="3260164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93" name="Picture 23" descr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445" y="3367320"/>
            <a:ext cx="383165" cy="88834"/>
          </a:xfrm>
          <a:prstGeom prst="rect">
            <a:avLst/>
          </a:prstGeom>
          <a:ln w="12700">
            <a:miter lim="400000"/>
          </a:ln>
        </p:spPr>
      </p:pic>
      <p:sp>
        <p:nvSpPr>
          <p:cNvPr id="794" name="Title 1"/>
          <p:cNvSpPr txBox="1">
            <a:spLocks noGrp="1"/>
          </p:cNvSpPr>
          <p:nvPr>
            <p:ph type="title"/>
          </p:nvPr>
        </p:nvSpPr>
        <p:spPr>
          <a:xfrm>
            <a:off x="360790" y="198028"/>
            <a:ext cx="6270813" cy="79382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3200" b="1" dirty="0"/>
              <a:t>How </a:t>
            </a:r>
            <a:r>
              <a:rPr lang="en-AU" sz="3200" b="1" dirty="0"/>
              <a:t>is</a:t>
            </a:r>
            <a:r>
              <a:rPr sz="3200" b="1" dirty="0"/>
              <a:t> </a:t>
            </a:r>
            <a:r>
              <a:rPr lang="en-AU" sz="3200" b="1" dirty="0"/>
              <a:t>virtualization</a:t>
            </a:r>
            <a:r>
              <a:rPr sz="3200" b="1" dirty="0"/>
              <a:t> </a:t>
            </a:r>
            <a:r>
              <a:rPr lang="en-AU" sz="3200" b="1" dirty="0"/>
              <a:t>implemented</a:t>
            </a:r>
            <a:r>
              <a:rPr sz="3200" b="1" dirty="0"/>
              <a:t>?</a:t>
            </a:r>
          </a:p>
        </p:txBody>
      </p:sp>
      <p:sp>
        <p:nvSpPr>
          <p:cNvPr id="795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916931" y="4091401"/>
            <a:ext cx="7804471" cy="1996889"/>
          </a:xfrm>
          <a:prstGeom prst="rect">
            <a:avLst/>
          </a:prstGeom>
        </p:spPr>
        <p:txBody>
          <a:bodyPr>
            <a:noAutofit/>
          </a:bodyPr>
          <a:lstStyle/>
          <a:p>
            <a:pPr lvl="1">
              <a:lnSpc>
                <a:spcPct val="81000"/>
              </a:lnSpc>
              <a:defRPr sz="2400"/>
            </a:pPr>
            <a:r>
              <a:rPr lang="en-US" sz="2000" dirty="0"/>
              <a:t>VMM ("Hypervisor") has translation tables that map guest memory to physical memory</a:t>
            </a:r>
          </a:p>
        </p:txBody>
      </p:sp>
      <p:sp>
        <p:nvSpPr>
          <p:cNvPr id="797" name="Rectangle 5"/>
          <p:cNvSpPr/>
          <p:nvPr/>
        </p:nvSpPr>
        <p:spPr>
          <a:xfrm>
            <a:off x="3913054" y="1701483"/>
            <a:ext cx="1775013" cy="1734672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sp>
        <p:nvSpPr>
          <p:cNvPr id="798" name="TextBox 6"/>
          <p:cNvSpPr txBox="1"/>
          <p:nvPr/>
        </p:nvSpPr>
        <p:spPr>
          <a:xfrm>
            <a:off x="4343534" y="3225578"/>
            <a:ext cx="93326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200"/>
              </a:spcBef>
              <a:defRPr sz="1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900" dirty="0">
                <a:solidFill>
                  <a:schemeClr val="tx1"/>
                </a:solidFill>
              </a:rPr>
              <a:t>Physical machine</a:t>
            </a:r>
          </a:p>
        </p:txBody>
      </p:sp>
      <p:sp>
        <p:nvSpPr>
          <p:cNvPr id="799" name="Rectangle 9"/>
          <p:cNvSpPr/>
          <p:nvPr/>
        </p:nvSpPr>
        <p:spPr>
          <a:xfrm>
            <a:off x="4013908" y="1788889"/>
            <a:ext cx="739589" cy="914401"/>
          </a:xfrm>
          <a:prstGeom prst="rect">
            <a:avLst/>
          </a:prstGeom>
          <a:solidFill>
            <a:srgbClr val="00B0F0"/>
          </a:solidFill>
          <a:ln w="19050">
            <a:solidFill>
              <a:srgbClr val="000000"/>
            </a:solidFill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sp>
        <p:nvSpPr>
          <p:cNvPr id="800" name="Rectangle 10"/>
          <p:cNvSpPr/>
          <p:nvPr/>
        </p:nvSpPr>
        <p:spPr>
          <a:xfrm>
            <a:off x="4854349" y="1788889"/>
            <a:ext cx="739590" cy="914401"/>
          </a:xfrm>
          <a:prstGeom prst="rect">
            <a:avLst/>
          </a:prstGeom>
          <a:solidFill>
            <a:srgbClr val="00B0F0"/>
          </a:solidFill>
          <a:ln w="19050">
            <a:solidFill>
              <a:srgbClr val="000000"/>
            </a:solidFill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grpSp>
        <p:nvGrpSpPr>
          <p:cNvPr id="803" name="Rectangle 11"/>
          <p:cNvGrpSpPr/>
          <p:nvPr/>
        </p:nvGrpSpPr>
        <p:grpSpPr>
          <a:xfrm>
            <a:off x="4067696" y="2388075"/>
            <a:ext cx="618565" cy="253914"/>
            <a:chOff x="0" y="-2906"/>
            <a:chExt cx="824752" cy="338551"/>
          </a:xfrm>
        </p:grpSpPr>
        <p:sp>
          <p:nvSpPr>
            <p:cNvPr id="801" name="Rectangle"/>
            <p:cNvSpPr/>
            <p:nvPr/>
          </p:nvSpPr>
          <p:spPr>
            <a:xfrm>
              <a:off x="0" y="5005"/>
              <a:ext cx="824752" cy="322730"/>
            </a:xfrm>
            <a:prstGeom prst="rect">
              <a:avLst/>
            </a:pr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802" name="OS 1"/>
            <p:cNvSpPr txBox="1"/>
            <p:nvPr/>
          </p:nvSpPr>
          <p:spPr>
            <a:xfrm>
              <a:off x="0" y="-2906"/>
              <a:ext cx="824752" cy="3385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spcBef>
                  <a:spcPts val="3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200"/>
                <a:t>OS 1</a:t>
              </a:r>
            </a:p>
          </p:txBody>
        </p:sp>
      </p:grpSp>
      <p:grpSp>
        <p:nvGrpSpPr>
          <p:cNvPr id="806" name="Rectangle 12"/>
          <p:cNvGrpSpPr/>
          <p:nvPr/>
        </p:nvGrpSpPr>
        <p:grpSpPr>
          <a:xfrm>
            <a:off x="4914861" y="2388075"/>
            <a:ext cx="618566" cy="253914"/>
            <a:chOff x="0" y="-2906"/>
            <a:chExt cx="824752" cy="338551"/>
          </a:xfrm>
        </p:grpSpPr>
        <p:sp>
          <p:nvSpPr>
            <p:cNvPr id="804" name="Rectangle"/>
            <p:cNvSpPr/>
            <p:nvPr/>
          </p:nvSpPr>
          <p:spPr>
            <a:xfrm>
              <a:off x="0" y="5005"/>
              <a:ext cx="824752" cy="322730"/>
            </a:xfrm>
            <a:prstGeom prst="rect">
              <a:avLst/>
            </a:pr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805" name="OS 2"/>
            <p:cNvSpPr txBox="1"/>
            <p:nvPr/>
          </p:nvSpPr>
          <p:spPr>
            <a:xfrm>
              <a:off x="0" y="-2906"/>
              <a:ext cx="824752" cy="3385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spcBef>
                  <a:spcPts val="3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200"/>
                <a:t>OS 2</a:t>
              </a:r>
            </a:p>
          </p:txBody>
        </p:sp>
      </p:grpSp>
      <p:grpSp>
        <p:nvGrpSpPr>
          <p:cNvPr id="809" name="Rectangle 13"/>
          <p:cNvGrpSpPr/>
          <p:nvPr/>
        </p:nvGrpSpPr>
        <p:grpSpPr>
          <a:xfrm>
            <a:off x="4074419" y="1840107"/>
            <a:ext cx="403413" cy="253914"/>
            <a:chOff x="0" y="-2905"/>
            <a:chExt cx="537882" cy="338550"/>
          </a:xfrm>
        </p:grpSpPr>
        <p:sp>
          <p:nvSpPr>
            <p:cNvPr id="807" name="Rectangle"/>
            <p:cNvSpPr/>
            <p:nvPr/>
          </p:nvSpPr>
          <p:spPr>
            <a:xfrm>
              <a:off x="0" y="18452"/>
              <a:ext cx="537882" cy="295836"/>
            </a:xfrm>
            <a:prstGeom prst="rect">
              <a:avLst/>
            </a:prstGeom>
            <a:solidFill>
              <a:srgbClr val="66FF33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808" name="App"/>
            <p:cNvSpPr txBox="1"/>
            <p:nvPr/>
          </p:nvSpPr>
          <p:spPr>
            <a:xfrm>
              <a:off x="0" y="-2905"/>
              <a:ext cx="537882" cy="3385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spcBef>
                  <a:spcPts val="3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200"/>
                <a:t>App</a:t>
              </a:r>
            </a:p>
          </p:txBody>
        </p:sp>
      </p:grpSp>
      <p:grpSp>
        <p:nvGrpSpPr>
          <p:cNvPr id="812" name="Rectangle 14"/>
          <p:cNvGrpSpPr/>
          <p:nvPr/>
        </p:nvGrpSpPr>
        <p:grpSpPr>
          <a:xfrm>
            <a:off x="4074419" y="2095601"/>
            <a:ext cx="403413" cy="253914"/>
            <a:chOff x="0" y="-2905"/>
            <a:chExt cx="537882" cy="338550"/>
          </a:xfrm>
        </p:grpSpPr>
        <p:sp>
          <p:nvSpPr>
            <p:cNvPr id="810" name="Rectangle"/>
            <p:cNvSpPr/>
            <p:nvPr/>
          </p:nvSpPr>
          <p:spPr>
            <a:xfrm>
              <a:off x="0" y="18452"/>
              <a:ext cx="537882" cy="295836"/>
            </a:xfrm>
            <a:prstGeom prst="rect">
              <a:avLst/>
            </a:prstGeom>
            <a:solidFill>
              <a:srgbClr val="66FF33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811" name="App"/>
            <p:cNvSpPr txBox="1"/>
            <p:nvPr/>
          </p:nvSpPr>
          <p:spPr>
            <a:xfrm>
              <a:off x="0" y="-2905"/>
              <a:ext cx="537882" cy="3385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spcBef>
                  <a:spcPts val="3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200"/>
                <a:t>App</a:t>
              </a:r>
            </a:p>
          </p:txBody>
        </p:sp>
      </p:grpSp>
      <p:grpSp>
        <p:nvGrpSpPr>
          <p:cNvPr id="815" name="Rectangle 16"/>
          <p:cNvGrpSpPr/>
          <p:nvPr/>
        </p:nvGrpSpPr>
        <p:grpSpPr>
          <a:xfrm>
            <a:off x="4921583" y="2088878"/>
            <a:ext cx="403413" cy="253914"/>
            <a:chOff x="0" y="-2905"/>
            <a:chExt cx="537882" cy="338550"/>
          </a:xfrm>
        </p:grpSpPr>
        <p:sp>
          <p:nvSpPr>
            <p:cNvPr id="813" name="Rectangle"/>
            <p:cNvSpPr/>
            <p:nvPr/>
          </p:nvSpPr>
          <p:spPr>
            <a:xfrm>
              <a:off x="0" y="18452"/>
              <a:ext cx="537882" cy="295836"/>
            </a:xfrm>
            <a:prstGeom prst="rect">
              <a:avLst/>
            </a:prstGeom>
            <a:solidFill>
              <a:srgbClr val="66FF33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814" name="App"/>
            <p:cNvSpPr txBox="1"/>
            <p:nvPr/>
          </p:nvSpPr>
          <p:spPr>
            <a:xfrm>
              <a:off x="0" y="-2905"/>
              <a:ext cx="537882" cy="3385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spcBef>
                  <a:spcPts val="3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200" dirty="0"/>
                <a:t>App</a:t>
              </a:r>
            </a:p>
          </p:txBody>
        </p:sp>
      </p:grpSp>
      <p:grpSp>
        <p:nvGrpSpPr>
          <p:cNvPr id="818" name="Rectangle 17"/>
          <p:cNvGrpSpPr/>
          <p:nvPr/>
        </p:nvGrpSpPr>
        <p:grpSpPr>
          <a:xfrm>
            <a:off x="4013909" y="2837760"/>
            <a:ext cx="1573307" cy="403415"/>
            <a:chOff x="0" y="-1"/>
            <a:chExt cx="2097741" cy="537885"/>
          </a:xfrm>
        </p:grpSpPr>
        <p:sp>
          <p:nvSpPr>
            <p:cNvPr id="816" name="Rectangle"/>
            <p:cNvSpPr/>
            <p:nvPr/>
          </p:nvSpPr>
          <p:spPr>
            <a:xfrm>
              <a:off x="0" y="-1"/>
              <a:ext cx="2097741" cy="537885"/>
            </a:xfrm>
            <a:prstGeom prst="rect">
              <a:avLst/>
            </a:prstGeom>
            <a:solidFill>
              <a:srgbClr val="FF99FF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817" name="VMM"/>
            <p:cNvSpPr txBox="1"/>
            <p:nvPr/>
          </p:nvSpPr>
          <p:spPr>
            <a:xfrm>
              <a:off x="0" y="68888"/>
              <a:ext cx="2097741" cy="4001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500"/>
                <a:t>VMM</a:t>
              </a:r>
            </a:p>
          </p:txBody>
        </p:sp>
      </p:grpSp>
      <p:pic>
        <p:nvPicPr>
          <p:cNvPr id="819" name="Picture 18" descr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591" y="3192930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20" name="Picture 19" descr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447" y="3307230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21" name="Picture 20" descr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591" y="341438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22" name="Picture 30" descr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525" y="2508727"/>
            <a:ext cx="604915" cy="500063"/>
          </a:xfrm>
          <a:prstGeom prst="rect">
            <a:avLst/>
          </a:prstGeom>
          <a:ln w="12700">
            <a:miter lim="400000"/>
          </a:ln>
        </p:spPr>
      </p:pic>
      <p:sp>
        <p:nvSpPr>
          <p:cNvPr id="823" name="Straight Arrow Connector 32"/>
          <p:cNvSpPr/>
          <p:nvPr/>
        </p:nvSpPr>
        <p:spPr>
          <a:xfrm>
            <a:off x="5694790" y="3281518"/>
            <a:ext cx="1062318" cy="1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824" name="Rectangle 34"/>
          <p:cNvSpPr/>
          <p:nvPr/>
        </p:nvSpPr>
        <p:spPr>
          <a:xfrm>
            <a:off x="4114761" y="2925167"/>
            <a:ext cx="161366" cy="221877"/>
          </a:xfrm>
          <a:prstGeom prst="rect">
            <a:avLst/>
          </a:prstGeom>
          <a:solidFill>
            <a:schemeClr val="accent4"/>
          </a:solidFill>
          <a:ln w="19050">
            <a:solidFill>
              <a:srgbClr val="000000"/>
            </a:solidFill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graphicFrame>
        <p:nvGraphicFramePr>
          <p:cNvPr id="825" name="Table 35"/>
          <p:cNvGraphicFramePr/>
          <p:nvPr>
            <p:extLst>
              <p:ext uri="{D42A27DB-BD31-4B8C-83A1-F6EECF244321}">
                <p14:modId xmlns:p14="http://schemas.microsoft.com/office/powerpoint/2010/main" val="2203783945"/>
              </p:ext>
            </p:extLst>
          </p:nvPr>
        </p:nvGraphicFramePr>
        <p:xfrm>
          <a:off x="916931" y="1701483"/>
          <a:ext cx="2592715" cy="1584960"/>
        </p:xfrm>
        <a:graphic>
          <a:graphicData uri="http://schemas.openxmlformats.org/drawingml/2006/table">
            <a:tbl>
              <a:tblPr firstRow="1" bandRow="1"/>
              <a:tblGrid>
                <a:gridCol w="459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55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100" b="0" dirty="0">
                          <a:solidFill>
                            <a:schemeClr val="tx1"/>
                          </a:solidFill>
                          <a:sym typeface="Calibri"/>
                        </a:rPr>
                        <a:t>VM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AU" sz="1100" b="0" dirty="0" err="1">
                          <a:solidFill>
                            <a:schemeClr val="tx1"/>
                          </a:solidFill>
                          <a:sym typeface="Calibri"/>
                        </a:rPr>
                        <a:t>Mem_Idx</a:t>
                      </a:r>
                      <a:r>
                        <a:rPr lang="en-AU" sz="1100" b="0" dirty="0">
                          <a:solidFill>
                            <a:schemeClr val="tx1"/>
                          </a:solidFill>
                          <a:sym typeface="Calibri"/>
                        </a:rPr>
                        <a:t> in VM</a:t>
                      </a:r>
                      <a:endParaRPr sz="1100" b="0" dirty="0">
                        <a:solidFill>
                          <a:schemeClr val="tx1"/>
                        </a:solidFill>
                        <a:sym typeface="Calibri"/>
                      </a:endParaRP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AU" sz="1100" b="0" dirty="0" err="1">
                          <a:solidFill>
                            <a:schemeClr val="tx1"/>
                          </a:solidFill>
                          <a:sym typeface="Calibri"/>
                        </a:rPr>
                        <a:t>Mem_Idx</a:t>
                      </a:r>
                      <a:r>
                        <a:rPr lang="en-AU" sz="1100" b="0" dirty="0">
                          <a:solidFill>
                            <a:schemeClr val="tx1"/>
                          </a:solidFill>
                          <a:sym typeface="Calibri"/>
                        </a:rPr>
                        <a:t> in VMM</a:t>
                      </a:r>
                      <a:endParaRPr sz="1100" b="0" dirty="0">
                        <a:solidFill>
                          <a:schemeClr val="tx1"/>
                        </a:solidFill>
                        <a:sym typeface="Calibri"/>
                      </a:endParaRPr>
                    </a:p>
                  </a:txBody>
                  <a:tcPr marL="34290" marR="3429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09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>
                          <a:sym typeface="Calibri"/>
                        </a:rPr>
                        <a:t>1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 dirty="0">
                          <a:sym typeface="Calibri"/>
                        </a:rPr>
                        <a:t>0-99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>
                          <a:sym typeface="Calibri"/>
                        </a:rPr>
                        <a:t>0-99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09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>
                          <a:sym typeface="Calibri"/>
                        </a:rPr>
                        <a:t>1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AU" sz="1100" b="0" dirty="0">
                          <a:sym typeface="Calibri"/>
                        </a:rPr>
                        <a:t>100</a:t>
                      </a:r>
                      <a:r>
                        <a:rPr sz="1100" b="0" dirty="0">
                          <a:sym typeface="Calibri"/>
                        </a:rPr>
                        <a:t>-</a:t>
                      </a:r>
                      <a:r>
                        <a:rPr lang="en-AU" sz="1100" b="0" dirty="0">
                          <a:sym typeface="Calibri"/>
                        </a:rPr>
                        <a:t>1</a:t>
                      </a:r>
                      <a:r>
                        <a:rPr sz="1100" b="0" dirty="0">
                          <a:sym typeface="Calibri"/>
                        </a:rPr>
                        <a:t>99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 dirty="0">
                          <a:sym typeface="Calibri"/>
                        </a:rPr>
                        <a:t>100-199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09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>
                          <a:sym typeface="Calibri"/>
                        </a:rPr>
                        <a:t>2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 dirty="0">
                          <a:sym typeface="Calibri"/>
                        </a:rPr>
                        <a:t>0-99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 dirty="0">
                          <a:sym typeface="Calibri"/>
                        </a:rPr>
                        <a:t>300-399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09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>
                          <a:sym typeface="Calibri"/>
                        </a:rPr>
                        <a:t>2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AU" sz="1100" b="0" dirty="0">
                          <a:sym typeface="Calibri"/>
                        </a:rPr>
                        <a:t>1</a:t>
                      </a:r>
                      <a:r>
                        <a:rPr sz="1100" b="0" dirty="0">
                          <a:sym typeface="Calibri"/>
                        </a:rPr>
                        <a:t>00-</a:t>
                      </a:r>
                      <a:r>
                        <a:rPr lang="en-AU" sz="1100" b="0" dirty="0">
                          <a:sym typeface="Calibri"/>
                        </a:rPr>
                        <a:t>1</a:t>
                      </a:r>
                      <a:r>
                        <a:rPr sz="1100" b="0" dirty="0">
                          <a:sym typeface="Calibri"/>
                        </a:rPr>
                        <a:t>99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 dirty="0">
                          <a:sym typeface="Calibri"/>
                        </a:rPr>
                        <a:t>500-599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09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>
                          <a:sym typeface="Calibri"/>
                        </a:rPr>
                        <a:t>2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AU" sz="1100" b="0" dirty="0">
                          <a:sym typeface="Calibri"/>
                        </a:rPr>
                        <a:t>2</a:t>
                      </a:r>
                      <a:r>
                        <a:rPr sz="1100" b="0" dirty="0">
                          <a:sym typeface="Calibri"/>
                        </a:rPr>
                        <a:t>00-</a:t>
                      </a:r>
                      <a:r>
                        <a:rPr lang="en-AU" sz="1100" b="0" dirty="0">
                          <a:sym typeface="Calibri"/>
                        </a:rPr>
                        <a:t>2</a:t>
                      </a:r>
                      <a:r>
                        <a:rPr sz="1100" b="0" dirty="0">
                          <a:sym typeface="Calibri"/>
                        </a:rPr>
                        <a:t>99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 dirty="0">
                          <a:sym typeface="Calibri"/>
                        </a:rPr>
                        <a:t>400-499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830" name="Group 56"/>
          <p:cNvGrpSpPr/>
          <p:nvPr/>
        </p:nvGrpSpPr>
        <p:grpSpPr>
          <a:xfrm>
            <a:off x="3496197" y="2151960"/>
            <a:ext cx="800101" cy="978273"/>
            <a:chOff x="1568823" y="259977"/>
            <a:chExt cx="1066801" cy="1304362"/>
          </a:xfrm>
        </p:grpSpPr>
        <p:sp>
          <p:nvSpPr>
            <p:cNvPr id="826" name="Straight Connector 37"/>
            <p:cNvSpPr/>
            <p:nvPr/>
          </p:nvSpPr>
          <p:spPr>
            <a:xfrm flipH="1" flipV="1">
              <a:off x="1577787" y="259977"/>
              <a:ext cx="1057837" cy="1030941"/>
            </a:xfrm>
            <a:prstGeom prst="line">
              <a:avLst/>
            </a:prstGeom>
            <a:solidFill>
              <a:schemeClr val="accent1"/>
            </a:solidFill>
            <a:ln w="317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500"/>
            </a:p>
          </p:txBody>
        </p:sp>
        <p:sp>
          <p:nvSpPr>
            <p:cNvPr id="827" name="Straight Connector 38"/>
            <p:cNvSpPr/>
            <p:nvPr/>
          </p:nvSpPr>
          <p:spPr>
            <a:xfrm flipH="1" flipV="1">
              <a:off x="1577787" y="1160927"/>
              <a:ext cx="815785" cy="290298"/>
            </a:xfrm>
            <a:prstGeom prst="line">
              <a:avLst/>
            </a:prstGeom>
            <a:solidFill>
              <a:schemeClr val="accent1"/>
            </a:solidFill>
            <a:ln w="317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500"/>
            </a:p>
          </p:txBody>
        </p:sp>
        <p:sp>
          <p:nvSpPr>
            <p:cNvPr id="828" name="Straight Connector 43"/>
            <p:cNvSpPr/>
            <p:nvPr/>
          </p:nvSpPr>
          <p:spPr>
            <a:xfrm flipH="1" flipV="1">
              <a:off x="1595717" y="887505"/>
              <a:ext cx="806825" cy="407896"/>
            </a:xfrm>
            <a:prstGeom prst="line">
              <a:avLst/>
            </a:prstGeom>
            <a:solidFill>
              <a:schemeClr val="accent1"/>
            </a:solidFill>
            <a:ln w="317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500"/>
            </a:p>
          </p:txBody>
        </p:sp>
        <p:sp>
          <p:nvSpPr>
            <p:cNvPr id="829" name="Straight Connector 45"/>
            <p:cNvSpPr/>
            <p:nvPr/>
          </p:nvSpPr>
          <p:spPr>
            <a:xfrm flipH="1" flipV="1">
              <a:off x="1568823" y="1447799"/>
              <a:ext cx="833720" cy="116540"/>
            </a:xfrm>
            <a:prstGeom prst="line">
              <a:avLst/>
            </a:prstGeom>
            <a:solidFill>
              <a:schemeClr val="accent1"/>
            </a:solidFill>
            <a:ln w="317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500"/>
            </a:p>
          </p:txBody>
        </p:sp>
      </p:grpSp>
      <p:sp>
        <p:nvSpPr>
          <p:cNvPr id="831" name="TextBox 48"/>
          <p:cNvSpPr txBox="1"/>
          <p:nvPr/>
        </p:nvSpPr>
        <p:spPr>
          <a:xfrm>
            <a:off x="1553922" y="3339574"/>
            <a:ext cx="1187247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lang="en-AU" sz="1200" dirty="0"/>
              <a:t>Translation</a:t>
            </a:r>
            <a:r>
              <a:rPr sz="1200" dirty="0"/>
              <a:t> table</a:t>
            </a:r>
          </a:p>
        </p:txBody>
      </p:sp>
      <p:sp>
        <p:nvSpPr>
          <p:cNvPr id="832" name="TextBox 49"/>
          <p:cNvSpPr txBox="1"/>
          <p:nvPr/>
        </p:nvSpPr>
        <p:spPr>
          <a:xfrm>
            <a:off x="4149994" y="1412567"/>
            <a:ext cx="45396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200"/>
              </a:spcBef>
              <a:defRPr sz="1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 b="1" dirty="0">
                <a:solidFill>
                  <a:schemeClr val="tx1"/>
                </a:solidFill>
              </a:rPr>
              <a:t>VM 1</a:t>
            </a:r>
          </a:p>
        </p:txBody>
      </p:sp>
      <p:sp>
        <p:nvSpPr>
          <p:cNvPr id="833" name="TextBox 50"/>
          <p:cNvSpPr txBox="1"/>
          <p:nvPr/>
        </p:nvSpPr>
        <p:spPr>
          <a:xfrm>
            <a:off x="5026095" y="1404438"/>
            <a:ext cx="45396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4289" rIns="34289">
            <a:spAutoFit/>
          </a:bodyPr>
          <a:lstStyle>
            <a:lvl1pPr>
              <a:spcBef>
                <a:spcPts val="200"/>
              </a:spcBef>
              <a:defRPr sz="1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 b="1" dirty="0">
                <a:solidFill>
                  <a:schemeClr val="tx1"/>
                </a:solidFill>
              </a:rPr>
              <a:t>VM 2</a:t>
            </a:r>
          </a:p>
        </p:txBody>
      </p:sp>
      <p:sp>
        <p:nvSpPr>
          <p:cNvPr id="834" name="Straight Arrow Connector 51"/>
          <p:cNvSpPr/>
          <p:nvPr/>
        </p:nvSpPr>
        <p:spPr>
          <a:xfrm flipV="1">
            <a:off x="5694791" y="2758759"/>
            <a:ext cx="1087735" cy="347948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49" name="Straight Connector 43">
            <a:extLst>
              <a:ext uri="{FF2B5EF4-FFF2-40B4-BE49-F238E27FC236}">
                <a16:creationId xmlns:a16="http://schemas.microsoft.com/office/drawing/2014/main" id="{6CC25DB8-D25E-484D-9A71-124AF00D3B0C}"/>
              </a:ext>
            </a:extLst>
          </p:cNvPr>
          <p:cNvSpPr/>
          <p:nvPr/>
        </p:nvSpPr>
        <p:spPr>
          <a:xfrm flipH="1" flipV="1">
            <a:off x="3502916" y="2401181"/>
            <a:ext cx="736021" cy="523541"/>
          </a:xfrm>
          <a:prstGeom prst="line">
            <a:avLst/>
          </a:prstGeom>
          <a:solidFill>
            <a:schemeClr val="accent1"/>
          </a:solidFill>
          <a:ln w="3175" cap="flat">
            <a:solidFill>
              <a:srgbClr val="000000"/>
            </a:solidFill>
            <a:prstDash val="dash"/>
            <a:round/>
          </a:ln>
          <a:effectLst/>
        </p:spPr>
        <p:txBody>
          <a:bodyPr wrap="square" lIns="34289" tIns="34289" rIns="34289" bIns="34289" numCol="1" anchor="t">
            <a:noAutofit/>
          </a:bodyPr>
          <a:lstStyle/>
          <a:p>
            <a:endParaRPr sz="1500"/>
          </a:p>
        </p:txBody>
      </p:sp>
    </p:spTree>
    <p:extLst>
      <p:ext uri="{BB962C8B-B14F-4D97-AF65-F5344CB8AC3E}">
        <p14:creationId xmlns:p14="http://schemas.microsoft.com/office/powerpoint/2010/main" val="99123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1" name="Picture 21" descr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445" y="3145864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92" name="Picture 22" descr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301" y="3260164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93" name="Picture 23" descr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445" y="3367320"/>
            <a:ext cx="383165" cy="88834"/>
          </a:xfrm>
          <a:prstGeom prst="rect">
            <a:avLst/>
          </a:prstGeom>
          <a:ln w="12700">
            <a:miter lim="400000"/>
          </a:ln>
        </p:spPr>
      </p:pic>
      <p:sp>
        <p:nvSpPr>
          <p:cNvPr id="794" name="Title 1"/>
          <p:cNvSpPr txBox="1">
            <a:spLocks noGrp="1"/>
          </p:cNvSpPr>
          <p:nvPr>
            <p:ph type="title"/>
          </p:nvPr>
        </p:nvSpPr>
        <p:spPr>
          <a:xfrm>
            <a:off x="360790" y="198028"/>
            <a:ext cx="6270813" cy="79382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3200" b="1" dirty="0"/>
              <a:t>How </a:t>
            </a:r>
            <a:r>
              <a:rPr lang="en-AU" sz="3200" b="1" dirty="0"/>
              <a:t>is</a:t>
            </a:r>
            <a:r>
              <a:rPr sz="3200" b="1" dirty="0"/>
              <a:t> </a:t>
            </a:r>
            <a:r>
              <a:rPr lang="en-AU" sz="3200" b="1" dirty="0"/>
              <a:t>virtualization</a:t>
            </a:r>
            <a:r>
              <a:rPr sz="3200" b="1" dirty="0"/>
              <a:t> </a:t>
            </a:r>
            <a:r>
              <a:rPr lang="en-AU" sz="3200" b="1" dirty="0"/>
              <a:t>implemented</a:t>
            </a:r>
            <a:r>
              <a:rPr sz="3200" b="1" dirty="0"/>
              <a:t>?</a:t>
            </a:r>
          </a:p>
        </p:txBody>
      </p:sp>
      <p:sp>
        <p:nvSpPr>
          <p:cNvPr id="795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916931" y="4091401"/>
            <a:ext cx="7804471" cy="1996889"/>
          </a:xfrm>
          <a:prstGeom prst="rect">
            <a:avLst/>
          </a:prstGeom>
        </p:spPr>
        <p:txBody>
          <a:bodyPr>
            <a:noAutofit/>
          </a:bodyPr>
          <a:lstStyle/>
          <a:p>
            <a:pPr lvl="1">
              <a:lnSpc>
                <a:spcPct val="81000"/>
              </a:lnSpc>
              <a:defRPr sz="2400"/>
            </a:pPr>
            <a:r>
              <a:rPr lang="en-US" sz="2000" dirty="0"/>
              <a:t>VMM ("Hypervisor") has translation tables that map guest memory to physical memory</a:t>
            </a:r>
          </a:p>
          <a:p>
            <a:pPr lvl="1">
              <a:lnSpc>
                <a:spcPct val="81000"/>
              </a:lnSpc>
              <a:defRPr sz="2400"/>
            </a:pPr>
            <a:r>
              <a:rPr lang="en-AU" sz="2000" dirty="0"/>
              <a:t>On-demand paging</a:t>
            </a:r>
            <a:r>
              <a:rPr lang="en-US" sz="2000" dirty="0"/>
              <a:t>.</a:t>
            </a:r>
            <a:endParaRPr sz="2000" dirty="0"/>
          </a:p>
        </p:txBody>
      </p:sp>
      <p:sp>
        <p:nvSpPr>
          <p:cNvPr id="797" name="Rectangle 5"/>
          <p:cNvSpPr/>
          <p:nvPr/>
        </p:nvSpPr>
        <p:spPr>
          <a:xfrm>
            <a:off x="3913054" y="1701483"/>
            <a:ext cx="1775013" cy="1734672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sp>
        <p:nvSpPr>
          <p:cNvPr id="798" name="TextBox 6"/>
          <p:cNvSpPr txBox="1"/>
          <p:nvPr/>
        </p:nvSpPr>
        <p:spPr>
          <a:xfrm>
            <a:off x="4343534" y="3225578"/>
            <a:ext cx="93326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200"/>
              </a:spcBef>
              <a:defRPr sz="1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900" dirty="0">
                <a:solidFill>
                  <a:schemeClr val="tx1"/>
                </a:solidFill>
              </a:rPr>
              <a:t>Physical machine</a:t>
            </a:r>
          </a:p>
        </p:txBody>
      </p:sp>
      <p:sp>
        <p:nvSpPr>
          <p:cNvPr id="799" name="Rectangle 9"/>
          <p:cNvSpPr/>
          <p:nvPr/>
        </p:nvSpPr>
        <p:spPr>
          <a:xfrm>
            <a:off x="4013908" y="1788889"/>
            <a:ext cx="739589" cy="914401"/>
          </a:xfrm>
          <a:prstGeom prst="rect">
            <a:avLst/>
          </a:prstGeom>
          <a:solidFill>
            <a:srgbClr val="00B0F0"/>
          </a:solidFill>
          <a:ln w="19050">
            <a:solidFill>
              <a:srgbClr val="000000"/>
            </a:solidFill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sp>
        <p:nvSpPr>
          <p:cNvPr id="800" name="Rectangle 10"/>
          <p:cNvSpPr/>
          <p:nvPr/>
        </p:nvSpPr>
        <p:spPr>
          <a:xfrm>
            <a:off x="4854349" y="1788889"/>
            <a:ext cx="739590" cy="914401"/>
          </a:xfrm>
          <a:prstGeom prst="rect">
            <a:avLst/>
          </a:prstGeom>
          <a:solidFill>
            <a:srgbClr val="00B0F0"/>
          </a:solidFill>
          <a:ln w="19050">
            <a:solidFill>
              <a:srgbClr val="000000"/>
            </a:solidFill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grpSp>
        <p:nvGrpSpPr>
          <p:cNvPr id="803" name="Rectangle 11"/>
          <p:cNvGrpSpPr/>
          <p:nvPr/>
        </p:nvGrpSpPr>
        <p:grpSpPr>
          <a:xfrm>
            <a:off x="4067696" y="2388075"/>
            <a:ext cx="618565" cy="253914"/>
            <a:chOff x="0" y="-2906"/>
            <a:chExt cx="824752" cy="338551"/>
          </a:xfrm>
        </p:grpSpPr>
        <p:sp>
          <p:nvSpPr>
            <p:cNvPr id="801" name="Rectangle"/>
            <p:cNvSpPr/>
            <p:nvPr/>
          </p:nvSpPr>
          <p:spPr>
            <a:xfrm>
              <a:off x="0" y="5005"/>
              <a:ext cx="824752" cy="322730"/>
            </a:xfrm>
            <a:prstGeom prst="rect">
              <a:avLst/>
            </a:pr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802" name="OS 1"/>
            <p:cNvSpPr txBox="1"/>
            <p:nvPr/>
          </p:nvSpPr>
          <p:spPr>
            <a:xfrm>
              <a:off x="0" y="-2906"/>
              <a:ext cx="824752" cy="3385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spcBef>
                  <a:spcPts val="3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200"/>
                <a:t>OS 1</a:t>
              </a:r>
            </a:p>
          </p:txBody>
        </p:sp>
      </p:grpSp>
      <p:grpSp>
        <p:nvGrpSpPr>
          <p:cNvPr id="806" name="Rectangle 12"/>
          <p:cNvGrpSpPr/>
          <p:nvPr/>
        </p:nvGrpSpPr>
        <p:grpSpPr>
          <a:xfrm>
            <a:off x="4914861" y="2388075"/>
            <a:ext cx="618566" cy="253914"/>
            <a:chOff x="0" y="-2906"/>
            <a:chExt cx="824752" cy="338551"/>
          </a:xfrm>
        </p:grpSpPr>
        <p:sp>
          <p:nvSpPr>
            <p:cNvPr id="804" name="Rectangle"/>
            <p:cNvSpPr/>
            <p:nvPr/>
          </p:nvSpPr>
          <p:spPr>
            <a:xfrm>
              <a:off x="0" y="5005"/>
              <a:ext cx="824752" cy="322730"/>
            </a:xfrm>
            <a:prstGeom prst="rect">
              <a:avLst/>
            </a:pr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805" name="OS 2"/>
            <p:cNvSpPr txBox="1"/>
            <p:nvPr/>
          </p:nvSpPr>
          <p:spPr>
            <a:xfrm>
              <a:off x="0" y="-2906"/>
              <a:ext cx="824752" cy="3385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spcBef>
                  <a:spcPts val="3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200"/>
                <a:t>OS 2</a:t>
              </a:r>
            </a:p>
          </p:txBody>
        </p:sp>
      </p:grpSp>
      <p:grpSp>
        <p:nvGrpSpPr>
          <p:cNvPr id="809" name="Rectangle 13"/>
          <p:cNvGrpSpPr/>
          <p:nvPr/>
        </p:nvGrpSpPr>
        <p:grpSpPr>
          <a:xfrm>
            <a:off x="4074419" y="1840107"/>
            <a:ext cx="403413" cy="253914"/>
            <a:chOff x="0" y="-2905"/>
            <a:chExt cx="537882" cy="338550"/>
          </a:xfrm>
        </p:grpSpPr>
        <p:sp>
          <p:nvSpPr>
            <p:cNvPr id="807" name="Rectangle"/>
            <p:cNvSpPr/>
            <p:nvPr/>
          </p:nvSpPr>
          <p:spPr>
            <a:xfrm>
              <a:off x="0" y="18452"/>
              <a:ext cx="537882" cy="295836"/>
            </a:xfrm>
            <a:prstGeom prst="rect">
              <a:avLst/>
            </a:prstGeom>
            <a:solidFill>
              <a:srgbClr val="66FF33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808" name="App"/>
            <p:cNvSpPr txBox="1"/>
            <p:nvPr/>
          </p:nvSpPr>
          <p:spPr>
            <a:xfrm>
              <a:off x="0" y="-2905"/>
              <a:ext cx="537882" cy="3385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spcBef>
                  <a:spcPts val="3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200"/>
                <a:t>App</a:t>
              </a:r>
            </a:p>
          </p:txBody>
        </p:sp>
      </p:grpSp>
      <p:grpSp>
        <p:nvGrpSpPr>
          <p:cNvPr id="812" name="Rectangle 14"/>
          <p:cNvGrpSpPr/>
          <p:nvPr/>
        </p:nvGrpSpPr>
        <p:grpSpPr>
          <a:xfrm>
            <a:off x="4074419" y="2095601"/>
            <a:ext cx="403413" cy="253914"/>
            <a:chOff x="0" y="-2905"/>
            <a:chExt cx="537882" cy="338550"/>
          </a:xfrm>
        </p:grpSpPr>
        <p:sp>
          <p:nvSpPr>
            <p:cNvPr id="810" name="Rectangle"/>
            <p:cNvSpPr/>
            <p:nvPr/>
          </p:nvSpPr>
          <p:spPr>
            <a:xfrm>
              <a:off x="0" y="18452"/>
              <a:ext cx="537882" cy="295836"/>
            </a:xfrm>
            <a:prstGeom prst="rect">
              <a:avLst/>
            </a:prstGeom>
            <a:solidFill>
              <a:srgbClr val="66FF33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811" name="App"/>
            <p:cNvSpPr txBox="1"/>
            <p:nvPr/>
          </p:nvSpPr>
          <p:spPr>
            <a:xfrm>
              <a:off x="0" y="-2905"/>
              <a:ext cx="537882" cy="3385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spcBef>
                  <a:spcPts val="3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200"/>
                <a:t>App</a:t>
              </a:r>
            </a:p>
          </p:txBody>
        </p:sp>
      </p:grpSp>
      <p:grpSp>
        <p:nvGrpSpPr>
          <p:cNvPr id="815" name="Rectangle 16"/>
          <p:cNvGrpSpPr/>
          <p:nvPr/>
        </p:nvGrpSpPr>
        <p:grpSpPr>
          <a:xfrm>
            <a:off x="4921583" y="2088878"/>
            <a:ext cx="403413" cy="253914"/>
            <a:chOff x="0" y="-2905"/>
            <a:chExt cx="537882" cy="338550"/>
          </a:xfrm>
        </p:grpSpPr>
        <p:sp>
          <p:nvSpPr>
            <p:cNvPr id="813" name="Rectangle"/>
            <p:cNvSpPr/>
            <p:nvPr/>
          </p:nvSpPr>
          <p:spPr>
            <a:xfrm>
              <a:off x="0" y="18452"/>
              <a:ext cx="537882" cy="295836"/>
            </a:xfrm>
            <a:prstGeom prst="rect">
              <a:avLst/>
            </a:prstGeom>
            <a:solidFill>
              <a:srgbClr val="66FF33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814" name="App"/>
            <p:cNvSpPr txBox="1"/>
            <p:nvPr/>
          </p:nvSpPr>
          <p:spPr>
            <a:xfrm>
              <a:off x="0" y="-2905"/>
              <a:ext cx="537882" cy="3385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spcBef>
                  <a:spcPts val="3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200" dirty="0"/>
                <a:t>App</a:t>
              </a:r>
            </a:p>
          </p:txBody>
        </p:sp>
      </p:grpSp>
      <p:grpSp>
        <p:nvGrpSpPr>
          <p:cNvPr id="818" name="Rectangle 17"/>
          <p:cNvGrpSpPr/>
          <p:nvPr/>
        </p:nvGrpSpPr>
        <p:grpSpPr>
          <a:xfrm>
            <a:off x="4013909" y="2837760"/>
            <a:ext cx="1573307" cy="403415"/>
            <a:chOff x="0" y="-1"/>
            <a:chExt cx="2097741" cy="537885"/>
          </a:xfrm>
        </p:grpSpPr>
        <p:sp>
          <p:nvSpPr>
            <p:cNvPr id="816" name="Rectangle"/>
            <p:cNvSpPr/>
            <p:nvPr/>
          </p:nvSpPr>
          <p:spPr>
            <a:xfrm>
              <a:off x="0" y="-1"/>
              <a:ext cx="2097741" cy="537885"/>
            </a:xfrm>
            <a:prstGeom prst="rect">
              <a:avLst/>
            </a:prstGeom>
            <a:solidFill>
              <a:srgbClr val="FF99FF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817" name="VMM"/>
            <p:cNvSpPr txBox="1"/>
            <p:nvPr/>
          </p:nvSpPr>
          <p:spPr>
            <a:xfrm>
              <a:off x="0" y="68888"/>
              <a:ext cx="2097741" cy="4001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500"/>
                <a:t>VMM</a:t>
              </a:r>
            </a:p>
          </p:txBody>
        </p:sp>
      </p:grpSp>
      <p:pic>
        <p:nvPicPr>
          <p:cNvPr id="819" name="Picture 18" descr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591" y="3192930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20" name="Picture 19" descr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447" y="3307230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21" name="Picture 20" descr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591" y="341438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22" name="Picture 30" descr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525" y="2508727"/>
            <a:ext cx="604915" cy="500063"/>
          </a:xfrm>
          <a:prstGeom prst="rect">
            <a:avLst/>
          </a:prstGeom>
          <a:ln w="12700">
            <a:miter lim="400000"/>
          </a:ln>
        </p:spPr>
      </p:pic>
      <p:sp>
        <p:nvSpPr>
          <p:cNvPr id="823" name="Straight Arrow Connector 32"/>
          <p:cNvSpPr/>
          <p:nvPr/>
        </p:nvSpPr>
        <p:spPr>
          <a:xfrm>
            <a:off x="5694790" y="3281518"/>
            <a:ext cx="1062318" cy="1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824" name="Rectangle 34"/>
          <p:cNvSpPr/>
          <p:nvPr/>
        </p:nvSpPr>
        <p:spPr>
          <a:xfrm>
            <a:off x="4114761" y="2925167"/>
            <a:ext cx="161366" cy="221877"/>
          </a:xfrm>
          <a:prstGeom prst="rect">
            <a:avLst/>
          </a:prstGeom>
          <a:solidFill>
            <a:schemeClr val="accent4"/>
          </a:solidFill>
          <a:ln w="19050">
            <a:solidFill>
              <a:srgbClr val="000000"/>
            </a:solidFill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graphicFrame>
        <p:nvGraphicFramePr>
          <p:cNvPr id="825" name="Table 35"/>
          <p:cNvGraphicFramePr/>
          <p:nvPr>
            <p:extLst>
              <p:ext uri="{D42A27DB-BD31-4B8C-83A1-F6EECF244321}">
                <p14:modId xmlns:p14="http://schemas.microsoft.com/office/powerpoint/2010/main" val="748128641"/>
              </p:ext>
            </p:extLst>
          </p:nvPr>
        </p:nvGraphicFramePr>
        <p:xfrm>
          <a:off x="916931" y="1701483"/>
          <a:ext cx="2592715" cy="1821180"/>
        </p:xfrm>
        <a:graphic>
          <a:graphicData uri="http://schemas.openxmlformats.org/drawingml/2006/table">
            <a:tbl>
              <a:tblPr firstRow="1" bandRow="1"/>
              <a:tblGrid>
                <a:gridCol w="459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78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100" b="0" dirty="0">
                          <a:solidFill>
                            <a:schemeClr val="tx1"/>
                          </a:solidFill>
                          <a:sym typeface="Calibri"/>
                        </a:rPr>
                        <a:t>VM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AU" sz="1100" b="0" dirty="0" err="1">
                          <a:solidFill>
                            <a:schemeClr val="tx1"/>
                          </a:solidFill>
                          <a:sym typeface="Calibri"/>
                        </a:rPr>
                        <a:t>Mem_Idx</a:t>
                      </a:r>
                      <a:r>
                        <a:rPr lang="en-AU" sz="1100" b="0" dirty="0">
                          <a:solidFill>
                            <a:schemeClr val="tx1"/>
                          </a:solidFill>
                          <a:sym typeface="Calibri"/>
                        </a:rPr>
                        <a:t> in VM</a:t>
                      </a:r>
                      <a:endParaRPr sz="1100" b="0" dirty="0">
                        <a:solidFill>
                          <a:schemeClr val="tx1"/>
                        </a:solidFill>
                        <a:sym typeface="Calibri"/>
                      </a:endParaRP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AU" sz="1100" b="0" dirty="0" err="1">
                          <a:solidFill>
                            <a:schemeClr val="tx1"/>
                          </a:solidFill>
                          <a:sym typeface="Calibri"/>
                        </a:rPr>
                        <a:t>Mem_Idx</a:t>
                      </a:r>
                      <a:r>
                        <a:rPr lang="en-AU" sz="1100" b="0" dirty="0">
                          <a:solidFill>
                            <a:schemeClr val="tx1"/>
                          </a:solidFill>
                          <a:sym typeface="Calibri"/>
                        </a:rPr>
                        <a:t> in VMM</a:t>
                      </a:r>
                      <a:endParaRPr sz="1100" b="0" dirty="0">
                        <a:solidFill>
                          <a:schemeClr val="tx1"/>
                        </a:solidFill>
                        <a:sym typeface="Calibri"/>
                      </a:endParaRPr>
                    </a:p>
                  </a:txBody>
                  <a:tcPr marL="34290" marR="3429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79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>
                          <a:sym typeface="Calibri"/>
                        </a:rPr>
                        <a:t>1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 dirty="0">
                          <a:sym typeface="Calibri"/>
                        </a:rPr>
                        <a:t>0-99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>
                          <a:sym typeface="Calibri"/>
                        </a:rPr>
                        <a:t>0-99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79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>
                          <a:sym typeface="Calibri"/>
                        </a:rPr>
                        <a:t>1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AU" sz="1100" b="0" dirty="0">
                          <a:sym typeface="Calibri"/>
                        </a:rPr>
                        <a:t>100</a:t>
                      </a:r>
                      <a:r>
                        <a:rPr sz="1100" b="0" dirty="0">
                          <a:sym typeface="Calibri"/>
                        </a:rPr>
                        <a:t>-</a:t>
                      </a:r>
                      <a:r>
                        <a:rPr lang="en-AU" sz="1100" b="0" dirty="0">
                          <a:sym typeface="Calibri"/>
                        </a:rPr>
                        <a:t>1</a:t>
                      </a:r>
                      <a:r>
                        <a:rPr sz="1100" b="0" dirty="0">
                          <a:sym typeface="Calibri"/>
                        </a:rPr>
                        <a:t>99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 dirty="0">
                          <a:sym typeface="Calibri"/>
                        </a:rPr>
                        <a:t>100-199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79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>
                          <a:sym typeface="Calibri"/>
                        </a:rPr>
                        <a:t>2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 dirty="0">
                          <a:sym typeface="Calibri"/>
                        </a:rPr>
                        <a:t>0-99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 dirty="0">
                          <a:sym typeface="Calibri"/>
                        </a:rPr>
                        <a:t>300-399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79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>
                          <a:sym typeface="Calibri"/>
                        </a:rPr>
                        <a:t>2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AU" sz="1100" b="0" dirty="0">
                          <a:sym typeface="Calibri"/>
                        </a:rPr>
                        <a:t>1</a:t>
                      </a:r>
                      <a:r>
                        <a:rPr sz="1100" b="0" dirty="0">
                          <a:sym typeface="Calibri"/>
                        </a:rPr>
                        <a:t>00-</a:t>
                      </a:r>
                      <a:r>
                        <a:rPr lang="en-AU" sz="1100" b="0" dirty="0">
                          <a:sym typeface="Calibri"/>
                        </a:rPr>
                        <a:t>1</a:t>
                      </a:r>
                      <a:r>
                        <a:rPr sz="1100" b="0" dirty="0">
                          <a:sym typeface="Calibri"/>
                        </a:rPr>
                        <a:t>99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 dirty="0">
                          <a:sym typeface="Calibri"/>
                        </a:rPr>
                        <a:t>500-599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79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 dirty="0">
                          <a:sym typeface="Calibri"/>
                        </a:rPr>
                        <a:t>2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AU" sz="1100" b="0" dirty="0">
                          <a:sym typeface="Calibri"/>
                        </a:rPr>
                        <a:t>2</a:t>
                      </a:r>
                      <a:r>
                        <a:rPr sz="1100" b="0" dirty="0">
                          <a:sym typeface="Calibri"/>
                        </a:rPr>
                        <a:t>00-</a:t>
                      </a:r>
                      <a:r>
                        <a:rPr lang="en-AU" sz="1100" b="0" dirty="0">
                          <a:sym typeface="Calibri"/>
                        </a:rPr>
                        <a:t>2</a:t>
                      </a:r>
                      <a:r>
                        <a:rPr sz="1100" b="0" dirty="0">
                          <a:sym typeface="Calibri"/>
                        </a:rPr>
                        <a:t>99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 dirty="0">
                          <a:sym typeface="Calibri"/>
                        </a:rPr>
                        <a:t>400-499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79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AU" sz="1100" b="0" dirty="0">
                          <a:solidFill>
                            <a:srgbClr val="FF0000"/>
                          </a:solidFill>
                          <a:sym typeface="Calibri"/>
                        </a:rPr>
                        <a:t>3</a:t>
                      </a:r>
                      <a:endParaRPr sz="1100" b="0" dirty="0">
                        <a:solidFill>
                          <a:srgbClr val="FF0000"/>
                        </a:solidFill>
                        <a:sym typeface="Calibri"/>
                      </a:endParaRP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AU" sz="1100" b="0" dirty="0">
                          <a:solidFill>
                            <a:srgbClr val="FF0000"/>
                          </a:solidFill>
                          <a:sym typeface="Calibri"/>
                        </a:rPr>
                        <a:t>0-99</a:t>
                      </a:r>
                      <a:endParaRPr sz="1100" b="0" dirty="0">
                        <a:solidFill>
                          <a:srgbClr val="FF0000"/>
                        </a:solidFill>
                        <a:sym typeface="Calibri"/>
                      </a:endParaRP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AU" sz="1100" b="0" dirty="0">
                          <a:solidFill>
                            <a:srgbClr val="FF0000"/>
                          </a:solidFill>
                          <a:sym typeface="Calibri"/>
                        </a:rPr>
                        <a:t>?</a:t>
                      </a:r>
                      <a:endParaRPr sz="1100" b="0" dirty="0">
                        <a:solidFill>
                          <a:srgbClr val="FF0000"/>
                        </a:solidFill>
                        <a:sym typeface="Calibri"/>
                      </a:endParaRP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116709863"/>
                  </a:ext>
                </a:extLst>
              </a:tr>
            </a:tbl>
          </a:graphicData>
        </a:graphic>
      </p:graphicFrame>
      <p:grpSp>
        <p:nvGrpSpPr>
          <p:cNvPr id="830" name="Group 56"/>
          <p:cNvGrpSpPr/>
          <p:nvPr/>
        </p:nvGrpSpPr>
        <p:grpSpPr>
          <a:xfrm>
            <a:off x="3496197" y="2151960"/>
            <a:ext cx="800101" cy="978273"/>
            <a:chOff x="1568823" y="259977"/>
            <a:chExt cx="1066801" cy="1304362"/>
          </a:xfrm>
        </p:grpSpPr>
        <p:sp>
          <p:nvSpPr>
            <p:cNvPr id="826" name="Straight Connector 37"/>
            <p:cNvSpPr/>
            <p:nvPr/>
          </p:nvSpPr>
          <p:spPr>
            <a:xfrm flipH="1" flipV="1">
              <a:off x="1577787" y="259977"/>
              <a:ext cx="1057837" cy="1030941"/>
            </a:xfrm>
            <a:prstGeom prst="line">
              <a:avLst/>
            </a:prstGeom>
            <a:solidFill>
              <a:schemeClr val="accent1"/>
            </a:solidFill>
            <a:ln w="317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500"/>
            </a:p>
          </p:txBody>
        </p:sp>
        <p:sp>
          <p:nvSpPr>
            <p:cNvPr id="827" name="Straight Connector 38"/>
            <p:cNvSpPr/>
            <p:nvPr/>
          </p:nvSpPr>
          <p:spPr>
            <a:xfrm flipH="1" flipV="1">
              <a:off x="1577787" y="1160927"/>
              <a:ext cx="815785" cy="290298"/>
            </a:xfrm>
            <a:prstGeom prst="line">
              <a:avLst/>
            </a:prstGeom>
            <a:solidFill>
              <a:schemeClr val="accent1"/>
            </a:solidFill>
            <a:ln w="317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500"/>
            </a:p>
          </p:txBody>
        </p:sp>
        <p:sp>
          <p:nvSpPr>
            <p:cNvPr id="828" name="Straight Connector 43"/>
            <p:cNvSpPr/>
            <p:nvPr/>
          </p:nvSpPr>
          <p:spPr>
            <a:xfrm flipH="1" flipV="1">
              <a:off x="1595717" y="887505"/>
              <a:ext cx="806825" cy="407896"/>
            </a:xfrm>
            <a:prstGeom prst="line">
              <a:avLst/>
            </a:prstGeom>
            <a:solidFill>
              <a:schemeClr val="accent1"/>
            </a:solidFill>
            <a:ln w="317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500"/>
            </a:p>
          </p:txBody>
        </p:sp>
        <p:sp>
          <p:nvSpPr>
            <p:cNvPr id="829" name="Straight Connector 45"/>
            <p:cNvSpPr/>
            <p:nvPr/>
          </p:nvSpPr>
          <p:spPr>
            <a:xfrm flipH="1" flipV="1">
              <a:off x="1568823" y="1447799"/>
              <a:ext cx="833720" cy="116540"/>
            </a:xfrm>
            <a:prstGeom prst="line">
              <a:avLst/>
            </a:prstGeom>
            <a:solidFill>
              <a:schemeClr val="accent1"/>
            </a:solidFill>
            <a:ln w="317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500"/>
            </a:p>
          </p:txBody>
        </p:sp>
      </p:grpSp>
      <p:sp>
        <p:nvSpPr>
          <p:cNvPr id="831" name="TextBox 48"/>
          <p:cNvSpPr txBox="1"/>
          <p:nvPr/>
        </p:nvSpPr>
        <p:spPr>
          <a:xfrm>
            <a:off x="1452321" y="3646724"/>
            <a:ext cx="1187247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lang="en-AU" sz="1200" dirty="0"/>
              <a:t>Translation</a:t>
            </a:r>
            <a:r>
              <a:rPr sz="1200" dirty="0"/>
              <a:t> table</a:t>
            </a:r>
          </a:p>
        </p:txBody>
      </p:sp>
      <p:sp>
        <p:nvSpPr>
          <p:cNvPr id="832" name="TextBox 49"/>
          <p:cNvSpPr txBox="1"/>
          <p:nvPr/>
        </p:nvSpPr>
        <p:spPr>
          <a:xfrm>
            <a:off x="4149994" y="1412567"/>
            <a:ext cx="45396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200"/>
              </a:spcBef>
              <a:defRPr sz="1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 b="1" dirty="0">
                <a:solidFill>
                  <a:schemeClr val="tx1"/>
                </a:solidFill>
              </a:rPr>
              <a:t>VM 1</a:t>
            </a:r>
          </a:p>
        </p:txBody>
      </p:sp>
      <p:sp>
        <p:nvSpPr>
          <p:cNvPr id="833" name="TextBox 50"/>
          <p:cNvSpPr txBox="1"/>
          <p:nvPr/>
        </p:nvSpPr>
        <p:spPr>
          <a:xfrm>
            <a:off x="5026095" y="1404438"/>
            <a:ext cx="45396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4289" rIns="34289">
            <a:spAutoFit/>
          </a:bodyPr>
          <a:lstStyle>
            <a:lvl1pPr>
              <a:spcBef>
                <a:spcPts val="200"/>
              </a:spcBef>
              <a:defRPr sz="1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 b="1" dirty="0">
                <a:solidFill>
                  <a:schemeClr val="tx1"/>
                </a:solidFill>
              </a:rPr>
              <a:t>VM 2</a:t>
            </a:r>
          </a:p>
        </p:txBody>
      </p:sp>
      <p:sp>
        <p:nvSpPr>
          <p:cNvPr id="834" name="Straight Arrow Connector 51"/>
          <p:cNvSpPr/>
          <p:nvPr/>
        </p:nvSpPr>
        <p:spPr>
          <a:xfrm flipV="1">
            <a:off x="5694791" y="2758759"/>
            <a:ext cx="1087735" cy="347948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49" name="Straight Connector 43">
            <a:extLst>
              <a:ext uri="{FF2B5EF4-FFF2-40B4-BE49-F238E27FC236}">
                <a16:creationId xmlns:a16="http://schemas.microsoft.com/office/drawing/2014/main" id="{6CC25DB8-D25E-484D-9A71-124AF00D3B0C}"/>
              </a:ext>
            </a:extLst>
          </p:cNvPr>
          <p:cNvSpPr/>
          <p:nvPr/>
        </p:nvSpPr>
        <p:spPr>
          <a:xfrm flipH="1" flipV="1">
            <a:off x="3502916" y="2401181"/>
            <a:ext cx="736021" cy="523541"/>
          </a:xfrm>
          <a:prstGeom prst="line">
            <a:avLst/>
          </a:prstGeom>
          <a:solidFill>
            <a:schemeClr val="accent1"/>
          </a:solidFill>
          <a:ln w="3175" cap="flat">
            <a:solidFill>
              <a:srgbClr val="000000"/>
            </a:solidFill>
            <a:prstDash val="dash"/>
            <a:round/>
          </a:ln>
          <a:effectLst/>
        </p:spPr>
        <p:txBody>
          <a:bodyPr wrap="square" lIns="34289" tIns="34289" rIns="34289" bIns="34289" numCol="1" anchor="t">
            <a:noAutofit/>
          </a:bodyPr>
          <a:lstStyle/>
          <a:p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22487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" name="Picture 53" descr="Picture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091" y="2723820"/>
            <a:ext cx="447566" cy="447616"/>
          </a:xfrm>
          <a:prstGeom prst="rect">
            <a:avLst/>
          </a:prstGeom>
          <a:ln w="12700">
            <a:miter lim="400000"/>
          </a:ln>
        </p:spPr>
      </p:pic>
      <p:sp>
        <p:nvSpPr>
          <p:cNvPr id="722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542235" y="3787443"/>
            <a:ext cx="8306476" cy="1462111"/>
          </a:xfrm>
          <a:prstGeom prst="rect">
            <a:avLst/>
          </a:prstGeom>
        </p:spPr>
        <p:txBody>
          <a:bodyPr>
            <a:noAutofit/>
          </a:bodyPr>
          <a:lstStyle/>
          <a:p>
            <a:pPr marL="169735" indent="-169735" defTabSz="678941">
              <a:spcBef>
                <a:spcPts val="675"/>
              </a:spcBef>
              <a:defRPr sz="2772"/>
            </a:pPr>
            <a:r>
              <a:rPr sz="2000" dirty="0"/>
              <a:t>A</a:t>
            </a:r>
            <a:r>
              <a:rPr lang="en-US" sz="2000" dirty="0"/>
              <a:t>lice has a machine with 64 GB of memory. </a:t>
            </a:r>
            <a:endParaRPr sz="2000" dirty="0"/>
          </a:p>
          <a:p>
            <a:pPr marL="504063" lvl="1" indent="-168020" defTabSz="672083" fontAlgn="auto">
              <a:lnSpc>
                <a:spcPct val="81000"/>
              </a:lnSpc>
              <a:spcBef>
                <a:spcPts val="300"/>
              </a:spcBef>
              <a:spcAft>
                <a:spcPts val="0"/>
              </a:spcAft>
              <a:buClrTx/>
              <a:buSzTx/>
              <a:defRPr sz="2156"/>
            </a:pPr>
            <a:r>
              <a:rPr lang="en-US" sz="2000" dirty="0"/>
              <a:t>Bob is assigned with 32 GB of guest physical memory.</a:t>
            </a:r>
          </a:p>
          <a:p>
            <a:pPr marL="504063" lvl="1" indent="-168020" defTabSz="672083" fontAlgn="auto">
              <a:lnSpc>
                <a:spcPct val="81000"/>
              </a:lnSpc>
              <a:spcBef>
                <a:spcPts val="300"/>
              </a:spcBef>
              <a:spcAft>
                <a:spcPts val="0"/>
              </a:spcAft>
              <a:buClrTx/>
              <a:buSzTx/>
              <a:defRPr sz="2156"/>
            </a:pPr>
            <a:r>
              <a:rPr lang="en-US" sz="2000" dirty="0"/>
              <a:t>Charlie is assigned with 32 GB of guest physical memory.</a:t>
            </a:r>
          </a:p>
          <a:p>
            <a:pPr marL="504063" lvl="1" indent="-168020" defTabSz="672083" fontAlgn="auto">
              <a:lnSpc>
                <a:spcPct val="81000"/>
              </a:lnSpc>
              <a:spcBef>
                <a:spcPts val="300"/>
              </a:spcBef>
              <a:spcAft>
                <a:spcPts val="0"/>
              </a:spcAft>
              <a:buClrTx/>
              <a:buSzTx/>
              <a:defRPr sz="2156"/>
            </a:pPr>
            <a:r>
              <a:rPr lang="en-US" sz="2000" dirty="0"/>
              <a:t>Daniel is assigned with 8 GB of guest physical memory.</a:t>
            </a:r>
            <a:endParaRPr lang="en-AU" sz="2000" dirty="0"/>
          </a:p>
        </p:txBody>
      </p:sp>
      <p:pic>
        <p:nvPicPr>
          <p:cNvPr id="724" name="Picture 51" descr="Picture 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803" y="1604572"/>
            <a:ext cx="1369111" cy="1369262"/>
          </a:xfrm>
          <a:prstGeom prst="rect">
            <a:avLst/>
          </a:prstGeom>
          <a:ln w="12700">
            <a:miter lim="400000"/>
          </a:ln>
        </p:spPr>
      </p:pic>
      <p:pic>
        <p:nvPicPr>
          <p:cNvPr id="725" name="Picture 2" descr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7927" y="2062965"/>
            <a:ext cx="415528" cy="415528"/>
          </a:xfrm>
          <a:prstGeom prst="rect">
            <a:avLst/>
          </a:prstGeom>
          <a:ln w="12700">
            <a:miter lim="400000"/>
          </a:ln>
        </p:spPr>
      </p:pic>
      <p:pic>
        <p:nvPicPr>
          <p:cNvPr id="726" name="Picture 3" descr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836738" y="1392642"/>
            <a:ext cx="378620" cy="378620"/>
          </a:xfrm>
          <a:prstGeom prst="rect">
            <a:avLst/>
          </a:prstGeom>
          <a:ln w="12700">
            <a:miter lim="400000"/>
          </a:ln>
        </p:spPr>
      </p:pic>
      <p:pic>
        <p:nvPicPr>
          <p:cNvPr id="727" name="Picture 19" descr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0780" y="2199886"/>
            <a:ext cx="479822" cy="479822"/>
          </a:xfrm>
          <a:prstGeom prst="rect">
            <a:avLst/>
          </a:prstGeom>
          <a:ln w="12700">
            <a:miter lim="400000"/>
          </a:ln>
        </p:spPr>
      </p:pic>
      <p:sp>
        <p:nvSpPr>
          <p:cNvPr id="728" name="TextBox 9"/>
          <p:cNvSpPr txBox="1"/>
          <p:nvPr/>
        </p:nvSpPr>
        <p:spPr>
          <a:xfrm>
            <a:off x="2034398" y="2642798"/>
            <a:ext cx="38516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Alice</a:t>
            </a:r>
          </a:p>
        </p:txBody>
      </p:sp>
      <p:pic>
        <p:nvPicPr>
          <p:cNvPr id="729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86345" y="1671248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0" name="Picture 14" descr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3231" y="24462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1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2113" y="1671248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2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3488" y="2057010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3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4970" y="2064154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4" name="Picture 23" descr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6143" y="24462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5" name="Picture 26" descr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6087" y="25605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6" name="Picture 27" descr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8999" y="25605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7" name="Picture 28" descr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3231" y="2667673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8" name="Picture 29" descr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6143" y="2667673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9" name="Picture 30" descr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3231" y="2774829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0" name="Picture 31" descr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6143" y="2774829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1" name="Picture 5" descr="Picture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5851026" y="2735667"/>
            <a:ext cx="435662" cy="435662"/>
          </a:xfrm>
          <a:prstGeom prst="rect">
            <a:avLst/>
          </a:prstGeom>
          <a:ln w="12700">
            <a:miter lim="400000"/>
          </a:ln>
        </p:spPr>
      </p:pic>
      <p:sp>
        <p:nvSpPr>
          <p:cNvPr id="742" name="TextBox 33"/>
          <p:cNvSpPr txBox="1"/>
          <p:nvPr/>
        </p:nvSpPr>
        <p:spPr>
          <a:xfrm>
            <a:off x="5876892" y="1714111"/>
            <a:ext cx="32970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Bob</a:t>
            </a:r>
          </a:p>
        </p:txBody>
      </p:sp>
      <p:sp>
        <p:nvSpPr>
          <p:cNvPr id="743" name="TextBox 34"/>
          <p:cNvSpPr txBox="1"/>
          <p:nvPr/>
        </p:nvSpPr>
        <p:spPr>
          <a:xfrm>
            <a:off x="5787306" y="2428486"/>
            <a:ext cx="53745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Charlie</a:t>
            </a:r>
          </a:p>
        </p:txBody>
      </p:sp>
      <p:sp>
        <p:nvSpPr>
          <p:cNvPr id="744" name="TextBox 35"/>
          <p:cNvSpPr txBox="1"/>
          <p:nvPr/>
        </p:nvSpPr>
        <p:spPr>
          <a:xfrm>
            <a:off x="5824101" y="3114286"/>
            <a:ext cx="49244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Daniel</a:t>
            </a:r>
          </a:p>
        </p:txBody>
      </p:sp>
      <p:pic>
        <p:nvPicPr>
          <p:cNvPr id="745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9451" y="2807104"/>
            <a:ext cx="235745" cy="23574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50" name="Group 56"/>
          <p:cNvGrpSpPr/>
          <p:nvPr/>
        </p:nvGrpSpPr>
        <p:grpSpPr>
          <a:xfrm>
            <a:off x="4958423" y="2803404"/>
            <a:ext cx="263955" cy="282307"/>
            <a:chOff x="0" y="0"/>
            <a:chExt cx="351939" cy="376407"/>
          </a:xfrm>
        </p:grpSpPr>
        <p:pic>
          <p:nvPicPr>
            <p:cNvPr id="746" name="Picture 47" descr="Picture 4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441" y="0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47" name="Picture 48" descr="Picture 4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-1" y="103063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48" name="Picture 49" descr="Picture 4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441" y="199685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49" name="Picture 50" descr="Picture 5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441" y="296307"/>
              <a:ext cx="345499" cy="801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51" name="Picture 52" descr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548" y="2004622"/>
            <a:ext cx="790466" cy="790553"/>
          </a:xfrm>
          <a:prstGeom prst="rect">
            <a:avLst/>
          </a:prstGeom>
          <a:ln w="12700">
            <a:miter lim="400000"/>
          </a:ln>
        </p:spPr>
      </p:pic>
      <p:sp>
        <p:nvSpPr>
          <p:cNvPr id="752" name="TextBox 54"/>
          <p:cNvSpPr txBox="1"/>
          <p:nvPr/>
        </p:nvSpPr>
        <p:spPr>
          <a:xfrm>
            <a:off x="2500175" y="2907117"/>
            <a:ext cx="122527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Physical machine</a:t>
            </a:r>
          </a:p>
        </p:txBody>
      </p:sp>
      <p:sp>
        <p:nvSpPr>
          <p:cNvPr id="753" name="TextBox 55"/>
          <p:cNvSpPr txBox="1"/>
          <p:nvPr/>
        </p:nvSpPr>
        <p:spPr>
          <a:xfrm>
            <a:off x="4473725" y="3197241"/>
            <a:ext cx="119295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 dirty="0"/>
              <a:t>Virtual machines</a:t>
            </a:r>
          </a:p>
        </p:txBody>
      </p:sp>
      <p:grpSp>
        <p:nvGrpSpPr>
          <p:cNvPr id="757" name="Group 57"/>
          <p:cNvGrpSpPr/>
          <p:nvPr/>
        </p:nvGrpSpPr>
        <p:grpSpPr>
          <a:xfrm>
            <a:off x="5093789" y="2207029"/>
            <a:ext cx="549569" cy="356597"/>
            <a:chOff x="0" y="0"/>
            <a:chExt cx="732757" cy="475460"/>
          </a:xfrm>
        </p:grpSpPr>
        <p:pic>
          <p:nvPicPr>
            <p:cNvPr id="754" name="Picture 3" descr="Picture 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0"/>
              <a:ext cx="350722" cy="3507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55" name="Picture 3" descr="Picture 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2036" y="0"/>
              <a:ext cx="350722" cy="3507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56" name="Picture 45" descr="Picture 4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90164" y="397581"/>
              <a:ext cx="335920" cy="778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58" name="Picture 51" descr="Picture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379" y="1397404"/>
            <a:ext cx="552391" cy="5524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63" name="Group 58"/>
          <p:cNvGrpSpPr/>
          <p:nvPr/>
        </p:nvGrpSpPr>
        <p:grpSpPr>
          <a:xfrm>
            <a:off x="4729457" y="1506942"/>
            <a:ext cx="592040" cy="278607"/>
            <a:chOff x="0" y="0"/>
            <a:chExt cx="789385" cy="371475"/>
          </a:xfrm>
        </p:grpSpPr>
        <p:pic>
          <p:nvPicPr>
            <p:cNvPr id="759" name="Picture 3" descr="Picture 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-1" y="0"/>
              <a:ext cx="371476" cy="3714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60" name="Picture 40" descr="Picture 4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33589" y="42998"/>
              <a:ext cx="355797" cy="82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61" name="Picture 41" descr="Picture 4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26955" y="149134"/>
              <a:ext cx="355797" cy="82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62" name="Picture 42" descr="Picture 4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33589" y="248636"/>
              <a:ext cx="355797" cy="82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64" name="TextBox 59"/>
          <p:cNvSpPr txBox="1"/>
          <p:nvPr/>
        </p:nvSpPr>
        <p:spPr>
          <a:xfrm>
            <a:off x="3935851" y="1985573"/>
            <a:ext cx="639918" cy="646331"/>
          </a:xfrm>
          <a:prstGeom prst="rect">
            <a:avLst/>
          </a:prstGeom>
          <a:solidFill>
            <a:srgbClr val="00B0F0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/>
          <a:p>
            <a:pPr>
              <a:spcBef>
                <a:spcPts val="225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rPr sz="1200"/>
              <a:t>Virtual </a:t>
            </a:r>
            <a:br>
              <a:rPr sz="1200"/>
            </a:br>
            <a:r>
              <a:rPr sz="1200"/>
              <a:t>machine</a:t>
            </a:r>
            <a:br>
              <a:rPr sz="1200"/>
            </a:br>
            <a:r>
              <a:rPr sz="1200"/>
              <a:t>monitor</a:t>
            </a:r>
          </a:p>
        </p:txBody>
      </p:sp>
      <p:sp>
        <p:nvSpPr>
          <p:cNvPr id="765" name="Straight Arrow Connector 61"/>
          <p:cNvSpPr/>
          <p:nvPr/>
        </p:nvSpPr>
        <p:spPr>
          <a:xfrm flipV="1">
            <a:off x="3572170" y="2297198"/>
            <a:ext cx="330660" cy="9845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766" name="Straight Arrow Connector 64"/>
          <p:cNvSpPr/>
          <p:nvPr/>
        </p:nvSpPr>
        <p:spPr>
          <a:xfrm flipV="1">
            <a:off x="4615157" y="1864129"/>
            <a:ext cx="314326" cy="30718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767" name="Straight Arrow Connector 66"/>
          <p:cNvSpPr/>
          <p:nvPr/>
        </p:nvSpPr>
        <p:spPr>
          <a:xfrm>
            <a:off x="4608791" y="2297197"/>
            <a:ext cx="456423" cy="24133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768" name="Straight Arrow Connector 68"/>
          <p:cNvSpPr/>
          <p:nvPr/>
        </p:nvSpPr>
        <p:spPr>
          <a:xfrm>
            <a:off x="4622300" y="2449917"/>
            <a:ext cx="340575" cy="273905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grpSp>
        <p:nvGrpSpPr>
          <p:cNvPr id="774" name="Cloud Callout 69"/>
          <p:cNvGrpSpPr/>
          <p:nvPr/>
        </p:nvGrpSpPr>
        <p:grpSpPr>
          <a:xfrm>
            <a:off x="6136266" y="986924"/>
            <a:ext cx="600872" cy="561296"/>
            <a:chOff x="0" y="0"/>
            <a:chExt cx="801161" cy="748392"/>
          </a:xfrm>
        </p:grpSpPr>
        <p:sp>
          <p:nvSpPr>
            <p:cNvPr id="769" name="Shape"/>
            <p:cNvSpPr/>
            <p:nvPr/>
          </p:nvSpPr>
          <p:spPr>
            <a:xfrm>
              <a:off x="0" y="0"/>
              <a:ext cx="801162" cy="610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0" name="Circle"/>
            <p:cNvSpPr/>
            <p:nvPr/>
          </p:nvSpPr>
          <p:spPr>
            <a:xfrm>
              <a:off x="100949" y="558996"/>
              <a:ext cx="101601" cy="10160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1" name="Circle"/>
            <p:cNvSpPr/>
            <p:nvPr/>
          </p:nvSpPr>
          <p:spPr>
            <a:xfrm>
              <a:off x="57875" y="649912"/>
              <a:ext cx="67735" cy="6773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2" name="Circle"/>
            <p:cNvSpPr/>
            <p:nvPr/>
          </p:nvSpPr>
          <p:spPr>
            <a:xfrm>
              <a:off x="36136" y="714526"/>
              <a:ext cx="33867" cy="33867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3" name="Shape"/>
            <p:cNvSpPr/>
            <p:nvPr/>
          </p:nvSpPr>
          <p:spPr>
            <a:xfrm>
              <a:off x="40681" y="31057"/>
              <a:ext cx="734132" cy="518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</p:grpSp>
      <p:grpSp>
        <p:nvGrpSpPr>
          <p:cNvPr id="780" name="Cloud Callout 72"/>
          <p:cNvGrpSpPr/>
          <p:nvPr/>
        </p:nvGrpSpPr>
        <p:grpSpPr>
          <a:xfrm>
            <a:off x="6221991" y="1629861"/>
            <a:ext cx="600872" cy="561296"/>
            <a:chOff x="0" y="0"/>
            <a:chExt cx="801161" cy="748392"/>
          </a:xfrm>
        </p:grpSpPr>
        <p:sp>
          <p:nvSpPr>
            <p:cNvPr id="775" name="Shape"/>
            <p:cNvSpPr/>
            <p:nvPr/>
          </p:nvSpPr>
          <p:spPr>
            <a:xfrm>
              <a:off x="0" y="0"/>
              <a:ext cx="801162" cy="610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6" name="Circle"/>
            <p:cNvSpPr/>
            <p:nvPr/>
          </p:nvSpPr>
          <p:spPr>
            <a:xfrm>
              <a:off x="100949" y="558996"/>
              <a:ext cx="101601" cy="10160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7" name="Circle"/>
            <p:cNvSpPr/>
            <p:nvPr/>
          </p:nvSpPr>
          <p:spPr>
            <a:xfrm>
              <a:off x="57875" y="649912"/>
              <a:ext cx="67735" cy="6773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8" name="Circle"/>
            <p:cNvSpPr/>
            <p:nvPr/>
          </p:nvSpPr>
          <p:spPr>
            <a:xfrm>
              <a:off x="36136" y="714526"/>
              <a:ext cx="33867" cy="33867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9" name="Shape"/>
            <p:cNvSpPr/>
            <p:nvPr/>
          </p:nvSpPr>
          <p:spPr>
            <a:xfrm>
              <a:off x="40681" y="31057"/>
              <a:ext cx="734132" cy="518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</p:grpSp>
      <p:grpSp>
        <p:nvGrpSpPr>
          <p:cNvPr id="786" name="Cloud Callout 74"/>
          <p:cNvGrpSpPr/>
          <p:nvPr/>
        </p:nvGrpSpPr>
        <p:grpSpPr>
          <a:xfrm>
            <a:off x="6271998" y="2279942"/>
            <a:ext cx="600872" cy="561296"/>
            <a:chOff x="0" y="0"/>
            <a:chExt cx="801161" cy="748392"/>
          </a:xfrm>
        </p:grpSpPr>
        <p:sp>
          <p:nvSpPr>
            <p:cNvPr id="781" name="Shape"/>
            <p:cNvSpPr/>
            <p:nvPr/>
          </p:nvSpPr>
          <p:spPr>
            <a:xfrm>
              <a:off x="0" y="0"/>
              <a:ext cx="801162" cy="610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82" name="Circle"/>
            <p:cNvSpPr/>
            <p:nvPr/>
          </p:nvSpPr>
          <p:spPr>
            <a:xfrm>
              <a:off x="100949" y="558996"/>
              <a:ext cx="101601" cy="10160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83" name="Circle"/>
            <p:cNvSpPr/>
            <p:nvPr/>
          </p:nvSpPr>
          <p:spPr>
            <a:xfrm>
              <a:off x="57875" y="649912"/>
              <a:ext cx="67735" cy="6773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84" name="Circle"/>
            <p:cNvSpPr/>
            <p:nvPr/>
          </p:nvSpPr>
          <p:spPr>
            <a:xfrm>
              <a:off x="36136" y="714526"/>
              <a:ext cx="33867" cy="33867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85" name="Shape"/>
            <p:cNvSpPr/>
            <p:nvPr/>
          </p:nvSpPr>
          <p:spPr>
            <a:xfrm>
              <a:off x="40681" y="31057"/>
              <a:ext cx="734132" cy="518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</p:grpSp>
      <p:pic>
        <p:nvPicPr>
          <p:cNvPr id="787" name="Picture 60" descr="Picture 6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2507" y="1056886"/>
            <a:ext cx="321469" cy="321469"/>
          </a:xfrm>
          <a:prstGeom prst="rect">
            <a:avLst/>
          </a:prstGeom>
          <a:ln w="12700">
            <a:miter lim="400000"/>
          </a:ln>
        </p:spPr>
      </p:pic>
      <p:pic>
        <p:nvPicPr>
          <p:cNvPr id="788" name="Picture 62" descr="Picture 6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2520" y="1685536"/>
            <a:ext cx="321469" cy="321469"/>
          </a:xfrm>
          <a:prstGeom prst="rect">
            <a:avLst/>
          </a:prstGeom>
          <a:ln w="12700">
            <a:miter lim="400000"/>
          </a:ln>
        </p:spPr>
      </p:pic>
      <p:pic>
        <p:nvPicPr>
          <p:cNvPr id="789" name="Picture 63" descr="Picture 6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8239" y="2349904"/>
            <a:ext cx="321469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Title 1">
            <a:extLst>
              <a:ext uri="{FF2B5EF4-FFF2-40B4-BE49-F238E27FC236}">
                <a16:creationId xmlns:a16="http://schemas.microsoft.com/office/drawing/2014/main" id="{92E55797-DCEF-4021-886B-EEB8F18BD8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6333" y="93914"/>
            <a:ext cx="7886700" cy="7439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AU" sz="2800" b="1" dirty="0"/>
              <a:t>Memory Virtualization: on-demand paging</a:t>
            </a:r>
            <a:endParaRPr sz="2800" b="1" dirty="0"/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76F54E32-6B9E-4C8C-ADC2-B6B214C4E533}"/>
              </a:ext>
            </a:extLst>
          </p:cNvPr>
          <p:cNvSpPr txBox="1">
            <a:spLocks/>
          </p:cNvSpPr>
          <p:nvPr/>
        </p:nvSpPr>
        <p:spPr>
          <a:xfrm>
            <a:off x="286333" y="5679219"/>
            <a:ext cx="8048819" cy="1991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4063" lvl="1" indent="-168020" defTabSz="672083" fontAlgn="auto">
              <a:lnSpc>
                <a:spcPct val="81000"/>
              </a:lnSpc>
              <a:spcBef>
                <a:spcPts val="300"/>
              </a:spcBef>
              <a:spcAft>
                <a:spcPts val="0"/>
              </a:spcAft>
              <a:buClrTx/>
              <a:buSzTx/>
              <a:defRPr sz="2156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95499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1" name="Picture 21" descr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445" y="2609150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92" name="Picture 22" descr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301" y="2723450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93" name="Picture 23" descr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445" y="2830606"/>
            <a:ext cx="383165" cy="88834"/>
          </a:xfrm>
          <a:prstGeom prst="rect">
            <a:avLst/>
          </a:prstGeom>
          <a:ln w="12700">
            <a:miter lim="400000"/>
          </a:ln>
        </p:spPr>
      </p:pic>
      <p:sp>
        <p:nvSpPr>
          <p:cNvPr id="794" name="Title 1"/>
          <p:cNvSpPr txBox="1">
            <a:spLocks noGrp="1"/>
          </p:cNvSpPr>
          <p:nvPr>
            <p:ph type="title"/>
          </p:nvPr>
        </p:nvSpPr>
        <p:spPr>
          <a:xfrm>
            <a:off x="360790" y="198028"/>
            <a:ext cx="6270813" cy="79382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3200" b="1" dirty="0"/>
              <a:t>How </a:t>
            </a:r>
            <a:r>
              <a:rPr lang="en-AU" sz="3200" b="1" dirty="0"/>
              <a:t>is</a:t>
            </a:r>
            <a:r>
              <a:rPr sz="3200" b="1" dirty="0"/>
              <a:t> </a:t>
            </a:r>
            <a:r>
              <a:rPr lang="en-AU" sz="3200" b="1" dirty="0"/>
              <a:t>virtualization</a:t>
            </a:r>
            <a:r>
              <a:rPr sz="3200" b="1" dirty="0"/>
              <a:t> </a:t>
            </a:r>
            <a:r>
              <a:rPr lang="en-AU" sz="3200" b="1" dirty="0"/>
              <a:t>implemented</a:t>
            </a:r>
            <a:r>
              <a:rPr sz="3200" b="1" dirty="0"/>
              <a:t>?</a:t>
            </a:r>
          </a:p>
        </p:txBody>
      </p:sp>
      <p:sp>
        <p:nvSpPr>
          <p:cNvPr id="795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851261" y="3311383"/>
            <a:ext cx="7804471" cy="1996889"/>
          </a:xfrm>
          <a:prstGeom prst="rect">
            <a:avLst/>
          </a:prstGeom>
        </p:spPr>
        <p:txBody>
          <a:bodyPr>
            <a:noAutofit/>
          </a:bodyPr>
          <a:lstStyle/>
          <a:p>
            <a:pPr lvl="1">
              <a:lnSpc>
                <a:spcPct val="81000"/>
              </a:lnSpc>
              <a:defRPr sz="2400"/>
            </a:pPr>
            <a:r>
              <a:rPr sz="2000" dirty="0"/>
              <a:t>VMM ("Hypervisor") has translation tables that map </a:t>
            </a:r>
            <a:r>
              <a:rPr lang="en-AU" sz="2000" dirty="0"/>
              <a:t>guest memory</a:t>
            </a:r>
            <a:r>
              <a:rPr sz="2000" dirty="0"/>
              <a:t> to physical </a:t>
            </a:r>
            <a:r>
              <a:rPr lang="en-AU" sz="2000" dirty="0"/>
              <a:t>memory.</a:t>
            </a:r>
            <a:endParaRPr sz="2000" dirty="0"/>
          </a:p>
        </p:txBody>
      </p:sp>
      <p:sp>
        <p:nvSpPr>
          <p:cNvPr id="797" name="Rectangle 5"/>
          <p:cNvSpPr/>
          <p:nvPr/>
        </p:nvSpPr>
        <p:spPr>
          <a:xfrm>
            <a:off x="3913054" y="1164769"/>
            <a:ext cx="1775013" cy="1734672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sp>
        <p:nvSpPr>
          <p:cNvPr id="798" name="TextBox 6"/>
          <p:cNvSpPr txBox="1"/>
          <p:nvPr/>
        </p:nvSpPr>
        <p:spPr>
          <a:xfrm>
            <a:off x="4343534" y="2688864"/>
            <a:ext cx="93326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200"/>
              </a:spcBef>
              <a:defRPr sz="1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900" dirty="0">
                <a:solidFill>
                  <a:schemeClr val="tx1"/>
                </a:solidFill>
              </a:rPr>
              <a:t>Physical machine</a:t>
            </a:r>
          </a:p>
        </p:txBody>
      </p:sp>
      <p:sp>
        <p:nvSpPr>
          <p:cNvPr id="799" name="Rectangle 9"/>
          <p:cNvSpPr/>
          <p:nvPr/>
        </p:nvSpPr>
        <p:spPr>
          <a:xfrm>
            <a:off x="4013908" y="1252175"/>
            <a:ext cx="739589" cy="914401"/>
          </a:xfrm>
          <a:prstGeom prst="rect">
            <a:avLst/>
          </a:prstGeom>
          <a:solidFill>
            <a:srgbClr val="00B0F0"/>
          </a:solidFill>
          <a:ln w="19050">
            <a:solidFill>
              <a:srgbClr val="000000"/>
            </a:solidFill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sp>
        <p:nvSpPr>
          <p:cNvPr id="800" name="Rectangle 10"/>
          <p:cNvSpPr/>
          <p:nvPr/>
        </p:nvSpPr>
        <p:spPr>
          <a:xfrm>
            <a:off x="4854349" y="1252175"/>
            <a:ext cx="739590" cy="914401"/>
          </a:xfrm>
          <a:prstGeom prst="rect">
            <a:avLst/>
          </a:prstGeom>
          <a:solidFill>
            <a:srgbClr val="00B0F0"/>
          </a:solidFill>
          <a:ln w="19050">
            <a:solidFill>
              <a:srgbClr val="000000"/>
            </a:solidFill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grpSp>
        <p:nvGrpSpPr>
          <p:cNvPr id="803" name="Rectangle 11"/>
          <p:cNvGrpSpPr/>
          <p:nvPr/>
        </p:nvGrpSpPr>
        <p:grpSpPr>
          <a:xfrm>
            <a:off x="4067696" y="1851361"/>
            <a:ext cx="618565" cy="253914"/>
            <a:chOff x="0" y="-2906"/>
            <a:chExt cx="824752" cy="338551"/>
          </a:xfrm>
        </p:grpSpPr>
        <p:sp>
          <p:nvSpPr>
            <p:cNvPr id="801" name="Rectangle"/>
            <p:cNvSpPr/>
            <p:nvPr/>
          </p:nvSpPr>
          <p:spPr>
            <a:xfrm>
              <a:off x="0" y="5005"/>
              <a:ext cx="824752" cy="322730"/>
            </a:xfrm>
            <a:prstGeom prst="rect">
              <a:avLst/>
            </a:pr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802" name="OS 1"/>
            <p:cNvSpPr txBox="1"/>
            <p:nvPr/>
          </p:nvSpPr>
          <p:spPr>
            <a:xfrm>
              <a:off x="0" y="-2906"/>
              <a:ext cx="824752" cy="3385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spcBef>
                  <a:spcPts val="3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200"/>
                <a:t>OS 1</a:t>
              </a:r>
            </a:p>
          </p:txBody>
        </p:sp>
      </p:grpSp>
      <p:grpSp>
        <p:nvGrpSpPr>
          <p:cNvPr id="806" name="Rectangle 12"/>
          <p:cNvGrpSpPr/>
          <p:nvPr/>
        </p:nvGrpSpPr>
        <p:grpSpPr>
          <a:xfrm>
            <a:off x="4914861" y="1851361"/>
            <a:ext cx="618566" cy="253914"/>
            <a:chOff x="0" y="-2906"/>
            <a:chExt cx="824752" cy="338551"/>
          </a:xfrm>
        </p:grpSpPr>
        <p:sp>
          <p:nvSpPr>
            <p:cNvPr id="804" name="Rectangle"/>
            <p:cNvSpPr/>
            <p:nvPr/>
          </p:nvSpPr>
          <p:spPr>
            <a:xfrm>
              <a:off x="0" y="5005"/>
              <a:ext cx="824752" cy="322730"/>
            </a:xfrm>
            <a:prstGeom prst="rect">
              <a:avLst/>
            </a:pr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805" name="OS 2"/>
            <p:cNvSpPr txBox="1"/>
            <p:nvPr/>
          </p:nvSpPr>
          <p:spPr>
            <a:xfrm>
              <a:off x="0" y="-2906"/>
              <a:ext cx="824752" cy="3385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spcBef>
                  <a:spcPts val="3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200"/>
                <a:t>OS 2</a:t>
              </a:r>
            </a:p>
          </p:txBody>
        </p:sp>
      </p:grpSp>
      <p:grpSp>
        <p:nvGrpSpPr>
          <p:cNvPr id="809" name="Rectangle 13"/>
          <p:cNvGrpSpPr/>
          <p:nvPr/>
        </p:nvGrpSpPr>
        <p:grpSpPr>
          <a:xfrm>
            <a:off x="4074419" y="1303393"/>
            <a:ext cx="403413" cy="253914"/>
            <a:chOff x="0" y="-2905"/>
            <a:chExt cx="537882" cy="338550"/>
          </a:xfrm>
        </p:grpSpPr>
        <p:sp>
          <p:nvSpPr>
            <p:cNvPr id="807" name="Rectangle"/>
            <p:cNvSpPr/>
            <p:nvPr/>
          </p:nvSpPr>
          <p:spPr>
            <a:xfrm>
              <a:off x="0" y="18452"/>
              <a:ext cx="537882" cy="295836"/>
            </a:xfrm>
            <a:prstGeom prst="rect">
              <a:avLst/>
            </a:prstGeom>
            <a:solidFill>
              <a:srgbClr val="66FF33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808" name="App"/>
            <p:cNvSpPr txBox="1"/>
            <p:nvPr/>
          </p:nvSpPr>
          <p:spPr>
            <a:xfrm>
              <a:off x="0" y="-2905"/>
              <a:ext cx="537882" cy="3385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spcBef>
                  <a:spcPts val="3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200"/>
                <a:t>App</a:t>
              </a:r>
            </a:p>
          </p:txBody>
        </p:sp>
      </p:grpSp>
      <p:grpSp>
        <p:nvGrpSpPr>
          <p:cNvPr id="812" name="Rectangle 14"/>
          <p:cNvGrpSpPr/>
          <p:nvPr/>
        </p:nvGrpSpPr>
        <p:grpSpPr>
          <a:xfrm>
            <a:off x="4074419" y="1558887"/>
            <a:ext cx="403413" cy="253914"/>
            <a:chOff x="0" y="-2905"/>
            <a:chExt cx="537882" cy="338550"/>
          </a:xfrm>
        </p:grpSpPr>
        <p:sp>
          <p:nvSpPr>
            <p:cNvPr id="810" name="Rectangle"/>
            <p:cNvSpPr/>
            <p:nvPr/>
          </p:nvSpPr>
          <p:spPr>
            <a:xfrm>
              <a:off x="0" y="18452"/>
              <a:ext cx="537882" cy="295836"/>
            </a:xfrm>
            <a:prstGeom prst="rect">
              <a:avLst/>
            </a:prstGeom>
            <a:solidFill>
              <a:srgbClr val="66FF33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811" name="App"/>
            <p:cNvSpPr txBox="1"/>
            <p:nvPr/>
          </p:nvSpPr>
          <p:spPr>
            <a:xfrm>
              <a:off x="0" y="-2905"/>
              <a:ext cx="537882" cy="3385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spcBef>
                  <a:spcPts val="3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200"/>
                <a:t>App</a:t>
              </a:r>
            </a:p>
          </p:txBody>
        </p:sp>
      </p:grpSp>
      <p:grpSp>
        <p:nvGrpSpPr>
          <p:cNvPr id="815" name="Rectangle 16"/>
          <p:cNvGrpSpPr/>
          <p:nvPr/>
        </p:nvGrpSpPr>
        <p:grpSpPr>
          <a:xfrm>
            <a:off x="4921583" y="1552164"/>
            <a:ext cx="403413" cy="253914"/>
            <a:chOff x="0" y="-2905"/>
            <a:chExt cx="537882" cy="338550"/>
          </a:xfrm>
        </p:grpSpPr>
        <p:sp>
          <p:nvSpPr>
            <p:cNvPr id="813" name="Rectangle"/>
            <p:cNvSpPr/>
            <p:nvPr/>
          </p:nvSpPr>
          <p:spPr>
            <a:xfrm>
              <a:off x="0" y="18452"/>
              <a:ext cx="537882" cy="295836"/>
            </a:xfrm>
            <a:prstGeom prst="rect">
              <a:avLst/>
            </a:prstGeom>
            <a:solidFill>
              <a:srgbClr val="66FF33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814" name="App"/>
            <p:cNvSpPr txBox="1"/>
            <p:nvPr/>
          </p:nvSpPr>
          <p:spPr>
            <a:xfrm>
              <a:off x="0" y="-2905"/>
              <a:ext cx="537882" cy="3385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spcBef>
                  <a:spcPts val="3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200"/>
                <a:t>App</a:t>
              </a:r>
            </a:p>
          </p:txBody>
        </p:sp>
      </p:grpSp>
      <p:grpSp>
        <p:nvGrpSpPr>
          <p:cNvPr id="818" name="Rectangle 17"/>
          <p:cNvGrpSpPr/>
          <p:nvPr/>
        </p:nvGrpSpPr>
        <p:grpSpPr>
          <a:xfrm>
            <a:off x="4013909" y="2301046"/>
            <a:ext cx="1573307" cy="403415"/>
            <a:chOff x="0" y="-1"/>
            <a:chExt cx="2097741" cy="537885"/>
          </a:xfrm>
        </p:grpSpPr>
        <p:sp>
          <p:nvSpPr>
            <p:cNvPr id="816" name="Rectangle"/>
            <p:cNvSpPr/>
            <p:nvPr/>
          </p:nvSpPr>
          <p:spPr>
            <a:xfrm>
              <a:off x="0" y="-1"/>
              <a:ext cx="2097741" cy="537885"/>
            </a:xfrm>
            <a:prstGeom prst="rect">
              <a:avLst/>
            </a:prstGeom>
            <a:solidFill>
              <a:srgbClr val="FF99FF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817" name="VMM"/>
            <p:cNvSpPr txBox="1"/>
            <p:nvPr/>
          </p:nvSpPr>
          <p:spPr>
            <a:xfrm>
              <a:off x="0" y="68888"/>
              <a:ext cx="2097741" cy="4001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500"/>
                <a:t>VMM</a:t>
              </a:r>
            </a:p>
          </p:txBody>
        </p:sp>
      </p:grpSp>
      <p:pic>
        <p:nvPicPr>
          <p:cNvPr id="819" name="Picture 18" descr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591" y="26562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20" name="Picture 19" descr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447" y="27705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21" name="Picture 20" descr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591" y="2877672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22" name="Picture 30" descr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525" y="1972013"/>
            <a:ext cx="604915" cy="500063"/>
          </a:xfrm>
          <a:prstGeom prst="rect">
            <a:avLst/>
          </a:prstGeom>
          <a:ln w="12700">
            <a:miter lim="400000"/>
          </a:ln>
        </p:spPr>
      </p:pic>
      <p:sp>
        <p:nvSpPr>
          <p:cNvPr id="823" name="Straight Arrow Connector 32"/>
          <p:cNvSpPr/>
          <p:nvPr/>
        </p:nvSpPr>
        <p:spPr>
          <a:xfrm>
            <a:off x="5694790" y="2744804"/>
            <a:ext cx="1062318" cy="1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824" name="Rectangle 34"/>
          <p:cNvSpPr/>
          <p:nvPr/>
        </p:nvSpPr>
        <p:spPr>
          <a:xfrm>
            <a:off x="4114761" y="2388453"/>
            <a:ext cx="161366" cy="221877"/>
          </a:xfrm>
          <a:prstGeom prst="rect">
            <a:avLst/>
          </a:prstGeom>
          <a:solidFill>
            <a:schemeClr val="accent4"/>
          </a:solidFill>
          <a:ln w="19050">
            <a:solidFill>
              <a:srgbClr val="000000"/>
            </a:solidFill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graphicFrame>
        <p:nvGraphicFramePr>
          <p:cNvPr id="825" name="Table 35"/>
          <p:cNvGraphicFramePr/>
          <p:nvPr>
            <p:extLst>
              <p:ext uri="{D42A27DB-BD31-4B8C-83A1-F6EECF244321}">
                <p14:modId xmlns:p14="http://schemas.microsoft.com/office/powerpoint/2010/main" val="1074306712"/>
              </p:ext>
            </p:extLst>
          </p:nvPr>
        </p:nvGraphicFramePr>
        <p:xfrm>
          <a:off x="916931" y="1164769"/>
          <a:ext cx="2592715" cy="1584960"/>
        </p:xfrm>
        <a:graphic>
          <a:graphicData uri="http://schemas.openxmlformats.org/drawingml/2006/table">
            <a:tbl>
              <a:tblPr firstRow="1" bandRow="1"/>
              <a:tblGrid>
                <a:gridCol w="459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55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100" b="0" dirty="0">
                          <a:solidFill>
                            <a:schemeClr val="tx1"/>
                          </a:solidFill>
                          <a:sym typeface="Calibri"/>
                        </a:rPr>
                        <a:t>VM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AU" sz="1100" b="0" dirty="0" err="1">
                          <a:solidFill>
                            <a:schemeClr val="tx1"/>
                          </a:solidFill>
                          <a:sym typeface="Calibri"/>
                        </a:rPr>
                        <a:t>Mem_Idx</a:t>
                      </a:r>
                      <a:r>
                        <a:rPr lang="en-AU" sz="1100" b="0" dirty="0">
                          <a:solidFill>
                            <a:schemeClr val="tx1"/>
                          </a:solidFill>
                          <a:sym typeface="Calibri"/>
                        </a:rPr>
                        <a:t> in VM</a:t>
                      </a:r>
                      <a:endParaRPr sz="1100" b="0" dirty="0">
                        <a:solidFill>
                          <a:schemeClr val="tx1"/>
                        </a:solidFill>
                        <a:sym typeface="Calibri"/>
                      </a:endParaRP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AU" sz="1100" b="0" dirty="0" err="1">
                          <a:solidFill>
                            <a:schemeClr val="tx1"/>
                          </a:solidFill>
                          <a:sym typeface="Calibri"/>
                        </a:rPr>
                        <a:t>Mem_Idx</a:t>
                      </a:r>
                      <a:r>
                        <a:rPr lang="en-AU" sz="1100" b="0" dirty="0">
                          <a:solidFill>
                            <a:schemeClr val="tx1"/>
                          </a:solidFill>
                          <a:sym typeface="Calibri"/>
                        </a:rPr>
                        <a:t> in VMM</a:t>
                      </a:r>
                      <a:endParaRPr sz="1100" b="0" dirty="0">
                        <a:solidFill>
                          <a:schemeClr val="tx1"/>
                        </a:solidFill>
                        <a:sym typeface="Calibri"/>
                      </a:endParaRPr>
                    </a:p>
                  </a:txBody>
                  <a:tcPr marL="34290" marR="3429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09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>
                          <a:sym typeface="Calibri"/>
                        </a:rPr>
                        <a:t>1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 dirty="0">
                          <a:sym typeface="Calibri"/>
                        </a:rPr>
                        <a:t>0-99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>
                          <a:sym typeface="Calibri"/>
                        </a:rPr>
                        <a:t>0-99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09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>
                          <a:sym typeface="Calibri"/>
                        </a:rPr>
                        <a:t>1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AU" sz="1100" b="0" dirty="0">
                          <a:sym typeface="Calibri"/>
                        </a:rPr>
                        <a:t>300</a:t>
                      </a:r>
                      <a:r>
                        <a:rPr sz="1100" b="0" dirty="0">
                          <a:sym typeface="Calibri"/>
                        </a:rPr>
                        <a:t>-399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 dirty="0">
                          <a:sym typeface="Calibri"/>
                        </a:rPr>
                        <a:t>100-199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09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>
                          <a:sym typeface="Calibri"/>
                        </a:rPr>
                        <a:t>2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>
                          <a:sym typeface="Calibri"/>
                        </a:rPr>
                        <a:t>0-99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 dirty="0">
                          <a:sym typeface="Calibri"/>
                        </a:rPr>
                        <a:t>300-399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09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>
                          <a:sym typeface="Calibri"/>
                        </a:rPr>
                        <a:t>2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>
                          <a:sym typeface="Calibri"/>
                        </a:rPr>
                        <a:t>200-299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 dirty="0">
                          <a:sym typeface="Calibri"/>
                        </a:rPr>
                        <a:t>500-599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09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>
                          <a:sym typeface="Calibri"/>
                        </a:rPr>
                        <a:t>2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>
                          <a:sym typeface="Calibri"/>
                        </a:rPr>
                        <a:t>600-699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1100" b="0" dirty="0">
                          <a:sym typeface="Calibri"/>
                        </a:rPr>
                        <a:t>400-499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830" name="Group 56"/>
          <p:cNvGrpSpPr/>
          <p:nvPr/>
        </p:nvGrpSpPr>
        <p:grpSpPr>
          <a:xfrm>
            <a:off x="3496197" y="1615246"/>
            <a:ext cx="800101" cy="978273"/>
            <a:chOff x="1568823" y="259977"/>
            <a:chExt cx="1066801" cy="1304362"/>
          </a:xfrm>
        </p:grpSpPr>
        <p:sp>
          <p:nvSpPr>
            <p:cNvPr id="826" name="Straight Connector 37"/>
            <p:cNvSpPr/>
            <p:nvPr/>
          </p:nvSpPr>
          <p:spPr>
            <a:xfrm flipH="1" flipV="1">
              <a:off x="1577787" y="259977"/>
              <a:ext cx="1057837" cy="1030941"/>
            </a:xfrm>
            <a:prstGeom prst="line">
              <a:avLst/>
            </a:prstGeom>
            <a:solidFill>
              <a:schemeClr val="accent1"/>
            </a:solidFill>
            <a:ln w="317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500"/>
            </a:p>
          </p:txBody>
        </p:sp>
        <p:sp>
          <p:nvSpPr>
            <p:cNvPr id="827" name="Straight Connector 38"/>
            <p:cNvSpPr/>
            <p:nvPr/>
          </p:nvSpPr>
          <p:spPr>
            <a:xfrm flipH="1" flipV="1">
              <a:off x="1577787" y="1160927"/>
              <a:ext cx="815785" cy="290298"/>
            </a:xfrm>
            <a:prstGeom prst="line">
              <a:avLst/>
            </a:prstGeom>
            <a:solidFill>
              <a:schemeClr val="accent1"/>
            </a:solidFill>
            <a:ln w="317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500"/>
            </a:p>
          </p:txBody>
        </p:sp>
        <p:sp>
          <p:nvSpPr>
            <p:cNvPr id="828" name="Straight Connector 43"/>
            <p:cNvSpPr/>
            <p:nvPr/>
          </p:nvSpPr>
          <p:spPr>
            <a:xfrm flipH="1" flipV="1">
              <a:off x="1595717" y="887505"/>
              <a:ext cx="806825" cy="407896"/>
            </a:xfrm>
            <a:prstGeom prst="line">
              <a:avLst/>
            </a:prstGeom>
            <a:solidFill>
              <a:schemeClr val="accent1"/>
            </a:solidFill>
            <a:ln w="317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500"/>
            </a:p>
          </p:txBody>
        </p:sp>
        <p:sp>
          <p:nvSpPr>
            <p:cNvPr id="829" name="Straight Connector 45"/>
            <p:cNvSpPr/>
            <p:nvPr/>
          </p:nvSpPr>
          <p:spPr>
            <a:xfrm flipH="1" flipV="1">
              <a:off x="1568823" y="1447799"/>
              <a:ext cx="833720" cy="116540"/>
            </a:xfrm>
            <a:prstGeom prst="line">
              <a:avLst/>
            </a:prstGeom>
            <a:solidFill>
              <a:schemeClr val="accent1"/>
            </a:solidFill>
            <a:ln w="317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500"/>
            </a:p>
          </p:txBody>
        </p:sp>
      </p:grpSp>
      <p:sp>
        <p:nvSpPr>
          <p:cNvPr id="831" name="TextBox 48"/>
          <p:cNvSpPr txBox="1"/>
          <p:nvPr/>
        </p:nvSpPr>
        <p:spPr>
          <a:xfrm>
            <a:off x="1553922" y="2740337"/>
            <a:ext cx="1187247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lang="en-AU" sz="1200" dirty="0"/>
              <a:t>Translation</a:t>
            </a:r>
            <a:r>
              <a:rPr sz="1200" dirty="0"/>
              <a:t> table</a:t>
            </a:r>
          </a:p>
        </p:txBody>
      </p:sp>
      <p:sp>
        <p:nvSpPr>
          <p:cNvPr id="832" name="TextBox 49"/>
          <p:cNvSpPr txBox="1"/>
          <p:nvPr/>
        </p:nvSpPr>
        <p:spPr>
          <a:xfrm>
            <a:off x="4149994" y="875853"/>
            <a:ext cx="45396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200"/>
              </a:spcBef>
              <a:defRPr sz="1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 b="1" dirty="0">
                <a:solidFill>
                  <a:schemeClr val="tx1"/>
                </a:solidFill>
              </a:rPr>
              <a:t>VM 1</a:t>
            </a:r>
          </a:p>
        </p:txBody>
      </p:sp>
      <p:sp>
        <p:nvSpPr>
          <p:cNvPr id="833" name="TextBox 50"/>
          <p:cNvSpPr txBox="1"/>
          <p:nvPr/>
        </p:nvSpPr>
        <p:spPr>
          <a:xfrm>
            <a:off x="5026095" y="867724"/>
            <a:ext cx="45396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4289" rIns="34289">
            <a:spAutoFit/>
          </a:bodyPr>
          <a:lstStyle>
            <a:lvl1pPr>
              <a:spcBef>
                <a:spcPts val="200"/>
              </a:spcBef>
              <a:defRPr sz="1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 b="1" dirty="0">
                <a:solidFill>
                  <a:schemeClr val="tx1"/>
                </a:solidFill>
              </a:rPr>
              <a:t>VM 2</a:t>
            </a:r>
          </a:p>
        </p:txBody>
      </p:sp>
      <p:sp>
        <p:nvSpPr>
          <p:cNvPr id="834" name="Straight Arrow Connector 51"/>
          <p:cNvSpPr/>
          <p:nvPr/>
        </p:nvSpPr>
        <p:spPr>
          <a:xfrm flipV="1">
            <a:off x="5694791" y="2222045"/>
            <a:ext cx="1087735" cy="347948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49" name="Straight Connector 43">
            <a:extLst>
              <a:ext uri="{FF2B5EF4-FFF2-40B4-BE49-F238E27FC236}">
                <a16:creationId xmlns:a16="http://schemas.microsoft.com/office/drawing/2014/main" id="{6CC25DB8-D25E-484D-9A71-124AF00D3B0C}"/>
              </a:ext>
            </a:extLst>
          </p:cNvPr>
          <p:cNvSpPr/>
          <p:nvPr/>
        </p:nvSpPr>
        <p:spPr>
          <a:xfrm flipH="1" flipV="1">
            <a:off x="3502916" y="1864467"/>
            <a:ext cx="736021" cy="523541"/>
          </a:xfrm>
          <a:prstGeom prst="line">
            <a:avLst/>
          </a:prstGeom>
          <a:solidFill>
            <a:schemeClr val="accent1"/>
          </a:solidFill>
          <a:ln w="3175" cap="flat">
            <a:solidFill>
              <a:srgbClr val="000000"/>
            </a:solidFill>
            <a:prstDash val="dash"/>
            <a:round/>
          </a:ln>
          <a:effectLst/>
        </p:spPr>
        <p:txBody>
          <a:bodyPr wrap="square" lIns="34289" tIns="34289" rIns="34289" bIns="34289" numCol="1" anchor="t">
            <a:noAutofit/>
          </a:bodyPr>
          <a:lstStyle/>
          <a:p>
            <a:endParaRPr sz="1500"/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24C134C2-0232-4024-A9CA-45D759DEF2D1}"/>
              </a:ext>
            </a:extLst>
          </p:cNvPr>
          <p:cNvSpPr txBox="1">
            <a:spLocks/>
          </p:cNvSpPr>
          <p:nvPr/>
        </p:nvSpPr>
        <p:spPr>
          <a:xfrm>
            <a:off x="851261" y="4000310"/>
            <a:ext cx="7318235" cy="14144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81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sz="2000" dirty="0"/>
              <a:t> </a:t>
            </a:r>
          </a:p>
          <a:p>
            <a:pPr lvl="1" fontAlgn="auto">
              <a:lnSpc>
                <a:spcPct val="81000"/>
              </a:lnSpc>
              <a:spcAft>
                <a:spcPts val="0"/>
              </a:spcAft>
              <a:buClrTx/>
              <a:buSzTx/>
              <a:defRPr sz="2400"/>
            </a:pPr>
            <a:r>
              <a:rPr lang="en-US" sz="2000" dirty="0"/>
              <a:t>VMs also </a:t>
            </a:r>
            <a:r>
              <a:rPr lang="en-US" sz="2000" dirty="0">
                <a:solidFill>
                  <a:srgbClr val="FF9900"/>
                </a:solidFill>
              </a:rPr>
              <a:t>time-share</a:t>
            </a:r>
            <a:r>
              <a:rPr lang="en-US" sz="2000" dirty="0"/>
              <a:t> CPUs</a:t>
            </a:r>
          </a:p>
          <a:p>
            <a:pPr marL="685800" lvl="2" indent="0" fontAlgn="auto">
              <a:lnSpc>
                <a:spcPct val="81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400"/>
            </a:pPr>
            <a:r>
              <a:rPr lang="en-US" sz="2000" dirty="0"/>
              <a:t>(a time-multiplexed manner)</a:t>
            </a:r>
          </a:p>
          <a:p>
            <a:pPr marL="342900" lvl="1" indent="0" fontAlgn="auto">
              <a:lnSpc>
                <a:spcPct val="81000"/>
              </a:lnSpc>
              <a:spcAft>
                <a:spcPts val="0"/>
              </a:spcAft>
              <a:buClrTx/>
              <a:buSzTx/>
              <a:buNone/>
              <a:defRPr sz="2400"/>
            </a:pPr>
            <a:endParaRPr lang="en-US" sz="2000" dirty="0"/>
          </a:p>
          <a:p>
            <a:pPr lvl="1" fontAlgn="auto">
              <a:lnSpc>
                <a:spcPct val="81000"/>
              </a:lnSpc>
              <a:spcAft>
                <a:spcPts val="0"/>
              </a:spcAft>
              <a:buClrTx/>
              <a:buSzTx/>
              <a:defRPr sz="2400"/>
            </a:pPr>
            <a:endParaRPr lang="en-US" sz="2000" dirty="0"/>
          </a:p>
          <a:p>
            <a:pPr marL="685800" lvl="2" indent="0" fontAlgn="auto">
              <a:lnSpc>
                <a:spcPct val="81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400"/>
            </a:pPr>
            <a:endParaRPr lang="en-US" sz="2000" dirty="0"/>
          </a:p>
          <a:p>
            <a:pPr marL="685800" lvl="2" indent="0" fontAlgn="auto">
              <a:lnSpc>
                <a:spcPct val="81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400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06726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" name="Picture 53" descr="Picture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091" y="2723820"/>
            <a:ext cx="447566" cy="447616"/>
          </a:xfrm>
          <a:prstGeom prst="rect">
            <a:avLst/>
          </a:prstGeom>
          <a:ln w="12700">
            <a:miter lim="400000"/>
          </a:ln>
        </p:spPr>
      </p:pic>
      <p:sp>
        <p:nvSpPr>
          <p:cNvPr id="722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542235" y="3787443"/>
            <a:ext cx="8306476" cy="1462111"/>
          </a:xfrm>
          <a:prstGeom prst="rect">
            <a:avLst/>
          </a:prstGeom>
        </p:spPr>
        <p:txBody>
          <a:bodyPr>
            <a:noAutofit/>
          </a:bodyPr>
          <a:lstStyle/>
          <a:p>
            <a:pPr marL="169735" indent="-169735" defTabSz="678941">
              <a:spcBef>
                <a:spcPts val="675"/>
              </a:spcBef>
              <a:defRPr sz="2772"/>
            </a:pPr>
            <a:r>
              <a:rPr sz="2000" dirty="0"/>
              <a:t>A</a:t>
            </a:r>
            <a:r>
              <a:rPr lang="en-US" sz="2000" dirty="0"/>
              <a:t>lice has a machine with 16 CPUs. </a:t>
            </a:r>
            <a:endParaRPr sz="2000" dirty="0"/>
          </a:p>
          <a:p>
            <a:pPr marL="504063" lvl="1" indent="-168020" defTabSz="672083" fontAlgn="auto">
              <a:lnSpc>
                <a:spcPct val="81000"/>
              </a:lnSpc>
              <a:spcBef>
                <a:spcPts val="300"/>
              </a:spcBef>
              <a:spcAft>
                <a:spcPts val="0"/>
              </a:spcAft>
              <a:buClrTx/>
              <a:buSzTx/>
              <a:defRPr sz="2156"/>
            </a:pPr>
            <a:r>
              <a:rPr lang="en-US" sz="2000" dirty="0"/>
              <a:t>Bob is assigned with 8 vCPUs.</a:t>
            </a:r>
          </a:p>
          <a:p>
            <a:pPr marL="504063" lvl="1" indent="-168020" defTabSz="672083" fontAlgn="auto">
              <a:lnSpc>
                <a:spcPct val="81000"/>
              </a:lnSpc>
              <a:spcBef>
                <a:spcPts val="300"/>
              </a:spcBef>
              <a:spcAft>
                <a:spcPts val="0"/>
              </a:spcAft>
              <a:buClrTx/>
              <a:buSzTx/>
              <a:defRPr sz="2156"/>
            </a:pPr>
            <a:r>
              <a:rPr lang="en-US" sz="2000" dirty="0"/>
              <a:t>Charlie is assigned with 8 vCPUs.</a:t>
            </a:r>
          </a:p>
          <a:p>
            <a:pPr marL="504063" lvl="1" indent="-168020" defTabSz="672083" fontAlgn="auto">
              <a:lnSpc>
                <a:spcPct val="81000"/>
              </a:lnSpc>
              <a:spcBef>
                <a:spcPts val="300"/>
              </a:spcBef>
              <a:spcAft>
                <a:spcPts val="0"/>
              </a:spcAft>
              <a:buClrTx/>
              <a:buSzTx/>
              <a:defRPr sz="2156"/>
            </a:pPr>
            <a:r>
              <a:rPr lang="en-US" sz="2000" dirty="0"/>
              <a:t>Daniel is assigned with 4 vCPUs.</a:t>
            </a:r>
            <a:endParaRPr lang="en-AU" sz="2000" dirty="0"/>
          </a:p>
        </p:txBody>
      </p:sp>
      <p:pic>
        <p:nvPicPr>
          <p:cNvPr id="724" name="Picture 51" descr="Picture 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803" y="1604572"/>
            <a:ext cx="1369111" cy="1369262"/>
          </a:xfrm>
          <a:prstGeom prst="rect">
            <a:avLst/>
          </a:prstGeom>
          <a:ln w="12700">
            <a:miter lim="400000"/>
          </a:ln>
        </p:spPr>
      </p:pic>
      <p:pic>
        <p:nvPicPr>
          <p:cNvPr id="725" name="Picture 2" descr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7927" y="2062965"/>
            <a:ext cx="415528" cy="415528"/>
          </a:xfrm>
          <a:prstGeom prst="rect">
            <a:avLst/>
          </a:prstGeom>
          <a:ln w="12700">
            <a:miter lim="400000"/>
          </a:ln>
        </p:spPr>
      </p:pic>
      <p:pic>
        <p:nvPicPr>
          <p:cNvPr id="726" name="Picture 3" descr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836738" y="1392642"/>
            <a:ext cx="378620" cy="378620"/>
          </a:xfrm>
          <a:prstGeom prst="rect">
            <a:avLst/>
          </a:prstGeom>
          <a:ln w="12700">
            <a:miter lim="400000"/>
          </a:ln>
        </p:spPr>
      </p:pic>
      <p:pic>
        <p:nvPicPr>
          <p:cNvPr id="727" name="Picture 19" descr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0780" y="2199886"/>
            <a:ext cx="479822" cy="479822"/>
          </a:xfrm>
          <a:prstGeom prst="rect">
            <a:avLst/>
          </a:prstGeom>
          <a:ln w="12700">
            <a:miter lim="400000"/>
          </a:ln>
        </p:spPr>
      </p:pic>
      <p:sp>
        <p:nvSpPr>
          <p:cNvPr id="728" name="TextBox 9"/>
          <p:cNvSpPr txBox="1"/>
          <p:nvPr/>
        </p:nvSpPr>
        <p:spPr>
          <a:xfrm>
            <a:off x="2034398" y="2642798"/>
            <a:ext cx="38516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Alice</a:t>
            </a:r>
          </a:p>
        </p:txBody>
      </p:sp>
      <p:pic>
        <p:nvPicPr>
          <p:cNvPr id="729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86345" y="1671248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0" name="Picture 14" descr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3231" y="24462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1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2113" y="1671248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2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3488" y="2057010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3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4970" y="2064154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4" name="Picture 23" descr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6143" y="24462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5" name="Picture 26" descr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6087" y="25605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6" name="Picture 27" descr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8999" y="25605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7" name="Picture 28" descr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3231" y="2667673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8" name="Picture 29" descr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6143" y="2667673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9" name="Picture 30" descr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3231" y="2774829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0" name="Picture 31" descr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6143" y="2774829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1" name="Picture 5" descr="Picture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5851026" y="2735667"/>
            <a:ext cx="435662" cy="435662"/>
          </a:xfrm>
          <a:prstGeom prst="rect">
            <a:avLst/>
          </a:prstGeom>
          <a:ln w="12700">
            <a:miter lim="400000"/>
          </a:ln>
        </p:spPr>
      </p:pic>
      <p:sp>
        <p:nvSpPr>
          <p:cNvPr id="742" name="TextBox 33"/>
          <p:cNvSpPr txBox="1"/>
          <p:nvPr/>
        </p:nvSpPr>
        <p:spPr>
          <a:xfrm>
            <a:off x="5876892" y="1714111"/>
            <a:ext cx="32970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Bob</a:t>
            </a:r>
          </a:p>
        </p:txBody>
      </p:sp>
      <p:sp>
        <p:nvSpPr>
          <p:cNvPr id="743" name="TextBox 34"/>
          <p:cNvSpPr txBox="1"/>
          <p:nvPr/>
        </p:nvSpPr>
        <p:spPr>
          <a:xfrm>
            <a:off x="5787306" y="2428486"/>
            <a:ext cx="53745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Charlie</a:t>
            </a:r>
          </a:p>
        </p:txBody>
      </p:sp>
      <p:sp>
        <p:nvSpPr>
          <p:cNvPr id="744" name="TextBox 35"/>
          <p:cNvSpPr txBox="1"/>
          <p:nvPr/>
        </p:nvSpPr>
        <p:spPr>
          <a:xfrm>
            <a:off x="5824101" y="3114286"/>
            <a:ext cx="49244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Daniel</a:t>
            </a:r>
          </a:p>
        </p:txBody>
      </p:sp>
      <p:pic>
        <p:nvPicPr>
          <p:cNvPr id="751" name="Picture 52" descr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548" y="2004622"/>
            <a:ext cx="790466" cy="790553"/>
          </a:xfrm>
          <a:prstGeom prst="rect">
            <a:avLst/>
          </a:prstGeom>
          <a:ln w="12700">
            <a:miter lim="400000"/>
          </a:ln>
        </p:spPr>
      </p:pic>
      <p:sp>
        <p:nvSpPr>
          <p:cNvPr id="752" name="TextBox 54"/>
          <p:cNvSpPr txBox="1"/>
          <p:nvPr/>
        </p:nvSpPr>
        <p:spPr>
          <a:xfrm>
            <a:off x="2500175" y="2907117"/>
            <a:ext cx="122527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Physical machine</a:t>
            </a:r>
          </a:p>
        </p:txBody>
      </p:sp>
      <p:sp>
        <p:nvSpPr>
          <p:cNvPr id="753" name="TextBox 55"/>
          <p:cNvSpPr txBox="1"/>
          <p:nvPr/>
        </p:nvSpPr>
        <p:spPr>
          <a:xfrm>
            <a:off x="4473725" y="3197241"/>
            <a:ext cx="119295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 dirty="0"/>
              <a:t>Virtual machines</a:t>
            </a:r>
          </a:p>
        </p:txBody>
      </p:sp>
      <p:pic>
        <p:nvPicPr>
          <p:cNvPr id="758" name="Picture 51" descr="Picture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379" y="1397404"/>
            <a:ext cx="552391" cy="552452"/>
          </a:xfrm>
          <a:prstGeom prst="rect">
            <a:avLst/>
          </a:prstGeom>
          <a:ln w="12700">
            <a:miter lim="400000"/>
          </a:ln>
        </p:spPr>
      </p:pic>
      <p:sp>
        <p:nvSpPr>
          <p:cNvPr id="764" name="TextBox 59"/>
          <p:cNvSpPr txBox="1"/>
          <p:nvPr/>
        </p:nvSpPr>
        <p:spPr>
          <a:xfrm>
            <a:off x="3935851" y="1985573"/>
            <a:ext cx="639918" cy="646331"/>
          </a:xfrm>
          <a:prstGeom prst="rect">
            <a:avLst/>
          </a:prstGeom>
          <a:solidFill>
            <a:srgbClr val="00B0F0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/>
          <a:p>
            <a:pPr>
              <a:spcBef>
                <a:spcPts val="225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rPr sz="1200"/>
              <a:t>Virtual </a:t>
            </a:r>
            <a:br>
              <a:rPr sz="1200"/>
            </a:br>
            <a:r>
              <a:rPr sz="1200"/>
              <a:t>machine</a:t>
            </a:r>
            <a:br>
              <a:rPr sz="1200"/>
            </a:br>
            <a:r>
              <a:rPr sz="1200"/>
              <a:t>monitor</a:t>
            </a:r>
          </a:p>
        </p:txBody>
      </p:sp>
      <p:sp>
        <p:nvSpPr>
          <p:cNvPr id="765" name="Straight Arrow Connector 61"/>
          <p:cNvSpPr/>
          <p:nvPr/>
        </p:nvSpPr>
        <p:spPr>
          <a:xfrm flipV="1">
            <a:off x="3572170" y="2297198"/>
            <a:ext cx="330660" cy="9845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766" name="Straight Arrow Connector 64"/>
          <p:cNvSpPr/>
          <p:nvPr/>
        </p:nvSpPr>
        <p:spPr>
          <a:xfrm flipV="1">
            <a:off x="4615157" y="1864129"/>
            <a:ext cx="314326" cy="30718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767" name="Straight Arrow Connector 66"/>
          <p:cNvSpPr/>
          <p:nvPr/>
        </p:nvSpPr>
        <p:spPr>
          <a:xfrm>
            <a:off x="4608791" y="2297197"/>
            <a:ext cx="456423" cy="24133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768" name="Straight Arrow Connector 68"/>
          <p:cNvSpPr/>
          <p:nvPr/>
        </p:nvSpPr>
        <p:spPr>
          <a:xfrm>
            <a:off x="4622300" y="2449917"/>
            <a:ext cx="340575" cy="273905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grpSp>
        <p:nvGrpSpPr>
          <p:cNvPr id="774" name="Cloud Callout 69"/>
          <p:cNvGrpSpPr/>
          <p:nvPr/>
        </p:nvGrpSpPr>
        <p:grpSpPr>
          <a:xfrm>
            <a:off x="6136266" y="986924"/>
            <a:ext cx="600872" cy="561296"/>
            <a:chOff x="0" y="0"/>
            <a:chExt cx="801161" cy="748392"/>
          </a:xfrm>
        </p:grpSpPr>
        <p:sp>
          <p:nvSpPr>
            <p:cNvPr id="769" name="Shape"/>
            <p:cNvSpPr/>
            <p:nvPr/>
          </p:nvSpPr>
          <p:spPr>
            <a:xfrm>
              <a:off x="0" y="0"/>
              <a:ext cx="801162" cy="610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0" name="Circle"/>
            <p:cNvSpPr/>
            <p:nvPr/>
          </p:nvSpPr>
          <p:spPr>
            <a:xfrm>
              <a:off x="100949" y="558996"/>
              <a:ext cx="101601" cy="10160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1" name="Circle"/>
            <p:cNvSpPr/>
            <p:nvPr/>
          </p:nvSpPr>
          <p:spPr>
            <a:xfrm>
              <a:off x="57875" y="649912"/>
              <a:ext cx="67735" cy="6773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2" name="Circle"/>
            <p:cNvSpPr/>
            <p:nvPr/>
          </p:nvSpPr>
          <p:spPr>
            <a:xfrm>
              <a:off x="36136" y="714526"/>
              <a:ext cx="33867" cy="33867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3" name="Shape"/>
            <p:cNvSpPr/>
            <p:nvPr/>
          </p:nvSpPr>
          <p:spPr>
            <a:xfrm>
              <a:off x="40681" y="31057"/>
              <a:ext cx="734132" cy="518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</p:grpSp>
      <p:grpSp>
        <p:nvGrpSpPr>
          <p:cNvPr id="780" name="Cloud Callout 72"/>
          <p:cNvGrpSpPr/>
          <p:nvPr/>
        </p:nvGrpSpPr>
        <p:grpSpPr>
          <a:xfrm>
            <a:off x="6221991" y="1629861"/>
            <a:ext cx="600872" cy="561296"/>
            <a:chOff x="0" y="0"/>
            <a:chExt cx="801161" cy="748392"/>
          </a:xfrm>
        </p:grpSpPr>
        <p:sp>
          <p:nvSpPr>
            <p:cNvPr id="775" name="Shape"/>
            <p:cNvSpPr/>
            <p:nvPr/>
          </p:nvSpPr>
          <p:spPr>
            <a:xfrm>
              <a:off x="0" y="0"/>
              <a:ext cx="801162" cy="610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6" name="Circle"/>
            <p:cNvSpPr/>
            <p:nvPr/>
          </p:nvSpPr>
          <p:spPr>
            <a:xfrm>
              <a:off x="100949" y="558996"/>
              <a:ext cx="101601" cy="10160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7" name="Circle"/>
            <p:cNvSpPr/>
            <p:nvPr/>
          </p:nvSpPr>
          <p:spPr>
            <a:xfrm>
              <a:off x="57875" y="649912"/>
              <a:ext cx="67735" cy="6773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8" name="Circle"/>
            <p:cNvSpPr/>
            <p:nvPr/>
          </p:nvSpPr>
          <p:spPr>
            <a:xfrm>
              <a:off x="36136" y="714526"/>
              <a:ext cx="33867" cy="33867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9" name="Shape"/>
            <p:cNvSpPr/>
            <p:nvPr/>
          </p:nvSpPr>
          <p:spPr>
            <a:xfrm>
              <a:off x="40681" y="31057"/>
              <a:ext cx="734132" cy="518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</p:grpSp>
      <p:grpSp>
        <p:nvGrpSpPr>
          <p:cNvPr id="786" name="Cloud Callout 74"/>
          <p:cNvGrpSpPr/>
          <p:nvPr/>
        </p:nvGrpSpPr>
        <p:grpSpPr>
          <a:xfrm>
            <a:off x="6271998" y="2279942"/>
            <a:ext cx="600872" cy="561296"/>
            <a:chOff x="0" y="0"/>
            <a:chExt cx="801161" cy="748392"/>
          </a:xfrm>
        </p:grpSpPr>
        <p:sp>
          <p:nvSpPr>
            <p:cNvPr id="781" name="Shape"/>
            <p:cNvSpPr/>
            <p:nvPr/>
          </p:nvSpPr>
          <p:spPr>
            <a:xfrm>
              <a:off x="0" y="0"/>
              <a:ext cx="801162" cy="610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82" name="Circle"/>
            <p:cNvSpPr/>
            <p:nvPr/>
          </p:nvSpPr>
          <p:spPr>
            <a:xfrm>
              <a:off x="100949" y="558996"/>
              <a:ext cx="101601" cy="10160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83" name="Circle"/>
            <p:cNvSpPr/>
            <p:nvPr/>
          </p:nvSpPr>
          <p:spPr>
            <a:xfrm>
              <a:off x="57875" y="649912"/>
              <a:ext cx="67735" cy="6773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84" name="Circle"/>
            <p:cNvSpPr/>
            <p:nvPr/>
          </p:nvSpPr>
          <p:spPr>
            <a:xfrm>
              <a:off x="36136" y="714526"/>
              <a:ext cx="33867" cy="33867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85" name="Shape"/>
            <p:cNvSpPr/>
            <p:nvPr/>
          </p:nvSpPr>
          <p:spPr>
            <a:xfrm>
              <a:off x="40681" y="31057"/>
              <a:ext cx="734132" cy="518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</p:grpSp>
      <p:pic>
        <p:nvPicPr>
          <p:cNvPr id="787" name="Picture 60" descr="Picture 6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2507" y="1056886"/>
            <a:ext cx="321469" cy="321469"/>
          </a:xfrm>
          <a:prstGeom prst="rect">
            <a:avLst/>
          </a:prstGeom>
          <a:ln w="12700">
            <a:miter lim="400000"/>
          </a:ln>
        </p:spPr>
      </p:pic>
      <p:pic>
        <p:nvPicPr>
          <p:cNvPr id="788" name="Picture 62" descr="Picture 6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2520" y="1685536"/>
            <a:ext cx="321469" cy="321469"/>
          </a:xfrm>
          <a:prstGeom prst="rect">
            <a:avLst/>
          </a:prstGeom>
          <a:ln w="12700">
            <a:miter lim="400000"/>
          </a:ln>
        </p:spPr>
      </p:pic>
      <p:pic>
        <p:nvPicPr>
          <p:cNvPr id="789" name="Picture 63" descr="Picture 6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8239" y="2349904"/>
            <a:ext cx="321469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Title 1">
            <a:extLst>
              <a:ext uri="{FF2B5EF4-FFF2-40B4-BE49-F238E27FC236}">
                <a16:creationId xmlns:a16="http://schemas.microsoft.com/office/drawing/2014/main" id="{92E55797-DCEF-4021-886B-EEB8F18BD8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6333" y="93914"/>
            <a:ext cx="7886700" cy="7439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AU" sz="2800" b="1" dirty="0"/>
              <a:t>CPU Virtualization: time multiplexing</a:t>
            </a:r>
            <a:endParaRPr sz="2800" b="1" dirty="0"/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76F54E32-6B9E-4C8C-ADC2-B6B214C4E533}"/>
              </a:ext>
            </a:extLst>
          </p:cNvPr>
          <p:cNvSpPr txBox="1">
            <a:spLocks/>
          </p:cNvSpPr>
          <p:nvPr/>
        </p:nvSpPr>
        <p:spPr>
          <a:xfrm>
            <a:off x="286333" y="5679219"/>
            <a:ext cx="8048819" cy="1991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4063" lvl="1" indent="-168020" defTabSz="672083" fontAlgn="auto">
              <a:lnSpc>
                <a:spcPct val="81000"/>
              </a:lnSpc>
              <a:spcBef>
                <a:spcPts val="300"/>
              </a:spcBef>
              <a:spcAft>
                <a:spcPts val="0"/>
              </a:spcAft>
              <a:buClrTx/>
              <a:buSzTx/>
              <a:defRPr sz="2156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75118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Title 1"/>
          <p:cNvSpPr txBox="1">
            <a:spLocks noGrp="1"/>
          </p:cNvSpPr>
          <p:nvPr>
            <p:ph type="title"/>
          </p:nvPr>
        </p:nvSpPr>
        <p:spPr>
          <a:xfrm>
            <a:off x="289882" y="396643"/>
            <a:ext cx="6620671" cy="96066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900"/>
            </a:lvl1pPr>
          </a:lstStyle>
          <a:p>
            <a:r>
              <a:rPr lang="en-AU" sz="3200" b="1" dirty="0"/>
              <a:t>The benefits of virtualization</a:t>
            </a:r>
            <a:endParaRPr sz="3200" b="1" dirty="0"/>
          </a:p>
        </p:txBody>
      </p:sp>
      <p:sp>
        <p:nvSpPr>
          <p:cNvPr id="108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350214" y="1370142"/>
            <a:ext cx="8443571" cy="411771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81000"/>
              </a:lnSpc>
              <a:defRPr sz="2500"/>
            </a:pPr>
            <a:r>
              <a:rPr lang="en-AU" sz="2000" b="1" dirty="0"/>
              <a:t>Flexible</a:t>
            </a:r>
            <a:r>
              <a:rPr sz="2000" dirty="0"/>
              <a:t> </a:t>
            </a:r>
            <a:r>
              <a:rPr lang="en-AU" sz="2000" dirty="0"/>
              <a:t>to </a:t>
            </a:r>
            <a:r>
              <a:rPr sz="2000" dirty="0"/>
              <a:t>cloud provide</a:t>
            </a:r>
            <a:r>
              <a:rPr lang="en-AU" sz="2000" dirty="0" err="1"/>
              <a:t>rs</a:t>
            </a:r>
            <a:endParaRPr lang="en-AU" sz="2000" dirty="0"/>
          </a:p>
          <a:p>
            <a:pPr>
              <a:lnSpc>
                <a:spcPct val="81000"/>
              </a:lnSpc>
              <a:defRPr sz="2500"/>
            </a:pPr>
            <a:endParaRPr sz="2000" dirty="0"/>
          </a:p>
          <a:p>
            <a:pPr>
              <a:lnSpc>
                <a:spcPct val="81000"/>
              </a:lnSpc>
              <a:defRPr sz="2500"/>
            </a:pPr>
            <a:r>
              <a:rPr lang="en-AU" sz="2000" b="1" dirty="0"/>
              <a:t>Secure</a:t>
            </a:r>
            <a:r>
              <a:rPr lang="en-AU" sz="2000" dirty="0"/>
              <a:t> to</a:t>
            </a:r>
            <a:r>
              <a:rPr sz="2000" dirty="0"/>
              <a:t> </a:t>
            </a:r>
            <a:r>
              <a:rPr lang="en-AU" sz="2000" dirty="0"/>
              <a:t>VM users</a:t>
            </a:r>
          </a:p>
          <a:p>
            <a:pPr>
              <a:lnSpc>
                <a:spcPct val="81000"/>
              </a:lnSpc>
              <a:defRPr sz="2500"/>
            </a:pPr>
            <a:endParaRPr sz="2000" dirty="0"/>
          </a:p>
          <a:p>
            <a:pPr>
              <a:lnSpc>
                <a:spcPct val="81000"/>
              </a:lnSpc>
              <a:defRPr sz="2500"/>
            </a:pPr>
            <a:r>
              <a:rPr sz="2000" b="1" dirty="0"/>
              <a:t>Convenient</a:t>
            </a:r>
            <a:r>
              <a:rPr sz="2000" dirty="0"/>
              <a:t> </a:t>
            </a:r>
            <a:r>
              <a:rPr lang="en-AU" sz="2000" dirty="0"/>
              <a:t>to</a:t>
            </a:r>
            <a:r>
              <a:rPr sz="2000" dirty="0"/>
              <a:t> </a:t>
            </a:r>
            <a:r>
              <a:rPr lang="en-AU" sz="2000" dirty="0"/>
              <a:t>VM users</a:t>
            </a:r>
            <a:endParaRPr sz="2000" dirty="0"/>
          </a:p>
          <a:p>
            <a:pPr marL="342900" lvl="1" indent="0">
              <a:lnSpc>
                <a:spcPct val="81000"/>
              </a:lnSpc>
              <a:buNone/>
              <a:defRPr sz="2200"/>
            </a:pPr>
            <a:endParaRPr sz="2000" dirty="0"/>
          </a:p>
          <a:p>
            <a:pPr>
              <a:lnSpc>
                <a:spcPct val="81000"/>
              </a:lnSpc>
              <a:defRPr sz="2500"/>
            </a:pPr>
            <a:r>
              <a:rPr sz="2000" b="1" dirty="0"/>
              <a:t>But</a:t>
            </a:r>
            <a:r>
              <a:rPr lang="en-AU" sz="2000" b="1" dirty="0"/>
              <a:t> there might be performance impacts</a:t>
            </a:r>
            <a:endParaRPr sz="2000" b="1" dirty="0"/>
          </a:p>
          <a:p>
            <a:pPr lvl="1">
              <a:lnSpc>
                <a:spcPct val="81000"/>
              </a:lnSpc>
              <a:defRPr sz="2200"/>
            </a:pPr>
            <a:r>
              <a:rPr sz="2000" dirty="0"/>
              <a:t>Load changes in </a:t>
            </a:r>
            <a:r>
              <a:rPr lang="en-AU" sz="2000" dirty="0"/>
              <a:t>one</a:t>
            </a:r>
            <a:r>
              <a:rPr sz="2000" dirty="0"/>
              <a:t> VM may affect the performance </a:t>
            </a:r>
            <a:r>
              <a:rPr lang="en-AU" sz="2000" dirty="0"/>
              <a:t>of another VM </a:t>
            </a:r>
            <a:r>
              <a:rPr lang="en-US" sz="2000" dirty="0"/>
              <a:t>on the same physical machine</a:t>
            </a:r>
          </a:p>
          <a:p>
            <a:pPr lvl="2">
              <a:lnSpc>
                <a:spcPct val="81000"/>
              </a:lnSpc>
              <a:defRPr sz="2200"/>
            </a:pPr>
            <a:r>
              <a:rPr lang="en-US" sz="2000" dirty="0"/>
              <a:t>e.g., Bob is allowed to increase his vCPUs from 8 to 16. 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710688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00" y="133129"/>
            <a:ext cx="7886700" cy="1187671"/>
          </a:xfrm>
        </p:spPr>
        <p:txBody>
          <a:bodyPr/>
          <a:lstStyle/>
          <a:p>
            <a:r>
              <a:rPr lang="en-US" b="1" dirty="0"/>
              <a:t>Amazon: the pioneer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1567546"/>
            <a:ext cx="7886700" cy="4623707"/>
          </a:xfrm>
        </p:spPr>
        <p:txBody>
          <a:bodyPr>
            <a:normAutofit/>
          </a:bodyPr>
          <a:lstStyle/>
          <a:p>
            <a:r>
              <a:rPr lang="en-US" sz="2000" dirty="0"/>
              <a:t>Jul</a:t>
            </a:r>
            <a:r>
              <a:rPr lang="en-US" sz="2000" b="1" dirty="0"/>
              <a:t> 2002</a:t>
            </a:r>
            <a:r>
              <a:rPr lang="en-US" sz="2000" dirty="0"/>
              <a:t>: Amazon Web Services launched</a:t>
            </a:r>
          </a:p>
          <a:p>
            <a:r>
              <a:rPr lang="en-US" sz="2000" dirty="0"/>
              <a:t>Mar 2006: </a:t>
            </a:r>
            <a:r>
              <a:rPr lang="en-AU" sz="2000" dirty="0"/>
              <a:t>Amazon S3 (Simple Storage Service) </a:t>
            </a:r>
            <a:r>
              <a:rPr lang="en-US" sz="2000" dirty="0"/>
              <a:t>launched</a:t>
            </a:r>
          </a:p>
          <a:p>
            <a:pPr lvl="1"/>
            <a:r>
              <a:rPr lang="en-US" sz="2000" dirty="0"/>
              <a:t>Proposed the ‘pay-per-use’ business model</a:t>
            </a:r>
          </a:p>
          <a:p>
            <a:r>
              <a:rPr lang="en-US" sz="2000" dirty="0"/>
              <a:t>Aug 2006: </a:t>
            </a:r>
            <a:r>
              <a:rPr lang="en-AU" sz="2000" dirty="0"/>
              <a:t>Amazon EC2 (Elastic Compute Cloud) </a:t>
            </a:r>
            <a:r>
              <a:rPr lang="en-US" sz="2000" dirty="0"/>
              <a:t>launched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3C02F9-0AE7-47D4-BA22-95D3A1AF09E9}"/>
              </a:ext>
            </a:extLst>
          </p:cNvPr>
          <p:cNvSpPr txBox="1">
            <a:spLocks/>
          </p:cNvSpPr>
          <p:nvPr/>
        </p:nvSpPr>
        <p:spPr>
          <a:xfrm>
            <a:off x="376382" y="3482436"/>
            <a:ext cx="7886700" cy="18360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US" sz="2000" dirty="0"/>
              <a:t>Nov</a:t>
            </a:r>
            <a:r>
              <a:rPr lang="en-US" sz="2000" b="1" dirty="0"/>
              <a:t> 2009: </a:t>
            </a:r>
            <a:r>
              <a:rPr lang="en-US" sz="2000" dirty="0"/>
              <a:t>Microsoft Azure Beta launched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US" sz="2000" dirty="0"/>
              <a:t>Microsoft’s online services are gradually transitioning to Azure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000" dirty="0"/>
              <a:t>Dec</a:t>
            </a:r>
            <a:r>
              <a:rPr lang="en-US" sz="2000" b="1" dirty="0"/>
              <a:t> 2013: </a:t>
            </a:r>
            <a:r>
              <a:rPr lang="en-US" sz="2000" dirty="0"/>
              <a:t>Google Compute Engine launched</a:t>
            </a:r>
          </a:p>
          <a:p>
            <a:pPr lvl="1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Title 1"/>
          <p:cNvSpPr txBox="1">
            <a:spLocks noGrp="1"/>
          </p:cNvSpPr>
          <p:nvPr>
            <p:ph type="title"/>
          </p:nvPr>
        </p:nvSpPr>
        <p:spPr>
          <a:xfrm>
            <a:off x="370743" y="118571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AU" b="1" dirty="0"/>
              <a:t>What services does a cloud provide?</a:t>
            </a:r>
            <a:endParaRPr b="1" dirty="0"/>
          </a:p>
        </p:txBody>
      </p:sp>
      <p:sp>
        <p:nvSpPr>
          <p:cNvPr id="431" name="Content Placeholder 2"/>
          <p:cNvSpPr txBox="1">
            <a:spLocks noGrp="1"/>
          </p:cNvSpPr>
          <p:nvPr>
            <p:ph idx="1"/>
          </p:nvPr>
        </p:nvSpPr>
        <p:spPr>
          <a:xfrm>
            <a:off x="157528" y="995986"/>
            <a:ext cx="8757871" cy="486602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1" indent="0">
              <a:lnSpc>
                <a:spcPct val="81000"/>
              </a:lnSpc>
              <a:buNone/>
              <a:defRPr sz="2200"/>
            </a:pPr>
            <a:endParaRPr dirty="0"/>
          </a:p>
          <a:p>
            <a:pPr>
              <a:lnSpc>
                <a:spcPct val="81000"/>
              </a:lnSpc>
              <a:defRPr sz="2500"/>
            </a:pPr>
            <a:r>
              <a:rPr dirty="0"/>
              <a:t>Three </a:t>
            </a:r>
            <a:r>
              <a:rPr lang="en-AU" dirty="0"/>
              <a:t>common </a:t>
            </a:r>
            <a:r>
              <a:rPr dirty="0"/>
              <a:t>types </a:t>
            </a:r>
            <a:r>
              <a:rPr lang="en-AU" dirty="0"/>
              <a:t>of cloud services</a:t>
            </a:r>
            <a:r>
              <a:rPr dirty="0"/>
              <a:t>:</a:t>
            </a:r>
          </a:p>
          <a:p>
            <a:pPr lvl="1">
              <a:lnSpc>
                <a:spcPct val="81000"/>
              </a:lnSpc>
              <a:defRPr sz="2200"/>
            </a:pPr>
            <a:r>
              <a:rPr b="1" dirty="0"/>
              <a:t>Software as a service</a:t>
            </a:r>
            <a:r>
              <a:rPr dirty="0"/>
              <a:t> (SaaS)</a:t>
            </a:r>
          </a:p>
          <a:p>
            <a:pPr lvl="2">
              <a:lnSpc>
                <a:spcPct val="81000"/>
              </a:lnSpc>
              <a:defRPr sz="1800"/>
            </a:pPr>
            <a:r>
              <a:rPr lang="en-US" sz="2400" dirty="0"/>
              <a:t>SaaS delivers functional software on a subscription basis</a:t>
            </a:r>
            <a:r>
              <a:rPr sz="2200" dirty="0"/>
              <a:t>.</a:t>
            </a:r>
          </a:p>
          <a:p>
            <a:pPr marL="685783" lvl="2" indent="0">
              <a:lnSpc>
                <a:spcPct val="81000"/>
              </a:lnSpc>
              <a:buNone/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2121835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Title 1"/>
          <p:cNvSpPr txBox="1">
            <a:spLocks noGrp="1"/>
          </p:cNvSpPr>
          <p:nvPr>
            <p:ph type="title"/>
          </p:nvPr>
        </p:nvSpPr>
        <p:spPr>
          <a:xfrm>
            <a:off x="441081" y="330745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b="1" dirty="0"/>
              <a:t>Software as a Service (SaaS)</a:t>
            </a:r>
          </a:p>
        </p:txBody>
      </p:sp>
      <p:sp>
        <p:nvSpPr>
          <p:cNvPr id="435" name="Content Placeholder 2"/>
          <p:cNvSpPr txBox="1">
            <a:spLocks noGrp="1"/>
          </p:cNvSpPr>
          <p:nvPr>
            <p:ph idx="1"/>
          </p:nvPr>
        </p:nvSpPr>
        <p:spPr>
          <a:xfrm>
            <a:off x="1273731" y="4273046"/>
            <a:ext cx="7423231" cy="16202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169730" indent="-169730" defTabSz="678924">
              <a:spcBef>
                <a:spcPts val="675"/>
              </a:spcBef>
              <a:defRPr sz="2772"/>
            </a:pPr>
            <a:r>
              <a:rPr sz="2200" dirty="0"/>
              <a:t>Cloud provides an entire application</a:t>
            </a:r>
          </a:p>
          <a:p>
            <a:pPr marL="509194" lvl="1" indent="-169730" defTabSz="678924">
              <a:spcBef>
                <a:spcPts val="300"/>
              </a:spcBef>
              <a:defRPr sz="2376"/>
            </a:pPr>
            <a:r>
              <a:rPr lang="en-AU" sz="2200" dirty="0"/>
              <a:t>Email</a:t>
            </a:r>
            <a:r>
              <a:rPr sz="2200" dirty="0"/>
              <a:t>,</a:t>
            </a:r>
            <a:r>
              <a:rPr lang="en-AU" sz="2200" dirty="0"/>
              <a:t> Drive</a:t>
            </a:r>
            <a:r>
              <a:rPr sz="2200" dirty="0"/>
              <a:t>, </a:t>
            </a:r>
            <a:r>
              <a:rPr lang="en-AU" sz="2200" dirty="0"/>
              <a:t>Doc</a:t>
            </a:r>
            <a:r>
              <a:rPr sz="2200" dirty="0"/>
              <a:t>, </a:t>
            </a:r>
            <a:r>
              <a:rPr lang="en-AU" sz="2200" dirty="0"/>
              <a:t>Slides,</a:t>
            </a:r>
            <a:r>
              <a:rPr sz="2200" dirty="0"/>
              <a:t>...</a:t>
            </a:r>
          </a:p>
          <a:p>
            <a:pPr marL="509194" lvl="1" indent="-169730" defTabSz="678924">
              <a:spcBef>
                <a:spcPts val="300"/>
              </a:spcBef>
              <a:defRPr sz="2376"/>
            </a:pPr>
            <a:r>
              <a:rPr sz="2200" dirty="0"/>
              <a:t>Example: Google </a:t>
            </a:r>
            <a:r>
              <a:rPr lang="en-AU" sz="2200" dirty="0"/>
              <a:t>Workspace</a:t>
            </a:r>
            <a:endParaRPr sz="2200" dirty="0"/>
          </a:p>
        </p:txBody>
      </p:sp>
      <p:pic>
        <p:nvPicPr>
          <p:cNvPr id="437" name="Picture 3" descr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165" y="2663325"/>
            <a:ext cx="401241" cy="40124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43" name="Group 39"/>
          <p:cNvGrpSpPr/>
          <p:nvPr/>
        </p:nvGrpSpPr>
        <p:grpSpPr>
          <a:xfrm>
            <a:off x="2061122" y="2393374"/>
            <a:ext cx="1526372" cy="1085507"/>
            <a:chOff x="0" y="0"/>
            <a:chExt cx="2035162" cy="1447341"/>
          </a:xfrm>
        </p:grpSpPr>
        <p:sp>
          <p:nvSpPr>
            <p:cNvPr id="439" name="Cloud"/>
            <p:cNvSpPr/>
            <p:nvPr/>
          </p:nvSpPr>
          <p:spPr>
            <a:xfrm rot="268469">
              <a:off x="47753" y="73680"/>
              <a:ext cx="1939656" cy="12999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599" extrusionOk="0">
                  <a:moveTo>
                    <a:pt x="1949" y="7181"/>
                  </a:moveTo>
                  <a:cubicBezTo>
                    <a:pt x="841" y="7337"/>
                    <a:pt x="0" y="8614"/>
                    <a:pt x="0" y="10138"/>
                  </a:cubicBezTo>
                  <a:cubicBezTo>
                    <a:pt x="-1" y="11193"/>
                    <a:pt x="409" y="12170"/>
                    <a:pt x="1074" y="12703"/>
                  </a:cubicBezTo>
                  <a:lnTo>
                    <a:pt x="1063" y="12669"/>
                  </a:lnTo>
                  <a:cubicBezTo>
                    <a:pt x="685" y="13218"/>
                    <a:pt x="475" y="13941"/>
                    <a:pt x="475" y="14691"/>
                  </a:cubicBezTo>
                  <a:cubicBezTo>
                    <a:pt x="475" y="16327"/>
                    <a:pt x="1451" y="17652"/>
                    <a:pt x="2655" y="17652"/>
                  </a:cubicBezTo>
                  <a:cubicBezTo>
                    <a:pt x="2739" y="17652"/>
                    <a:pt x="2824" y="17645"/>
                    <a:pt x="2909" y="17631"/>
                  </a:cubicBezTo>
                  <a:lnTo>
                    <a:pt x="2897" y="17651"/>
                  </a:lnTo>
                  <a:cubicBezTo>
                    <a:pt x="3585" y="19290"/>
                    <a:pt x="4863" y="20302"/>
                    <a:pt x="6248" y="20302"/>
                  </a:cubicBezTo>
                  <a:cubicBezTo>
                    <a:pt x="6948" y="20301"/>
                    <a:pt x="7636" y="20041"/>
                    <a:pt x="8236" y="19548"/>
                  </a:cubicBezTo>
                  <a:lnTo>
                    <a:pt x="8230" y="19552"/>
                  </a:lnTo>
                  <a:cubicBezTo>
                    <a:pt x="8856" y="20831"/>
                    <a:pt x="9909" y="21599"/>
                    <a:pt x="11037" y="21599"/>
                  </a:cubicBezTo>
                  <a:cubicBezTo>
                    <a:pt x="12524" y="21598"/>
                    <a:pt x="13837" y="20269"/>
                    <a:pt x="14268" y="18326"/>
                  </a:cubicBezTo>
                  <a:lnTo>
                    <a:pt x="14271" y="18352"/>
                  </a:lnTo>
                  <a:cubicBezTo>
                    <a:pt x="14731" y="18742"/>
                    <a:pt x="15261" y="18949"/>
                    <a:pt x="15803" y="18949"/>
                  </a:cubicBezTo>
                  <a:cubicBezTo>
                    <a:pt x="17392" y="18948"/>
                    <a:pt x="18684" y="17207"/>
                    <a:pt x="18696" y="15046"/>
                  </a:cubicBezTo>
                  <a:lnTo>
                    <a:pt x="18691" y="15036"/>
                  </a:lnTo>
                  <a:cubicBezTo>
                    <a:pt x="20359" y="14711"/>
                    <a:pt x="21599" y="12766"/>
                    <a:pt x="21599" y="10473"/>
                  </a:cubicBezTo>
                  <a:cubicBezTo>
                    <a:pt x="21599" y="9457"/>
                    <a:pt x="21352" y="8470"/>
                    <a:pt x="20898" y="7664"/>
                  </a:cubicBezTo>
                  <a:lnTo>
                    <a:pt x="20891" y="7662"/>
                  </a:lnTo>
                  <a:cubicBezTo>
                    <a:pt x="21033" y="7209"/>
                    <a:pt x="21107" y="6722"/>
                    <a:pt x="21107" y="6229"/>
                  </a:cubicBezTo>
                  <a:cubicBezTo>
                    <a:pt x="21107" y="4588"/>
                    <a:pt x="20301" y="3150"/>
                    <a:pt x="19141" y="2719"/>
                  </a:cubicBezTo>
                  <a:lnTo>
                    <a:pt x="19150" y="2712"/>
                  </a:lnTo>
                  <a:cubicBezTo>
                    <a:pt x="18942" y="1142"/>
                    <a:pt x="17935" y="0"/>
                    <a:pt x="16760" y="0"/>
                  </a:cubicBezTo>
                  <a:cubicBezTo>
                    <a:pt x="16045" y="-1"/>
                    <a:pt x="15368" y="426"/>
                    <a:pt x="14906" y="1165"/>
                  </a:cubicBezTo>
                  <a:lnTo>
                    <a:pt x="14910" y="1170"/>
                  </a:lnTo>
                  <a:cubicBezTo>
                    <a:pt x="14498" y="432"/>
                    <a:pt x="13856" y="0"/>
                    <a:pt x="13175" y="0"/>
                  </a:cubicBezTo>
                  <a:cubicBezTo>
                    <a:pt x="12348" y="-1"/>
                    <a:pt x="11591" y="637"/>
                    <a:pt x="11222" y="1645"/>
                  </a:cubicBezTo>
                  <a:lnTo>
                    <a:pt x="11230" y="1694"/>
                  </a:lnTo>
                  <a:cubicBezTo>
                    <a:pt x="10731" y="1024"/>
                    <a:pt x="10059" y="650"/>
                    <a:pt x="9359" y="650"/>
                  </a:cubicBezTo>
                  <a:cubicBezTo>
                    <a:pt x="8373" y="649"/>
                    <a:pt x="7467" y="1391"/>
                    <a:pt x="7004" y="2578"/>
                  </a:cubicBezTo>
                  <a:lnTo>
                    <a:pt x="6996" y="2602"/>
                  </a:lnTo>
                  <a:cubicBezTo>
                    <a:pt x="6478" y="2189"/>
                    <a:pt x="5889" y="1972"/>
                    <a:pt x="5288" y="1972"/>
                  </a:cubicBezTo>
                  <a:cubicBezTo>
                    <a:pt x="3423" y="1972"/>
                    <a:pt x="1912" y="4029"/>
                    <a:pt x="1912" y="6568"/>
                  </a:cubicBezTo>
                  <a:cubicBezTo>
                    <a:pt x="1911" y="6775"/>
                    <a:pt x="1922" y="6982"/>
                    <a:pt x="1942" y="7187"/>
                  </a:cubicBezTo>
                  <a:close/>
                </a:path>
              </a:pathLst>
            </a:custGeom>
            <a:solidFill>
              <a:srgbClr val="FFBE7D"/>
            </a:solidFill>
            <a:ln w="12700" cap="flat">
              <a:noFill/>
              <a:miter lim="400000"/>
            </a:ln>
            <a:effectLst>
              <a:outerShdw blurRad="50800" dist="50800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34289" tIns="34289" rIns="34289" bIns="3428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pic>
          <p:nvPicPr>
            <p:cNvPr id="440" name="Picture 51" descr="Picture 5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7498" y="322926"/>
              <a:ext cx="736520" cy="736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1" name="Picture 51" descr="Picture 5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7015" y="332451"/>
              <a:ext cx="736521" cy="736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2" name="Picture 51" descr="Picture 5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6533" y="341976"/>
              <a:ext cx="736520" cy="736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44" name="TextBox 13"/>
          <p:cNvSpPr txBox="1"/>
          <p:nvPr/>
        </p:nvSpPr>
        <p:spPr>
          <a:xfrm>
            <a:off x="992348" y="2292060"/>
            <a:ext cx="1194571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>
            <a:spAutoFit/>
          </a:bodyPr>
          <a:lstStyle/>
          <a:p>
            <a:pPr>
              <a:spcBef>
                <a:spcPts val="225"/>
              </a:spcBef>
              <a:defRPr sz="1400">
                <a:latin typeface="Tahoma"/>
                <a:ea typeface="Tahoma"/>
                <a:cs typeface="Tahoma"/>
                <a:sym typeface="Tahoma"/>
              </a:defRPr>
            </a:pPr>
            <a:r>
              <a:rPr lang="en-AU" sz="1500" dirty="0">
                <a:latin typeface="+mn-lt"/>
              </a:rPr>
              <a:t>SaaS </a:t>
            </a:r>
            <a:r>
              <a:rPr sz="1500" dirty="0">
                <a:latin typeface="+mn-lt"/>
              </a:rPr>
              <a:t>provider</a:t>
            </a:r>
          </a:p>
        </p:txBody>
      </p:sp>
      <p:grpSp>
        <p:nvGrpSpPr>
          <p:cNvPr id="448" name="Rectangle 15"/>
          <p:cNvGrpSpPr/>
          <p:nvPr/>
        </p:nvGrpSpPr>
        <p:grpSpPr>
          <a:xfrm>
            <a:off x="4730593" y="3034409"/>
            <a:ext cx="1800227" cy="300080"/>
            <a:chOff x="0" y="-1932"/>
            <a:chExt cx="2400300" cy="400107"/>
          </a:xfrm>
        </p:grpSpPr>
        <p:sp>
          <p:nvSpPr>
            <p:cNvPr id="446" name="Rectangle"/>
            <p:cNvSpPr/>
            <p:nvPr/>
          </p:nvSpPr>
          <p:spPr>
            <a:xfrm>
              <a:off x="0" y="2857"/>
              <a:ext cx="2400300" cy="390526"/>
            </a:xfrm>
            <a:prstGeom prst="rect">
              <a:avLst/>
            </a:prstGeom>
            <a:solidFill>
              <a:srgbClr val="0070C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447" name="Hardware"/>
            <p:cNvSpPr txBox="1"/>
            <p:nvPr/>
          </p:nvSpPr>
          <p:spPr>
            <a:xfrm>
              <a:off x="0" y="-1932"/>
              <a:ext cx="2400300" cy="4001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500" dirty="0">
                  <a:latin typeface="+mn-lt"/>
                </a:rPr>
                <a:t>Hardware</a:t>
              </a:r>
            </a:p>
          </p:txBody>
        </p:sp>
      </p:grpSp>
      <p:grpSp>
        <p:nvGrpSpPr>
          <p:cNvPr id="451" name="Rectangle 17"/>
          <p:cNvGrpSpPr/>
          <p:nvPr/>
        </p:nvGrpSpPr>
        <p:grpSpPr>
          <a:xfrm>
            <a:off x="4730593" y="2655790"/>
            <a:ext cx="1800227" cy="300080"/>
            <a:chOff x="0" y="-1932"/>
            <a:chExt cx="2400300" cy="400107"/>
          </a:xfrm>
        </p:grpSpPr>
        <p:sp>
          <p:nvSpPr>
            <p:cNvPr id="449" name="Rectangle"/>
            <p:cNvSpPr/>
            <p:nvPr/>
          </p:nvSpPr>
          <p:spPr>
            <a:xfrm>
              <a:off x="0" y="2857"/>
              <a:ext cx="2400300" cy="390526"/>
            </a:xfrm>
            <a:prstGeom prst="rect">
              <a:avLst/>
            </a:prstGeom>
            <a:solidFill>
              <a:srgbClr val="0070C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450" name="Middleware"/>
            <p:cNvSpPr txBox="1"/>
            <p:nvPr/>
          </p:nvSpPr>
          <p:spPr>
            <a:xfrm>
              <a:off x="0" y="-1932"/>
              <a:ext cx="2400300" cy="4001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500" dirty="0">
                  <a:latin typeface="+mn-lt"/>
                </a:rPr>
                <a:t>Middleware</a:t>
              </a:r>
            </a:p>
          </p:txBody>
        </p:sp>
      </p:grpSp>
      <p:grpSp>
        <p:nvGrpSpPr>
          <p:cNvPr id="454" name="Rectangle 18"/>
          <p:cNvGrpSpPr/>
          <p:nvPr/>
        </p:nvGrpSpPr>
        <p:grpSpPr>
          <a:xfrm>
            <a:off x="4730593" y="2280764"/>
            <a:ext cx="1800227" cy="311163"/>
            <a:chOff x="0" y="2857"/>
            <a:chExt cx="2400300" cy="414884"/>
          </a:xfrm>
        </p:grpSpPr>
        <p:sp>
          <p:nvSpPr>
            <p:cNvPr id="452" name="Rectangle"/>
            <p:cNvSpPr/>
            <p:nvPr/>
          </p:nvSpPr>
          <p:spPr>
            <a:xfrm>
              <a:off x="0" y="2857"/>
              <a:ext cx="2400300" cy="390526"/>
            </a:xfrm>
            <a:prstGeom prst="rect">
              <a:avLst/>
            </a:prstGeom>
            <a:solidFill>
              <a:srgbClr val="FFC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453" name="Application"/>
            <p:cNvSpPr txBox="1"/>
            <p:nvPr/>
          </p:nvSpPr>
          <p:spPr>
            <a:xfrm>
              <a:off x="0" y="17634"/>
              <a:ext cx="2400300" cy="4001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500" dirty="0">
                  <a:latin typeface="+mn-lt"/>
                </a:rPr>
                <a:t>Application</a:t>
              </a:r>
            </a:p>
          </p:txBody>
        </p:sp>
      </p:grpSp>
      <p:sp>
        <p:nvSpPr>
          <p:cNvPr id="455" name="Oval 19"/>
          <p:cNvSpPr/>
          <p:nvPr/>
        </p:nvSpPr>
        <p:spPr>
          <a:xfrm>
            <a:off x="4223387" y="2023590"/>
            <a:ext cx="2778920" cy="1564483"/>
          </a:xfrm>
          <a:prstGeom prst="ellipse">
            <a:avLst/>
          </a:prstGeom>
          <a:ln w="19050">
            <a:solidFill>
              <a:srgbClr val="000000"/>
            </a:solidFill>
            <a:prstDash val="dash"/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sp>
        <p:nvSpPr>
          <p:cNvPr id="456" name="Straight Connector 21"/>
          <p:cNvSpPr/>
          <p:nvPr/>
        </p:nvSpPr>
        <p:spPr>
          <a:xfrm flipV="1">
            <a:off x="3323274" y="2159319"/>
            <a:ext cx="1507332" cy="550071"/>
          </a:xfrm>
          <a:prstGeom prst="line">
            <a:avLst/>
          </a:prstGeom>
          <a:solidFill>
            <a:schemeClr val="accent1"/>
          </a:solidFill>
          <a:ln w="19050">
            <a:solidFill>
              <a:srgbClr val="000000"/>
            </a:solidFill>
            <a:prstDash val="sysDash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457" name="Straight Connector 22"/>
          <p:cNvSpPr/>
          <p:nvPr/>
        </p:nvSpPr>
        <p:spPr>
          <a:xfrm>
            <a:off x="3337561" y="3059431"/>
            <a:ext cx="1843088" cy="492920"/>
          </a:xfrm>
          <a:prstGeom prst="line">
            <a:avLst/>
          </a:prstGeom>
          <a:solidFill>
            <a:schemeClr val="accent1"/>
          </a:solidFill>
          <a:ln w="19050">
            <a:solidFill>
              <a:srgbClr val="000000"/>
            </a:solidFill>
            <a:prstDash val="sysDash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458" name="Straight Arrow Connector 26"/>
          <p:cNvSpPr/>
          <p:nvPr/>
        </p:nvSpPr>
        <p:spPr>
          <a:xfrm flipH="1">
            <a:off x="5465803" y="1874163"/>
            <a:ext cx="1192" cy="40005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459" name="Straight Arrow Connector 27"/>
          <p:cNvSpPr/>
          <p:nvPr/>
        </p:nvSpPr>
        <p:spPr>
          <a:xfrm flipH="1">
            <a:off x="5744408" y="1881307"/>
            <a:ext cx="1192" cy="400052"/>
          </a:xfrm>
          <a:prstGeom prst="line">
            <a:avLst/>
          </a:prstGeom>
          <a:ln w="19050">
            <a:solidFill>
              <a:srgbClr val="000000"/>
            </a:solidFill>
            <a:headEnd type="triangle"/>
          </a:ln>
        </p:spPr>
        <p:txBody>
          <a:bodyPr lIns="34289" rIns="34289"/>
          <a:lstStyle/>
          <a:p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184789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Title 1"/>
          <p:cNvSpPr txBox="1">
            <a:spLocks noGrp="1"/>
          </p:cNvSpPr>
          <p:nvPr>
            <p:ph type="title"/>
          </p:nvPr>
        </p:nvSpPr>
        <p:spPr>
          <a:xfrm>
            <a:off x="370743" y="118571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AU" b="1" dirty="0"/>
              <a:t>What services does a cloud provide?</a:t>
            </a:r>
            <a:endParaRPr b="1" dirty="0"/>
          </a:p>
        </p:txBody>
      </p:sp>
      <p:sp>
        <p:nvSpPr>
          <p:cNvPr id="431" name="Content Placeholder 2"/>
          <p:cNvSpPr txBox="1">
            <a:spLocks noGrp="1"/>
          </p:cNvSpPr>
          <p:nvPr>
            <p:ph idx="1"/>
          </p:nvPr>
        </p:nvSpPr>
        <p:spPr>
          <a:xfrm>
            <a:off x="157528" y="995986"/>
            <a:ext cx="8757871" cy="486602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1" indent="0">
              <a:lnSpc>
                <a:spcPct val="81000"/>
              </a:lnSpc>
              <a:buNone/>
              <a:defRPr sz="2200"/>
            </a:pPr>
            <a:endParaRPr dirty="0"/>
          </a:p>
          <a:p>
            <a:pPr>
              <a:lnSpc>
                <a:spcPct val="81000"/>
              </a:lnSpc>
              <a:defRPr sz="2500"/>
            </a:pPr>
            <a:r>
              <a:rPr dirty="0"/>
              <a:t>Three </a:t>
            </a:r>
            <a:r>
              <a:rPr lang="en-AU" dirty="0"/>
              <a:t>common </a:t>
            </a:r>
            <a:r>
              <a:rPr dirty="0"/>
              <a:t>types </a:t>
            </a:r>
            <a:r>
              <a:rPr lang="en-AU" dirty="0"/>
              <a:t>of cloud services</a:t>
            </a:r>
            <a:r>
              <a:rPr dirty="0"/>
              <a:t>:</a:t>
            </a:r>
          </a:p>
          <a:p>
            <a:pPr lvl="1">
              <a:lnSpc>
                <a:spcPct val="81000"/>
              </a:lnSpc>
              <a:defRPr sz="2200"/>
            </a:pPr>
            <a:r>
              <a:rPr b="1" dirty="0"/>
              <a:t>Software as a service</a:t>
            </a:r>
            <a:r>
              <a:rPr dirty="0"/>
              <a:t> (SaaS)</a:t>
            </a:r>
          </a:p>
          <a:p>
            <a:pPr lvl="2">
              <a:lnSpc>
                <a:spcPct val="81000"/>
              </a:lnSpc>
              <a:defRPr sz="1800"/>
            </a:pPr>
            <a:r>
              <a:rPr lang="en-US" sz="2400" dirty="0"/>
              <a:t>SaaS delivers functional software on a subscription basis</a:t>
            </a:r>
            <a:r>
              <a:rPr sz="2200" dirty="0"/>
              <a:t>.</a:t>
            </a:r>
          </a:p>
          <a:p>
            <a:pPr lvl="1">
              <a:lnSpc>
                <a:spcPct val="81000"/>
              </a:lnSpc>
              <a:defRPr sz="2200"/>
            </a:pPr>
            <a:r>
              <a:rPr b="1" dirty="0"/>
              <a:t>Platform as a service </a:t>
            </a:r>
            <a:r>
              <a:rPr dirty="0"/>
              <a:t>(PaaS)</a:t>
            </a:r>
          </a:p>
          <a:p>
            <a:pPr lvl="2">
              <a:lnSpc>
                <a:spcPct val="81000"/>
              </a:lnSpc>
              <a:defRPr sz="1800"/>
            </a:pPr>
            <a:r>
              <a:rPr lang="en-US" sz="2400" dirty="0"/>
              <a:t>PaaS provides pre-configured environments for users to develop their application</a:t>
            </a:r>
            <a:r>
              <a:rPr sz="2200" dirty="0"/>
              <a:t>. </a:t>
            </a:r>
          </a:p>
          <a:p>
            <a:pPr marL="685783" lvl="2" indent="0">
              <a:lnSpc>
                <a:spcPct val="81000"/>
              </a:lnSpc>
              <a:buNone/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754286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Title 1"/>
          <p:cNvSpPr txBox="1">
            <a:spLocks noGrp="1"/>
          </p:cNvSpPr>
          <p:nvPr>
            <p:ph type="title"/>
          </p:nvPr>
        </p:nvSpPr>
        <p:spPr>
          <a:xfrm>
            <a:off x="445375" y="411958"/>
            <a:ext cx="5915025" cy="61912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b="1" dirty="0"/>
              <a:t>Platform as a Service (PaaS)</a:t>
            </a:r>
          </a:p>
        </p:txBody>
      </p:sp>
      <p:sp>
        <p:nvSpPr>
          <p:cNvPr id="467" name="Content Placeholder 2"/>
          <p:cNvSpPr txBox="1">
            <a:spLocks noGrp="1"/>
          </p:cNvSpPr>
          <p:nvPr>
            <p:ph idx="1"/>
          </p:nvPr>
        </p:nvSpPr>
        <p:spPr>
          <a:xfrm>
            <a:off x="1379619" y="4239389"/>
            <a:ext cx="7433471" cy="1998853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2500"/>
            </a:pPr>
            <a:r>
              <a:rPr lang="en-AU" sz="2200" dirty="0"/>
              <a:t>Cloud provides middleware</a:t>
            </a:r>
          </a:p>
          <a:p>
            <a:pPr lvl="1">
              <a:defRPr sz="2500"/>
            </a:pPr>
            <a:r>
              <a:rPr lang="en-AU" sz="2200" dirty="0"/>
              <a:t>Common Language Runtime environment</a:t>
            </a:r>
          </a:p>
          <a:p>
            <a:pPr lvl="1">
              <a:defRPr sz="2200"/>
            </a:pPr>
            <a:r>
              <a:rPr lang="en-AU" sz="2200" dirty="0"/>
              <a:t>Example: Heroku</a:t>
            </a:r>
          </a:p>
        </p:txBody>
      </p:sp>
      <p:grpSp>
        <p:nvGrpSpPr>
          <p:cNvPr id="475" name="Group 39"/>
          <p:cNvGrpSpPr/>
          <p:nvPr/>
        </p:nvGrpSpPr>
        <p:grpSpPr>
          <a:xfrm>
            <a:off x="2426882" y="2484248"/>
            <a:ext cx="1526372" cy="1085507"/>
            <a:chOff x="0" y="0"/>
            <a:chExt cx="2035162" cy="1447341"/>
          </a:xfrm>
        </p:grpSpPr>
        <p:sp>
          <p:nvSpPr>
            <p:cNvPr id="471" name="Cloud"/>
            <p:cNvSpPr/>
            <p:nvPr/>
          </p:nvSpPr>
          <p:spPr>
            <a:xfrm rot="268469">
              <a:off x="47753" y="73680"/>
              <a:ext cx="1939656" cy="12999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599" extrusionOk="0">
                  <a:moveTo>
                    <a:pt x="1949" y="7181"/>
                  </a:moveTo>
                  <a:cubicBezTo>
                    <a:pt x="841" y="7337"/>
                    <a:pt x="0" y="8614"/>
                    <a:pt x="0" y="10138"/>
                  </a:cubicBezTo>
                  <a:cubicBezTo>
                    <a:pt x="-1" y="11193"/>
                    <a:pt x="409" y="12170"/>
                    <a:pt x="1074" y="12703"/>
                  </a:cubicBezTo>
                  <a:lnTo>
                    <a:pt x="1063" y="12669"/>
                  </a:lnTo>
                  <a:cubicBezTo>
                    <a:pt x="685" y="13218"/>
                    <a:pt x="475" y="13941"/>
                    <a:pt x="475" y="14691"/>
                  </a:cubicBezTo>
                  <a:cubicBezTo>
                    <a:pt x="475" y="16327"/>
                    <a:pt x="1451" y="17652"/>
                    <a:pt x="2655" y="17652"/>
                  </a:cubicBezTo>
                  <a:cubicBezTo>
                    <a:pt x="2739" y="17652"/>
                    <a:pt x="2824" y="17645"/>
                    <a:pt x="2909" y="17631"/>
                  </a:cubicBezTo>
                  <a:lnTo>
                    <a:pt x="2897" y="17651"/>
                  </a:lnTo>
                  <a:cubicBezTo>
                    <a:pt x="3585" y="19290"/>
                    <a:pt x="4863" y="20302"/>
                    <a:pt x="6248" y="20302"/>
                  </a:cubicBezTo>
                  <a:cubicBezTo>
                    <a:pt x="6948" y="20301"/>
                    <a:pt x="7636" y="20041"/>
                    <a:pt x="8236" y="19548"/>
                  </a:cubicBezTo>
                  <a:lnTo>
                    <a:pt x="8230" y="19552"/>
                  </a:lnTo>
                  <a:cubicBezTo>
                    <a:pt x="8856" y="20831"/>
                    <a:pt x="9909" y="21599"/>
                    <a:pt x="11037" y="21599"/>
                  </a:cubicBezTo>
                  <a:cubicBezTo>
                    <a:pt x="12524" y="21598"/>
                    <a:pt x="13837" y="20269"/>
                    <a:pt x="14268" y="18326"/>
                  </a:cubicBezTo>
                  <a:lnTo>
                    <a:pt x="14271" y="18352"/>
                  </a:lnTo>
                  <a:cubicBezTo>
                    <a:pt x="14731" y="18742"/>
                    <a:pt x="15261" y="18949"/>
                    <a:pt x="15803" y="18949"/>
                  </a:cubicBezTo>
                  <a:cubicBezTo>
                    <a:pt x="17392" y="18948"/>
                    <a:pt x="18684" y="17207"/>
                    <a:pt x="18696" y="15046"/>
                  </a:cubicBezTo>
                  <a:lnTo>
                    <a:pt x="18691" y="15036"/>
                  </a:lnTo>
                  <a:cubicBezTo>
                    <a:pt x="20359" y="14711"/>
                    <a:pt x="21599" y="12766"/>
                    <a:pt x="21599" y="10473"/>
                  </a:cubicBezTo>
                  <a:cubicBezTo>
                    <a:pt x="21599" y="9457"/>
                    <a:pt x="21352" y="8470"/>
                    <a:pt x="20898" y="7664"/>
                  </a:cubicBezTo>
                  <a:lnTo>
                    <a:pt x="20891" y="7662"/>
                  </a:lnTo>
                  <a:cubicBezTo>
                    <a:pt x="21033" y="7209"/>
                    <a:pt x="21107" y="6722"/>
                    <a:pt x="21107" y="6229"/>
                  </a:cubicBezTo>
                  <a:cubicBezTo>
                    <a:pt x="21107" y="4588"/>
                    <a:pt x="20301" y="3150"/>
                    <a:pt x="19141" y="2719"/>
                  </a:cubicBezTo>
                  <a:lnTo>
                    <a:pt x="19150" y="2712"/>
                  </a:lnTo>
                  <a:cubicBezTo>
                    <a:pt x="18942" y="1142"/>
                    <a:pt x="17935" y="0"/>
                    <a:pt x="16760" y="0"/>
                  </a:cubicBezTo>
                  <a:cubicBezTo>
                    <a:pt x="16045" y="-1"/>
                    <a:pt x="15368" y="426"/>
                    <a:pt x="14906" y="1165"/>
                  </a:cubicBezTo>
                  <a:lnTo>
                    <a:pt x="14910" y="1170"/>
                  </a:lnTo>
                  <a:cubicBezTo>
                    <a:pt x="14498" y="432"/>
                    <a:pt x="13856" y="0"/>
                    <a:pt x="13175" y="0"/>
                  </a:cubicBezTo>
                  <a:cubicBezTo>
                    <a:pt x="12348" y="-1"/>
                    <a:pt x="11591" y="637"/>
                    <a:pt x="11222" y="1645"/>
                  </a:cubicBezTo>
                  <a:lnTo>
                    <a:pt x="11230" y="1694"/>
                  </a:lnTo>
                  <a:cubicBezTo>
                    <a:pt x="10731" y="1024"/>
                    <a:pt x="10059" y="650"/>
                    <a:pt x="9359" y="650"/>
                  </a:cubicBezTo>
                  <a:cubicBezTo>
                    <a:pt x="8373" y="649"/>
                    <a:pt x="7467" y="1391"/>
                    <a:pt x="7004" y="2578"/>
                  </a:cubicBezTo>
                  <a:lnTo>
                    <a:pt x="6996" y="2602"/>
                  </a:lnTo>
                  <a:cubicBezTo>
                    <a:pt x="6478" y="2189"/>
                    <a:pt x="5889" y="1972"/>
                    <a:pt x="5288" y="1972"/>
                  </a:cubicBezTo>
                  <a:cubicBezTo>
                    <a:pt x="3423" y="1972"/>
                    <a:pt x="1912" y="4029"/>
                    <a:pt x="1912" y="6568"/>
                  </a:cubicBezTo>
                  <a:cubicBezTo>
                    <a:pt x="1911" y="6775"/>
                    <a:pt x="1922" y="6982"/>
                    <a:pt x="1942" y="7187"/>
                  </a:cubicBezTo>
                  <a:close/>
                </a:path>
              </a:pathLst>
            </a:custGeom>
            <a:solidFill>
              <a:srgbClr val="FFBE7D"/>
            </a:solidFill>
            <a:ln w="12700" cap="flat">
              <a:noFill/>
              <a:miter lim="400000"/>
            </a:ln>
            <a:effectLst>
              <a:outerShdw blurRad="50800" dist="50800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34289" tIns="34289" rIns="34289" bIns="3428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pic>
          <p:nvPicPr>
            <p:cNvPr id="472" name="Picture 51" descr="Picture 5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7498" y="322926"/>
              <a:ext cx="736520" cy="736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3" name="Picture 51" descr="Picture 5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7015" y="332451"/>
              <a:ext cx="736521" cy="736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4" name="Picture 51" descr="Picture 5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6533" y="341976"/>
              <a:ext cx="736520" cy="736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480" name="Rectangle 15"/>
          <p:cNvGrpSpPr/>
          <p:nvPr/>
        </p:nvGrpSpPr>
        <p:grpSpPr>
          <a:xfrm>
            <a:off x="5070675" y="3124100"/>
            <a:ext cx="1825904" cy="300080"/>
            <a:chOff x="-34237" y="-3509"/>
            <a:chExt cx="2434537" cy="400107"/>
          </a:xfrm>
        </p:grpSpPr>
        <p:sp>
          <p:nvSpPr>
            <p:cNvPr id="478" name="Rectangle"/>
            <p:cNvSpPr/>
            <p:nvPr/>
          </p:nvSpPr>
          <p:spPr>
            <a:xfrm>
              <a:off x="0" y="2857"/>
              <a:ext cx="2400300" cy="390526"/>
            </a:xfrm>
            <a:prstGeom prst="rect">
              <a:avLst/>
            </a:prstGeom>
            <a:solidFill>
              <a:srgbClr val="0070C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479" name="Hardware"/>
            <p:cNvSpPr txBox="1"/>
            <p:nvPr/>
          </p:nvSpPr>
          <p:spPr>
            <a:xfrm>
              <a:off x="-34237" y="-3509"/>
              <a:ext cx="2400301" cy="4001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500" dirty="0">
                  <a:solidFill>
                    <a:schemeClr val="bg1"/>
                  </a:solidFill>
                  <a:latin typeface="+mn-lt"/>
                </a:rPr>
                <a:t>Hardware</a:t>
              </a:r>
            </a:p>
          </p:txBody>
        </p:sp>
      </p:grpSp>
      <p:grpSp>
        <p:nvGrpSpPr>
          <p:cNvPr id="483" name="Rectangle 17"/>
          <p:cNvGrpSpPr/>
          <p:nvPr/>
        </p:nvGrpSpPr>
        <p:grpSpPr>
          <a:xfrm>
            <a:off x="5070675" y="2750257"/>
            <a:ext cx="1825904" cy="314326"/>
            <a:chOff x="-34237" y="2857"/>
            <a:chExt cx="2434537" cy="419101"/>
          </a:xfrm>
        </p:grpSpPr>
        <p:sp>
          <p:nvSpPr>
            <p:cNvPr id="481" name="Rectangle"/>
            <p:cNvSpPr/>
            <p:nvPr/>
          </p:nvSpPr>
          <p:spPr>
            <a:xfrm>
              <a:off x="0" y="2857"/>
              <a:ext cx="2400300" cy="390526"/>
            </a:xfrm>
            <a:prstGeom prst="rect">
              <a:avLst/>
            </a:prstGeom>
            <a:solidFill>
              <a:srgbClr val="FFC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482" name="Middleware"/>
            <p:cNvSpPr txBox="1"/>
            <p:nvPr/>
          </p:nvSpPr>
          <p:spPr>
            <a:xfrm>
              <a:off x="-34237" y="21851"/>
              <a:ext cx="2400301" cy="4001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500" dirty="0">
                  <a:solidFill>
                    <a:schemeClr val="bg1"/>
                  </a:solidFill>
                  <a:latin typeface="+mn-lt"/>
                </a:rPr>
                <a:t>Middleware</a:t>
              </a:r>
            </a:p>
          </p:txBody>
        </p:sp>
      </p:grpSp>
      <p:grpSp>
        <p:nvGrpSpPr>
          <p:cNvPr id="486" name="Rectangle 18"/>
          <p:cNvGrpSpPr/>
          <p:nvPr/>
        </p:nvGrpSpPr>
        <p:grpSpPr>
          <a:xfrm>
            <a:off x="5096355" y="2364473"/>
            <a:ext cx="1813591" cy="300080"/>
            <a:chOff x="0" y="-6695"/>
            <a:chExt cx="2418120" cy="400107"/>
          </a:xfrm>
        </p:grpSpPr>
        <p:sp>
          <p:nvSpPr>
            <p:cNvPr id="484" name="Rectangle"/>
            <p:cNvSpPr/>
            <p:nvPr/>
          </p:nvSpPr>
          <p:spPr>
            <a:xfrm>
              <a:off x="0" y="2857"/>
              <a:ext cx="2400300" cy="390526"/>
            </a:xfrm>
            <a:prstGeom prst="rect">
              <a:avLst/>
            </a:prstGeom>
            <a:solidFill>
              <a:srgbClr val="0070C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485" name="Application"/>
            <p:cNvSpPr txBox="1"/>
            <p:nvPr/>
          </p:nvSpPr>
          <p:spPr>
            <a:xfrm>
              <a:off x="17820" y="-6695"/>
              <a:ext cx="2400300" cy="4001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500" dirty="0">
                  <a:solidFill>
                    <a:schemeClr val="bg1"/>
                  </a:solidFill>
                  <a:latin typeface="+mn-lt"/>
                </a:rPr>
                <a:t>Application</a:t>
              </a:r>
            </a:p>
          </p:txBody>
        </p:sp>
      </p:grpSp>
      <p:sp>
        <p:nvSpPr>
          <p:cNvPr id="487" name="Oval 19"/>
          <p:cNvSpPr/>
          <p:nvPr/>
        </p:nvSpPr>
        <p:spPr>
          <a:xfrm>
            <a:off x="4589147" y="2114462"/>
            <a:ext cx="2778920" cy="1564483"/>
          </a:xfrm>
          <a:prstGeom prst="ellipse">
            <a:avLst/>
          </a:prstGeom>
          <a:ln w="19050">
            <a:solidFill>
              <a:srgbClr val="000000"/>
            </a:solidFill>
            <a:prstDash val="dash"/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sp>
        <p:nvSpPr>
          <p:cNvPr id="488" name="Straight Connector 21"/>
          <p:cNvSpPr/>
          <p:nvPr/>
        </p:nvSpPr>
        <p:spPr>
          <a:xfrm flipV="1">
            <a:off x="3689034" y="2250192"/>
            <a:ext cx="1507332" cy="550071"/>
          </a:xfrm>
          <a:prstGeom prst="line">
            <a:avLst/>
          </a:prstGeom>
          <a:solidFill>
            <a:schemeClr val="accent1"/>
          </a:solidFill>
          <a:ln w="19050">
            <a:solidFill>
              <a:srgbClr val="000000"/>
            </a:solidFill>
            <a:prstDash val="sysDash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489" name="Straight Connector 22"/>
          <p:cNvSpPr/>
          <p:nvPr/>
        </p:nvSpPr>
        <p:spPr>
          <a:xfrm>
            <a:off x="3703321" y="3150304"/>
            <a:ext cx="1843088" cy="492920"/>
          </a:xfrm>
          <a:prstGeom prst="line">
            <a:avLst/>
          </a:prstGeom>
          <a:solidFill>
            <a:schemeClr val="accent1"/>
          </a:solidFill>
          <a:ln w="19050">
            <a:solidFill>
              <a:srgbClr val="000000"/>
            </a:solidFill>
            <a:prstDash val="sysDash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490" name="Straight Arrow Connector 26"/>
          <p:cNvSpPr/>
          <p:nvPr/>
        </p:nvSpPr>
        <p:spPr>
          <a:xfrm flipH="1">
            <a:off x="5831563" y="1965035"/>
            <a:ext cx="1192" cy="40005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491" name="Straight Arrow Connector 27"/>
          <p:cNvSpPr/>
          <p:nvPr/>
        </p:nvSpPr>
        <p:spPr>
          <a:xfrm flipH="1">
            <a:off x="6110168" y="1972179"/>
            <a:ext cx="1192" cy="400052"/>
          </a:xfrm>
          <a:prstGeom prst="line">
            <a:avLst/>
          </a:prstGeom>
          <a:ln w="19050">
            <a:solidFill>
              <a:srgbClr val="000000"/>
            </a:solidFill>
            <a:headEnd type="triangle"/>
          </a:ln>
        </p:spPr>
        <p:txBody>
          <a:bodyPr lIns="34289" rIns="34289"/>
          <a:lstStyle/>
          <a:p>
            <a:endParaRPr sz="1500"/>
          </a:p>
        </p:txBody>
      </p:sp>
      <p:pic>
        <p:nvPicPr>
          <p:cNvPr id="38" name="Picture 3" descr="Picture 3">
            <a:extLst>
              <a:ext uri="{FF2B5EF4-FFF2-40B4-BE49-F238E27FC236}">
                <a16:creationId xmlns:a16="http://schemas.microsoft.com/office/drawing/2014/main" id="{7C973C4A-AE85-42AE-8B83-E07AE0FFF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535" y="2806758"/>
            <a:ext cx="401241" cy="401241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TextBox 13">
            <a:extLst>
              <a:ext uri="{FF2B5EF4-FFF2-40B4-BE49-F238E27FC236}">
                <a16:creationId xmlns:a16="http://schemas.microsoft.com/office/drawing/2014/main" id="{55D0A06C-D491-4424-82BE-66DD546E798C}"/>
              </a:ext>
            </a:extLst>
          </p:cNvPr>
          <p:cNvSpPr txBox="1"/>
          <p:nvPr/>
        </p:nvSpPr>
        <p:spPr>
          <a:xfrm>
            <a:off x="1404718" y="2435493"/>
            <a:ext cx="1194571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>
            <a:spAutoFit/>
          </a:bodyPr>
          <a:lstStyle/>
          <a:p>
            <a:pPr>
              <a:spcBef>
                <a:spcPts val="225"/>
              </a:spcBef>
              <a:defRPr sz="1400">
                <a:latin typeface="Tahoma"/>
                <a:ea typeface="Tahoma"/>
                <a:cs typeface="Tahoma"/>
                <a:sym typeface="Tahoma"/>
              </a:defRPr>
            </a:pPr>
            <a:r>
              <a:rPr lang="en-AU" sz="1500" dirty="0">
                <a:latin typeface="+mn-lt"/>
              </a:rPr>
              <a:t>PaaS </a:t>
            </a:r>
            <a:r>
              <a:rPr sz="1500" dirty="0">
                <a:latin typeface="+mn-lt"/>
              </a:rPr>
              <a:t>provider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Title 1"/>
          <p:cNvSpPr txBox="1">
            <a:spLocks noGrp="1"/>
          </p:cNvSpPr>
          <p:nvPr>
            <p:ph type="title"/>
          </p:nvPr>
        </p:nvSpPr>
        <p:spPr>
          <a:xfrm>
            <a:off x="370743" y="118571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AU" b="1" dirty="0"/>
              <a:t>What services does a cloud provide?</a:t>
            </a:r>
            <a:endParaRPr b="1" dirty="0"/>
          </a:p>
        </p:txBody>
      </p:sp>
      <p:sp>
        <p:nvSpPr>
          <p:cNvPr id="431" name="Content Placeholder 2"/>
          <p:cNvSpPr txBox="1">
            <a:spLocks noGrp="1"/>
          </p:cNvSpPr>
          <p:nvPr>
            <p:ph idx="1"/>
          </p:nvPr>
        </p:nvSpPr>
        <p:spPr>
          <a:xfrm>
            <a:off x="157529" y="995986"/>
            <a:ext cx="8828942" cy="486602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1" indent="0">
              <a:lnSpc>
                <a:spcPct val="81000"/>
              </a:lnSpc>
              <a:buNone/>
              <a:defRPr sz="2200"/>
            </a:pPr>
            <a:endParaRPr dirty="0"/>
          </a:p>
          <a:p>
            <a:pPr>
              <a:lnSpc>
                <a:spcPct val="81000"/>
              </a:lnSpc>
              <a:defRPr sz="2500"/>
            </a:pPr>
            <a:r>
              <a:rPr sz="2400" dirty="0"/>
              <a:t>Three </a:t>
            </a:r>
            <a:r>
              <a:rPr lang="en-AU" sz="2400" dirty="0"/>
              <a:t>common </a:t>
            </a:r>
            <a:r>
              <a:rPr sz="2400" dirty="0"/>
              <a:t>types </a:t>
            </a:r>
            <a:r>
              <a:rPr lang="en-AU" sz="2400" dirty="0"/>
              <a:t>of cloud services</a:t>
            </a:r>
            <a:r>
              <a:rPr sz="2400" dirty="0"/>
              <a:t>:</a:t>
            </a:r>
          </a:p>
          <a:p>
            <a:pPr lvl="1">
              <a:lnSpc>
                <a:spcPct val="81000"/>
              </a:lnSpc>
              <a:defRPr sz="2200"/>
            </a:pPr>
            <a:r>
              <a:rPr lang="en-AU" b="1" dirty="0"/>
              <a:t>Software as a service </a:t>
            </a:r>
            <a:r>
              <a:rPr lang="en-AU" dirty="0"/>
              <a:t>(SaaS)</a:t>
            </a:r>
          </a:p>
          <a:p>
            <a:pPr lvl="2">
              <a:lnSpc>
                <a:spcPct val="81000"/>
              </a:lnSpc>
              <a:defRPr sz="1800"/>
            </a:pPr>
            <a:r>
              <a:rPr lang="en-AU" sz="2400" dirty="0"/>
              <a:t>SaaS delivers fully functional software on a subscription basis</a:t>
            </a:r>
            <a:r>
              <a:rPr lang="en-AU" sz="2200" dirty="0"/>
              <a:t>.</a:t>
            </a:r>
          </a:p>
          <a:p>
            <a:pPr lvl="1">
              <a:lnSpc>
                <a:spcPct val="81000"/>
              </a:lnSpc>
              <a:defRPr sz="2200"/>
            </a:pPr>
            <a:r>
              <a:rPr lang="en-AU" b="1" dirty="0"/>
              <a:t>Platform as a service</a:t>
            </a:r>
            <a:r>
              <a:rPr lang="en-AU" dirty="0"/>
              <a:t> (PaaS)</a:t>
            </a:r>
          </a:p>
          <a:p>
            <a:pPr lvl="2">
              <a:lnSpc>
                <a:spcPct val="81000"/>
              </a:lnSpc>
              <a:defRPr sz="1800"/>
            </a:pPr>
            <a:r>
              <a:rPr lang="en-AU" sz="2400" dirty="0"/>
              <a:t>PaaS provides pre-configured environments for users to develop their application</a:t>
            </a:r>
            <a:r>
              <a:rPr sz="2400" dirty="0"/>
              <a:t>. </a:t>
            </a:r>
          </a:p>
          <a:p>
            <a:pPr lvl="1">
              <a:lnSpc>
                <a:spcPct val="81000"/>
              </a:lnSpc>
              <a:defRPr sz="2200"/>
            </a:pPr>
            <a:r>
              <a:rPr sz="2400" b="1" dirty="0"/>
              <a:t>Infrastructure as a service </a:t>
            </a:r>
            <a:r>
              <a:rPr sz="2400" dirty="0"/>
              <a:t>(IaaS)</a:t>
            </a:r>
          </a:p>
          <a:p>
            <a:pPr lvl="2">
              <a:lnSpc>
                <a:spcPct val="81000"/>
              </a:lnSpc>
              <a:defRPr sz="1800"/>
            </a:pPr>
            <a:r>
              <a:rPr lang="en-US" sz="2400" dirty="0"/>
              <a:t>IaaS offers basic computing resources.</a:t>
            </a:r>
            <a:endParaRPr lang="en-AU" sz="2400" dirty="0"/>
          </a:p>
          <a:p>
            <a:pPr marL="685783" lvl="2" indent="0">
              <a:lnSpc>
                <a:spcPct val="81000"/>
              </a:lnSpc>
              <a:buNone/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22631649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Title 1"/>
          <p:cNvSpPr txBox="1">
            <a:spLocks noGrp="1"/>
          </p:cNvSpPr>
          <p:nvPr>
            <p:ph type="title"/>
          </p:nvPr>
        </p:nvSpPr>
        <p:spPr>
          <a:xfrm>
            <a:off x="445375" y="472821"/>
            <a:ext cx="7057895" cy="66149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b="1" dirty="0"/>
              <a:t>Infrastructure as a Service (IaaS)</a:t>
            </a:r>
          </a:p>
        </p:txBody>
      </p:sp>
      <p:sp>
        <p:nvSpPr>
          <p:cNvPr id="506" name="Content Placeholder 2"/>
          <p:cNvSpPr txBox="1">
            <a:spLocks noGrp="1"/>
          </p:cNvSpPr>
          <p:nvPr>
            <p:ph idx="1"/>
          </p:nvPr>
        </p:nvSpPr>
        <p:spPr>
          <a:xfrm>
            <a:off x="1174673" y="4384867"/>
            <a:ext cx="7596347" cy="1443039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2500"/>
            </a:pPr>
            <a:r>
              <a:rPr sz="2200" dirty="0"/>
              <a:t>Cloud provides </a:t>
            </a:r>
            <a:r>
              <a:rPr lang="en-AU" sz="2200" dirty="0"/>
              <a:t>hardware </a:t>
            </a:r>
            <a:r>
              <a:rPr sz="2200" dirty="0"/>
              <a:t>resources</a:t>
            </a:r>
          </a:p>
          <a:p>
            <a:pPr lvl="1">
              <a:defRPr sz="2200"/>
            </a:pPr>
            <a:r>
              <a:rPr lang="en-AU" sz="2200" dirty="0"/>
              <a:t>Virtual CPUs, Virtual Memory, Virtual Disk,</a:t>
            </a:r>
            <a:r>
              <a:rPr sz="2200" dirty="0"/>
              <a:t>...</a:t>
            </a:r>
          </a:p>
          <a:p>
            <a:pPr lvl="1">
              <a:defRPr sz="2200"/>
            </a:pPr>
            <a:r>
              <a:rPr sz="2200" dirty="0"/>
              <a:t>Examples: </a:t>
            </a:r>
            <a:r>
              <a:rPr lang="en-AU" sz="2200" dirty="0"/>
              <a:t>AWS Elastic Compute Cloud (EC2)</a:t>
            </a:r>
            <a:endParaRPr sz="2200" dirty="0"/>
          </a:p>
        </p:txBody>
      </p:sp>
      <p:grpSp>
        <p:nvGrpSpPr>
          <p:cNvPr id="38" name="Group 39">
            <a:extLst>
              <a:ext uri="{FF2B5EF4-FFF2-40B4-BE49-F238E27FC236}">
                <a16:creationId xmlns:a16="http://schemas.microsoft.com/office/drawing/2014/main" id="{39F095A7-D38D-484E-ABBF-0FB144B6A7B5}"/>
              </a:ext>
            </a:extLst>
          </p:cNvPr>
          <p:cNvGrpSpPr/>
          <p:nvPr/>
        </p:nvGrpSpPr>
        <p:grpSpPr>
          <a:xfrm>
            <a:off x="2426882" y="2484248"/>
            <a:ext cx="1526372" cy="1085507"/>
            <a:chOff x="0" y="0"/>
            <a:chExt cx="2035162" cy="1447341"/>
          </a:xfrm>
        </p:grpSpPr>
        <p:sp>
          <p:nvSpPr>
            <p:cNvPr id="39" name="Cloud">
              <a:extLst>
                <a:ext uri="{FF2B5EF4-FFF2-40B4-BE49-F238E27FC236}">
                  <a16:creationId xmlns:a16="http://schemas.microsoft.com/office/drawing/2014/main" id="{AB1E4B69-0618-4EE9-BE76-10C3ACCEB750}"/>
                </a:ext>
              </a:extLst>
            </p:cNvPr>
            <p:cNvSpPr/>
            <p:nvPr/>
          </p:nvSpPr>
          <p:spPr>
            <a:xfrm rot="268469">
              <a:off x="47753" y="73680"/>
              <a:ext cx="1939656" cy="12999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599" extrusionOk="0">
                  <a:moveTo>
                    <a:pt x="1949" y="7181"/>
                  </a:moveTo>
                  <a:cubicBezTo>
                    <a:pt x="841" y="7337"/>
                    <a:pt x="0" y="8614"/>
                    <a:pt x="0" y="10138"/>
                  </a:cubicBezTo>
                  <a:cubicBezTo>
                    <a:pt x="-1" y="11193"/>
                    <a:pt x="409" y="12170"/>
                    <a:pt x="1074" y="12703"/>
                  </a:cubicBezTo>
                  <a:lnTo>
                    <a:pt x="1063" y="12669"/>
                  </a:lnTo>
                  <a:cubicBezTo>
                    <a:pt x="685" y="13218"/>
                    <a:pt x="475" y="13941"/>
                    <a:pt x="475" y="14691"/>
                  </a:cubicBezTo>
                  <a:cubicBezTo>
                    <a:pt x="475" y="16327"/>
                    <a:pt x="1451" y="17652"/>
                    <a:pt x="2655" y="17652"/>
                  </a:cubicBezTo>
                  <a:cubicBezTo>
                    <a:pt x="2739" y="17652"/>
                    <a:pt x="2824" y="17645"/>
                    <a:pt x="2909" y="17631"/>
                  </a:cubicBezTo>
                  <a:lnTo>
                    <a:pt x="2897" y="17651"/>
                  </a:lnTo>
                  <a:cubicBezTo>
                    <a:pt x="3585" y="19290"/>
                    <a:pt x="4863" y="20302"/>
                    <a:pt x="6248" y="20302"/>
                  </a:cubicBezTo>
                  <a:cubicBezTo>
                    <a:pt x="6948" y="20301"/>
                    <a:pt x="7636" y="20041"/>
                    <a:pt x="8236" y="19548"/>
                  </a:cubicBezTo>
                  <a:lnTo>
                    <a:pt x="8230" y="19552"/>
                  </a:lnTo>
                  <a:cubicBezTo>
                    <a:pt x="8856" y="20831"/>
                    <a:pt x="9909" y="21599"/>
                    <a:pt x="11037" y="21599"/>
                  </a:cubicBezTo>
                  <a:cubicBezTo>
                    <a:pt x="12524" y="21598"/>
                    <a:pt x="13837" y="20269"/>
                    <a:pt x="14268" y="18326"/>
                  </a:cubicBezTo>
                  <a:lnTo>
                    <a:pt x="14271" y="18352"/>
                  </a:lnTo>
                  <a:cubicBezTo>
                    <a:pt x="14731" y="18742"/>
                    <a:pt x="15261" y="18949"/>
                    <a:pt x="15803" y="18949"/>
                  </a:cubicBezTo>
                  <a:cubicBezTo>
                    <a:pt x="17392" y="18948"/>
                    <a:pt x="18684" y="17207"/>
                    <a:pt x="18696" y="15046"/>
                  </a:cubicBezTo>
                  <a:lnTo>
                    <a:pt x="18691" y="15036"/>
                  </a:lnTo>
                  <a:cubicBezTo>
                    <a:pt x="20359" y="14711"/>
                    <a:pt x="21599" y="12766"/>
                    <a:pt x="21599" y="10473"/>
                  </a:cubicBezTo>
                  <a:cubicBezTo>
                    <a:pt x="21599" y="9457"/>
                    <a:pt x="21352" y="8470"/>
                    <a:pt x="20898" y="7664"/>
                  </a:cubicBezTo>
                  <a:lnTo>
                    <a:pt x="20891" y="7662"/>
                  </a:lnTo>
                  <a:cubicBezTo>
                    <a:pt x="21033" y="7209"/>
                    <a:pt x="21107" y="6722"/>
                    <a:pt x="21107" y="6229"/>
                  </a:cubicBezTo>
                  <a:cubicBezTo>
                    <a:pt x="21107" y="4588"/>
                    <a:pt x="20301" y="3150"/>
                    <a:pt x="19141" y="2719"/>
                  </a:cubicBezTo>
                  <a:lnTo>
                    <a:pt x="19150" y="2712"/>
                  </a:lnTo>
                  <a:cubicBezTo>
                    <a:pt x="18942" y="1142"/>
                    <a:pt x="17935" y="0"/>
                    <a:pt x="16760" y="0"/>
                  </a:cubicBezTo>
                  <a:cubicBezTo>
                    <a:pt x="16045" y="-1"/>
                    <a:pt x="15368" y="426"/>
                    <a:pt x="14906" y="1165"/>
                  </a:cubicBezTo>
                  <a:lnTo>
                    <a:pt x="14910" y="1170"/>
                  </a:lnTo>
                  <a:cubicBezTo>
                    <a:pt x="14498" y="432"/>
                    <a:pt x="13856" y="0"/>
                    <a:pt x="13175" y="0"/>
                  </a:cubicBezTo>
                  <a:cubicBezTo>
                    <a:pt x="12348" y="-1"/>
                    <a:pt x="11591" y="637"/>
                    <a:pt x="11222" y="1645"/>
                  </a:cubicBezTo>
                  <a:lnTo>
                    <a:pt x="11230" y="1694"/>
                  </a:lnTo>
                  <a:cubicBezTo>
                    <a:pt x="10731" y="1024"/>
                    <a:pt x="10059" y="650"/>
                    <a:pt x="9359" y="650"/>
                  </a:cubicBezTo>
                  <a:cubicBezTo>
                    <a:pt x="8373" y="649"/>
                    <a:pt x="7467" y="1391"/>
                    <a:pt x="7004" y="2578"/>
                  </a:cubicBezTo>
                  <a:lnTo>
                    <a:pt x="6996" y="2602"/>
                  </a:lnTo>
                  <a:cubicBezTo>
                    <a:pt x="6478" y="2189"/>
                    <a:pt x="5889" y="1972"/>
                    <a:pt x="5288" y="1972"/>
                  </a:cubicBezTo>
                  <a:cubicBezTo>
                    <a:pt x="3423" y="1972"/>
                    <a:pt x="1912" y="4029"/>
                    <a:pt x="1912" y="6568"/>
                  </a:cubicBezTo>
                  <a:cubicBezTo>
                    <a:pt x="1911" y="6775"/>
                    <a:pt x="1922" y="6982"/>
                    <a:pt x="1942" y="7187"/>
                  </a:cubicBezTo>
                  <a:close/>
                </a:path>
              </a:pathLst>
            </a:custGeom>
            <a:solidFill>
              <a:srgbClr val="FFBE7D"/>
            </a:solidFill>
            <a:ln w="12700" cap="flat">
              <a:noFill/>
              <a:miter lim="400000"/>
            </a:ln>
            <a:effectLst>
              <a:outerShdw blurRad="50800" dist="50800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34289" tIns="34289" rIns="34289" bIns="3428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pic>
          <p:nvPicPr>
            <p:cNvPr id="40" name="Picture 51" descr="Picture 51">
              <a:extLst>
                <a:ext uri="{FF2B5EF4-FFF2-40B4-BE49-F238E27FC236}">
                  <a16:creationId xmlns:a16="http://schemas.microsoft.com/office/drawing/2014/main" id="{F960B543-0E2F-4F7D-AFA0-79D9F309A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7498" y="322926"/>
              <a:ext cx="736520" cy="736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1" name="Picture 51" descr="Picture 51">
              <a:extLst>
                <a:ext uri="{FF2B5EF4-FFF2-40B4-BE49-F238E27FC236}">
                  <a16:creationId xmlns:a16="http://schemas.microsoft.com/office/drawing/2014/main" id="{6BDACDEF-6C17-4A3F-93A9-9B9261AAE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7015" y="332451"/>
              <a:ext cx="736521" cy="736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2" name="Picture 51" descr="Picture 51">
              <a:extLst>
                <a:ext uri="{FF2B5EF4-FFF2-40B4-BE49-F238E27FC236}">
                  <a16:creationId xmlns:a16="http://schemas.microsoft.com/office/drawing/2014/main" id="{D2C9EAB2-1EF3-4D76-A0CB-ECED64AB2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6533" y="341976"/>
              <a:ext cx="736520" cy="736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43" name="Rectangle 15">
            <a:extLst>
              <a:ext uri="{FF2B5EF4-FFF2-40B4-BE49-F238E27FC236}">
                <a16:creationId xmlns:a16="http://schemas.microsoft.com/office/drawing/2014/main" id="{28512309-C3CD-4725-8865-965F0F12D773}"/>
              </a:ext>
            </a:extLst>
          </p:cNvPr>
          <p:cNvGrpSpPr/>
          <p:nvPr/>
        </p:nvGrpSpPr>
        <p:grpSpPr>
          <a:xfrm>
            <a:off x="5096352" y="3128875"/>
            <a:ext cx="1857376" cy="307202"/>
            <a:chOff x="0" y="2857"/>
            <a:chExt cx="2476500" cy="409602"/>
          </a:xfrm>
        </p:grpSpPr>
        <p:sp>
          <p:nvSpPr>
            <p:cNvPr id="44" name="Rectangle">
              <a:extLst>
                <a:ext uri="{FF2B5EF4-FFF2-40B4-BE49-F238E27FC236}">
                  <a16:creationId xmlns:a16="http://schemas.microsoft.com/office/drawing/2014/main" id="{63F7906E-ECD0-463D-8AF9-589452F5AF8E}"/>
                </a:ext>
              </a:extLst>
            </p:cNvPr>
            <p:cNvSpPr/>
            <p:nvPr/>
          </p:nvSpPr>
          <p:spPr>
            <a:xfrm>
              <a:off x="0" y="2857"/>
              <a:ext cx="2400300" cy="390526"/>
            </a:xfrm>
            <a:prstGeom prst="rect">
              <a:avLst/>
            </a:prstGeom>
            <a:solidFill>
              <a:srgbClr val="FFC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45" name="Hardware">
              <a:extLst>
                <a:ext uri="{FF2B5EF4-FFF2-40B4-BE49-F238E27FC236}">
                  <a16:creationId xmlns:a16="http://schemas.microsoft.com/office/drawing/2014/main" id="{58933ECF-E4CC-439C-8C34-C9A1BDB1C7A2}"/>
                </a:ext>
              </a:extLst>
            </p:cNvPr>
            <p:cNvSpPr txBox="1"/>
            <p:nvPr/>
          </p:nvSpPr>
          <p:spPr>
            <a:xfrm>
              <a:off x="76201" y="12352"/>
              <a:ext cx="2400299" cy="4001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500" dirty="0">
                  <a:solidFill>
                    <a:schemeClr val="bg1"/>
                  </a:solidFill>
                  <a:latin typeface="+mn-lt"/>
                </a:rPr>
                <a:t>Hardware</a:t>
              </a:r>
            </a:p>
          </p:txBody>
        </p:sp>
      </p:grpSp>
      <p:grpSp>
        <p:nvGrpSpPr>
          <p:cNvPr id="46" name="Rectangle 17">
            <a:extLst>
              <a:ext uri="{FF2B5EF4-FFF2-40B4-BE49-F238E27FC236}">
                <a16:creationId xmlns:a16="http://schemas.microsoft.com/office/drawing/2014/main" id="{2D3F64BB-CC4D-4A5F-80D4-A12C9130063A}"/>
              </a:ext>
            </a:extLst>
          </p:cNvPr>
          <p:cNvGrpSpPr/>
          <p:nvPr/>
        </p:nvGrpSpPr>
        <p:grpSpPr>
          <a:xfrm>
            <a:off x="5096353" y="2735821"/>
            <a:ext cx="1832980" cy="307329"/>
            <a:chOff x="0" y="-16389"/>
            <a:chExt cx="2443972" cy="409772"/>
          </a:xfrm>
        </p:grpSpPr>
        <p:sp>
          <p:nvSpPr>
            <p:cNvPr id="47" name="Rectangle">
              <a:extLst>
                <a:ext uri="{FF2B5EF4-FFF2-40B4-BE49-F238E27FC236}">
                  <a16:creationId xmlns:a16="http://schemas.microsoft.com/office/drawing/2014/main" id="{82CD8169-065B-4CB5-8303-E473A4F9A43B}"/>
                </a:ext>
              </a:extLst>
            </p:cNvPr>
            <p:cNvSpPr/>
            <p:nvPr/>
          </p:nvSpPr>
          <p:spPr>
            <a:xfrm>
              <a:off x="0" y="2857"/>
              <a:ext cx="2400300" cy="390526"/>
            </a:xfrm>
            <a:prstGeom prst="rect">
              <a:avLst/>
            </a:prstGeom>
            <a:solidFill>
              <a:srgbClr val="0070C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48" name="Middleware">
              <a:extLst>
                <a:ext uri="{FF2B5EF4-FFF2-40B4-BE49-F238E27FC236}">
                  <a16:creationId xmlns:a16="http://schemas.microsoft.com/office/drawing/2014/main" id="{0C54937D-3BD1-49A7-BFFD-956C3C63E86D}"/>
                </a:ext>
              </a:extLst>
            </p:cNvPr>
            <p:cNvSpPr txBox="1"/>
            <p:nvPr/>
          </p:nvSpPr>
          <p:spPr>
            <a:xfrm>
              <a:off x="43673" y="-16389"/>
              <a:ext cx="2400299" cy="4001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500" dirty="0">
                  <a:solidFill>
                    <a:schemeClr val="bg1"/>
                  </a:solidFill>
                  <a:latin typeface="+mn-lt"/>
                </a:rPr>
                <a:t>Middleware</a:t>
              </a:r>
            </a:p>
          </p:txBody>
        </p:sp>
      </p:grpSp>
      <p:grpSp>
        <p:nvGrpSpPr>
          <p:cNvPr id="49" name="Rectangle 18">
            <a:extLst>
              <a:ext uri="{FF2B5EF4-FFF2-40B4-BE49-F238E27FC236}">
                <a16:creationId xmlns:a16="http://schemas.microsoft.com/office/drawing/2014/main" id="{C9FFB9B4-871A-4FAB-9408-90D826D9D2F3}"/>
              </a:ext>
            </a:extLst>
          </p:cNvPr>
          <p:cNvGrpSpPr/>
          <p:nvPr/>
        </p:nvGrpSpPr>
        <p:grpSpPr>
          <a:xfrm>
            <a:off x="5096355" y="2364473"/>
            <a:ext cx="1813591" cy="300080"/>
            <a:chOff x="0" y="-6695"/>
            <a:chExt cx="2418120" cy="400107"/>
          </a:xfrm>
        </p:grpSpPr>
        <p:sp>
          <p:nvSpPr>
            <p:cNvPr id="50" name="Rectangle">
              <a:extLst>
                <a:ext uri="{FF2B5EF4-FFF2-40B4-BE49-F238E27FC236}">
                  <a16:creationId xmlns:a16="http://schemas.microsoft.com/office/drawing/2014/main" id="{1184D7E5-C813-40EB-9222-960B97348856}"/>
                </a:ext>
              </a:extLst>
            </p:cNvPr>
            <p:cNvSpPr/>
            <p:nvPr/>
          </p:nvSpPr>
          <p:spPr>
            <a:xfrm>
              <a:off x="0" y="2857"/>
              <a:ext cx="2400300" cy="390526"/>
            </a:xfrm>
            <a:prstGeom prst="rect">
              <a:avLst/>
            </a:prstGeom>
            <a:solidFill>
              <a:srgbClr val="0070C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51" name="Application">
              <a:extLst>
                <a:ext uri="{FF2B5EF4-FFF2-40B4-BE49-F238E27FC236}">
                  <a16:creationId xmlns:a16="http://schemas.microsoft.com/office/drawing/2014/main" id="{25E9F110-F522-46C8-A64D-712AAC4AB4A3}"/>
                </a:ext>
              </a:extLst>
            </p:cNvPr>
            <p:cNvSpPr txBox="1"/>
            <p:nvPr/>
          </p:nvSpPr>
          <p:spPr>
            <a:xfrm>
              <a:off x="17820" y="-6695"/>
              <a:ext cx="2400300" cy="4001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89" tIns="34289" rIns="34289" bIns="3428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500" dirty="0">
                  <a:solidFill>
                    <a:schemeClr val="bg1"/>
                  </a:solidFill>
                  <a:latin typeface="+mn-lt"/>
                </a:rPr>
                <a:t>Application</a:t>
              </a:r>
            </a:p>
          </p:txBody>
        </p:sp>
      </p:grpSp>
      <p:sp>
        <p:nvSpPr>
          <p:cNvPr id="52" name="Oval 19">
            <a:extLst>
              <a:ext uri="{FF2B5EF4-FFF2-40B4-BE49-F238E27FC236}">
                <a16:creationId xmlns:a16="http://schemas.microsoft.com/office/drawing/2014/main" id="{358E9373-5D37-4A3A-B086-E1E317F029EB}"/>
              </a:ext>
            </a:extLst>
          </p:cNvPr>
          <p:cNvSpPr/>
          <p:nvPr/>
        </p:nvSpPr>
        <p:spPr>
          <a:xfrm>
            <a:off x="4589147" y="2114462"/>
            <a:ext cx="2778920" cy="1564483"/>
          </a:xfrm>
          <a:prstGeom prst="ellipse">
            <a:avLst/>
          </a:prstGeom>
          <a:ln w="19050">
            <a:solidFill>
              <a:srgbClr val="000000"/>
            </a:solidFill>
            <a:prstDash val="dash"/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sp>
        <p:nvSpPr>
          <p:cNvPr id="53" name="Straight Connector 21">
            <a:extLst>
              <a:ext uri="{FF2B5EF4-FFF2-40B4-BE49-F238E27FC236}">
                <a16:creationId xmlns:a16="http://schemas.microsoft.com/office/drawing/2014/main" id="{7C18CF4A-5903-4B7B-8A1C-276745FDF237}"/>
              </a:ext>
            </a:extLst>
          </p:cNvPr>
          <p:cNvSpPr/>
          <p:nvPr/>
        </p:nvSpPr>
        <p:spPr>
          <a:xfrm flipV="1">
            <a:off x="3689034" y="2250192"/>
            <a:ext cx="1507332" cy="550071"/>
          </a:xfrm>
          <a:prstGeom prst="line">
            <a:avLst/>
          </a:prstGeom>
          <a:solidFill>
            <a:schemeClr val="accent1"/>
          </a:solidFill>
          <a:ln w="19050">
            <a:solidFill>
              <a:srgbClr val="000000"/>
            </a:solidFill>
            <a:prstDash val="sysDash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54" name="Straight Connector 22">
            <a:extLst>
              <a:ext uri="{FF2B5EF4-FFF2-40B4-BE49-F238E27FC236}">
                <a16:creationId xmlns:a16="http://schemas.microsoft.com/office/drawing/2014/main" id="{B1477E3E-6CE9-4E0E-B1E3-9E15ADE128C6}"/>
              </a:ext>
            </a:extLst>
          </p:cNvPr>
          <p:cNvSpPr/>
          <p:nvPr/>
        </p:nvSpPr>
        <p:spPr>
          <a:xfrm>
            <a:off x="3703321" y="3150304"/>
            <a:ext cx="1843088" cy="492920"/>
          </a:xfrm>
          <a:prstGeom prst="line">
            <a:avLst/>
          </a:prstGeom>
          <a:solidFill>
            <a:schemeClr val="accent1"/>
          </a:solidFill>
          <a:ln w="19050">
            <a:solidFill>
              <a:srgbClr val="000000"/>
            </a:solidFill>
            <a:prstDash val="sysDash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55" name="Straight Arrow Connector 26">
            <a:extLst>
              <a:ext uri="{FF2B5EF4-FFF2-40B4-BE49-F238E27FC236}">
                <a16:creationId xmlns:a16="http://schemas.microsoft.com/office/drawing/2014/main" id="{9985C485-B920-455E-BA24-D21B2BB79CF9}"/>
              </a:ext>
            </a:extLst>
          </p:cNvPr>
          <p:cNvSpPr/>
          <p:nvPr/>
        </p:nvSpPr>
        <p:spPr>
          <a:xfrm flipH="1">
            <a:off x="5831563" y="1965035"/>
            <a:ext cx="1192" cy="40005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56" name="Straight Arrow Connector 27">
            <a:extLst>
              <a:ext uri="{FF2B5EF4-FFF2-40B4-BE49-F238E27FC236}">
                <a16:creationId xmlns:a16="http://schemas.microsoft.com/office/drawing/2014/main" id="{73B6879B-5177-4A82-BAD3-817750937908}"/>
              </a:ext>
            </a:extLst>
          </p:cNvPr>
          <p:cNvSpPr/>
          <p:nvPr/>
        </p:nvSpPr>
        <p:spPr>
          <a:xfrm flipH="1">
            <a:off x="6110168" y="1972179"/>
            <a:ext cx="1192" cy="400052"/>
          </a:xfrm>
          <a:prstGeom prst="line">
            <a:avLst/>
          </a:prstGeom>
          <a:ln w="19050">
            <a:solidFill>
              <a:srgbClr val="000000"/>
            </a:solidFill>
            <a:headEnd type="triangle"/>
          </a:ln>
        </p:spPr>
        <p:txBody>
          <a:bodyPr lIns="34289" rIns="34289"/>
          <a:lstStyle/>
          <a:p>
            <a:endParaRPr sz="1500"/>
          </a:p>
        </p:txBody>
      </p:sp>
      <p:pic>
        <p:nvPicPr>
          <p:cNvPr id="57" name="Picture 3" descr="Picture 3">
            <a:extLst>
              <a:ext uri="{FF2B5EF4-FFF2-40B4-BE49-F238E27FC236}">
                <a16:creationId xmlns:a16="http://schemas.microsoft.com/office/drawing/2014/main" id="{2CD48458-95D6-4D9D-9C0A-34374D331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535" y="2806758"/>
            <a:ext cx="401241" cy="40124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TextBox 13">
            <a:extLst>
              <a:ext uri="{FF2B5EF4-FFF2-40B4-BE49-F238E27FC236}">
                <a16:creationId xmlns:a16="http://schemas.microsoft.com/office/drawing/2014/main" id="{BEF31AC2-3E1B-4644-BF94-1B7B66069550}"/>
              </a:ext>
            </a:extLst>
          </p:cNvPr>
          <p:cNvSpPr txBox="1"/>
          <p:nvPr/>
        </p:nvSpPr>
        <p:spPr>
          <a:xfrm>
            <a:off x="1404718" y="2435493"/>
            <a:ext cx="1194571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>
            <a:spAutoFit/>
          </a:bodyPr>
          <a:lstStyle/>
          <a:p>
            <a:pPr>
              <a:spcBef>
                <a:spcPts val="225"/>
              </a:spcBef>
              <a:defRPr sz="1400">
                <a:latin typeface="Tahoma"/>
                <a:ea typeface="Tahoma"/>
                <a:cs typeface="Tahoma"/>
                <a:sym typeface="Tahoma"/>
              </a:defRPr>
            </a:pPr>
            <a:r>
              <a:rPr lang="en-AU" sz="1500" dirty="0">
                <a:latin typeface="+mn-lt"/>
              </a:rPr>
              <a:t>IaaS </a:t>
            </a:r>
            <a:r>
              <a:rPr sz="1500" dirty="0">
                <a:latin typeface="+mn-lt"/>
              </a:rPr>
              <a:t>provider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Title 1"/>
          <p:cNvSpPr txBox="1">
            <a:spLocks noGrp="1"/>
          </p:cNvSpPr>
          <p:nvPr>
            <p:ph type="title"/>
          </p:nvPr>
        </p:nvSpPr>
        <p:spPr>
          <a:xfrm>
            <a:off x="370743" y="118571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AU" b="1" dirty="0"/>
              <a:t>What services does a cloud provide?</a:t>
            </a:r>
            <a:endParaRPr b="1" dirty="0"/>
          </a:p>
        </p:txBody>
      </p:sp>
      <p:sp>
        <p:nvSpPr>
          <p:cNvPr id="431" name="Content Placeholder 2"/>
          <p:cNvSpPr txBox="1">
            <a:spLocks noGrp="1"/>
          </p:cNvSpPr>
          <p:nvPr>
            <p:ph idx="1"/>
          </p:nvPr>
        </p:nvSpPr>
        <p:spPr>
          <a:xfrm>
            <a:off x="157529" y="995986"/>
            <a:ext cx="8828942" cy="486602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1" indent="0">
              <a:lnSpc>
                <a:spcPct val="81000"/>
              </a:lnSpc>
              <a:buNone/>
              <a:defRPr sz="2200"/>
            </a:pPr>
            <a:endParaRPr dirty="0"/>
          </a:p>
          <a:p>
            <a:pPr>
              <a:lnSpc>
                <a:spcPct val="81000"/>
              </a:lnSpc>
              <a:defRPr sz="2500"/>
            </a:pPr>
            <a:r>
              <a:rPr sz="2400" dirty="0"/>
              <a:t>Three </a:t>
            </a:r>
            <a:r>
              <a:rPr lang="en-AU" sz="2400" dirty="0"/>
              <a:t>common </a:t>
            </a:r>
            <a:r>
              <a:rPr sz="2400" dirty="0"/>
              <a:t>types </a:t>
            </a:r>
            <a:r>
              <a:rPr lang="en-AU" sz="2400" dirty="0"/>
              <a:t>of cloud services</a:t>
            </a:r>
            <a:r>
              <a:rPr sz="2400" dirty="0"/>
              <a:t>:</a:t>
            </a:r>
          </a:p>
          <a:p>
            <a:pPr lvl="1">
              <a:lnSpc>
                <a:spcPct val="81000"/>
              </a:lnSpc>
              <a:defRPr sz="2200"/>
            </a:pPr>
            <a:r>
              <a:rPr lang="en-AU" b="1" dirty="0"/>
              <a:t>Software as a service </a:t>
            </a:r>
            <a:r>
              <a:rPr lang="en-AU" dirty="0"/>
              <a:t>(SaaS)</a:t>
            </a:r>
          </a:p>
          <a:p>
            <a:pPr lvl="2">
              <a:lnSpc>
                <a:spcPct val="81000"/>
              </a:lnSpc>
              <a:defRPr sz="1800"/>
            </a:pPr>
            <a:r>
              <a:rPr lang="en-AU" sz="2400" dirty="0"/>
              <a:t>SaaS delivers fully functional software on a subscription basis</a:t>
            </a:r>
            <a:r>
              <a:rPr lang="en-AU" sz="2200" dirty="0"/>
              <a:t>.</a:t>
            </a:r>
          </a:p>
          <a:p>
            <a:pPr lvl="1">
              <a:lnSpc>
                <a:spcPct val="81000"/>
              </a:lnSpc>
              <a:defRPr sz="2200"/>
            </a:pPr>
            <a:r>
              <a:rPr lang="en-AU" b="1" dirty="0"/>
              <a:t>Platform as a service</a:t>
            </a:r>
            <a:r>
              <a:rPr lang="en-AU" dirty="0"/>
              <a:t> (PaaS)</a:t>
            </a:r>
          </a:p>
          <a:p>
            <a:pPr lvl="2">
              <a:lnSpc>
                <a:spcPct val="81000"/>
              </a:lnSpc>
              <a:defRPr sz="1800"/>
            </a:pPr>
            <a:r>
              <a:rPr lang="en-AU" sz="2400" dirty="0"/>
              <a:t>PaaS provides pre-configured environments for users to develop their application</a:t>
            </a:r>
            <a:r>
              <a:rPr sz="2400" dirty="0"/>
              <a:t>. </a:t>
            </a:r>
          </a:p>
          <a:p>
            <a:pPr lvl="1">
              <a:lnSpc>
                <a:spcPct val="81000"/>
              </a:lnSpc>
              <a:defRPr sz="2200"/>
            </a:pPr>
            <a:r>
              <a:rPr sz="2400" b="1" dirty="0"/>
              <a:t>Infrastructure as a service </a:t>
            </a:r>
            <a:r>
              <a:rPr sz="2400" dirty="0"/>
              <a:t>(IaaS)</a:t>
            </a:r>
          </a:p>
          <a:p>
            <a:pPr lvl="2">
              <a:lnSpc>
                <a:spcPct val="81000"/>
              </a:lnSpc>
              <a:defRPr sz="1800"/>
            </a:pPr>
            <a:r>
              <a:rPr lang="en-US" sz="2400" dirty="0"/>
              <a:t>IaaS offers basic computing resources</a:t>
            </a:r>
            <a:r>
              <a:rPr sz="2400" dirty="0"/>
              <a:t>.</a:t>
            </a:r>
            <a:endParaRPr lang="en-AU" sz="2400" dirty="0"/>
          </a:p>
          <a:p>
            <a:pPr marL="685783" lvl="2" indent="0">
              <a:lnSpc>
                <a:spcPct val="81000"/>
              </a:lnSpc>
              <a:buNone/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939443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Title 1"/>
          <p:cNvSpPr txBox="1">
            <a:spLocks noGrp="1"/>
          </p:cNvSpPr>
          <p:nvPr>
            <p:ph type="title"/>
          </p:nvPr>
        </p:nvSpPr>
        <p:spPr>
          <a:xfrm>
            <a:off x="325043" y="193985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AU" b="1" dirty="0"/>
              <a:t>Public</a:t>
            </a:r>
            <a:r>
              <a:rPr b="1" dirty="0"/>
              <a:t>/</a:t>
            </a:r>
            <a:r>
              <a:rPr lang="en-AU" b="1" dirty="0"/>
              <a:t>C</a:t>
            </a:r>
            <a:r>
              <a:rPr b="1" dirty="0" err="1"/>
              <a:t>ommunity</a:t>
            </a:r>
            <a:r>
              <a:rPr lang="en-AU" b="1" dirty="0"/>
              <a:t>/Private</a:t>
            </a:r>
            <a:r>
              <a:rPr b="1" dirty="0"/>
              <a:t> clouds</a:t>
            </a:r>
          </a:p>
        </p:txBody>
      </p:sp>
      <p:sp>
        <p:nvSpPr>
          <p:cNvPr id="545" name="Content Placeholder 2"/>
          <p:cNvSpPr txBox="1">
            <a:spLocks noGrp="1"/>
          </p:cNvSpPr>
          <p:nvPr>
            <p:ph idx="1"/>
          </p:nvPr>
        </p:nvSpPr>
        <p:spPr>
          <a:xfrm>
            <a:off x="781556" y="3772569"/>
            <a:ext cx="8328907" cy="1978819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2500"/>
            </a:pPr>
            <a:r>
              <a:rPr lang="en-AU" sz="2200" dirty="0"/>
              <a:t>Targeting different customers:</a:t>
            </a:r>
            <a:endParaRPr sz="2200" dirty="0"/>
          </a:p>
          <a:p>
            <a:pPr lvl="1">
              <a:defRPr sz="2200">
                <a:solidFill>
                  <a:srgbClr val="FF9900"/>
                </a:solidFill>
              </a:defRPr>
            </a:pPr>
            <a:r>
              <a:rPr sz="2200" dirty="0"/>
              <a:t>Public cloud: </a:t>
            </a:r>
            <a:r>
              <a:rPr sz="2200" dirty="0">
                <a:solidFill>
                  <a:srgbClr val="000000"/>
                </a:solidFill>
              </a:rPr>
              <a:t>open to </a:t>
            </a:r>
            <a:r>
              <a:rPr lang="en-AU" sz="2200" dirty="0">
                <a:solidFill>
                  <a:srgbClr val="000000"/>
                </a:solidFill>
              </a:rPr>
              <a:t>general public</a:t>
            </a:r>
            <a:r>
              <a:rPr sz="2200" dirty="0">
                <a:solidFill>
                  <a:srgbClr val="000000"/>
                </a:solidFill>
              </a:rPr>
              <a:t>. </a:t>
            </a:r>
            <a:endParaRPr lang="en-AU" sz="2200" dirty="0">
              <a:solidFill>
                <a:srgbClr val="000000"/>
              </a:solidFill>
            </a:endParaRPr>
          </a:p>
          <a:p>
            <a:pPr lvl="2">
              <a:buFont typeface="Wingdings" panose="05000000000000000000" pitchFamily="2" charset="2"/>
              <a:buChar char="Ø"/>
              <a:defRPr sz="2200">
                <a:solidFill>
                  <a:srgbClr val="FF9900"/>
                </a:solidFill>
              </a:defRPr>
            </a:pPr>
            <a:r>
              <a:rPr sz="1900" dirty="0">
                <a:solidFill>
                  <a:srgbClr val="000000"/>
                </a:solidFill>
              </a:rPr>
              <a:t>Example: AWS, Microsoft Azure, Google </a:t>
            </a:r>
            <a:r>
              <a:rPr lang="en-AU" sz="1900" dirty="0">
                <a:solidFill>
                  <a:srgbClr val="000000"/>
                </a:solidFill>
              </a:rPr>
              <a:t>Compute</a:t>
            </a:r>
            <a:r>
              <a:rPr sz="1900" dirty="0">
                <a:solidFill>
                  <a:srgbClr val="000000"/>
                </a:solidFill>
              </a:rPr>
              <a:t> Engine</a:t>
            </a:r>
          </a:p>
          <a:p>
            <a:pPr lvl="1">
              <a:defRPr sz="2200">
                <a:solidFill>
                  <a:srgbClr val="FF9900"/>
                </a:solidFill>
              </a:defRPr>
            </a:pPr>
            <a:r>
              <a:rPr sz="2200" dirty="0"/>
              <a:t>Community cloud: </a:t>
            </a:r>
            <a:r>
              <a:rPr lang="en-AU" sz="2200" dirty="0">
                <a:solidFill>
                  <a:srgbClr val="000000"/>
                </a:solidFill>
              </a:rPr>
              <a:t>s</a:t>
            </a:r>
            <a:r>
              <a:rPr sz="2200" dirty="0">
                <a:solidFill>
                  <a:srgbClr val="000000"/>
                </a:solidFill>
              </a:rPr>
              <a:t>hared by </a:t>
            </a:r>
            <a:r>
              <a:rPr lang="en-US" sz="2200" dirty="0">
                <a:solidFill>
                  <a:srgbClr val="000000"/>
                </a:solidFill>
              </a:rPr>
              <a:t>multiple organizations with common interests and requirements.</a:t>
            </a:r>
          </a:p>
          <a:p>
            <a:pPr lvl="2">
              <a:buFont typeface="Wingdings" panose="05000000000000000000" pitchFamily="2" charset="2"/>
              <a:buChar char="Ø"/>
              <a:defRPr sz="2200">
                <a:solidFill>
                  <a:srgbClr val="FF9900"/>
                </a:solidFill>
              </a:defRPr>
            </a:pPr>
            <a:r>
              <a:rPr sz="1900" dirty="0">
                <a:solidFill>
                  <a:srgbClr val="000000"/>
                </a:solidFill>
              </a:rPr>
              <a:t>Example: </a:t>
            </a:r>
            <a:r>
              <a:rPr lang="en-AU" sz="1900" dirty="0">
                <a:solidFill>
                  <a:srgbClr val="000000"/>
                </a:solidFill>
              </a:rPr>
              <a:t>Healthcare Sectors</a:t>
            </a:r>
            <a:endParaRPr sz="1900" dirty="0">
              <a:solidFill>
                <a:srgbClr val="000000"/>
              </a:solidFill>
            </a:endParaRPr>
          </a:p>
          <a:p>
            <a:pPr lvl="1">
              <a:defRPr sz="2200">
                <a:solidFill>
                  <a:srgbClr val="FF9900"/>
                </a:solidFill>
              </a:defRPr>
            </a:pPr>
            <a:r>
              <a:rPr sz="2200" dirty="0"/>
              <a:t>Private cloud: </a:t>
            </a:r>
            <a:r>
              <a:rPr lang="en-AU" sz="2200" dirty="0">
                <a:solidFill>
                  <a:srgbClr val="000000"/>
                </a:solidFill>
              </a:rPr>
              <a:t>exclusively used by </a:t>
            </a:r>
            <a:r>
              <a:rPr sz="2200" dirty="0">
                <a:solidFill>
                  <a:srgbClr val="000000"/>
                </a:solidFill>
              </a:rPr>
              <a:t>a single organization. </a:t>
            </a:r>
            <a:endParaRPr lang="en-AU" sz="2200" dirty="0">
              <a:solidFill>
                <a:srgbClr val="000000"/>
              </a:solidFill>
            </a:endParaRPr>
          </a:p>
          <a:p>
            <a:pPr lvl="2">
              <a:buFont typeface="Wingdings" panose="05000000000000000000" pitchFamily="2" charset="2"/>
              <a:buChar char="Ø"/>
              <a:defRPr sz="2200">
                <a:solidFill>
                  <a:srgbClr val="FF9900"/>
                </a:solidFill>
              </a:defRPr>
            </a:pPr>
            <a:r>
              <a:rPr sz="1900" dirty="0">
                <a:solidFill>
                  <a:srgbClr val="000000"/>
                </a:solidFill>
              </a:rPr>
              <a:t>Example: </a:t>
            </a:r>
            <a:r>
              <a:rPr lang="en-AU" sz="1900" dirty="0">
                <a:solidFill>
                  <a:srgbClr val="000000"/>
                </a:solidFill>
              </a:rPr>
              <a:t>Google’s internal </a:t>
            </a:r>
            <a:r>
              <a:rPr lang="en-AU" sz="1900" dirty="0" err="1">
                <a:solidFill>
                  <a:srgbClr val="000000"/>
                </a:solidFill>
              </a:rPr>
              <a:t>datacenter</a:t>
            </a:r>
            <a:endParaRPr sz="1900" dirty="0">
              <a:solidFill>
                <a:srgbClr val="000000"/>
              </a:solidFill>
            </a:endParaRPr>
          </a:p>
        </p:txBody>
      </p:sp>
      <p:pic>
        <p:nvPicPr>
          <p:cNvPr id="551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882530" y="2094837"/>
            <a:ext cx="205979" cy="205979"/>
          </a:xfrm>
          <a:prstGeom prst="rect">
            <a:avLst/>
          </a:prstGeom>
          <a:ln w="12700">
            <a:miter lim="400000"/>
          </a:ln>
        </p:spPr>
      </p:pic>
      <p:pic>
        <p:nvPicPr>
          <p:cNvPr id="552" name="Picture 3" descr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449" y="1867425"/>
            <a:ext cx="207171" cy="207171"/>
          </a:xfrm>
          <a:prstGeom prst="rect">
            <a:avLst/>
          </a:prstGeom>
          <a:ln w="12700">
            <a:miter lim="400000"/>
          </a:ln>
        </p:spPr>
      </p:pic>
      <p:sp>
        <p:nvSpPr>
          <p:cNvPr id="553" name="Cloud"/>
          <p:cNvSpPr/>
          <p:nvPr/>
        </p:nvSpPr>
        <p:spPr>
          <a:xfrm rot="268469">
            <a:off x="1754107" y="2455067"/>
            <a:ext cx="1028855" cy="689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599" extrusionOk="0">
                <a:moveTo>
                  <a:pt x="1949" y="7181"/>
                </a:moveTo>
                <a:cubicBezTo>
                  <a:pt x="841" y="7337"/>
                  <a:pt x="0" y="8614"/>
                  <a:pt x="0" y="10138"/>
                </a:cubicBezTo>
                <a:cubicBezTo>
                  <a:pt x="-1" y="11193"/>
                  <a:pt x="409" y="12170"/>
                  <a:pt x="1074" y="12703"/>
                </a:cubicBezTo>
                <a:lnTo>
                  <a:pt x="1063" y="12669"/>
                </a:lnTo>
                <a:cubicBezTo>
                  <a:pt x="685" y="13218"/>
                  <a:pt x="475" y="13941"/>
                  <a:pt x="475" y="14691"/>
                </a:cubicBezTo>
                <a:cubicBezTo>
                  <a:pt x="475" y="16327"/>
                  <a:pt x="1451" y="17652"/>
                  <a:pt x="2655" y="17652"/>
                </a:cubicBezTo>
                <a:cubicBezTo>
                  <a:pt x="2739" y="17652"/>
                  <a:pt x="2824" y="17645"/>
                  <a:pt x="2909" y="17631"/>
                </a:cubicBezTo>
                <a:lnTo>
                  <a:pt x="2897" y="17651"/>
                </a:lnTo>
                <a:cubicBezTo>
                  <a:pt x="3585" y="19290"/>
                  <a:pt x="4863" y="20302"/>
                  <a:pt x="6248" y="20302"/>
                </a:cubicBezTo>
                <a:cubicBezTo>
                  <a:pt x="6948" y="20301"/>
                  <a:pt x="7636" y="20041"/>
                  <a:pt x="8236" y="19548"/>
                </a:cubicBezTo>
                <a:lnTo>
                  <a:pt x="8230" y="19552"/>
                </a:lnTo>
                <a:cubicBezTo>
                  <a:pt x="8856" y="20831"/>
                  <a:pt x="9909" y="21599"/>
                  <a:pt x="11037" y="21599"/>
                </a:cubicBezTo>
                <a:cubicBezTo>
                  <a:pt x="12524" y="21598"/>
                  <a:pt x="13837" y="20269"/>
                  <a:pt x="14268" y="18326"/>
                </a:cubicBezTo>
                <a:lnTo>
                  <a:pt x="14271" y="18352"/>
                </a:lnTo>
                <a:cubicBezTo>
                  <a:pt x="14731" y="18742"/>
                  <a:pt x="15261" y="18949"/>
                  <a:pt x="15803" y="18949"/>
                </a:cubicBezTo>
                <a:cubicBezTo>
                  <a:pt x="17392" y="18948"/>
                  <a:pt x="18684" y="17207"/>
                  <a:pt x="18696" y="15046"/>
                </a:cubicBezTo>
                <a:lnTo>
                  <a:pt x="18691" y="15036"/>
                </a:lnTo>
                <a:cubicBezTo>
                  <a:pt x="20359" y="14711"/>
                  <a:pt x="21599" y="12766"/>
                  <a:pt x="21599" y="10473"/>
                </a:cubicBezTo>
                <a:cubicBezTo>
                  <a:pt x="21599" y="9457"/>
                  <a:pt x="21352" y="8470"/>
                  <a:pt x="20898" y="7664"/>
                </a:cubicBezTo>
                <a:lnTo>
                  <a:pt x="20891" y="7662"/>
                </a:lnTo>
                <a:cubicBezTo>
                  <a:pt x="21033" y="7209"/>
                  <a:pt x="21107" y="6722"/>
                  <a:pt x="21107" y="6229"/>
                </a:cubicBezTo>
                <a:cubicBezTo>
                  <a:pt x="21107" y="4588"/>
                  <a:pt x="20301" y="3150"/>
                  <a:pt x="19141" y="2719"/>
                </a:cubicBezTo>
                <a:lnTo>
                  <a:pt x="19150" y="2712"/>
                </a:lnTo>
                <a:cubicBezTo>
                  <a:pt x="18942" y="1142"/>
                  <a:pt x="17935" y="0"/>
                  <a:pt x="16760" y="0"/>
                </a:cubicBezTo>
                <a:cubicBezTo>
                  <a:pt x="16045" y="-1"/>
                  <a:pt x="15368" y="426"/>
                  <a:pt x="14906" y="1165"/>
                </a:cubicBezTo>
                <a:lnTo>
                  <a:pt x="14910" y="1170"/>
                </a:lnTo>
                <a:cubicBezTo>
                  <a:pt x="14498" y="432"/>
                  <a:pt x="13856" y="0"/>
                  <a:pt x="13175" y="0"/>
                </a:cubicBezTo>
                <a:cubicBezTo>
                  <a:pt x="12348" y="-1"/>
                  <a:pt x="11591" y="637"/>
                  <a:pt x="11222" y="1645"/>
                </a:cubicBezTo>
                <a:lnTo>
                  <a:pt x="11230" y="1694"/>
                </a:lnTo>
                <a:cubicBezTo>
                  <a:pt x="10731" y="1024"/>
                  <a:pt x="10059" y="650"/>
                  <a:pt x="9359" y="650"/>
                </a:cubicBezTo>
                <a:cubicBezTo>
                  <a:pt x="8373" y="649"/>
                  <a:pt x="7467" y="1391"/>
                  <a:pt x="7004" y="2578"/>
                </a:cubicBezTo>
                <a:lnTo>
                  <a:pt x="6996" y="2602"/>
                </a:lnTo>
                <a:cubicBezTo>
                  <a:pt x="6478" y="2189"/>
                  <a:pt x="5889" y="1972"/>
                  <a:pt x="5288" y="1972"/>
                </a:cubicBezTo>
                <a:cubicBezTo>
                  <a:pt x="3423" y="1972"/>
                  <a:pt x="1912" y="4029"/>
                  <a:pt x="1912" y="6568"/>
                </a:cubicBezTo>
                <a:cubicBezTo>
                  <a:pt x="1911" y="6775"/>
                  <a:pt x="1922" y="6982"/>
                  <a:pt x="1942" y="7187"/>
                </a:cubicBezTo>
                <a:close/>
              </a:path>
            </a:pathLst>
          </a:custGeom>
          <a:solidFill>
            <a:srgbClr val="FFBE7D"/>
          </a:solidFill>
          <a:ln w="12700">
            <a:miter lim="400000"/>
          </a:ln>
          <a:effectLst>
            <a:outerShdw blurRad="50800" dist="50800" dir="2700000" rotWithShape="0">
              <a:srgbClr val="000000">
                <a:alpha val="40000"/>
              </a:srgbClr>
            </a:outerShdw>
          </a:effectLst>
        </p:spPr>
        <p:txBody>
          <a:bodyPr lIns="34289" rIns="3428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pic>
        <p:nvPicPr>
          <p:cNvPr id="554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361162" y="1851950"/>
            <a:ext cx="205979" cy="205979"/>
          </a:xfrm>
          <a:prstGeom prst="rect">
            <a:avLst/>
          </a:prstGeom>
          <a:ln w="12700">
            <a:miter lim="400000"/>
          </a:ln>
        </p:spPr>
      </p:pic>
      <p:pic>
        <p:nvPicPr>
          <p:cNvPr id="555" name="Picture 3" descr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8518" y="2053162"/>
            <a:ext cx="207171" cy="207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556" name="Picture 3" descr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94" y="1638826"/>
            <a:ext cx="207171" cy="207171"/>
          </a:xfrm>
          <a:prstGeom prst="rect">
            <a:avLst/>
          </a:prstGeom>
          <a:ln w="12700">
            <a:miter lim="400000"/>
          </a:ln>
        </p:spPr>
      </p:pic>
      <p:sp>
        <p:nvSpPr>
          <p:cNvPr id="557" name="Rounded Rectangle 29"/>
          <p:cNvSpPr/>
          <p:nvPr/>
        </p:nvSpPr>
        <p:spPr>
          <a:xfrm>
            <a:off x="4103046" y="1774559"/>
            <a:ext cx="382003" cy="500063"/>
          </a:xfrm>
          <a:prstGeom prst="roundRect">
            <a:avLst>
              <a:gd name="adj" fmla="val 16667"/>
            </a:avLst>
          </a:prstGeom>
          <a:ln w="19050">
            <a:solidFill>
              <a:srgbClr val="FF0000"/>
            </a:solidFill>
            <a:prstDash val="sysDash"/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sp>
        <p:nvSpPr>
          <p:cNvPr id="558" name="Cloud"/>
          <p:cNvSpPr/>
          <p:nvPr/>
        </p:nvSpPr>
        <p:spPr>
          <a:xfrm rot="268469">
            <a:off x="3732926" y="2433636"/>
            <a:ext cx="1028855" cy="689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599" extrusionOk="0">
                <a:moveTo>
                  <a:pt x="1949" y="7181"/>
                </a:moveTo>
                <a:cubicBezTo>
                  <a:pt x="841" y="7337"/>
                  <a:pt x="0" y="8614"/>
                  <a:pt x="0" y="10138"/>
                </a:cubicBezTo>
                <a:cubicBezTo>
                  <a:pt x="-1" y="11193"/>
                  <a:pt x="409" y="12170"/>
                  <a:pt x="1074" y="12703"/>
                </a:cubicBezTo>
                <a:lnTo>
                  <a:pt x="1063" y="12669"/>
                </a:lnTo>
                <a:cubicBezTo>
                  <a:pt x="685" y="13218"/>
                  <a:pt x="475" y="13941"/>
                  <a:pt x="475" y="14691"/>
                </a:cubicBezTo>
                <a:cubicBezTo>
                  <a:pt x="475" y="16327"/>
                  <a:pt x="1451" y="17652"/>
                  <a:pt x="2655" y="17652"/>
                </a:cubicBezTo>
                <a:cubicBezTo>
                  <a:pt x="2739" y="17652"/>
                  <a:pt x="2824" y="17645"/>
                  <a:pt x="2909" y="17631"/>
                </a:cubicBezTo>
                <a:lnTo>
                  <a:pt x="2897" y="17651"/>
                </a:lnTo>
                <a:cubicBezTo>
                  <a:pt x="3585" y="19290"/>
                  <a:pt x="4863" y="20302"/>
                  <a:pt x="6248" y="20302"/>
                </a:cubicBezTo>
                <a:cubicBezTo>
                  <a:pt x="6948" y="20301"/>
                  <a:pt x="7636" y="20041"/>
                  <a:pt x="8236" y="19548"/>
                </a:cubicBezTo>
                <a:lnTo>
                  <a:pt x="8230" y="19552"/>
                </a:lnTo>
                <a:cubicBezTo>
                  <a:pt x="8856" y="20831"/>
                  <a:pt x="9909" y="21599"/>
                  <a:pt x="11037" y="21599"/>
                </a:cubicBezTo>
                <a:cubicBezTo>
                  <a:pt x="12524" y="21598"/>
                  <a:pt x="13837" y="20269"/>
                  <a:pt x="14268" y="18326"/>
                </a:cubicBezTo>
                <a:lnTo>
                  <a:pt x="14271" y="18352"/>
                </a:lnTo>
                <a:cubicBezTo>
                  <a:pt x="14731" y="18742"/>
                  <a:pt x="15261" y="18949"/>
                  <a:pt x="15803" y="18949"/>
                </a:cubicBezTo>
                <a:cubicBezTo>
                  <a:pt x="17392" y="18948"/>
                  <a:pt x="18684" y="17207"/>
                  <a:pt x="18696" y="15046"/>
                </a:cubicBezTo>
                <a:lnTo>
                  <a:pt x="18691" y="15036"/>
                </a:lnTo>
                <a:cubicBezTo>
                  <a:pt x="20359" y="14711"/>
                  <a:pt x="21599" y="12766"/>
                  <a:pt x="21599" y="10473"/>
                </a:cubicBezTo>
                <a:cubicBezTo>
                  <a:pt x="21599" y="9457"/>
                  <a:pt x="21352" y="8470"/>
                  <a:pt x="20898" y="7664"/>
                </a:cubicBezTo>
                <a:lnTo>
                  <a:pt x="20891" y="7662"/>
                </a:lnTo>
                <a:cubicBezTo>
                  <a:pt x="21033" y="7209"/>
                  <a:pt x="21107" y="6722"/>
                  <a:pt x="21107" y="6229"/>
                </a:cubicBezTo>
                <a:cubicBezTo>
                  <a:pt x="21107" y="4588"/>
                  <a:pt x="20301" y="3150"/>
                  <a:pt x="19141" y="2719"/>
                </a:cubicBezTo>
                <a:lnTo>
                  <a:pt x="19150" y="2712"/>
                </a:lnTo>
                <a:cubicBezTo>
                  <a:pt x="18942" y="1142"/>
                  <a:pt x="17935" y="0"/>
                  <a:pt x="16760" y="0"/>
                </a:cubicBezTo>
                <a:cubicBezTo>
                  <a:pt x="16045" y="-1"/>
                  <a:pt x="15368" y="426"/>
                  <a:pt x="14906" y="1165"/>
                </a:cubicBezTo>
                <a:lnTo>
                  <a:pt x="14910" y="1170"/>
                </a:lnTo>
                <a:cubicBezTo>
                  <a:pt x="14498" y="432"/>
                  <a:pt x="13856" y="0"/>
                  <a:pt x="13175" y="0"/>
                </a:cubicBezTo>
                <a:cubicBezTo>
                  <a:pt x="12348" y="-1"/>
                  <a:pt x="11591" y="637"/>
                  <a:pt x="11222" y="1645"/>
                </a:cubicBezTo>
                <a:lnTo>
                  <a:pt x="11230" y="1694"/>
                </a:lnTo>
                <a:cubicBezTo>
                  <a:pt x="10731" y="1024"/>
                  <a:pt x="10059" y="650"/>
                  <a:pt x="9359" y="650"/>
                </a:cubicBezTo>
                <a:cubicBezTo>
                  <a:pt x="8373" y="649"/>
                  <a:pt x="7467" y="1391"/>
                  <a:pt x="7004" y="2578"/>
                </a:cubicBezTo>
                <a:lnTo>
                  <a:pt x="6996" y="2602"/>
                </a:lnTo>
                <a:cubicBezTo>
                  <a:pt x="6478" y="2189"/>
                  <a:pt x="5889" y="1972"/>
                  <a:pt x="5288" y="1972"/>
                </a:cubicBezTo>
                <a:cubicBezTo>
                  <a:pt x="3423" y="1972"/>
                  <a:pt x="1912" y="4029"/>
                  <a:pt x="1912" y="6568"/>
                </a:cubicBezTo>
                <a:cubicBezTo>
                  <a:pt x="1911" y="6775"/>
                  <a:pt x="1922" y="6982"/>
                  <a:pt x="1942" y="7187"/>
                </a:cubicBezTo>
                <a:close/>
              </a:path>
            </a:pathLst>
          </a:custGeom>
          <a:solidFill>
            <a:srgbClr val="FFBE7D"/>
          </a:solidFill>
          <a:ln w="12700">
            <a:miter lim="400000"/>
          </a:ln>
          <a:effectLst>
            <a:outerShdw blurRad="50800" dist="50800" dir="2700000" rotWithShape="0">
              <a:srgbClr val="000000">
                <a:alpha val="40000"/>
              </a:srgbClr>
            </a:outerShdw>
          </a:effectLst>
        </p:spPr>
        <p:txBody>
          <a:bodyPr lIns="34289" rIns="3428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sp>
        <p:nvSpPr>
          <p:cNvPr id="559" name="Cloud"/>
          <p:cNvSpPr/>
          <p:nvPr/>
        </p:nvSpPr>
        <p:spPr>
          <a:xfrm rot="268469">
            <a:off x="5804614" y="2405061"/>
            <a:ext cx="1028855" cy="689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599" extrusionOk="0">
                <a:moveTo>
                  <a:pt x="1949" y="7181"/>
                </a:moveTo>
                <a:cubicBezTo>
                  <a:pt x="841" y="7337"/>
                  <a:pt x="0" y="8614"/>
                  <a:pt x="0" y="10138"/>
                </a:cubicBezTo>
                <a:cubicBezTo>
                  <a:pt x="-1" y="11193"/>
                  <a:pt x="409" y="12170"/>
                  <a:pt x="1074" y="12703"/>
                </a:cubicBezTo>
                <a:lnTo>
                  <a:pt x="1063" y="12669"/>
                </a:lnTo>
                <a:cubicBezTo>
                  <a:pt x="685" y="13218"/>
                  <a:pt x="475" y="13941"/>
                  <a:pt x="475" y="14691"/>
                </a:cubicBezTo>
                <a:cubicBezTo>
                  <a:pt x="475" y="16327"/>
                  <a:pt x="1451" y="17652"/>
                  <a:pt x="2655" y="17652"/>
                </a:cubicBezTo>
                <a:cubicBezTo>
                  <a:pt x="2739" y="17652"/>
                  <a:pt x="2824" y="17645"/>
                  <a:pt x="2909" y="17631"/>
                </a:cubicBezTo>
                <a:lnTo>
                  <a:pt x="2897" y="17651"/>
                </a:lnTo>
                <a:cubicBezTo>
                  <a:pt x="3585" y="19290"/>
                  <a:pt x="4863" y="20302"/>
                  <a:pt x="6248" y="20302"/>
                </a:cubicBezTo>
                <a:cubicBezTo>
                  <a:pt x="6948" y="20301"/>
                  <a:pt x="7636" y="20041"/>
                  <a:pt x="8236" y="19548"/>
                </a:cubicBezTo>
                <a:lnTo>
                  <a:pt x="8230" y="19552"/>
                </a:lnTo>
                <a:cubicBezTo>
                  <a:pt x="8856" y="20831"/>
                  <a:pt x="9909" y="21599"/>
                  <a:pt x="11037" y="21599"/>
                </a:cubicBezTo>
                <a:cubicBezTo>
                  <a:pt x="12524" y="21598"/>
                  <a:pt x="13837" y="20269"/>
                  <a:pt x="14268" y="18326"/>
                </a:cubicBezTo>
                <a:lnTo>
                  <a:pt x="14271" y="18352"/>
                </a:lnTo>
                <a:cubicBezTo>
                  <a:pt x="14731" y="18742"/>
                  <a:pt x="15261" y="18949"/>
                  <a:pt x="15803" y="18949"/>
                </a:cubicBezTo>
                <a:cubicBezTo>
                  <a:pt x="17392" y="18948"/>
                  <a:pt x="18684" y="17207"/>
                  <a:pt x="18696" y="15046"/>
                </a:cubicBezTo>
                <a:lnTo>
                  <a:pt x="18691" y="15036"/>
                </a:lnTo>
                <a:cubicBezTo>
                  <a:pt x="20359" y="14711"/>
                  <a:pt x="21599" y="12766"/>
                  <a:pt x="21599" y="10473"/>
                </a:cubicBezTo>
                <a:cubicBezTo>
                  <a:pt x="21599" y="9457"/>
                  <a:pt x="21352" y="8470"/>
                  <a:pt x="20898" y="7664"/>
                </a:cubicBezTo>
                <a:lnTo>
                  <a:pt x="20891" y="7662"/>
                </a:lnTo>
                <a:cubicBezTo>
                  <a:pt x="21033" y="7209"/>
                  <a:pt x="21107" y="6722"/>
                  <a:pt x="21107" y="6229"/>
                </a:cubicBezTo>
                <a:cubicBezTo>
                  <a:pt x="21107" y="4588"/>
                  <a:pt x="20301" y="3150"/>
                  <a:pt x="19141" y="2719"/>
                </a:cubicBezTo>
                <a:lnTo>
                  <a:pt x="19150" y="2712"/>
                </a:lnTo>
                <a:cubicBezTo>
                  <a:pt x="18942" y="1142"/>
                  <a:pt x="17935" y="0"/>
                  <a:pt x="16760" y="0"/>
                </a:cubicBezTo>
                <a:cubicBezTo>
                  <a:pt x="16045" y="-1"/>
                  <a:pt x="15368" y="426"/>
                  <a:pt x="14906" y="1165"/>
                </a:cubicBezTo>
                <a:lnTo>
                  <a:pt x="14910" y="1170"/>
                </a:lnTo>
                <a:cubicBezTo>
                  <a:pt x="14498" y="432"/>
                  <a:pt x="13856" y="0"/>
                  <a:pt x="13175" y="0"/>
                </a:cubicBezTo>
                <a:cubicBezTo>
                  <a:pt x="12348" y="-1"/>
                  <a:pt x="11591" y="637"/>
                  <a:pt x="11222" y="1645"/>
                </a:cubicBezTo>
                <a:lnTo>
                  <a:pt x="11230" y="1694"/>
                </a:lnTo>
                <a:cubicBezTo>
                  <a:pt x="10731" y="1024"/>
                  <a:pt x="10059" y="650"/>
                  <a:pt x="9359" y="650"/>
                </a:cubicBezTo>
                <a:cubicBezTo>
                  <a:pt x="8373" y="649"/>
                  <a:pt x="7467" y="1391"/>
                  <a:pt x="7004" y="2578"/>
                </a:cubicBezTo>
                <a:lnTo>
                  <a:pt x="6996" y="2602"/>
                </a:lnTo>
                <a:cubicBezTo>
                  <a:pt x="6478" y="2189"/>
                  <a:pt x="5889" y="1972"/>
                  <a:pt x="5288" y="1972"/>
                </a:cubicBezTo>
                <a:cubicBezTo>
                  <a:pt x="3423" y="1972"/>
                  <a:pt x="1912" y="4029"/>
                  <a:pt x="1912" y="6568"/>
                </a:cubicBezTo>
                <a:cubicBezTo>
                  <a:pt x="1911" y="6775"/>
                  <a:pt x="1922" y="6982"/>
                  <a:pt x="1942" y="7187"/>
                </a:cubicBezTo>
                <a:close/>
              </a:path>
            </a:pathLst>
          </a:custGeom>
          <a:solidFill>
            <a:srgbClr val="FFBE7D"/>
          </a:solidFill>
          <a:ln w="12700">
            <a:miter lim="400000"/>
          </a:ln>
          <a:effectLst>
            <a:outerShdw blurRad="50800" dist="50800" dir="2700000" rotWithShape="0">
              <a:srgbClr val="000000">
                <a:alpha val="40000"/>
              </a:srgbClr>
            </a:outerShdw>
          </a:effectLst>
        </p:spPr>
        <p:txBody>
          <a:bodyPr lIns="34289" rIns="3428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sp>
        <p:nvSpPr>
          <p:cNvPr id="560" name="Rounded Rectangle 33"/>
          <p:cNvSpPr/>
          <p:nvPr/>
        </p:nvSpPr>
        <p:spPr>
          <a:xfrm>
            <a:off x="4581677" y="1774559"/>
            <a:ext cx="382003" cy="500063"/>
          </a:xfrm>
          <a:prstGeom prst="roundRect">
            <a:avLst>
              <a:gd name="adj" fmla="val 16667"/>
            </a:avLst>
          </a:prstGeom>
          <a:ln w="19050">
            <a:solidFill>
              <a:srgbClr val="FF0000"/>
            </a:solidFill>
            <a:prstDash val="sysDash"/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pic>
        <p:nvPicPr>
          <p:cNvPr id="561" name="Picture 3" descr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4438" y="2046018"/>
            <a:ext cx="207171" cy="207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562" name="Picture 3" descr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394" y="1888856"/>
            <a:ext cx="207171" cy="207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563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468318" y="2159130"/>
            <a:ext cx="205979" cy="205979"/>
          </a:xfrm>
          <a:prstGeom prst="rect">
            <a:avLst/>
          </a:prstGeom>
          <a:ln w="12700">
            <a:miter lim="400000"/>
          </a:ln>
        </p:spPr>
      </p:pic>
      <p:pic>
        <p:nvPicPr>
          <p:cNvPr id="564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104237" y="1830518"/>
            <a:ext cx="205979" cy="205979"/>
          </a:xfrm>
          <a:prstGeom prst="rect">
            <a:avLst/>
          </a:prstGeom>
          <a:ln w="12700">
            <a:miter lim="400000"/>
          </a:ln>
        </p:spPr>
      </p:pic>
      <p:pic>
        <p:nvPicPr>
          <p:cNvPr id="565" name="Picture 3" descr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7262" y="2217469"/>
            <a:ext cx="207171" cy="207171"/>
          </a:xfrm>
          <a:prstGeom prst="rect">
            <a:avLst/>
          </a:prstGeom>
          <a:ln w="12700">
            <a:miter lim="400000"/>
          </a:ln>
        </p:spPr>
      </p:pic>
      <p:sp>
        <p:nvSpPr>
          <p:cNvPr id="566" name="Straight Arrow Connector 49"/>
          <p:cNvSpPr/>
          <p:nvPr/>
        </p:nvSpPr>
        <p:spPr>
          <a:xfrm flipH="1">
            <a:off x="4253064" y="2274620"/>
            <a:ext cx="40983" cy="314327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567" name="Straight Arrow Connector 51"/>
          <p:cNvSpPr/>
          <p:nvPr/>
        </p:nvSpPr>
        <p:spPr>
          <a:xfrm flipH="1">
            <a:off x="4538812" y="2274619"/>
            <a:ext cx="233864" cy="321471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grpSp>
        <p:nvGrpSpPr>
          <p:cNvPr id="571" name="Group 55"/>
          <p:cNvGrpSpPr/>
          <p:nvPr/>
        </p:nvGrpSpPr>
        <p:grpSpPr>
          <a:xfrm>
            <a:off x="1962071" y="2638952"/>
            <a:ext cx="645567" cy="321469"/>
            <a:chOff x="0" y="0"/>
            <a:chExt cx="860754" cy="428623"/>
          </a:xfrm>
        </p:grpSpPr>
        <p:pic>
          <p:nvPicPr>
            <p:cNvPr id="568" name="Picture 51" descr="Picture 5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2982" y="-1"/>
              <a:ext cx="417774" cy="4178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9" name="Picture 51" descr="Picture 5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1491" y="5402"/>
              <a:ext cx="417773" cy="4178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0" name="Picture 51" descr="Picture 5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10805"/>
              <a:ext cx="417773" cy="41781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575" name="Group 56"/>
          <p:cNvGrpSpPr/>
          <p:nvPr/>
        </p:nvGrpSpPr>
        <p:grpSpPr>
          <a:xfrm>
            <a:off x="3940890" y="2610377"/>
            <a:ext cx="645567" cy="321469"/>
            <a:chOff x="0" y="0"/>
            <a:chExt cx="860754" cy="428623"/>
          </a:xfrm>
        </p:grpSpPr>
        <p:pic>
          <p:nvPicPr>
            <p:cNvPr id="572" name="Picture 51" descr="Picture 5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2982" y="-1"/>
              <a:ext cx="417774" cy="4178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3" name="Picture 51" descr="Picture 5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1491" y="5402"/>
              <a:ext cx="417773" cy="4178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4" name="Picture 51" descr="Picture 5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10805"/>
              <a:ext cx="417773" cy="41781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579" name="Group 60"/>
          <p:cNvGrpSpPr/>
          <p:nvPr/>
        </p:nvGrpSpPr>
        <p:grpSpPr>
          <a:xfrm>
            <a:off x="6012578" y="2603233"/>
            <a:ext cx="645567" cy="321469"/>
            <a:chOff x="0" y="0"/>
            <a:chExt cx="860754" cy="428623"/>
          </a:xfrm>
        </p:grpSpPr>
        <p:pic>
          <p:nvPicPr>
            <p:cNvPr id="576" name="Picture 51" descr="Picture 5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2982" y="-1"/>
              <a:ext cx="417774" cy="4178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7" name="Picture 51" descr="Picture 5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1491" y="5402"/>
              <a:ext cx="417773" cy="4178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8" name="Picture 51" descr="Picture 5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10805"/>
              <a:ext cx="417773" cy="41781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80" name="TextBox 64"/>
          <p:cNvSpPr txBox="1"/>
          <p:nvPr/>
        </p:nvSpPr>
        <p:spPr>
          <a:xfrm>
            <a:off x="3958979" y="1401606"/>
            <a:ext cx="609460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>
            <a:spAutoFit/>
          </a:bodyPr>
          <a:lstStyle/>
          <a:p>
            <a:pPr>
              <a:spcBef>
                <a:spcPts val="151"/>
              </a:spcBef>
              <a:defRPr sz="1200">
                <a:latin typeface="Tahoma"/>
                <a:ea typeface="Tahoma"/>
                <a:cs typeface="Tahoma"/>
                <a:sym typeface="Tahoma"/>
              </a:defRPr>
            </a:pPr>
            <a:r>
              <a:rPr sz="1100" dirty="0">
                <a:latin typeface="+mn-lt"/>
              </a:rPr>
              <a:t>Company</a:t>
            </a:r>
            <a:br>
              <a:rPr sz="1100" dirty="0">
                <a:latin typeface="+mn-lt"/>
              </a:rPr>
            </a:br>
            <a:r>
              <a:rPr sz="1100" dirty="0">
                <a:latin typeface="+mn-lt"/>
              </a:rPr>
              <a:t>A</a:t>
            </a:r>
          </a:p>
        </p:txBody>
      </p:sp>
      <p:sp>
        <p:nvSpPr>
          <p:cNvPr id="581" name="TextBox 65"/>
          <p:cNvSpPr txBox="1"/>
          <p:nvPr/>
        </p:nvSpPr>
        <p:spPr>
          <a:xfrm>
            <a:off x="4545015" y="1401606"/>
            <a:ext cx="609460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>
            <a:spAutoFit/>
          </a:bodyPr>
          <a:lstStyle/>
          <a:p>
            <a:pPr>
              <a:spcBef>
                <a:spcPts val="151"/>
              </a:spcBef>
              <a:defRPr sz="1200">
                <a:latin typeface="Tahoma"/>
                <a:ea typeface="Tahoma"/>
                <a:cs typeface="Tahoma"/>
                <a:sym typeface="Tahoma"/>
              </a:defRPr>
            </a:pPr>
            <a:r>
              <a:rPr sz="1100" dirty="0">
                <a:latin typeface="+mn-lt"/>
              </a:rPr>
              <a:t>Company</a:t>
            </a:r>
            <a:br>
              <a:rPr sz="1100" dirty="0">
                <a:latin typeface="+mn-lt"/>
              </a:rPr>
            </a:br>
            <a:r>
              <a:rPr sz="1100" dirty="0">
                <a:latin typeface="+mn-lt"/>
              </a:rPr>
              <a:t>B</a:t>
            </a:r>
          </a:p>
        </p:txBody>
      </p:sp>
      <p:sp>
        <p:nvSpPr>
          <p:cNvPr id="582" name="Rounded Rectangle 66"/>
          <p:cNvSpPr/>
          <p:nvPr/>
        </p:nvSpPr>
        <p:spPr>
          <a:xfrm>
            <a:off x="5681811" y="2067453"/>
            <a:ext cx="1307308" cy="1121569"/>
          </a:xfrm>
          <a:prstGeom prst="roundRect">
            <a:avLst>
              <a:gd name="adj" fmla="val 16667"/>
            </a:avLst>
          </a:prstGeom>
          <a:ln w="19050">
            <a:solidFill>
              <a:srgbClr val="FF0000"/>
            </a:solidFill>
            <a:prstDash val="sysDash"/>
          </a:ln>
        </p:spPr>
        <p:txBody>
          <a:bodyPr lIns="34289" rIns="3428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 sz="1500"/>
          </a:p>
        </p:txBody>
      </p:sp>
      <p:pic>
        <p:nvPicPr>
          <p:cNvPr id="583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6347" y="2167463"/>
            <a:ext cx="208360" cy="208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4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1684" y="1917431"/>
            <a:ext cx="208360" cy="208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5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7297" y="1753124"/>
            <a:ext cx="208360" cy="208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6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254256" y="2009112"/>
            <a:ext cx="205979" cy="205979"/>
          </a:xfrm>
          <a:prstGeom prst="rect">
            <a:avLst/>
          </a:prstGeom>
          <a:ln w="12700">
            <a:miter lim="400000"/>
          </a:ln>
        </p:spPr>
      </p:pic>
      <p:pic>
        <p:nvPicPr>
          <p:cNvPr id="587" name="Picture 3" descr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281" y="1781700"/>
            <a:ext cx="207171" cy="207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588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3528" y="2124599"/>
            <a:ext cx="208360" cy="208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9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4991" y="2224612"/>
            <a:ext cx="208360" cy="208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0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6453" y="2110312"/>
            <a:ext cx="208360" cy="208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1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328" y="2331768"/>
            <a:ext cx="208360" cy="208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2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2047" y="2417493"/>
            <a:ext cx="208360" cy="208360"/>
          </a:xfrm>
          <a:prstGeom prst="rect">
            <a:avLst/>
          </a:prstGeom>
          <a:ln w="12700">
            <a:miter lim="400000"/>
          </a:ln>
        </p:spPr>
      </p:pic>
      <p:sp>
        <p:nvSpPr>
          <p:cNvPr id="593" name="Straight Arrow Connector 79"/>
          <p:cNvSpPr/>
          <p:nvPr/>
        </p:nvSpPr>
        <p:spPr>
          <a:xfrm>
            <a:off x="2009928" y="2353199"/>
            <a:ext cx="100013" cy="25003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594" name="Straight Arrow Connector 81"/>
          <p:cNvSpPr/>
          <p:nvPr/>
        </p:nvSpPr>
        <p:spPr>
          <a:xfrm>
            <a:off x="2117083" y="2017445"/>
            <a:ext cx="121445" cy="564357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595" name="Straight Arrow Connector 83"/>
          <p:cNvSpPr/>
          <p:nvPr/>
        </p:nvSpPr>
        <p:spPr>
          <a:xfrm flipH="1">
            <a:off x="2402831" y="2057926"/>
            <a:ext cx="61319" cy="516731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596" name="Straight Arrow Connector 85"/>
          <p:cNvSpPr/>
          <p:nvPr/>
        </p:nvSpPr>
        <p:spPr>
          <a:xfrm>
            <a:off x="1724175" y="2138885"/>
            <a:ext cx="257176" cy="47863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597" name="Straight Arrow Connector 87"/>
          <p:cNvSpPr/>
          <p:nvPr/>
        </p:nvSpPr>
        <p:spPr>
          <a:xfrm flipH="1">
            <a:off x="2595712" y="2146034"/>
            <a:ext cx="185739" cy="457201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pic>
        <p:nvPicPr>
          <p:cNvPr id="598" name="Picture 3" descr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5713" y="1710262"/>
            <a:ext cx="207171" cy="207171"/>
          </a:xfrm>
          <a:prstGeom prst="rect">
            <a:avLst/>
          </a:prstGeom>
          <a:ln w="12700">
            <a:miter lim="400000"/>
          </a:ln>
        </p:spPr>
      </p:pic>
      <p:sp>
        <p:nvSpPr>
          <p:cNvPr id="599" name="Straight Arrow Connector 90"/>
          <p:cNvSpPr/>
          <p:nvPr/>
        </p:nvSpPr>
        <p:spPr>
          <a:xfrm>
            <a:off x="5924700" y="2410349"/>
            <a:ext cx="200027" cy="15002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600" name="Straight Arrow Connector 92"/>
          <p:cNvSpPr/>
          <p:nvPr/>
        </p:nvSpPr>
        <p:spPr>
          <a:xfrm flipH="1">
            <a:off x="6560495" y="2353198"/>
            <a:ext cx="128588" cy="207171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601" name="Straight Arrow Connector 94"/>
          <p:cNvSpPr/>
          <p:nvPr/>
        </p:nvSpPr>
        <p:spPr>
          <a:xfrm>
            <a:off x="6177707" y="2332962"/>
            <a:ext cx="104180" cy="234553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pic>
        <p:nvPicPr>
          <p:cNvPr id="602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811593" y="1780512"/>
            <a:ext cx="205979" cy="205979"/>
          </a:xfrm>
          <a:prstGeom prst="rect">
            <a:avLst/>
          </a:prstGeom>
          <a:ln w="12700">
            <a:miter lim="400000"/>
          </a:ln>
        </p:spPr>
      </p:pic>
      <p:pic>
        <p:nvPicPr>
          <p:cNvPr id="603" name="Picture 3" descr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949" y="1617394"/>
            <a:ext cx="207171" cy="207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04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340230" y="1587630"/>
            <a:ext cx="205979" cy="205979"/>
          </a:xfrm>
          <a:prstGeom prst="rect">
            <a:avLst/>
          </a:prstGeom>
          <a:ln w="12700">
            <a:miter lim="400000"/>
          </a:ln>
        </p:spPr>
      </p:pic>
      <p:pic>
        <p:nvPicPr>
          <p:cNvPr id="605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840168" y="1466186"/>
            <a:ext cx="205979" cy="205979"/>
          </a:xfrm>
          <a:prstGeom prst="rect">
            <a:avLst/>
          </a:prstGeom>
          <a:ln w="12700">
            <a:miter lim="400000"/>
          </a:ln>
        </p:spPr>
      </p:pic>
      <p:pic>
        <p:nvPicPr>
          <p:cNvPr id="606" name="Picture 3" descr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581" y="1738837"/>
            <a:ext cx="207171" cy="207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07" name="Picture 3" descr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724" y="1445944"/>
            <a:ext cx="207171" cy="207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08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811718" y="1773369"/>
            <a:ext cx="205979" cy="205979"/>
          </a:xfrm>
          <a:prstGeom prst="rect">
            <a:avLst/>
          </a:prstGeom>
          <a:ln w="12700">
            <a:miter lim="400000"/>
          </a:ln>
        </p:spPr>
      </p:pic>
      <p:pic>
        <p:nvPicPr>
          <p:cNvPr id="609" name="Picture 3" descr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486" y="1745981"/>
            <a:ext cx="207171" cy="207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10" name="Picture 3" descr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930" y="1524526"/>
            <a:ext cx="207171" cy="207171"/>
          </a:xfrm>
          <a:prstGeom prst="rect">
            <a:avLst/>
          </a:prstGeom>
          <a:ln w="12700">
            <a:miter lim="400000"/>
          </a:ln>
        </p:spPr>
      </p:pic>
      <p:sp>
        <p:nvSpPr>
          <p:cNvPr id="611" name="TextBox 104"/>
          <p:cNvSpPr txBox="1"/>
          <p:nvPr/>
        </p:nvSpPr>
        <p:spPr>
          <a:xfrm>
            <a:off x="2056248" y="3149115"/>
            <a:ext cx="445954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 dirty="0">
                <a:latin typeface="+mn-lt"/>
              </a:rPr>
              <a:t>Public</a:t>
            </a:r>
          </a:p>
        </p:txBody>
      </p:sp>
      <p:sp>
        <p:nvSpPr>
          <p:cNvPr id="612" name="TextBox 105"/>
          <p:cNvSpPr txBox="1"/>
          <p:nvPr/>
        </p:nvSpPr>
        <p:spPr>
          <a:xfrm>
            <a:off x="3888918" y="3170546"/>
            <a:ext cx="795409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 dirty="0">
                <a:latin typeface="+mn-lt"/>
              </a:rPr>
              <a:t>Community</a:t>
            </a:r>
          </a:p>
        </p:txBody>
      </p:sp>
      <p:sp>
        <p:nvSpPr>
          <p:cNvPr id="613" name="TextBox 106"/>
          <p:cNvSpPr txBox="1"/>
          <p:nvPr/>
        </p:nvSpPr>
        <p:spPr>
          <a:xfrm>
            <a:off x="6099593" y="3184834"/>
            <a:ext cx="503149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 dirty="0">
                <a:latin typeface="+mn-lt"/>
              </a:rPr>
              <a:t>Private</a:t>
            </a:r>
          </a:p>
        </p:txBody>
      </p:sp>
      <p:pic>
        <p:nvPicPr>
          <p:cNvPr id="614" name="Picture 8" descr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5590" y="2624665"/>
            <a:ext cx="349937" cy="349937"/>
          </a:xfrm>
          <a:prstGeom prst="rect">
            <a:avLst/>
          </a:prstGeom>
          <a:ln w="12700">
            <a:miter lim="400000"/>
          </a:ln>
        </p:spPr>
      </p:pic>
      <p:pic>
        <p:nvPicPr>
          <p:cNvPr id="615" name="Picture 8" descr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1551" y="2617521"/>
            <a:ext cx="349937" cy="349937"/>
          </a:xfrm>
          <a:prstGeom prst="rect">
            <a:avLst/>
          </a:prstGeom>
          <a:ln w="12700">
            <a:miter lim="400000"/>
          </a:ln>
        </p:spPr>
      </p:pic>
      <p:pic>
        <p:nvPicPr>
          <p:cNvPr id="616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0484" y="1817419"/>
            <a:ext cx="208360" cy="208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7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7647" y="2024587"/>
            <a:ext cx="208360" cy="2083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43841" y="157643"/>
            <a:ext cx="3062068" cy="942975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Practice Questions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85F180D1-C7EF-4A34-96CA-73A86A26F467}"/>
              </a:ext>
            </a:extLst>
          </p:cNvPr>
          <p:cNvSpPr txBox="1">
            <a:spLocks/>
          </p:cNvSpPr>
          <p:nvPr/>
        </p:nvSpPr>
        <p:spPr>
          <a:xfrm>
            <a:off x="243840" y="1100615"/>
            <a:ext cx="8696960" cy="1317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200" dirty="0"/>
              <a:t>[7 marks] Q1: What is </a:t>
            </a:r>
            <a:r>
              <a:rPr lang="en-AU" sz="2200" dirty="0" err="1"/>
              <a:t>XaaS</a:t>
            </a:r>
            <a:r>
              <a:rPr lang="en-AU" sz="2200" dirty="0"/>
              <a:t> cloud computing? </a:t>
            </a:r>
            <a:r>
              <a:rPr lang="en-US" sz="2200" dirty="0"/>
              <a:t>Describe three different services of </a:t>
            </a:r>
            <a:r>
              <a:rPr lang="en-US" sz="2200" dirty="0" err="1"/>
              <a:t>XaaS</a:t>
            </a:r>
            <a:r>
              <a:rPr lang="en-US" sz="2200" dirty="0"/>
              <a:t> cloud computing can provide and a specific example of each service.</a:t>
            </a:r>
          </a:p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95699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43841" y="157643"/>
            <a:ext cx="3062068" cy="942975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Practice Questions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85F180D1-C7EF-4A34-96CA-73A86A26F467}"/>
              </a:ext>
            </a:extLst>
          </p:cNvPr>
          <p:cNvSpPr txBox="1">
            <a:spLocks/>
          </p:cNvSpPr>
          <p:nvPr/>
        </p:nvSpPr>
        <p:spPr>
          <a:xfrm>
            <a:off x="243840" y="1100614"/>
            <a:ext cx="8696960" cy="5173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200" dirty="0"/>
              <a:t>[7 marks] Q1: What is </a:t>
            </a:r>
            <a:r>
              <a:rPr lang="en-AU" sz="2200" dirty="0" err="1"/>
              <a:t>XaaS</a:t>
            </a:r>
            <a:r>
              <a:rPr lang="en-AU" sz="2200" dirty="0"/>
              <a:t> cloud computing? </a:t>
            </a:r>
            <a:r>
              <a:rPr lang="en-US" sz="2200" dirty="0"/>
              <a:t>Describe three different services of </a:t>
            </a:r>
            <a:r>
              <a:rPr lang="en-US" sz="2200" dirty="0" err="1"/>
              <a:t>XaaS</a:t>
            </a:r>
            <a:r>
              <a:rPr lang="en-US" sz="2200" dirty="0"/>
              <a:t> cloud computing can provide and a specific example of each service.</a:t>
            </a:r>
          </a:p>
          <a:p>
            <a:pPr fontAlgn="auto">
              <a:spcAft>
                <a:spcPts val="0"/>
              </a:spcAft>
              <a:buClrTx/>
              <a:buSzTx/>
            </a:pPr>
            <a:endParaRPr lang="en-US" sz="2200" dirty="0"/>
          </a:p>
          <a:p>
            <a:pPr fontAlgn="auto">
              <a:spcAft>
                <a:spcPts val="0"/>
              </a:spcAft>
              <a:buClrTx/>
              <a:buSzTx/>
            </a:pPr>
            <a:endParaRPr lang="en-AU" sz="2200" dirty="0"/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dirty="0">
                <a:solidFill>
                  <a:srgbClr val="374151"/>
                </a:solidFill>
                <a:latin typeface="Söhne"/>
              </a:rPr>
              <a:t>[</a:t>
            </a:r>
            <a:r>
              <a:rPr lang="en-US" sz="2200" dirty="0"/>
              <a:t>1 mark] Cloud computing offers a range of services, referred to as "</a:t>
            </a:r>
            <a:r>
              <a:rPr lang="en-US" sz="2200" dirty="0" err="1"/>
              <a:t>XaaS</a:t>
            </a:r>
            <a:r>
              <a:rPr lang="en-US" sz="2200" dirty="0"/>
              <a:t>," which stands for "Anything as a Service." 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[2 marks] Infrastructure as a Service that provides basic virtualized computing resources. An example is AWS EC2.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[2 marks] </a:t>
            </a:r>
            <a:r>
              <a:rPr lang="en-AU" sz="2200" dirty="0"/>
              <a:t>Platform as a Service that provides </a:t>
            </a:r>
            <a:r>
              <a:rPr lang="en-US" sz="2200" dirty="0"/>
              <a:t>pre-configured environments for developers to build, deploy, and manage applications. An examples is </a:t>
            </a:r>
            <a:r>
              <a:rPr lang="en-AU" sz="2200" dirty="0"/>
              <a:t>Google App Engine or Heroku</a:t>
            </a:r>
            <a:r>
              <a:rPr lang="en-US" sz="2200" dirty="0"/>
              <a:t>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 [2 marks] Software as a Service that delivers functional software. An example is </a:t>
            </a:r>
            <a:r>
              <a:rPr lang="en-AU" sz="2200" dirty="0"/>
              <a:t>Microsoft 365 office or Google workplace.</a:t>
            </a:r>
            <a:endParaRPr lang="en-US" sz="2200" dirty="0"/>
          </a:p>
          <a:p>
            <a:pPr fontAlgn="auto">
              <a:spcAft>
                <a:spcPts val="0"/>
              </a:spcAft>
              <a:buClrTx/>
              <a:buSzTx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19156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505" y="195092"/>
            <a:ext cx="5689777" cy="106279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AWS: </a:t>
            </a:r>
            <a:r>
              <a:rPr lang="en-US" sz="3600" b="1" dirty="0"/>
              <a:t>the leading cloud providing a wide range of services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BD0770-D98E-42F9-9FD1-4406C9105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700" y="1428533"/>
            <a:ext cx="2765793" cy="47250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F6EBB7-534D-4911-9083-CAC48B38BE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059" y="1428534"/>
            <a:ext cx="2972853" cy="472505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0903BA2-D6DD-4A15-8F26-AC58FF94AA1A}"/>
              </a:ext>
            </a:extLst>
          </p:cNvPr>
          <p:cNvSpPr txBox="1">
            <a:spLocks/>
          </p:cNvSpPr>
          <p:nvPr/>
        </p:nvSpPr>
        <p:spPr>
          <a:xfrm>
            <a:off x="334505" y="195092"/>
            <a:ext cx="5564271" cy="10627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b="1"/>
              <a:t>AWS: </a:t>
            </a:r>
            <a:r>
              <a:rPr lang="en-US" sz="3600" b="1"/>
              <a:t>the leading cloud providing a wide range of services</a:t>
            </a:r>
            <a:endParaRPr lang="en-US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6ED463-AD73-42C8-9BEB-2CA5574DFB5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34505" y="1257883"/>
            <a:ext cx="8328907" cy="1978819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2500"/>
            </a:pPr>
            <a:r>
              <a:rPr lang="en-AU" sz="2000" dirty="0"/>
              <a:t>The services satisfy different needs of customers.</a:t>
            </a:r>
            <a:r>
              <a:rPr lang="en-US" sz="2000" dirty="0"/>
              <a:t> </a:t>
            </a:r>
          </a:p>
          <a:p>
            <a:pPr lvl="1">
              <a:defRPr sz="2500"/>
            </a:pPr>
            <a:r>
              <a:rPr lang="en-US" sz="2000" dirty="0"/>
              <a:t>e.g., build a web application</a:t>
            </a:r>
            <a:endParaRPr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D72571-E0DE-4A5D-A851-81F8C5BB10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" y="2320674"/>
            <a:ext cx="7469970" cy="352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7013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715" y="173197"/>
            <a:ext cx="7886700" cy="840219"/>
          </a:xfrm>
        </p:spPr>
        <p:txBody>
          <a:bodyPr/>
          <a:lstStyle/>
          <a:p>
            <a:r>
              <a:rPr lang="en-US" b="1" dirty="0"/>
              <a:t>What is an application architecture?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715" y="1013416"/>
            <a:ext cx="8282570" cy="4911427"/>
          </a:xfrm>
        </p:spPr>
        <p:txBody>
          <a:bodyPr>
            <a:normAutofit/>
          </a:bodyPr>
          <a:lstStyle/>
          <a:p>
            <a:r>
              <a:rPr lang="en-US" sz="2000" dirty="0"/>
              <a:t>It is the structural design and organization of a software application. </a:t>
            </a:r>
          </a:p>
          <a:p>
            <a:endParaRPr lang="en-US" sz="2000" dirty="0"/>
          </a:p>
          <a:p>
            <a:r>
              <a:rPr lang="en-US" sz="2000" dirty="0"/>
              <a:t>Main types of application architectures</a:t>
            </a:r>
          </a:p>
          <a:p>
            <a:pPr lvl="1"/>
            <a:r>
              <a:rPr lang="en-AU" sz="2000" dirty="0"/>
              <a:t>Monolithic architecture: </a:t>
            </a:r>
            <a:r>
              <a:rPr lang="en-US" sz="2000" dirty="0"/>
              <a:t>combines the frontend, backend, and database into a single application.</a:t>
            </a:r>
            <a:endParaRPr lang="en-AU" sz="2000" dirty="0"/>
          </a:p>
          <a:p>
            <a:pPr lvl="2"/>
            <a:r>
              <a:rPr lang="en-US" sz="2000" dirty="0"/>
              <a:t>e.g., </a:t>
            </a:r>
            <a:r>
              <a:rPr lang="en-US" sz="2000" dirty="0" err="1"/>
              <a:t>wordpress</a:t>
            </a:r>
            <a:r>
              <a:rPr lang="en-US" sz="2000" dirty="0"/>
              <a:t>: </a:t>
            </a:r>
            <a:r>
              <a:rPr lang="fr-FR" sz="2000" dirty="0"/>
              <a:t>a content management system (CMS)</a:t>
            </a:r>
            <a:endParaRPr lang="en-US" sz="2000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512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715" y="173197"/>
            <a:ext cx="7886700" cy="840219"/>
          </a:xfrm>
        </p:spPr>
        <p:txBody>
          <a:bodyPr/>
          <a:lstStyle/>
          <a:p>
            <a:r>
              <a:rPr lang="en-US" b="1" dirty="0"/>
              <a:t>What is an application architecture?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715" y="1013416"/>
            <a:ext cx="8282570" cy="4911427"/>
          </a:xfrm>
        </p:spPr>
        <p:txBody>
          <a:bodyPr>
            <a:normAutofit/>
          </a:bodyPr>
          <a:lstStyle/>
          <a:p>
            <a:r>
              <a:rPr lang="en-US" sz="2000" dirty="0"/>
              <a:t>It is the structural design and organization of a software application. </a:t>
            </a:r>
          </a:p>
          <a:p>
            <a:endParaRPr lang="en-US" sz="2000" dirty="0"/>
          </a:p>
          <a:p>
            <a:r>
              <a:rPr lang="en-US" sz="2000" dirty="0"/>
              <a:t>Main types of application architectures</a:t>
            </a:r>
          </a:p>
          <a:p>
            <a:pPr lvl="1"/>
            <a:r>
              <a:rPr lang="en-AU" sz="2000" dirty="0"/>
              <a:t>Monolithic architecture: </a:t>
            </a:r>
            <a:r>
              <a:rPr lang="en-US" sz="2000" dirty="0"/>
              <a:t>combines the frontend, backend, and database functionalities into a single application.</a:t>
            </a:r>
            <a:endParaRPr lang="en-AU" sz="2000" dirty="0"/>
          </a:p>
          <a:p>
            <a:pPr lvl="2"/>
            <a:r>
              <a:rPr lang="en-US" sz="2000" dirty="0"/>
              <a:t>e.g., </a:t>
            </a:r>
            <a:r>
              <a:rPr lang="en-US" sz="2000" dirty="0" err="1"/>
              <a:t>wordpress</a:t>
            </a:r>
            <a:r>
              <a:rPr lang="en-US" sz="2000" dirty="0"/>
              <a:t>: </a:t>
            </a:r>
            <a:r>
              <a:rPr lang="fr-FR" sz="2000" dirty="0"/>
              <a:t>a content management system (CMS)</a:t>
            </a:r>
            <a:endParaRPr lang="en-US" sz="2000" dirty="0"/>
          </a:p>
          <a:p>
            <a:pPr lvl="1"/>
            <a:r>
              <a:rPr lang="en-US" sz="2000" dirty="0"/>
              <a:t>Client/Server </a:t>
            </a:r>
            <a:r>
              <a:rPr lang="en-AU" sz="2000" dirty="0"/>
              <a:t>architecture: </a:t>
            </a:r>
            <a:r>
              <a:rPr lang="en-US" sz="2000" dirty="0"/>
              <a:t>an application is split into two main components: the client, which handles the user requests, and the server, which handles the processing of requests and data storage.</a:t>
            </a:r>
          </a:p>
          <a:p>
            <a:pPr lvl="2"/>
            <a:r>
              <a:rPr lang="en-US" sz="2000" dirty="0"/>
              <a:t>e.g., FileZilla + FTP server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8819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715" y="173197"/>
            <a:ext cx="7886700" cy="840219"/>
          </a:xfrm>
        </p:spPr>
        <p:txBody>
          <a:bodyPr/>
          <a:lstStyle/>
          <a:p>
            <a:r>
              <a:rPr lang="en-US" b="1" dirty="0"/>
              <a:t>What is an application architecture?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715" y="1013416"/>
            <a:ext cx="8282570" cy="4911427"/>
          </a:xfrm>
        </p:spPr>
        <p:txBody>
          <a:bodyPr>
            <a:normAutofit/>
          </a:bodyPr>
          <a:lstStyle/>
          <a:p>
            <a:r>
              <a:rPr lang="en-US" sz="2000" dirty="0"/>
              <a:t>It is the structural design and organization of a software application. </a:t>
            </a:r>
          </a:p>
          <a:p>
            <a:endParaRPr lang="en-US" sz="2000" dirty="0"/>
          </a:p>
          <a:p>
            <a:r>
              <a:rPr lang="en-US" sz="2000" dirty="0"/>
              <a:t>Main types of application architectures</a:t>
            </a:r>
          </a:p>
          <a:p>
            <a:pPr lvl="1"/>
            <a:r>
              <a:rPr lang="en-AU" sz="2000" dirty="0"/>
              <a:t>Monolithic architecture: </a:t>
            </a:r>
            <a:r>
              <a:rPr lang="en-US" sz="2000" dirty="0"/>
              <a:t>combines the frontend, backend, and database functionalities into a single application.</a:t>
            </a:r>
            <a:endParaRPr lang="en-AU" sz="2000" dirty="0"/>
          </a:p>
          <a:p>
            <a:pPr lvl="2"/>
            <a:r>
              <a:rPr lang="en-US" sz="2000" dirty="0"/>
              <a:t>e.g., </a:t>
            </a:r>
            <a:r>
              <a:rPr lang="en-US" sz="2000" dirty="0" err="1"/>
              <a:t>wordpress</a:t>
            </a:r>
            <a:r>
              <a:rPr lang="en-US" sz="2000" dirty="0"/>
              <a:t>: </a:t>
            </a:r>
            <a:r>
              <a:rPr lang="fr-FR" sz="2000" dirty="0"/>
              <a:t>a content management system (CMS)</a:t>
            </a:r>
            <a:endParaRPr lang="en-US" sz="2000" dirty="0"/>
          </a:p>
          <a:p>
            <a:pPr lvl="1"/>
            <a:r>
              <a:rPr lang="en-US" sz="2000" dirty="0"/>
              <a:t>Client/Server </a:t>
            </a:r>
            <a:r>
              <a:rPr lang="en-AU" sz="2000" dirty="0"/>
              <a:t>architecture: </a:t>
            </a:r>
            <a:r>
              <a:rPr lang="en-US" sz="2000" dirty="0"/>
              <a:t>an application is split into two main components: the client, which handles the user requests, and the server, which handles the processing of requests and data storage.</a:t>
            </a:r>
          </a:p>
          <a:p>
            <a:pPr lvl="2"/>
            <a:r>
              <a:rPr lang="en-US" sz="2000" dirty="0"/>
              <a:t>e.g., FileZilla + FTP server</a:t>
            </a:r>
          </a:p>
          <a:p>
            <a:pPr lvl="1"/>
            <a:r>
              <a:rPr lang="en-US" sz="2000" dirty="0"/>
              <a:t>Three-tier architecture: a presentation tier (frontend), application logic tier (backend), and a database tier (backend). </a:t>
            </a:r>
          </a:p>
          <a:p>
            <a:pPr lvl="2"/>
            <a:r>
              <a:rPr lang="en-US" sz="2000" dirty="0"/>
              <a:t>e.g., </a:t>
            </a:r>
            <a:r>
              <a:rPr lang="en-AU" sz="2000" dirty="0"/>
              <a:t>Amazon.com (early version)</a:t>
            </a:r>
            <a:endParaRPr lang="en-US" sz="2000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119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715" y="173197"/>
            <a:ext cx="7886700" cy="840219"/>
          </a:xfrm>
        </p:spPr>
        <p:txBody>
          <a:bodyPr/>
          <a:lstStyle/>
          <a:p>
            <a:r>
              <a:rPr lang="en-US" b="1" dirty="0"/>
              <a:t>What is an application architecture?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715" y="1013416"/>
            <a:ext cx="8282570" cy="5671387"/>
          </a:xfrm>
        </p:spPr>
        <p:txBody>
          <a:bodyPr>
            <a:normAutofit/>
          </a:bodyPr>
          <a:lstStyle/>
          <a:p>
            <a:r>
              <a:rPr lang="en-US" sz="2000" dirty="0"/>
              <a:t>It is the structural design and organization of a software application. </a:t>
            </a:r>
          </a:p>
          <a:p>
            <a:endParaRPr lang="en-US" sz="2000" dirty="0"/>
          </a:p>
          <a:p>
            <a:r>
              <a:rPr lang="en-US" sz="2000" dirty="0"/>
              <a:t>Main types of application architectures</a:t>
            </a:r>
          </a:p>
          <a:p>
            <a:pPr lvl="1"/>
            <a:r>
              <a:rPr lang="en-AU" sz="2000" dirty="0"/>
              <a:t>Monolithic architecture: </a:t>
            </a:r>
            <a:r>
              <a:rPr lang="en-US" sz="2000" dirty="0"/>
              <a:t>combines the frontend, backend, and database functionalities into a single application.</a:t>
            </a:r>
            <a:endParaRPr lang="en-AU" sz="2000" dirty="0"/>
          </a:p>
          <a:p>
            <a:pPr lvl="2"/>
            <a:r>
              <a:rPr lang="en-US" sz="2000" dirty="0"/>
              <a:t>e.g., </a:t>
            </a:r>
            <a:r>
              <a:rPr lang="en-US" sz="2000" dirty="0" err="1"/>
              <a:t>wordpress</a:t>
            </a:r>
            <a:r>
              <a:rPr lang="en-US" sz="2000" dirty="0"/>
              <a:t>: </a:t>
            </a:r>
            <a:r>
              <a:rPr lang="fr-FR" sz="2000" dirty="0"/>
              <a:t>a content management system (CMS)</a:t>
            </a:r>
            <a:endParaRPr lang="en-US" sz="2000" dirty="0"/>
          </a:p>
          <a:p>
            <a:pPr lvl="1"/>
            <a:r>
              <a:rPr lang="en-US" sz="2000" dirty="0"/>
              <a:t>Client/Server </a:t>
            </a:r>
            <a:r>
              <a:rPr lang="en-AU" sz="2000" dirty="0"/>
              <a:t>architecture: </a:t>
            </a:r>
            <a:r>
              <a:rPr lang="en-US" sz="2000" dirty="0"/>
              <a:t>an application is split into two main components: the client, which handles the user requests, and the server, which handles the processing of requests and data storage.</a:t>
            </a:r>
          </a:p>
          <a:p>
            <a:pPr lvl="2"/>
            <a:r>
              <a:rPr lang="en-US" sz="2000" dirty="0"/>
              <a:t>e.g., FileZilla + FTP server</a:t>
            </a:r>
          </a:p>
          <a:p>
            <a:pPr lvl="1"/>
            <a:r>
              <a:rPr lang="en-US" sz="2000" dirty="0"/>
              <a:t>Three-tier architecture: a presentation tier (frontend), application logic tier (backend), and a database tier (backend). </a:t>
            </a:r>
          </a:p>
          <a:p>
            <a:pPr lvl="2"/>
            <a:r>
              <a:rPr lang="en-US" sz="2000" dirty="0"/>
              <a:t>e.g., </a:t>
            </a:r>
            <a:r>
              <a:rPr lang="en-AU" sz="2000" dirty="0"/>
              <a:t>Amazon.com (early version)</a:t>
            </a:r>
            <a:endParaRPr lang="en-US" sz="2000" dirty="0"/>
          </a:p>
          <a:p>
            <a:pPr lvl="1"/>
            <a:r>
              <a:rPr lang="en-US" sz="2000" dirty="0"/>
              <a:t>Cloud-based serverless architecture: known as Function-as-a-Service, where the cloud provider provisions, maintains and scales applications.</a:t>
            </a:r>
          </a:p>
          <a:p>
            <a:pPr lvl="2"/>
            <a:r>
              <a:rPr lang="en-US" sz="2000" dirty="0"/>
              <a:t>e.g.,  AWS Lambda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62DD4A-3E27-489A-AB9F-CC0AA6F10916}"/>
              </a:ext>
            </a:extLst>
          </p:cNvPr>
          <p:cNvSpPr txBox="1">
            <a:spLocks/>
          </p:cNvSpPr>
          <p:nvPr/>
        </p:nvSpPr>
        <p:spPr>
          <a:xfrm>
            <a:off x="116113" y="6124054"/>
            <a:ext cx="5515429" cy="7339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8700" lvl="3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sz="2000" dirty="0"/>
              <a:t>Which of the three main cloud service types does Function as a Service belong to?</a:t>
            </a:r>
          </a:p>
        </p:txBody>
      </p:sp>
    </p:spTree>
    <p:extLst>
      <p:ext uri="{BB962C8B-B14F-4D97-AF65-F5344CB8AC3E}">
        <p14:creationId xmlns:p14="http://schemas.microsoft.com/office/powerpoint/2010/main" val="3926725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990" y="293409"/>
            <a:ext cx="6589060" cy="1014223"/>
          </a:xfrm>
        </p:spPr>
        <p:txBody>
          <a:bodyPr>
            <a:normAutofit/>
          </a:bodyPr>
          <a:lstStyle/>
          <a:p>
            <a:r>
              <a:rPr lang="en-US" b="1" dirty="0"/>
              <a:t>Deploying an application onto 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19239"/>
            <a:ext cx="7886701" cy="2938461"/>
          </a:xfrm>
        </p:spPr>
        <p:txBody>
          <a:bodyPr>
            <a:normAutofit/>
          </a:bodyPr>
          <a:lstStyle/>
          <a:p>
            <a:pPr lvl="1"/>
            <a:r>
              <a:rPr lang="en-AU" sz="2400" dirty="0"/>
              <a:t>Elastic Compute Cloud (EC2): an EC2 instance is a virtual machine that runs </a:t>
            </a:r>
            <a:r>
              <a:rPr lang="en-US" sz="2400" dirty="0"/>
              <a:t>a Windows or Linux OS. It is essentially running on Virtual Machine Monitor (VMM).</a:t>
            </a:r>
          </a:p>
          <a:p>
            <a:pPr lvl="1"/>
            <a:endParaRPr lang="en-US" sz="2400" dirty="0"/>
          </a:p>
          <a:p>
            <a:pPr lvl="1"/>
            <a:r>
              <a:rPr lang="en-AU" sz="2400" dirty="0"/>
              <a:t>Elastic Container Service (ECS): </a:t>
            </a:r>
            <a:r>
              <a:rPr lang="en-US" sz="2400" dirty="0"/>
              <a:t>a customized environment provided by an EC2 instance.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089" y="46038"/>
            <a:ext cx="5986159" cy="856376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089" y="888120"/>
            <a:ext cx="7886700" cy="4936210"/>
          </a:xfrm>
        </p:spPr>
        <p:txBody>
          <a:bodyPr>
            <a:normAutofit/>
          </a:bodyPr>
          <a:lstStyle/>
          <a:p>
            <a:r>
              <a:rPr lang="en-US" sz="2000" dirty="0"/>
              <a:t>Steps of creating, configuring and launching an EC2 instance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Sign in to the AWS Management Console: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AU" sz="2000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https://489389878001.signin.aws.amazon.com/console</a:t>
            </a:r>
            <a:endParaRPr lang="en-US" sz="2000" dirty="0">
              <a:solidFill>
                <a:schemeClr val="accent1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000" dirty="0"/>
              <a:t>Navigate to EC2 Dashboard and Click “Launch instance”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EC9040-90C3-4816-9EB3-AB9BDADDCF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433" y="2564296"/>
            <a:ext cx="6090715" cy="361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7536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46038"/>
            <a:ext cx="4701539" cy="724137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1" y="770175"/>
            <a:ext cx="7886700" cy="4936210"/>
          </a:xfrm>
        </p:spPr>
        <p:txBody>
          <a:bodyPr>
            <a:normAutofit/>
          </a:bodyPr>
          <a:lstStyle/>
          <a:p>
            <a:r>
              <a:rPr lang="en-US" sz="2000" dirty="0"/>
              <a:t>Steps of creating, configuring and launching an EC2 instance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000" dirty="0"/>
              <a:t> “Name and tags”: In this step, </a:t>
            </a:r>
            <a:r>
              <a:rPr lang="en-US" sz="2000" dirty="0"/>
              <a:t>we add a tag for the instance.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AU" sz="1700" dirty="0"/>
          </a:p>
          <a:p>
            <a:pPr lvl="2">
              <a:buFont typeface="Courier New" panose="02070309020205020404" pitchFamily="49" charset="0"/>
              <a:buChar char="o"/>
            </a:pPr>
            <a:endParaRPr lang="en-AU" sz="1700" dirty="0"/>
          </a:p>
          <a:p>
            <a:pPr lvl="1">
              <a:buFont typeface="Courier New" panose="02070309020205020404" pitchFamily="49" charset="0"/>
              <a:buChar char="o"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904368-4A81-4B99-951F-FD3CB1BD0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25" y="2188082"/>
            <a:ext cx="8230749" cy="210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3053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46038"/>
            <a:ext cx="4701539" cy="724137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1" y="770175"/>
            <a:ext cx="7886700" cy="4936210"/>
          </a:xfrm>
        </p:spPr>
        <p:txBody>
          <a:bodyPr>
            <a:normAutofit/>
          </a:bodyPr>
          <a:lstStyle/>
          <a:p>
            <a:r>
              <a:rPr lang="en-US" sz="2000" dirty="0"/>
              <a:t>Steps of creating, configuring and launching an EC2 instance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000" dirty="0"/>
              <a:t> “</a:t>
            </a:r>
            <a:r>
              <a:rPr lang="en-AU" sz="2000" i="0" dirty="0">
                <a:solidFill>
                  <a:srgbClr val="16191F"/>
                </a:solidFill>
                <a:effectLst/>
                <a:latin typeface="Amazon Ember"/>
              </a:rPr>
              <a:t>Application and OS Images (Amazon Machine Image</a:t>
            </a:r>
            <a:r>
              <a:rPr lang="en-AU" sz="2000" dirty="0">
                <a:solidFill>
                  <a:srgbClr val="16191F"/>
                </a:solidFill>
                <a:latin typeface="Amazon Ember"/>
              </a:rPr>
              <a:t>)”: In this step, </a:t>
            </a:r>
            <a:r>
              <a:rPr lang="en-US" sz="2000" dirty="0">
                <a:solidFill>
                  <a:srgbClr val="16191F"/>
                </a:solidFill>
                <a:latin typeface="Amazon Ember"/>
              </a:rPr>
              <a:t>we select an AMI that suits our requirements. 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AU" sz="1700" dirty="0"/>
          </a:p>
          <a:p>
            <a:pPr lvl="2">
              <a:buFont typeface="Courier New" panose="02070309020205020404" pitchFamily="49" charset="0"/>
              <a:buChar char="o"/>
            </a:pPr>
            <a:endParaRPr lang="en-AU" sz="1700" dirty="0"/>
          </a:p>
          <a:p>
            <a:pPr lvl="1">
              <a:buFont typeface="Courier New" panose="02070309020205020404" pitchFamily="49" charset="0"/>
              <a:buChar char="o"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13038-5DB1-44F9-B05B-2DE5DC652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287" y="2195509"/>
            <a:ext cx="7516274" cy="367716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FEAA80-B9E0-4C32-9EE0-AE320D4223ED}"/>
              </a:ext>
            </a:extLst>
          </p:cNvPr>
          <p:cNvCxnSpPr/>
          <p:nvPr/>
        </p:nvCxnSpPr>
        <p:spPr>
          <a:xfrm>
            <a:off x="817931" y="3256917"/>
            <a:ext cx="729489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409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46038"/>
            <a:ext cx="4701539" cy="724137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75151F-EA40-40D5-AD6E-BC5247DD1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1" y="770175"/>
            <a:ext cx="7794407" cy="460219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9BDE62-5C63-4D0C-B529-41C5611BD3F6}"/>
              </a:ext>
            </a:extLst>
          </p:cNvPr>
          <p:cNvCxnSpPr>
            <a:cxnSpLocks/>
          </p:cNvCxnSpPr>
          <p:nvPr/>
        </p:nvCxnSpPr>
        <p:spPr>
          <a:xfrm>
            <a:off x="73924" y="4754325"/>
            <a:ext cx="845427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6426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607" y="136211"/>
            <a:ext cx="6065986" cy="980595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Geographical</a:t>
            </a:r>
            <a:r>
              <a:rPr lang="en-US" altLang="zh-CN" b="1" dirty="0"/>
              <a:t> location of an instance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606" y="1053044"/>
            <a:ext cx="8648993" cy="1470023"/>
          </a:xfrm>
        </p:spPr>
        <p:txBody>
          <a:bodyPr>
            <a:normAutofit/>
          </a:bodyPr>
          <a:lstStyle/>
          <a:p>
            <a:r>
              <a:rPr lang="en-US" sz="2000" dirty="0"/>
              <a:t>AWS region:</a:t>
            </a:r>
          </a:p>
          <a:p>
            <a:pPr lvl="1"/>
            <a:r>
              <a:rPr lang="en-US" sz="2000" dirty="0"/>
              <a:t>Geographical locations of AWS data centers around the world, known as “Regions”, identified by names such as “</a:t>
            </a:r>
            <a:r>
              <a:rPr lang="en-US" altLang="zh-CN" sz="2000" dirty="0"/>
              <a:t>ap</a:t>
            </a:r>
            <a:r>
              <a:rPr lang="en-AU" sz="2000" dirty="0"/>
              <a:t>-southeast-2” (Sydney). </a:t>
            </a:r>
            <a:endParaRPr lang="en-US" sz="2000" dirty="0"/>
          </a:p>
          <a:p>
            <a:pPr marL="457189" lvl="1" indent="0">
              <a:buNone/>
            </a:pPr>
            <a:endParaRPr lang="en-US" sz="2000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182054-E89B-4F66-9529-DE2C79683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408" y="2178906"/>
            <a:ext cx="3719042" cy="369257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248F79-A919-45A5-892C-21BD94F1A07D}"/>
              </a:ext>
            </a:extLst>
          </p:cNvPr>
          <p:cNvCxnSpPr>
            <a:cxnSpLocks/>
          </p:cNvCxnSpPr>
          <p:nvPr/>
        </p:nvCxnSpPr>
        <p:spPr>
          <a:xfrm>
            <a:off x="2254472" y="5530090"/>
            <a:ext cx="353293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0086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46038"/>
            <a:ext cx="4701539" cy="724137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13038-5DB1-44F9-B05B-2DE5DC652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1" y="770176"/>
            <a:ext cx="7516274" cy="3156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A19BF4-F752-44CC-9F9E-73CA62302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5" y="2348359"/>
            <a:ext cx="7877218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2532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46038"/>
            <a:ext cx="4701539" cy="724137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1" y="770175"/>
            <a:ext cx="7886700" cy="4936210"/>
          </a:xfrm>
        </p:spPr>
        <p:txBody>
          <a:bodyPr>
            <a:normAutofit/>
          </a:bodyPr>
          <a:lstStyle/>
          <a:p>
            <a:r>
              <a:rPr lang="en-US" sz="2000" dirty="0"/>
              <a:t>Steps of creating, configuring and launching an EC2 instance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000" dirty="0"/>
              <a:t> “</a:t>
            </a:r>
            <a:r>
              <a:rPr lang="en-AU" sz="2000" i="0" dirty="0">
                <a:solidFill>
                  <a:srgbClr val="16191F"/>
                </a:solidFill>
                <a:effectLst/>
                <a:latin typeface="Amazon Ember"/>
              </a:rPr>
              <a:t>Instance type</a:t>
            </a:r>
            <a:r>
              <a:rPr lang="en-AU" sz="2000" dirty="0">
                <a:solidFill>
                  <a:srgbClr val="16191F"/>
                </a:solidFill>
                <a:latin typeface="Amazon Ember"/>
              </a:rPr>
              <a:t>”: In this step, </a:t>
            </a:r>
            <a:r>
              <a:rPr lang="en-US" sz="2000" dirty="0">
                <a:solidFill>
                  <a:srgbClr val="16191F"/>
                </a:solidFill>
                <a:latin typeface="Amazon Ember"/>
              </a:rPr>
              <a:t>we select an appropriate instance type.</a:t>
            </a:r>
          </a:p>
          <a:p>
            <a:pPr marL="685800" lvl="2" indent="0">
              <a:buNone/>
            </a:pPr>
            <a:endParaRPr lang="en-AU" sz="1700" dirty="0"/>
          </a:p>
          <a:p>
            <a:pPr lvl="1">
              <a:buFont typeface="Courier New" panose="02070309020205020404" pitchFamily="49" charset="0"/>
              <a:buChar char="o"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447B24-6631-498E-90C1-F778E717F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2" y="2416426"/>
            <a:ext cx="7659169" cy="202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5941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46038"/>
            <a:ext cx="4701539" cy="724137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1" y="770175"/>
            <a:ext cx="7886700" cy="4936210"/>
          </a:xfrm>
        </p:spPr>
        <p:txBody>
          <a:bodyPr>
            <a:normAutofit/>
          </a:bodyPr>
          <a:lstStyle/>
          <a:p>
            <a:r>
              <a:rPr lang="en-US" sz="2000" dirty="0"/>
              <a:t>Steps of creating, configuring and launching an EC2 instance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000" dirty="0"/>
              <a:t> “</a:t>
            </a:r>
            <a:r>
              <a:rPr lang="en-AU" sz="2000" i="0" dirty="0">
                <a:solidFill>
                  <a:srgbClr val="16191F"/>
                </a:solidFill>
                <a:effectLst/>
                <a:latin typeface="Amazon Ember"/>
              </a:rPr>
              <a:t>Instance type</a:t>
            </a:r>
            <a:r>
              <a:rPr lang="en-AU" sz="2000" dirty="0">
                <a:solidFill>
                  <a:srgbClr val="16191F"/>
                </a:solidFill>
                <a:latin typeface="Amazon Ember"/>
              </a:rPr>
              <a:t>”</a:t>
            </a:r>
          </a:p>
          <a:p>
            <a:pPr marL="342900" lvl="1" indent="0">
              <a:buNone/>
            </a:pPr>
            <a:r>
              <a:rPr lang="en-US" sz="1800" dirty="0">
                <a:solidFill>
                  <a:srgbClr val="16191F"/>
                </a:solidFill>
                <a:latin typeface="Amazon Ember"/>
              </a:rPr>
              <a:t>     What does Architecture mean?</a:t>
            </a:r>
            <a:endParaRPr lang="en-AU" sz="1800" dirty="0">
              <a:solidFill>
                <a:srgbClr val="16191F"/>
              </a:solidFill>
              <a:latin typeface="Amazon Ember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AU" sz="1700" dirty="0"/>
          </a:p>
          <a:p>
            <a:pPr lvl="1">
              <a:buFont typeface="Courier New" panose="02070309020205020404" pitchFamily="49" charset="0"/>
              <a:buChar char="o"/>
            </a:pPr>
            <a:endParaRPr lang="en-US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BD9678-51A4-4B42-9BD2-9B08399E4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1" y="1786428"/>
            <a:ext cx="8516619" cy="349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7022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46038"/>
            <a:ext cx="4701539" cy="724137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1" y="770175"/>
            <a:ext cx="7886700" cy="4936210"/>
          </a:xfrm>
        </p:spPr>
        <p:txBody>
          <a:bodyPr>
            <a:normAutofit/>
          </a:bodyPr>
          <a:lstStyle/>
          <a:p>
            <a:r>
              <a:rPr lang="en-US" sz="2000" dirty="0"/>
              <a:t>Steps of creating, configuring and launching an EC2 instance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000" dirty="0"/>
              <a:t> </a:t>
            </a:r>
            <a:r>
              <a:rPr lang="en-AU" sz="2000" dirty="0">
                <a:solidFill>
                  <a:srgbClr val="16191F"/>
                </a:solidFill>
                <a:latin typeface="Amazon Ember"/>
              </a:rPr>
              <a:t>“Key pair (login)”: In this step, </a:t>
            </a:r>
            <a:r>
              <a:rPr lang="en-US" sz="2000" dirty="0">
                <a:solidFill>
                  <a:srgbClr val="16191F"/>
                </a:solidFill>
                <a:latin typeface="Amazon Ember"/>
              </a:rPr>
              <a:t>we can select/create a key pair (SSH key) for secure access to our first instance. </a:t>
            </a:r>
            <a:endParaRPr lang="en-AU" sz="2000" dirty="0">
              <a:solidFill>
                <a:srgbClr val="16191F"/>
              </a:solidFill>
              <a:latin typeface="Amazon Ember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sz="22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F24D8D-7B97-4B60-B8B9-D0F4AF47FC1F}"/>
              </a:ext>
            </a:extLst>
          </p:cNvPr>
          <p:cNvCxnSpPr>
            <a:cxnSpLocks/>
          </p:cNvCxnSpPr>
          <p:nvPr/>
        </p:nvCxnSpPr>
        <p:spPr>
          <a:xfrm>
            <a:off x="6336791" y="4464973"/>
            <a:ext cx="151705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9002AB4-BA78-4B95-82E5-B41EF6D29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39" y="2607339"/>
            <a:ext cx="7125694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3933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46038"/>
            <a:ext cx="4701539" cy="724137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1" y="770175"/>
            <a:ext cx="7886700" cy="4936210"/>
          </a:xfrm>
        </p:spPr>
        <p:txBody>
          <a:bodyPr>
            <a:normAutofit/>
          </a:bodyPr>
          <a:lstStyle/>
          <a:p>
            <a:r>
              <a:rPr lang="en-US" sz="2000" dirty="0"/>
              <a:t>Steps of creating, configuring and launching an EC2 instance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000" dirty="0"/>
              <a:t> </a:t>
            </a:r>
            <a:r>
              <a:rPr lang="en-AU" sz="2000" dirty="0">
                <a:solidFill>
                  <a:srgbClr val="16191F"/>
                </a:solidFill>
                <a:latin typeface="Amazon Ember"/>
              </a:rPr>
              <a:t>“Key pair (login)”:</a:t>
            </a: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5E813B-5B17-449F-A798-71D8904CA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386" y="1635708"/>
            <a:ext cx="6011718" cy="479481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76E048-4147-459B-A7E8-0FD0BEA0A81C}"/>
              </a:ext>
            </a:extLst>
          </p:cNvPr>
          <p:cNvCxnSpPr>
            <a:cxnSpLocks/>
          </p:cNvCxnSpPr>
          <p:nvPr/>
        </p:nvCxnSpPr>
        <p:spPr>
          <a:xfrm>
            <a:off x="1478386" y="4802376"/>
            <a:ext cx="184233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26A930-FF25-457C-9280-5FC358D195E9}"/>
              </a:ext>
            </a:extLst>
          </p:cNvPr>
          <p:cNvCxnSpPr>
            <a:cxnSpLocks/>
          </p:cNvCxnSpPr>
          <p:nvPr/>
        </p:nvCxnSpPr>
        <p:spPr>
          <a:xfrm flipV="1">
            <a:off x="1478386" y="5252674"/>
            <a:ext cx="1842330" cy="341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6716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46038"/>
            <a:ext cx="4701539" cy="724137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1" y="770175"/>
            <a:ext cx="7886700" cy="4936210"/>
          </a:xfrm>
        </p:spPr>
        <p:txBody>
          <a:bodyPr>
            <a:normAutofit/>
          </a:bodyPr>
          <a:lstStyle/>
          <a:p>
            <a:r>
              <a:rPr lang="en-US" sz="2000" dirty="0"/>
              <a:t>Steps of creating, configuring and launching an EC2 instance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000" dirty="0"/>
              <a:t> </a:t>
            </a:r>
            <a:r>
              <a:rPr lang="en-AU" sz="2000" dirty="0">
                <a:solidFill>
                  <a:srgbClr val="16191F"/>
                </a:solidFill>
                <a:latin typeface="Amazon Ember"/>
              </a:rPr>
              <a:t>“Network settings”</a:t>
            </a:r>
          </a:p>
          <a:p>
            <a:pPr marL="342900" lvl="1" indent="0">
              <a:buNone/>
            </a:pPr>
            <a:r>
              <a:rPr lang="en-AU" sz="2000" dirty="0">
                <a:solidFill>
                  <a:srgbClr val="16191F"/>
                </a:solidFill>
                <a:latin typeface="Amazon Ember"/>
              </a:rPr>
              <a:t>	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A8D923-7D68-46DC-B2D2-9D22DF6BD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1" y="1819643"/>
            <a:ext cx="8232989" cy="426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118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46038"/>
            <a:ext cx="4701539" cy="724137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1" y="770175"/>
            <a:ext cx="7886700" cy="4936210"/>
          </a:xfrm>
        </p:spPr>
        <p:txBody>
          <a:bodyPr>
            <a:normAutofit/>
          </a:bodyPr>
          <a:lstStyle/>
          <a:p>
            <a:r>
              <a:rPr lang="en-US" sz="2000" dirty="0"/>
              <a:t>Steps of creating, configuring and launching an EC2 instance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000" dirty="0"/>
              <a:t> </a:t>
            </a:r>
            <a:r>
              <a:rPr lang="en-AU" sz="2000" dirty="0">
                <a:solidFill>
                  <a:srgbClr val="16191F"/>
                </a:solidFill>
                <a:latin typeface="Amazon Ember"/>
              </a:rPr>
              <a:t>“Network settings”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AU" sz="2000" dirty="0">
                <a:solidFill>
                  <a:srgbClr val="16191F"/>
                </a:solidFill>
                <a:latin typeface="Amazon Ember"/>
              </a:rPr>
              <a:t>Create security group: </a:t>
            </a:r>
            <a:r>
              <a:rPr lang="en-US" sz="2000" dirty="0">
                <a:solidFill>
                  <a:srgbClr val="16191F"/>
                </a:solidFill>
                <a:latin typeface="Amazon Ember"/>
              </a:rPr>
              <a:t>a security group is a set of firewall rules that control the network traffic for our instance. 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US" sz="1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17BC52-114D-4965-8B6C-D74000C44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93" y="2165855"/>
            <a:ext cx="8550690" cy="392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2874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46039"/>
            <a:ext cx="4701539" cy="5318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1" y="577871"/>
            <a:ext cx="7886700" cy="4936210"/>
          </a:xfrm>
        </p:spPr>
        <p:txBody>
          <a:bodyPr>
            <a:normAutofit/>
          </a:bodyPr>
          <a:lstStyle/>
          <a:p>
            <a:r>
              <a:rPr lang="en-US" sz="2000" dirty="0"/>
              <a:t>Steps of creating, configuring and launching an EC2 instance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000" dirty="0"/>
              <a:t> </a:t>
            </a:r>
            <a:r>
              <a:rPr lang="en-AU" sz="2000" dirty="0">
                <a:solidFill>
                  <a:srgbClr val="16191F"/>
                </a:solidFill>
                <a:latin typeface="Amazon Ember"/>
              </a:rPr>
              <a:t>“Network settings”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AU" sz="2000" dirty="0">
                <a:solidFill>
                  <a:srgbClr val="16191F"/>
                </a:solidFill>
                <a:latin typeface="Amazon Ember"/>
              </a:rPr>
              <a:t>Create security group</a:t>
            </a:r>
            <a:endParaRPr lang="en-US" sz="2000" dirty="0"/>
          </a:p>
          <a:p>
            <a:pPr lvl="2">
              <a:buFont typeface="Courier New" panose="02070309020205020404" pitchFamily="49" charset="0"/>
              <a:buChar char="o"/>
            </a:pPr>
            <a:endParaRPr lang="en-US" sz="1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41D40C-E892-4049-946A-D8DD7D44F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07" y="1538565"/>
            <a:ext cx="8173591" cy="20386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F53660-91C6-4324-8AB9-0E4F2FAA6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68" y="3091357"/>
            <a:ext cx="2591162" cy="9716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D2117F0-E19B-40F7-AA95-1CCC5F3A0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764" y="4089494"/>
            <a:ext cx="8059275" cy="26339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CF5A50F-07EE-4C83-A919-5ABAF8957ADB}"/>
              </a:ext>
            </a:extLst>
          </p:cNvPr>
          <p:cNvSpPr/>
          <p:nvPr/>
        </p:nvSpPr>
        <p:spPr>
          <a:xfrm>
            <a:off x="2227652" y="5755810"/>
            <a:ext cx="715425" cy="5318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11437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46038"/>
            <a:ext cx="4701539" cy="724137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1" y="770175"/>
            <a:ext cx="7886700" cy="4936210"/>
          </a:xfrm>
        </p:spPr>
        <p:txBody>
          <a:bodyPr>
            <a:normAutofit/>
          </a:bodyPr>
          <a:lstStyle/>
          <a:p>
            <a:r>
              <a:rPr lang="en-US" sz="2000" dirty="0"/>
              <a:t>Steps of creating, configuring and launching an EC2 instance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000" dirty="0"/>
              <a:t> </a:t>
            </a:r>
            <a:r>
              <a:rPr lang="en-AU" sz="2000" dirty="0">
                <a:solidFill>
                  <a:srgbClr val="16191F"/>
                </a:solidFill>
                <a:latin typeface="Amazon Ember"/>
              </a:rPr>
              <a:t>“Configure storage”: In this step, we specify storage volume for our instance. </a:t>
            </a:r>
            <a:r>
              <a:rPr lang="en-US" sz="2000" dirty="0">
                <a:solidFill>
                  <a:srgbClr val="16191F"/>
                </a:solidFill>
                <a:latin typeface="Amazon Ember"/>
              </a:rPr>
              <a:t>By default, one EBS volume is attached to the instance. </a:t>
            </a:r>
            <a:endParaRPr lang="en-AU" sz="2000" dirty="0">
              <a:solidFill>
                <a:srgbClr val="16191F"/>
              </a:solidFill>
              <a:latin typeface="Amazon Ember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54C5A7-44F3-4561-9777-BCD65967B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04" y="2318989"/>
            <a:ext cx="8116433" cy="183858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E359E1-863C-4F67-B149-9F56D68320EC}"/>
              </a:ext>
            </a:extLst>
          </p:cNvPr>
          <p:cNvCxnSpPr>
            <a:cxnSpLocks/>
          </p:cNvCxnSpPr>
          <p:nvPr/>
        </p:nvCxnSpPr>
        <p:spPr>
          <a:xfrm>
            <a:off x="485604" y="4106037"/>
            <a:ext cx="151705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4300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46038"/>
            <a:ext cx="4701539" cy="724137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1" y="770175"/>
            <a:ext cx="7886700" cy="1226576"/>
          </a:xfrm>
        </p:spPr>
        <p:txBody>
          <a:bodyPr>
            <a:normAutofit/>
          </a:bodyPr>
          <a:lstStyle/>
          <a:p>
            <a:r>
              <a:rPr lang="en-US" sz="2000" dirty="0"/>
              <a:t>Steps of creating, configuring and launching an EC2 instance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000" dirty="0"/>
              <a:t> </a:t>
            </a:r>
            <a:r>
              <a:rPr lang="en-AU" sz="2000" dirty="0">
                <a:solidFill>
                  <a:srgbClr val="16191F"/>
                </a:solidFill>
                <a:latin typeface="Amazon Ember"/>
              </a:rPr>
              <a:t>“Configure storage”</a:t>
            </a:r>
            <a:endParaRPr lang="en-US" sz="2000" dirty="0">
              <a:solidFill>
                <a:srgbClr val="16191F"/>
              </a:solidFill>
              <a:latin typeface="Amazon Ember"/>
            </a:endParaRPr>
          </a:p>
          <a:p>
            <a:pPr marL="342900" lvl="1" indent="0">
              <a:buNone/>
            </a:pPr>
            <a:endParaRPr lang="en-US" sz="2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B4BA3B0-77AA-429F-9FD4-1F8278E3788D}"/>
              </a:ext>
            </a:extLst>
          </p:cNvPr>
          <p:cNvSpPr txBox="1">
            <a:spLocks/>
          </p:cNvSpPr>
          <p:nvPr/>
        </p:nvSpPr>
        <p:spPr>
          <a:xfrm>
            <a:off x="403860" y="1713500"/>
            <a:ext cx="7545821" cy="2653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US" sz="2000" dirty="0">
                <a:solidFill>
                  <a:srgbClr val="16191F"/>
                </a:solidFill>
              </a:rPr>
              <a:t>What is EBS?</a:t>
            </a:r>
          </a:p>
          <a:p>
            <a:pPr lvl="1" fontAlgn="auto"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sz="2000" dirty="0"/>
              <a:t>EBS is a 'virtual disk’ and allocated in </a:t>
            </a:r>
            <a:r>
              <a:rPr lang="en-US" sz="2000" b="1" dirty="0"/>
              <a:t>volumes. </a:t>
            </a:r>
            <a:r>
              <a:rPr lang="en-US" sz="2000" dirty="0"/>
              <a:t>A volume ranges from 1GB to 1TB.</a:t>
            </a:r>
          </a:p>
          <a:p>
            <a:pPr marL="342900" lvl="1" indent="0" fontAlgn="auto">
              <a:spcAft>
                <a:spcPts val="0"/>
              </a:spcAft>
              <a:buClrTx/>
              <a:buSzTx/>
              <a:buNone/>
            </a:pPr>
            <a:endParaRPr lang="en-US" sz="2000" dirty="0"/>
          </a:p>
          <a:p>
            <a:pPr lvl="1" fontAlgn="auto"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6191F"/>
                </a:solidFill>
              </a:rPr>
              <a:t>We pay for what we use with EBS. </a:t>
            </a:r>
          </a:p>
          <a:p>
            <a:pPr lvl="1" fontAlgn="auto"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</a:pPr>
            <a:endParaRPr lang="en-US" sz="2000" dirty="0">
              <a:solidFill>
                <a:srgbClr val="16191F"/>
              </a:solidFill>
            </a:endParaRPr>
          </a:p>
          <a:p>
            <a:pPr lvl="1" fontAlgn="auto"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sz="2000" dirty="0"/>
              <a:t>EBS is attached to any EC2 instance in the same Availability Zone.</a:t>
            </a:r>
          </a:p>
          <a:p>
            <a:pPr lvl="1" fontAlgn="auto"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</a:pPr>
            <a:endParaRPr lang="en-AU" sz="2000" dirty="0">
              <a:solidFill>
                <a:srgbClr val="16191F"/>
              </a:solidFill>
            </a:endParaRPr>
          </a:p>
          <a:p>
            <a:pPr lvl="1" fontAlgn="auto"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1527138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607" y="136212"/>
            <a:ext cx="6065986" cy="758734"/>
          </a:xfrm>
        </p:spPr>
        <p:txBody>
          <a:bodyPr>
            <a:normAutofit/>
          </a:bodyPr>
          <a:lstStyle/>
          <a:p>
            <a:r>
              <a:rPr lang="en-AU" b="1" dirty="0"/>
              <a:t>AWS EC2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607" y="894946"/>
            <a:ext cx="8648993" cy="4751911"/>
          </a:xfrm>
        </p:spPr>
        <p:txBody>
          <a:bodyPr>
            <a:normAutofit/>
          </a:bodyPr>
          <a:lstStyle/>
          <a:p>
            <a:r>
              <a:rPr lang="en-US" sz="2000" dirty="0"/>
              <a:t>Availability zone:</a:t>
            </a:r>
          </a:p>
          <a:p>
            <a:pPr lvl="1"/>
            <a:r>
              <a:rPr lang="en-US" sz="2000" dirty="0"/>
              <a:t>A region is further divided into multiple availability zones</a:t>
            </a:r>
            <a:r>
              <a:rPr lang="en-AU" sz="2000" dirty="0"/>
              <a:t>. </a:t>
            </a:r>
          </a:p>
          <a:p>
            <a:pPr lvl="1"/>
            <a:r>
              <a:rPr lang="en-AU" sz="2000" dirty="0"/>
              <a:t>Availability zones </a:t>
            </a:r>
            <a:r>
              <a:rPr lang="en-US" sz="2000" dirty="0"/>
              <a:t>represent data centers in different physical locations within a region.</a:t>
            </a:r>
          </a:p>
          <a:p>
            <a:pPr lvl="1"/>
            <a:r>
              <a:rPr lang="en-US" sz="2000" dirty="0"/>
              <a:t>An Availability Zone is an isolated data </a:t>
            </a:r>
            <a:r>
              <a:rPr lang="en-US" sz="2000" dirty="0" err="1"/>
              <a:t>centre</a:t>
            </a:r>
            <a:r>
              <a:rPr lang="en-US" sz="2000" dirty="0"/>
              <a:t> location inside the region.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9BB070-866A-4861-9928-C516221D3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17" y="3001664"/>
            <a:ext cx="8489576" cy="15225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042B77-82DD-4CCF-83FB-9FA01FAFE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17" y="4675141"/>
            <a:ext cx="4414531" cy="171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645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607" y="136212"/>
            <a:ext cx="6065986" cy="758734"/>
          </a:xfrm>
        </p:spPr>
        <p:txBody>
          <a:bodyPr>
            <a:normAutofit/>
          </a:bodyPr>
          <a:lstStyle/>
          <a:p>
            <a:r>
              <a:rPr lang="en-AU" b="1" dirty="0"/>
              <a:t>AWS EC2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607" y="894946"/>
            <a:ext cx="8648993" cy="4751911"/>
          </a:xfrm>
        </p:spPr>
        <p:txBody>
          <a:bodyPr>
            <a:normAutofit/>
          </a:bodyPr>
          <a:lstStyle/>
          <a:p>
            <a:r>
              <a:rPr lang="en-US" sz="2000" dirty="0"/>
              <a:t>Local zone:</a:t>
            </a:r>
          </a:p>
          <a:p>
            <a:pPr lvl="1"/>
            <a:r>
              <a:rPr lang="en-US" sz="2000" dirty="0"/>
              <a:t>A region can be extended to additional locations through Local </a:t>
            </a:r>
            <a:r>
              <a:rPr lang="en-US" altLang="zh-CN" sz="2000" dirty="0"/>
              <a:t>z</a:t>
            </a:r>
            <a:r>
              <a:rPr lang="en-US" sz="2000" dirty="0"/>
              <a:t>ones.</a:t>
            </a:r>
            <a:endParaRPr lang="en-AU" sz="2000" dirty="0"/>
          </a:p>
          <a:p>
            <a:pPr lvl="1"/>
            <a:r>
              <a:rPr lang="en-US" sz="2000" dirty="0"/>
              <a:t>Local zones represent AWS servers physically located closer to users in a particular city, while remaining managed through the parent regio</a:t>
            </a:r>
            <a:r>
              <a:rPr lang="en-US" altLang="zh-CN" sz="2000" dirty="0"/>
              <a:t>n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A Local zone is connected to its parent region by providing low-latency access for its nearby users.</a:t>
            </a:r>
          </a:p>
          <a:p>
            <a:pPr marL="457189" lvl="1" indent="0">
              <a:buNone/>
            </a:pPr>
            <a:endParaRPr lang="en-US" sz="2000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042B77-82DD-4CCF-83FB-9FA01FAFE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27" y="3429001"/>
            <a:ext cx="4414531" cy="17148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6848FA-4A54-4A61-9C0E-04DCEF751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20" y="3429000"/>
            <a:ext cx="4028273" cy="171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4246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35" y="-8824"/>
            <a:ext cx="4701539" cy="724137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935" y="770175"/>
            <a:ext cx="7886700" cy="4936210"/>
          </a:xfrm>
        </p:spPr>
        <p:txBody>
          <a:bodyPr>
            <a:normAutofit/>
          </a:bodyPr>
          <a:lstStyle/>
          <a:p>
            <a:r>
              <a:rPr lang="en-US" sz="2000" dirty="0"/>
              <a:t>Steps of creating, configuring and launching an EC2 instance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000" dirty="0"/>
              <a:t> </a:t>
            </a:r>
            <a:r>
              <a:rPr lang="en-AU" sz="2000" dirty="0">
                <a:solidFill>
                  <a:srgbClr val="16191F"/>
                </a:solidFill>
                <a:latin typeface="Amazon Ember"/>
              </a:rPr>
              <a:t>“Configure storage”</a:t>
            </a:r>
            <a:r>
              <a:rPr lang="en-US" sz="2000" dirty="0">
                <a:solidFill>
                  <a:srgbClr val="16191F"/>
                </a:solidFill>
              </a:rPr>
              <a:t> </a:t>
            </a:r>
            <a:endParaRPr lang="en-AU" sz="2000" dirty="0">
              <a:solidFill>
                <a:srgbClr val="16191F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sz="2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F3F7E3-62A0-404C-B96D-42B0255D9922}"/>
              </a:ext>
            </a:extLst>
          </p:cNvPr>
          <p:cNvSpPr txBox="1">
            <a:spLocks/>
          </p:cNvSpPr>
          <p:nvPr/>
        </p:nvSpPr>
        <p:spPr>
          <a:xfrm>
            <a:off x="223935" y="2186007"/>
            <a:ext cx="8789436" cy="3659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US" sz="2000" b="1" dirty="0">
                <a:latin typeface="Söhne"/>
              </a:rPr>
              <a:t>Persistent Storage: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2000" dirty="0"/>
              <a:t>EBS volumes persist independently from EC2 instances.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AU" sz="2000" b="1" dirty="0"/>
              <a:t>High availability: </a:t>
            </a:r>
            <a:r>
              <a:rPr lang="en-AU" sz="2000" dirty="0"/>
              <a:t>EBS </a:t>
            </a:r>
            <a:r>
              <a:rPr lang="en-US" sz="2000" dirty="0"/>
              <a:t>replicates volumes data across multiple physical servers within the same availability zone.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000" b="1" dirty="0"/>
              <a:t>Snapshots</a:t>
            </a:r>
            <a:r>
              <a:rPr lang="en-US" sz="2000" dirty="0"/>
              <a:t>: EBS allows users to create point-in-time snapshots of their volumes. </a:t>
            </a:r>
            <a:endParaRPr lang="en-US" sz="2000" dirty="0">
              <a:solidFill>
                <a:srgbClr val="333333"/>
              </a:solidFill>
              <a:latin typeface="AmazonEmber"/>
            </a:endParaRP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AU" sz="2000" b="1" dirty="0"/>
              <a:t>Elastic </a:t>
            </a:r>
            <a:r>
              <a:rPr lang="en-US" sz="2000" b="1" dirty="0"/>
              <a:t>volumes</a:t>
            </a:r>
            <a:r>
              <a:rPr lang="en-US" sz="2000" dirty="0"/>
              <a:t> </a:t>
            </a:r>
            <a:r>
              <a:rPr lang="en-AU" sz="2000" dirty="0">
                <a:solidFill>
                  <a:srgbClr val="232F3E"/>
                </a:solidFill>
              </a:rPr>
              <a:t>: EBS </a:t>
            </a:r>
            <a:r>
              <a:rPr lang="en-AU" sz="2000" dirty="0"/>
              <a:t>allows users to dynamically </a:t>
            </a:r>
            <a:r>
              <a:rPr lang="en-US" sz="2000" dirty="0"/>
              <a:t>adapt their volumes when the needs of their applications change.</a:t>
            </a:r>
            <a:endParaRPr lang="en-AU" sz="2000" dirty="0"/>
          </a:p>
          <a:p>
            <a:pPr fontAlgn="auto">
              <a:spcAft>
                <a:spcPts val="0"/>
              </a:spcAft>
              <a:buClrTx/>
              <a:buSzTx/>
            </a:pPr>
            <a:endParaRPr lang="en-US" sz="20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F66373-0093-4B4C-94A9-3E86475C0393}"/>
              </a:ext>
            </a:extLst>
          </p:cNvPr>
          <p:cNvSpPr txBox="1">
            <a:spLocks/>
          </p:cNvSpPr>
          <p:nvPr/>
        </p:nvSpPr>
        <p:spPr>
          <a:xfrm>
            <a:off x="223935" y="1566715"/>
            <a:ext cx="3704094" cy="480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000" b="1" dirty="0"/>
              <a:t>EBS features</a:t>
            </a:r>
          </a:p>
        </p:txBody>
      </p:sp>
    </p:spTree>
    <p:extLst>
      <p:ext uri="{BB962C8B-B14F-4D97-AF65-F5344CB8AC3E}">
        <p14:creationId xmlns:p14="http://schemas.microsoft.com/office/powerpoint/2010/main" val="8426859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46038"/>
            <a:ext cx="4701539" cy="724137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1" y="770175"/>
            <a:ext cx="7886700" cy="1829590"/>
          </a:xfrm>
        </p:spPr>
        <p:txBody>
          <a:bodyPr>
            <a:normAutofit/>
          </a:bodyPr>
          <a:lstStyle/>
          <a:p>
            <a:r>
              <a:rPr lang="en-US" sz="2000" dirty="0"/>
              <a:t>Steps of creating, configuring and launching an EC2 instance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000" dirty="0"/>
              <a:t> </a:t>
            </a:r>
            <a:r>
              <a:rPr lang="en-AU" sz="2000" dirty="0">
                <a:solidFill>
                  <a:srgbClr val="16191F"/>
                </a:solidFill>
                <a:latin typeface="Amazon Ember"/>
              </a:rPr>
              <a:t>“</a:t>
            </a:r>
            <a:r>
              <a:rPr lang="en-AU" sz="2000" dirty="0"/>
              <a:t>Configure storage”</a:t>
            </a:r>
            <a:endParaRPr lang="en-US" sz="2000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AU" sz="2000" dirty="0">
                <a:solidFill>
                  <a:srgbClr val="16191F"/>
                </a:solidFill>
                <a:latin typeface="Amazon Ember"/>
              </a:rPr>
              <a:t>EBS setting</a:t>
            </a:r>
            <a:r>
              <a:rPr lang="en-US" sz="2000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1F61C0-62B2-40B2-85B4-47F78E020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4" y="1903200"/>
            <a:ext cx="8145012" cy="366825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DC4784-7DB2-4015-B34B-D1BF04BFF0BD}"/>
              </a:ext>
            </a:extLst>
          </p:cNvPr>
          <p:cNvCxnSpPr>
            <a:cxnSpLocks/>
          </p:cNvCxnSpPr>
          <p:nvPr/>
        </p:nvCxnSpPr>
        <p:spPr>
          <a:xfrm>
            <a:off x="499494" y="5180502"/>
            <a:ext cx="273280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16E4E5-6937-4604-BD3A-DC73D419BF00}"/>
              </a:ext>
            </a:extLst>
          </p:cNvPr>
          <p:cNvCxnSpPr>
            <a:cxnSpLocks/>
          </p:cNvCxnSpPr>
          <p:nvPr/>
        </p:nvCxnSpPr>
        <p:spPr>
          <a:xfrm>
            <a:off x="3317358" y="5180502"/>
            <a:ext cx="255181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9538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46038"/>
            <a:ext cx="4701539" cy="724137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1" y="770175"/>
            <a:ext cx="7886700" cy="2658825"/>
          </a:xfrm>
        </p:spPr>
        <p:txBody>
          <a:bodyPr>
            <a:normAutofit/>
          </a:bodyPr>
          <a:lstStyle/>
          <a:p>
            <a:r>
              <a:rPr lang="en-US" sz="2000" dirty="0"/>
              <a:t>Steps of creating, configuring and launching an EC2 instance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000" dirty="0"/>
              <a:t> </a:t>
            </a:r>
            <a:r>
              <a:rPr lang="en-AU" sz="2000" dirty="0">
                <a:solidFill>
                  <a:srgbClr val="16191F"/>
                </a:solidFill>
              </a:rPr>
              <a:t>“Advanced details”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AU" sz="2000" dirty="0"/>
              <a:t>Identity and Access Management (IAM) : </a:t>
            </a:r>
            <a:r>
              <a:rPr lang="en-US" altLang="zh-CN" sz="2000" dirty="0"/>
              <a:t>a</a:t>
            </a:r>
            <a:r>
              <a:rPr lang="en-US" sz="2000" dirty="0"/>
              <a:t> service that allows us to manage users, groups, and permissions to securely control access to AWS resources.</a:t>
            </a:r>
            <a:endParaRPr lang="en-AU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84986C-75C3-48BB-A1C5-45D5D79B3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777" y="2965816"/>
            <a:ext cx="3634867" cy="237464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77E599-F850-4EB7-90A0-712F4C6A2FF1}"/>
              </a:ext>
            </a:extLst>
          </p:cNvPr>
          <p:cNvSpPr txBox="1">
            <a:spLocks/>
          </p:cNvSpPr>
          <p:nvPr/>
        </p:nvSpPr>
        <p:spPr>
          <a:xfrm>
            <a:off x="403861" y="5624641"/>
            <a:ext cx="8165055" cy="724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8700" lvl="3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sz="2000" dirty="0"/>
              <a:t>What is the principle of least privilege?</a:t>
            </a:r>
          </a:p>
        </p:txBody>
      </p:sp>
    </p:spTree>
    <p:extLst>
      <p:ext uri="{BB962C8B-B14F-4D97-AF65-F5344CB8AC3E}">
        <p14:creationId xmlns:p14="http://schemas.microsoft.com/office/powerpoint/2010/main" val="8896051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46038"/>
            <a:ext cx="4701539" cy="724137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1" y="770175"/>
            <a:ext cx="7886700" cy="2658825"/>
          </a:xfrm>
        </p:spPr>
        <p:txBody>
          <a:bodyPr>
            <a:normAutofit/>
          </a:bodyPr>
          <a:lstStyle/>
          <a:p>
            <a:r>
              <a:rPr lang="en-US" sz="2000" dirty="0"/>
              <a:t>Steps of creating, configuring and launching an EC2 instance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000" dirty="0"/>
              <a:t> </a:t>
            </a:r>
            <a:r>
              <a:rPr lang="en-AU" sz="2000" dirty="0">
                <a:solidFill>
                  <a:srgbClr val="16191F"/>
                </a:solidFill>
              </a:rPr>
              <a:t>“Advanced details”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AU" sz="2000" dirty="0"/>
              <a:t>Identity and Access Management (IAM) : </a:t>
            </a:r>
            <a:r>
              <a:rPr lang="en-US" sz="2000" dirty="0"/>
              <a:t>a service that allows us to manage users, groups, and permissions to securely control access to AWS resources, e.g., root user and IAM user (according to the principle of least privilege).</a:t>
            </a:r>
            <a:endParaRPr lang="en-AU" sz="2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77E599-F850-4EB7-90A0-712F4C6A2FF1}"/>
              </a:ext>
            </a:extLst>
          </p:cNvPr>
          <p:cNvSpPr txBox="1">
            <a:spLocks/>
          </p:cNvSpPr>
          <p:nvPr/>
        </p:nvSpPr>
        <p:spPr>
          <a:xfrm>
            <a:off x="403861" y="5001208"/>
            <a:ext cx="8165055" cy="14182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8700" lvl="3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sz="2000" dirty="0"/>
              <a:t>What is the principle of least privilege?</a:t>
            </a:r>
          </a:p>
          <a:p>
            <a:pPr marL="1028700" lvl="3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sz="2000" dirty="0"/>
              <a:t>	A user only has those privileges which are essentially vital to perform their intended operations.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D9E6B5-B680-45F3-8B23-B0169B9FF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954" y="2621288"/>
            <a:ext cx="3634867" cy="217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6196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46038"/>
            <a:ext cx="4701539" cy="724137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1" y="770175"/>
            <a:ext cx="7886700" cy="4936210"/>
          </a:xfrm>
        </p:spPr>
        <p:txBody>
          <a:bodyPr>
            <a:normAutofit/>
          </a:bodyPr>
          <a:lstStyle/>
          <a:p>
            <a:r>
              <a:rPr lang="en-US" sz="2000" dirty="0"/>
              <a:t>Steps of creating, configuring and launching an EC2 instance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000" dirty="0"/>
              <a:t> </a:t>
            </a:r>
            <a:r>
              <a:rPr lang="en-AU" sz="2000" dirty="0">
                <a:solidFill>
                  <a:srgbClr val="16191F"/>
                </a:solidFill>
                <a:latin typeface="Amazon Ember"/>
              </a:rPr>
              <a:t>“Review and Launch”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6C781D-5643-4D6B-9680-B2D6DD66C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383" y="1494312"/>
            <a:ext cx="6795655" cy="486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148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46038"/>
            <a:ext cx="4701539" cy="724137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1" y="770175"/>
            <a:ext cx="7886700" cy="4936210"/>
          </a:xfrm>
        </p:spPr>
        <p:txBody>
          <a:bodyPr>
            <a:normAutofit/>
          </a:bodyPr>
          <a:lstStyle/>
          <a:p>
            <a:r>
              <a:rPr lang="en-US" sz="2000" dirty="0"/>
              <a:t>Steps of creating, configuring and launching an EC2 instance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000" dirty="0"/>
              <a:t> </a:t>
            </a:r>
            <a:r>
              <a:rPr lang="en-AU" sz="2000" dirty="0">
                <a:solidFill>
                  <a:srgbClr val="16191F"/>
                </a:solidFill>
                <a:latin typeface="Amazon Ember"/>
              </a:rPr>
              <a:t>“Review and Launch”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00257D-A60E-4718-B5A5-8F0DDC3B8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776" y="2019103"/>
            <a:ext cx="5568293" cy="368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488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46038"/>
            <a:ext cx="4701539" cy="724137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1" y="770175"/>
            <a:ext cx="7886700" cy="4936210"/>
          </a:xfrm>
        </p:spPr>
        <p:txBody>
          <a:bodyPr>
            <a:normAutofit/>
          </a:bodyPr>
          <a:lstStyle/>
          <a:p>
            <a:r>
              <a:rPr lang="en-US" sz="2000" dirty="0"/>
              <a:t>Connecting to an EC2 instance :</a:t>
            </a:r>
          </a:p>
          <a:p>
            <a:pPr marL="342900" lvl="1" indent="0">
              <a:buNone/>
            </a:pPr>
            <a:endParaRPr lang="en-AU" sz="2000" dirty="0">
              <a:solidFill>
                <a:srgbClr val="16191F"/>
              </a:solidFill>
              <a:latin typeface="Amazon Embe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73FF0C-CDA2-4B24-A90F-BDA7A15AD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32" y="1518868"/>
            <a:ext cx="3080206" cy="40320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4E7D6A-B3F9-4778-8C74-27C4138AD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068" y="1518867"/>
            <a:ext cx="5256072" cy="403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1163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46038"/>
            <a:ext cx="4701539" cy="724137"/>
          </a:xfrm>
        </p:spPr>
        <p:txBody>
          <a:bodyPr/>
          <a:lstStyle/>
          <a:p>
            <a:r>
              <a:rPr lang="en-US" b="1" dirty="0"/>
              <a:t>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1" y="770175"/>
            <a:ext cx="7886700" cy="4936210"/>
          </a:xfrm>
        </p:spPr>
        <p:txBody>
          <a:bodyPr>
            <a:normAutofit/>
          </a:bodyPr>
          <a:lstStyle/>
          <a:p>
            <a:r>
              <a:rPr lang="en-US" sz="2000" dirty="0"/>
              <a:t>Terminating an EC2 instance :</a:t>
            </a:r>
          </a:p>
          <a:p>
            <a:pPr marL="342900" lvl="1" indent="0">
              <a:buNone/>
            </a:pPr>
            <a:endParaRPr lang="en-AU" sz="2000" dirty="0">
              <a:solidFill>
                <a:srgbClr val="16191F"/>
              </a:solidFill>
              <a:latin typeface="Amazon Embe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D5F80C-ACA6-4955-A290-15D518E43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71" y="1494312"/>
            <a:ext cx="8507567" cy="16766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A9F274-CEC3-4B83-9352-4D9ED420E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571" y="3517193"/>
            <a:ext cx="8507567" cy="157684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BBB90FE-D363-4B1B-AECF-CBF1C95C7C8B}"/>
              </a:ext>
            </a:extLst>
          </p:cNvPr>
          <p:cNvCxnSpPr>
            <a:cxnSpLocks/>
          </p:cNvCxnSpPr>
          <p:nvPr/>
        </p:nvCxnSpPr>
        <p:spPr>
          <a:xfrm flipH="1">
            <a:off x="4870580" y="2915658"/>
            <a:ext cx="234822" cy="184295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1DD8A345-384D-4896-A7CF-814F24DF1B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571" y="5408815"/>
            <a:ext cx="8507567" cy="1358019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D7B577-0D4A-42F6-9E5C-9E2D767F2F17}"/>
              </a:ext>
            </a:extLst>
          </p:cNvPr>
          <p:cNvCxnSpPr>
            <a:cxnSpLocks/>
          </p:cNvCxnSpPr>
          <p:nvPr/>
        </p:nvCxnSpPr>
        <p:spPr>
          <a:xfrm>
            <a:off x="4870580" y="5094041"/>
            <a:ext cx="0" cy="139382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5738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43840" y="157639"/>
            <a:ext cx="3062068" cy="942975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Practice Questions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85F180D1-C7EF-4A34-96CA-73A86A26F467}"/>
              </a:ext>
            </a:extLst>
          </p:cNvPr>
          <p:cNvSpPr txBox="1">
            <a:spLocks/>
          </p:cNvSpPr>
          <p:nvPr/>
        </p:nvSpPr>
        <p:spPr>
          <a:xfrm>
            <a:off x="243840" y="1100614"/>
            <a:ext cx="8696960" cy="51731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200" dirty="0"/>
              <a:t>[7 marks] Q2: </a:t>
            </a:r>
            <a:r>
              <a:rPr lang="en-US" sz="2200" dirty="0"/>
              <a:t>Describe the main steps which you would take on AWS and the decisions that would need to be made to create, configure and launch an EC2 Instance.</a:t>
            </a:r>
          </a:p>
          <a:p>
            <a:pPr fontAlgn="auto">
              <a:spcAft>
                <a:spcPts val="0"/>
              </a:spcAft>
              <a:buClr>
                <a:schemeClr val="tx1"/>
              </a:buClr>
              <a:buSzTx/>
            </a:pPr>
            <a:endParaRPr lang="en-AU" sz="2200" dirty="0"/>
          </a:p>
          <a:p>
            <a:pPr>
              <a:lnSpc>
                <a:spcPct val="107000"/>
              </a:lnSpc>
              <a:spcAft>
                <a:spcPts val="800"/>
              </a:spcAft>
              <a:buClr>
                <a:schemeClr val="tx1"/>
              </a:buClr>
              <a:buSzPct val="100000"/>
            </a:pPr>
            <a:r>
              <a:rPr lang="en-US" sz="2200" dirty="0"/>
              <a:t>[1 mark] Sign in to the AWS management console</a:t>
            </a:r>
            <a:endParaRPr lang="en-AU" sz="2200" dirty="0"/>
          </a:p>
          <a:p>
            <a:pPr>
              <a:lnSpc>
                <a:spcPct val="107000"/>
              </a:lnSpc>
              <a:spcAft>
                <a:spcPts val="800"/>
              </a:spcAft>
              <a:buClr>
                <a:schemeClr val="tx1"/>
              </a:buClr>
              <a:buSzPct val="100000"/>
            </a:pPr>
            <a:r>
              <a:rPr lang="en-US" sz="2200" dirty="0"/>
              <a:t>[1 mark] </a:t>
            </a:r>
            <a:r>
              <a:rPr lang="en-AU" sz="2200" dirty="0"/>
              <a:t>Navigate to EC2 Dashboard and click “Launch instance”</a:t>
            </a:r>
          </a:p>
          <a:p>
            <a:pPr>
              <a:lnSpc>
                <a:spcPct val="107000"/>
              </a:lnSpc>
              <a:spcAft>
                <a:spcPts val="800"/>
              </a:spcAft>
              <a:buClr>
                <a:schemeClr val="tx1"/>
              </a:buClr>
              <a:buSzPct val="100000"/>
            </a:pPr>
            <a:r>
              <a:rPr lang="en-US" sz="2200" dirty="0"/>
              <a:t>[1 mark] Select/Create n</a:t>
            </a:r>
            <a:r>
              <a:rPr lang="en-AU" sz="2200" dirty="0" err="1"/>
              <a:t>ames</a:t>
            </a:r>
            <a:r>
              <a:rPr lang="en-AU" sz="2200" dirty="0"/>
              <a:t> and tags</a:t>
            </a:r>
          </a:p>
          <a:p>
            <a:pPr>
              <a:lnSpc>
                <a:spcPct val="107000"/>
              </a:lnSpc>
              <a:spcAft>
                <a:spcPts val="800"/>
              </a:spcAft>
              <a:buClr>
                <a:schemeClr val="tx1"/>
              </a:buClr>
              <a:buSzPct val="100000"/>
            </a:pPr>
            <a:r>
              <a:rPr lang="en-US" sz="2200" dirty="0"/>
              <a:t>[1 mark] Select </a:t>
            </a:r>
            <a:r>
              <a:rPr lang="en-AU" sz="2200" dirty="0"/>
              <a:t>AMI and Instance type</a:t>
            </a:r>
          </a:p>
          <a:p>
            <a:pPr>
              <a:lnSpc>
                <a:spcPct val="107000"/>
              </a:lnSpc>
              <a:spcAft>
                <a:spcPts val="800"/>
              </a:spcAft>
              <a:buClr>
                <a:schemeClr val="tx1"/>
              </a:buClr>
              <a:buSzPct val="100000"/>
            </a:pPr>
            <a:r>
              <a:rPr lang="en-AU" sz="2200" dirty="0"/>
              <a:t>[1 mark] Select/Create Key pair for login</a:t>
            </a:r>
          </a:p>
          <a:p>
            <a:pPr>
              <a:lnSpc>
                <a:spcPct val="107000"/>
              </a:lnSpc>
              <a:spcAft>
                <a:spcPts val="800"/>
              </a:spcAft>
              <a:buClr>
                <a:schemeClr val="tx1"/>
              </a:buClr>
              <a:buSzPct val="100000"/>
            </a:pPr>
            <a:r>
              <a:rPr lang="en-AU" sz="2200" dirty="0"/>
              <a:t>[1 mark] Configure network settings and storage</a:t>
            </a:r>
          </a:p>
          <a:p>
            <a:pPr>
              <a:lnSpc>
                <a:spcPct val="107000"/>
              </a:lnSpc>
              <a:spcAft>
                <a:spcPts val="800"/>
              </a:spcAft>
              <a:buClr>
                <a:schemeClr val="tx1"/>
              </a:buClr>
              <a:buSzPct val="100000"/>
            </a:pPr>
            <a:r>
              <a:rPr lang="en-AU" sz="2200" dirty="0"/>
              <a:t>[1 mark] Review and launch </a:t>
            </a:r>
          </a:p>
          <a:p>
            <a:pPr fontAlgn="auto">
              <a:spcAft>
                <a:spcPts val="0"/>
              </a:spcAft>
              <a:buClrTx/>
              <a:buSzTx/>
            </a:pP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21333223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43840" y="157639"/>
            <a:ext cx="3062068" cy="942975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Practice Questions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85F180D1-C7EF-4A34-96CA-73A86A26F467}"/>
              </a:ext>
            </a:extLst>
          </p:cNvPr>
          <p:cNvSpPr txBox="1">
            <a:spLocks/>
          </p:cNvSpPr>
          <p:nvPr/>
        </p:nvSpPr>
        <p:spPr>
          <a:xfrm>
            <a:off x="243840" y="1100614"/>
            <a:ext cx="8696960" cy="5173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200" dirty="0"/>
              <a:t>[7 marks] Q3: </a:t>
            </a:r>
            <a:r>
              <a:rPr lang="en-US" sz="2200" dirty="0"/>
              <a:t>Describe EBS and what features it offers.</a:t>
            </a:r>
          </a:p>
          <a:p>
            <a:pPr fontAlgn="auto">
              <a:spcAft>
                <a:spcPts val="0"/>
              </a:spcAft>
              <a:buClrTx/>
              <a:buSzTx/>
            </a:pPr>
            <a:endParaRPr lang="en-US" sz="2200" dirty="0"/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[1 mark] A brief introduction to EBS.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[2 marks] </a:t>
            </a:r>
            <a:r>
              <a:rPr lang="en-AU" sz="2200" dirty="0"/>
              <a:t>One feature and its brief description. </a:t>
            </a:r>
            <a:endParaRPr lang="en-US" sz="2200" dirty="0">
              <a:solidFill>
                <a:srgbClr val="FF0000"/>
              </a:solidFill>
            </a:endParaRP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[2 marks] </a:t>
            </a:r>
            <a:r>
              <a:rPr lang="en-AU" sz="2200" dirty="0"/>
              <a:t>One feature and its brief description. </a:t>
            </a:r>
            <a:endParaRPr lang="en-US" sz="2200" dirty="0"/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[2 marks] </a:t>
            </a:r>
            <a:r>
              <a:rPr lang="en-AU" sz="2200" dirty="0"/>
              <a:t>One feature and its brief description. </a:t>
            </a:r>
            <a:endParaRPr lang="en-US" sz="2200" dirty="0"/>
          </a:p>
          <a:p>
            <a:pPr fontAlgn="auto">
              <a:spcAft>
                <a:spcPts val="0"/>
              </a:spcAft>
              <a:buClrTx/>
              <a:buSzTx/>
            </a:pPr>
            <a:endParaRPr lang="en-US" sz="2200" dirty="0"/>
          </a:p>
          <a:p>
            <a:pPr fontAlgn="auto">
              <a:spcAft>
                <a:spcPts val="0"/>
              </a:spcAft>
              <a:buClrTx/>
              <a:buSzTx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11626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2911</Words>
  <Application>Microsoft Office PowerPoint</Application>
  <PresentationFormat>On-screen Show (4:3)</PresentationFormat>
  <Paragraphs>501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2" baseType="lpstr">
      <vt:lpstr>Amazon Ember</vt:lpstr>
      <vt:lpstr>AmazonEmber</vt:lpstr>
      <vt:lpstr>Söhne</vt:lpstr>
      <vt:lpstr>Arial</vt:lpstr>
      <vt:lpstr>Calibri</vt:lpstr>
      <vt:lpstr>Calibri Light</vt:lpstr>
      <vt:lpstr>Courier New</vt:lpstr>
      <vt:lpstr>Tahoma</vt:lpstr>
      <vt:lpstr>Times New Roman</vt:lpstr>
      <vt:lpstr>Wingdings</vt:lpstr>
      <vt:lpstr>Office Theme</vt:lpstr>
      <vt:lpstr>PowerPoint Presentation</vt:lpstr>
      <vt:lpstr>Overview</vt:lpstr>
      <vt:lpstr>PowerPoint Presentation</vt:lpstr>
      <vt:lpstr>PowerPoint Presentation</vt:lpstr>
      <vt:lpstr>PowerPoint Presentation</vt:lpstr>
      <vt:lpstr>PowerPoint Presentation</vt:lpstr>
      <vt:lpstr>Virtualization: the core technique of cloud computing</vt:lpstr>
      <vt:lpstr>Virtualization: the core technique of cloud computing</vt:lpstr>
      <vt:lpstr>VM isolation</vt:lpstr>
      <vt:lpstr>VM live migration</vt:lpstr>
      <vt:lpstr>How is virtualization implemented?</vt:lpstr>
      <vt:lpstr>How is virtualization implemented?</vt:lpstr>
      <vt:lpstr>Memory Virtualization: on-demand paging</vt:lpstr>
      <vt:lpstr>How is virtualization implemented?</vt:lpstr>
      <vt:lpstr>CPU Virtualization: time multiplexing</vt:lpstr>
      <vt:lpstr>The benefits of virtualization</vt:lpstr>
      <vt:lpstr>Amazon: the pioneer</vt:lpstr>
      <vt:lpstr>What services does a cloud provide?</vt:lpstr>
      <vt:lpstr>Software as a Service (SaaS)</vt:lpstr>
      <vt:lpstr>What services does a cloud provide?</vt:lpstr>
      <vt:lpstr>Platform as a Service (PaaS)</vt:lpstr>
      <vt:lpstr>What services does a cloud provide?</vt:lpstr>
      <vt:lpstr>Infrastructure as a Service (IaaS)</vt:lpstr>
      <vt:lpstr>What services does a cloud provide?</vt:lpstr>
      <vt:lpstr>Public/Community/Private clouds</vt:lpstr>
      <vt:lpstr>Practice Questions</vt:lpstr>
      <vt:lpstr>Practice Questions</vt:lpstr>
      <vt:lpstr>AWS: the leading cloud providing a wide range of services</vt:lpstr>
      <vt:lpstr>PowerPoint Presentation</vt:lpstr>
      <vt:lpstr>What is an application architecture?</vt:lpstr>
      <vt:lpstr>What is an application architecture?</vt:lpstr>
      <vt:lpstr>What is an application architecture?</vt:lpstr>
      <vt:lpstr>What is an application architecture?</vt:lpstr>
      <vt:lpstr>Deploying an application onto AWS</vt:lpstr>
      <vt:lpstr>AWS EC2</vt:lpstr>
      <vt:lpstr>AWS EC2</vt:lpstr>
      <vt:lpstr>AWS EC2</vt:lpstr>
      <vt:lpstr>AWS EC2</vt:lpstr>
      <vt:lpstr>Geographical location of an instance</vt:lpstr>
      <vt:lpstr>AWS EC2</vt:lpstr>
      <vt:lpstr>AWS EC2</vt:lpstr>
      <vt:lpstr>AWS EC2</vt:lpstr>
      <vt:lpstr>AWS EC2</vt:lpstr>
      <vt:lpstr>AWS EC2</vt:lpstr>
      <vt:lpstr>AWS EC2</vt:lpstr>
      <vt:lpstr>AWS EC2</vt:lpstr>
      <vt:lpstr>AWS EC2</vt:lpstr>
      <vt:lpstr>AWS EC2</vt:lpstr>
      <vt:lpstr>AWS EC2</vt:lpstr>
      <vt:lpstr>AWS EC2</vt:lpstr>
      <vt:lpstr>AWS EC2</vt:lpstr>
      <vt:lpstr>AWS EC2</vt:lpstr>
      <vt:lpstr>AWS EC2</vt:lpstr>
      <vt:lpstr>AWS EC2</vt:lpstr>
      <vt:lpstr>AWS EC2</vt:lpstr>
      <vt:lpstr>AWS EC2</vt:lpstr>
      <vt:lpstr>AWS EC2</vt:lpstr>
      <vt:lpstr>AWS EC2</vt:lpstr>
      <vt:lpstr>AWS EC2</vt:lpstr>
      <vt:lpstr>Practice Questions</vt:lpstr>
      <vt:lpstr>Practice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2026-07-27T03:23:33Z</dcterms:created>
  <dcterms:modified xsi:type="dcterms:W3CDTF">2026-07-27T03:23:46Z</dcterms:modified>
  <cp:category/>
</cp:coreProperties>
</file>