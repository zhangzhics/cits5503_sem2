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94" r:id="rId1"/>
  </p:sldMasterIdLst>
  <p:notesMasterIdLst>
    <p:notesMasterId r:id="rId69"/>
  </p:notesMasterIdLst>
  <p:handoutMasterIdLst>
    <p:handoutMasterId r:id="rId70"/>
  </p:handoutMasterIdLst>
  <p:sldIdLst>
    <p:sldId id="1357" r:id="rId2"/>
    <p:sldId id="1450" r:id="rId3"/>
    <p:sldId id="1547" r:id="rId4"/>
    <p:sldId id="1412" r:id="rId5"/>
    <p:sldId id="1476" r:id="rId6"/>
    <p:sldId id="1472" r:id="rId7"/>
    <p:sldId id="1483" r:id="rId8"/>
    <p:sldId id="1484" r:id="rId9"/>
    <p:sldId id="1485" r:id="rId10"/>
    <p:sldId id="1473" r:id="rId11"/>
    <p:sldId id="1546" r:id="rId12"/>
    <p:sldId id="1487" r:id="rId13"/>
    <p:sldId id="1488" r:id="rId14"/>
    <p:sldId id="1489" r:id="rId15"/>
    <p:sldId id="1490" r:id="rId16"/>
    <p:sldId id="1491" r:id="rId17"/>
    <p:sldId id="1480" r:id="rId18"/>
    <p:sldId id="1493" r:id="rId19"/>
    <p:sldId id="1494" r:id="rId20"/>
    <p:sldId id="1460" r:id="rId21"/>
    <p:sldId id="1380" r:id="rId22"/>
    <p:sldId id="1495" r:id="rId23"/>
    <p:sldId id="1382" r:id="rId24"/>
    <p:sldId id="1503" r:id="rId25"/>
    <p:sldId id="1504" r:id="rId26"/>
    <p:sldId id="1505" r:id="rId27"/>
    <p:sldId id="1506" r:id="rId28"/>
    <p:sldId id="1508" r:id="rId29"/>
    <p:sldId id="1509" r:id="rId30"/>
    <p:sldId id="1502" r:id="rId31"/>
    <p:sldId id="1383" r:id="rId32"/>
    <p:sldId id="1498" r:id="rId33"/>
    <p:sldId id="1511" r:id="rId34"/>
    <p:sldId id="1544" r:id="rId35"/>
    <p:sldId id="1500" r:id="rId36"/>
    <p:sldId id="1457" r:id="rId37"/>
    <p:sldId id="1513" r:id="rId38"/>
    <p:sldId id="1496" r:id="rId39"/>
    <p:sldId id="1515" r:id="rId40"/>
    <p:sldId id="1514" r:id="rId41"/>
    <p:sldId id="1516" r:id="rId42"/>
    <p:sldId id="1517" r:id="rId43"/>
    <p:sldId id="1518" r:id="rId44"/>
    <p:sldId id="1519" r:id="rId45"/>
    <p:sldId id="1520" r:id="rId46"/>
    <p:sldId id="1521" r:id="rId47"/>
    <p:sldId id="1522" r:id="rId48"/>
    <p:sldId id="1523" r:id="rId49"/>
    <p:sldId id="1536" r:id="rId50"/>
    <p:sldId id="1524" r:id="rId51"/>
    <p:sldId id="1525" r:id="rId52"/>
    <p:sldId id="1537" r:id="rId53"/>
    <p:sldId id="1548" r:id="rId54"/>
    <p:sldId id="1526" r:id="rId55"/>
    <p:sldId id="1545" r:id="rId56"/>
    <p:sldId id="1528" r:id="rId57"/>
    <p:sldId id="1529" r:id="rId58"/>
    <p:sldId id="1531" r:id="rId59"/>
    <p:sldId id="1530" r:id="rId60"/>
    <p:sldId id="1532" r:id="rId61"/>
    <p:sldId id="1540" r:id="rId62"/>
    <p:sldId id="1542" r:id="rId63"/>
    <p:sldId id="1539" r:id="rId64"/>
    <p:sldId id="1533" r:id="rId65"/>
    <p:sldId id="1534" r:id="rId66"/>
    <p:sldId id="1535" r:id="rId67"/>
    <p:sldId id="1538" r:id="rId68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33CC33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62" autoAdjust="0"/>
    <p:restoredTop sz="64407" autoAdjust="0"/>
  </p:normalViewPr>
  <p:slideViewPr>
    <p:cSldViewPr snapToGrid="0">
      <p:cViewPr varScale="1">
        <p:scale>
          <a:sx n="45" d="100"/>
          <a:sy n="45" d="100"/>
        </p:scale>
        <p:origin x="1266" y="60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5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62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84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06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67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2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2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6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63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57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01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9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99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75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20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88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5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49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08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94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90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25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89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58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78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0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63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04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780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24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399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859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951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40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37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904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603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2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039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74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5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019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184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35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405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954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235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366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2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685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9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138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518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336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43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7623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970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436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482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502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37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043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6318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899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6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1C55C-64EF-5A4C-AA55-00ED127F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Week 10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8071F-5629-E546-A495-2CF02BCF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493059"/>
          </a:xfrm>
        </p:spPr>
        <p:txBody>
          <a:bodyPr>
            <a:normAutofit/>
          </a:bodyPr>
          <a:lstStyle/>
          <a:p>
            <a:r>
              <a:rPr lang="en-US" sz="1800" dirty="0"/>
              <a:t>Dr </a:t>
            </a:r>
            <a:r>
              <a:rPr lang="en-US" sz="1800" dirty="0" err="1"/>
              <a:t>Zhi</a:t>
            </a:r>
            <a:r>
              <a:rPr lang="en-US" sz="1800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201535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196" y="1581956"/>
            <a:ext cx="9707968" cy="2075644"/>
          </a:xfrm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Expression of Interest: Facilitating CITS5503 in Sem 2, 2027</a:t>
            </a:r>
          </a:p>
          <a:p>
            <a:pPr lvl="1"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Calibri"/>
              </a:rPr>
              <a:t>a google form will be available soon</a:t>
            </a:r>
          </a:p>
        </p:txBody>
      </p:sp>
    </p:spTree>
    <p:extLst>
      <p:ext uri="{BB962C8B-B14F-4D97-AF65-F5344CB8AC3E}">
        <p14:creationId xmlns:p14="http://schemas.microsoft.com/office/powerpoint/2010/main" val="230914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14" y="1436483"/>
            <a:ext cx="8674173" cy="1683235"/>
          </a:xfrm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DevOps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Fabric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AWS Lambda</a:t>
            </a:r>
          </a:p>
          <a:p>
            <a:pPr marL="27675" indent="0">
              <a:buNone/>
            </a:pP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15" y="286870"/>
            <a:ext cx="3258393" cy="76353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10675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3832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What</a:t>
            </a:r>
            <a:r>
              <a:rPr lang="zh-CN" altLang="en-US" sz="3200" b="1" dirty="0"/>
              <a:t> </a:t>
            </a:r>
            <a:r>
              <a:rPr lang="en-AU" altLang="zh-CN" sz="3200" b="1" dirty="0"/>
              <a:t>is</a:t>
            </a:r>
            <a:r>
              <a:rPr lang="zh-CN" altLang="en-US" sz="3200" b="1" dirty="0"/>
              <a:t> </a:t>
            </a:r>
            <a:r>
              <a:rPr lang="en-AU" sz="3200" b="1" dirty="0"/>
              <a:t>DevOps?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01012"/>
            <a:ext cx="10864355" cy="5019058"/>
          </a:xfrm>
        </p:spPr>
        <p:txBody>
          <a:bodyPr>
            <a:noAutofit/>
          </a:bodyPr>
          <a:lstStyle/>
          <a:p>
            <a:pPr algn="l"/>
            <a:r>
              <a:rPr lang="en-AU" sz="2400" spc="-1" dirty="0">
                <a:solidFill>
                  <a:srgbClr val="000000"/>
                </a:solidFill>
              </a:rPr>
              <a:t>It is </a:t>
            </a:r>
            <a:r>
              <a:rPr lang="en-US" sz="2400" spc="-1" dirty="0">
                <a:solidFill>
                  <a:srgbClr val="000000"/>
                </a:solidFill>
              </a:rPr>
              <a:t>a combination of </a:t>
            </a:r>
            <a:r>
              <a:rPr lang="en-AU" sz="2400" spc="-1" dirty="0">
                <a:solidFill>
                  <a:srgbClr val="000000"/>
                </a:solidFill>
              </a:rPr>
              <a:t>cultural philosophies,</a:t>
            </a:r>
            <a:r>
              <a:rPr lang="en-US" sz="2400" spc="-1" dirty="0">
                <a:solidFill>
                  <a:srgbClr val="000000"/>
                </a:solidFill>
              </a:rPr>
              <a:t> </a:t>
            </a:r>
            <a:r>
              <a:rPr lang="en-AU" sz="2400" spc="-1" dirty="0">
                <a:solidFill>
                  <a:srgbClr val="000000"/>
                </a:solidFill>
              </a:rPr>
              <a:t>practices</a:t>
            </a:r>
            <a:r>
              <a:rPr lang="en-US" sz="2400" spc="-1" dirty="0">
                <a:solidFill>
                  <a:srgbClr val="000000"/>
                </a:solidFill>
              </a:rPr>
              <a:t> and tools created to facilitate organizations in delivering services/applications much faster than they can through traditional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82895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68EED5-A147-447B-B363-F901C42B0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03" y="737928"/>
            <a:ext cx="5191113" cy="55322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D05039-62DC-4A34-9097-AD3894B0AD13}"/>
              </a:ext>
            </a:extLst>
          </p:cNvPr>
          <p:cNvSpPr/>
          <p:nvPr/>
        </p:nvSpPr>
        <p:spPr>
          <a:xfrm>
            <a:off x="4985657" y="5725886"/>
            <a:ext cx="2220685" cy="793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343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8"/>
            <a:ext cx="10864355" cy="294144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Microservice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Monitoring and Logging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Delivery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Continuous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108934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8"/>
            <a:ext cx="10353327" cy="294144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Microservice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Builds a single application as a set of small services</a:t>
            </a:r>
            <a:r>
              <a:rPr lang="en-AU" spc="-1" dirty="0">
                <a:solidFill>
                  <a:srgbClr val="000000"/>
                </a:solidFill>
              </a:rPr>
              <a:t>. </a:t>
            </a:r>
            <a:r>
              <a:rPr lang="en-US" spc="-1" dirty="0">
                <a:solidFill>
                  <a:srgbClr val="000000"/>
                </a:solidFill>
              </a:rPr>
              <a:t>Each service runs in its own process and communicates with other services through network. 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Applications are broken into many individual microservices with each microservice scoped to a single purpose or function. </a:t>
            </a:r>
            <a:endParaRPr lang="en-AU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32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8"/>
            <a:ext cx="10992833" cy="294144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Microservice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Builds a single application as a set of small services</a:t>
            </a:r>
            <a:r>
              <a:rPr lang="en-AU" spc="-1" dirty="0">
                <a:solidFill>
                  <a:srgbClr val="000000"/>
                </a:solidFill>
              </a:rPr>
              <a:t>. </a:t>
            </a:r>
            <a:r>
              <a:rPr lang="en-US" spc="-1" dirty="0">
                <a:solidFill>
                  <a:srgbClr val="000000"/>
                </a:solidFill>
              </a:rPr>
              <a:t>Each service runs in its own process and communicates with other services through network. 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Applications are broken into many individual microservices with each microservice scoped to a single purpose or function. </a:t>
            </a:r>
            <a:endParaRPr lang="en-AU" spc="-1" dirty="0">
              <a:solidFill>
                <a:srgbClr val="000000"/>
              </a:solidFill>
            </a:endParaRP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Benefits: makes the application flexible and enables frequent and small updates.</a:t>
            </a:r>
          </a:p>
          <a:p>
            <a:pPr lvl="1"/>
            <a:r>
              <a:rPr lang="en-US" spc="-1" dirty="0">
                <a:solidFill>
                  <a:srgbClr val="FF0000"/>
                </a:solidFill>
              </a:rPr>
              <a:t>Example</a:t>
            </a:r>
            <a:r>
              <a:rPr lang="en-US" spc="-1" dirty="0">
                <a:solidFill>
                  <a:srgbClr val="000000"/>
                </a:solidFill>
              </a:rPr>
              <a:t>: AWS Lambda.  </a:t>
            </a:r>
            <a:endParaRPr lang="en-AU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65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3" y="1151588"/>
            <a:ext cx="10665028" cy="2941442"/>
          </a:xfrm>
        </p:spPr>
        <p:txBody>
          <a:bodyPr>
            <a:noAutofit/>
          </a:bodyPr>
          <a:lstStyle/>
          <a:p>
            <a:r>
              <a:rPr lang="en-AU" sz="2400" spc="-1" dirty="0">
                <a:solidFill>
                  <a:srgbClr val="000000"/>
                </a:solidFill>
              </a:rPr>
              <a:t>Monitoring and Logging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Organizations monitor metrics and logs to see how application and infrastructure performance impacts the experience of their product’s end user.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Benefits: tracks the performance of applications and infrastructure and detects real-time problems.</a:t>
            </a:r>
          </a:p>
          <a:p>
            <a:pPr lvl="1"/>
            <a:r>
              <a:rPr lang="en-US" spc="-1" dirty="0">
                <a:solidFill>
                  <a:srgbClr val="FF0000"/>
                </a:solidFill>
              </a:rPr>
              <a:t>Example</a:t>
            </a:r>
            <a:r>
              <a:rPr lang="en-US" spc="-1" dirty="0">
                <a:solidFill>
                  <a:srgbClr val="000000"/>
                </a:solidFill>
              </a:rPr>
              <a:t>: AWS CloudWatch.  </a:t>
            </a:r>
            <a:endParaRPr lang="en-AU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06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8"/>
            <a:ext cx="10864355" cy="122585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Integration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Continuous Delivery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Continuous Deployment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25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7"/>
            <a:ext cx="10864355" cy="149185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b="1" spc="-1" dirty="0">
                <a:solidFill>
                  <a:srgbClr val="000000"/>
                </a:solidFill>
              </a:rPr>
              <a:t>Source Control: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Developers use a VCS (Version Control System) to manage and track changes to a code repository.</a:t>
            </a:r>
            <a:endParaRPr lang="en-AU" spc="-1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</a:rPr>
              <a:t>Run Build and Unit Tests: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Test Environment: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Production Environment:</a:t>
            </a:r>
            <a:endParaRPr lang="en-US" sz="2400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55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7"/>
            <a:ext cx="10864355" cy="149185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b="1" spc="-1" dirty="0">
                <a:solidFill>
                  <a:srgbClr val="000000"/>
                </a:solidFill>
              </a:rPr>
              <a:t>Source Control: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Developers use a VCS (Version Control System) to manage and track changes to a code repository.</a:t>
            </a:r>
            <a:endParaRPr lang="en-AU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pic>
        <p:nvPicPr>
          <p:cNvPr id="1026" name="Picture 2" descr="Diagram of the two branches. The &quot;feature&quot; branch diverges from the &quot;main&quot; branch, goes through stages for &quot;Commit changes,&quot; &quot;Submit pull request,&quot; and &quot;Discuss proposed changes,&quot; and is then merged back into main.">
            <a:extLst>
              <a:ext uri="{FF2B5EF4-FFF2-40B4-BE49-F238E27FC236}">
                <a16:creationId xmlns:a16="http://schemas.microsoft.com/office/drawing/2014/main" id="{5701CAAB-E781-4250-8492-208BCC375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79" y="2503115"/>
            <a:ext cx="10336100" cy="28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62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7"/>
            <a:ext cx="10864355" cy="149185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Source Control: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</a:rPr>
              <a:t>Run Build and Unit Tests:</a:t>
            </a:r>
          </a:p>
          <a:p>
            <a:pPr lvl="1"/>
            <a:r>
              <a:rPr lang="en-AU" spc="-1" dirty="0">
                <a:solidFill>
                  <a:srgbClr val="000000"/>
                </a:solidFill>
              </a:rPr>
              <a:t>Build refers to </a:t>
            </a:r>
            <a:r>
              <a:rPr lang="en-US" spc="-1" dirty="0">
                <a:solidFill>
                  <a:srgbClr val="000000"/>
                </a:solidFill>
              </a:rPr>
              <a:t>automatically generating executables for the application. 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Automated unit tests are executed to ensure that individual components of the application function correctly. 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Failures in build and unit tests alert the developers.</a:t>
            </a:r>
            <a:endParaRPr lang="en-AU" spc="-1" dirty="0">
              <a:solidFill>
                <a:srgbClr val="000000"/>
              </a:solidFill>
            </a:endParaRPr>
          </a:p>
          <a:p>
            <a:r>
              <a:rPr lang="en-AU" sz="2400" spc="-1" dirty="0">
                <a:solidFill>
                  <a:srgbClr val="000000"/>
                </a:solidFill>
              </a:rPr>
              <a:t>Deploy to Test Environment: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Production Environment:</a:t>
            </a:r>
            <a:endParaRPr lang="en-US" sz="2400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264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7"/>
            <a:ext cx="10864355" cy="454882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Source Control: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</a:rPr>
              <a:t>Run Build and Unit Tests:</a:t>
            </a:r>
          </a:p>
          <a:p>
            <a:r>
              <a:rPr lang="en-AU" sz="2400" b="1" spc="-1" dirty="0">
                <a:solidFill>
                  <a:srgbClr val="000000"/>
                </a:solidFill>
              </a:rPr>
              <a:t>Deploy to Test Environment: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Automated deployment to the test environment.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Test Environment: a dedicated test environment mirrors the production environment but is isolated for testing purposes. 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Test includes functional testing, integration testing, workload testing, etc.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Production Environment:</a:t>
            </a:r>
            <a:endParaRPr lang="en-US" sz="2400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078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6804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51587"/>
            <a:ext cx="10864355" cy="454882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Source Control: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</a:rPr>
              <a:t>Run Build and Unit Tests: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Test Environment:</a:t>
            </a:r>
          </a:p>
          <a:p>
            <a:r>
              <a:rPr lang="en-AU" sz="2400" b="1" spc="-1" dirty="0">
                <a:solidFill>
                  <a:srgbClr val="000000"/>
                </a:solidFill>
              </a:rPr>
              <a:t>Deploy to Production Environment: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The application is deployed to the production environment for serving real users.</a:t>
            </a:r>
          </a:p>
          <a:p>
            <a:pPr lvl="1"/>
            <a:endParaRPr lang="en-US" sz="2000" b="1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366959-F1E2-4E4E-B6D9-ED2D2CA04CD2}"/>
              </a:ext>
            </a:extLst>
          </p:cNvPr>
          <p:cNvSpPr/>
          <p:nvPr/>
        </p:nvSpPr>
        <p:spPr>
          <a:xfrm>
            <a:off x="1600200" y="3298367"/>
            <a:ext cx="8805308" cy="1861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407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128726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The software/application release process: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969440"/>
            <a:ext cx="10864355" cy="454882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Source Control: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</a:rPr>
              <a:t>Run Build and Unit Tests: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Test Environment:</a:t>
            </a:r>
          </a:p>
          <a:p>
            <a:r>
              <a:rPr lang="en-AU" sz="2400" spc="-1" dirty="0">
                <a:solidFill>
                  <a:srgbClr val="000000"/>
                </a:solidFill>
              </a:rPr>
              <a:t>Deploy to Production Environment:</a:t>
            </a:r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z="2000" b="1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831A5-A7D1-4018-9945-76E2AABDF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12" y="3316925"/>
            <a:ext cx="10330775" cy="284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8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10628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868558"/>
            <a:ext cx="10864355" cy="5360791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Integration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Every time developers merge their code changes into a central repository, automated builds and tests start: Whenever a change is committed, the automated build and test will be triggered.</a:t>
            </a: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b="1" spc="-1" dirty="0">
              <a:solidFill>
                <a:srgbClr val="000000"/>
              </a:solidFill>
            </a:endParaRPr>
          </a:p>
          <a:p>
            <a:pPr lvl="1"/>
            <a:r>
              <a:rPr lang="en-US" spc="-1" dirty="0"/>
              <a:t>Benefits: ?</a:t>
            </a:r>
            <a:endParaRPr lang="en-AU" spc="-1" dirty="0"/>
          </a:p>
          <a:p>
            <a:pPr lvl="1"/>
            <a:endParaRPr lang="en-US" b="0" i="0" dirty="0">
              <a:solidFill>
                <a:srgbClr val="1F3D5C"/>
              </a:solidFill>
              <a:effectLst/>
              <a:latin typeface="AmazonEmber"/>
            </a:endParaRPr>
          </a:p>
          <a:p>
            <a:pPr lvl="1"/>
            <a:endParaRPr lang="en-AU" b="0" i="0" dirty="0">
              <a:solidFill>
                <a:srgbClr val="1F3D5C"/>
              </a:solidFill>
              <a:effectLst/>
              <a:latin typeface="AmazonEmber"/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2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B04C1-F78E-4DAE-ABD7-E9C6C00E3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12" y="2657709"/>
            <a:ext cx="10330775" cy="28404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0D744D-12F3-46D5-9174-097AAD5E63B5}"/>
              </a:ext>
            </a:extLst>
          </p:cNvPr>
          <p:cNvSpPr/>
          <p:nvPr/>
        </p:nvSpPr>
        <p:spPr>
          <a:xfrm>
            <a:off x="1786492" y="2673487"/>
            <a:ext cx="2479112" cy="709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5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106283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868558"/>
            <a:ext cx="10864355" cy="5360791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Integration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Every time developers merge their code changes into a central repository, automated builds and tests start: Whenever a change is committed, the automated build and test will be triggered.</a:t>
            </a: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b="1" spc="-1" dirty="0">
              <a:solidFill>
                <a:srgbClr val="000000"/>
              </a:solidFill>
            </a:endParaRPr>
          </a:p>
          <a:p>
            <a:pPr lvl="1"/>
            <a:r>
              <a:rPr lang="en-US" spc="-1" dirty="0"/>
              <a:t>Benefits:</a:t>
            </a:r>
            <a:r>
              <a:rPr lang="en-US" spc="-1" dirty="0">
                <a:solidFill>
                  <a:srgbClr val="FF0000"/>
                </a:solidFill>
              </a:rPr>
              <a:t>  </a:t>
            </a:r>
            <a:r>
              <a:rPr lang="en-AU" spc="-1" dirty="0">
                <a:solidFill>
                  <a:srgbClr val="000000"/>
                </a:solidFill>
              </a:rPr>
              <a:t>Improve Developer Productivity, </a:t>
            </a:r>
            <a:r>
              <a:rPr lang="en-US" spc="-1" dirty="0">
                <a:solidFill>
                  <a:srgbClr val="000000"/>
                </a:solidFill>
              </a:rPr>
              <a:t>Find and Address Bugs Quicker</a:t>
            </a:r>
            <a:endParaRPr lang="en-AU" spc="-1" dirty="0">
              <a:solidFill>
                <a:srgbClr val="000000"/>
              </a:solidFill>
            </a:endParaRPr>
          </a:p>
          <a:p>
            <a:pPr lvl="1"/>
            <a:endParaRPr lang="en-US" b="0" i="0" dirty="0">
              <a:solidFill>
                <a:srgbClr val="1F3D5C"/>
              </a:solidFill>
              <a:effectLst/>
              <a:latin typeface="AmazonEmber"/>
            </a:endParaRPr>
          </a:p>
          <a:p>
            <a:pPr lvl="1"/>
            <a:endParaRPr lang="en-AU" b="0" i="0" dirty="0">
              <a:solidFill>
                <a:srgbClr val="1F3D5C"/>
              </a:solidFill>
              <a:effectLst/>
              <a:latin typeface="AmazonEmber"/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2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B04C1-F78E-4DAE-ABD7-E9C6C00E3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12" y="2657709"/>
            <a:ext cx="10330775" cy="28404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0D744D-12F3-46D5-9174-097AAD5E63B5}"/>
              </a:ext>
            </a:extLst>
          </p:cNvPr>
          <p:cNvSpPr/>
          <p:nvPr/>
        </p:nvSpPr>
        <p:spPr>
          <a:xfrm>
            <a:off x="1786492" y="2673487"/>
            <a:ext cx="2479112" cy="709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1273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0"/>
            <a:ext cx="7536105" cy="709373"/>
          </a:xfrm>
        </p:spPr>
        <p:txBody>
          <a:bodyPr>
            <a:normAutofit/>
          </a:bodyPr>
          <a:lstStyle/>
          <a:p>
            <a:r>
              <a:rPr lang="en-AU" sz="3200" b="1" dirty="0"/>
              <a:t>DevOps b</a:t>
            </a:r>
            <a:r>
              <a:rPr lang="en-US" altLang="zh-CN" sz="3200" b="1" dirty="0" err="1"/>
              <a:t>est</a:t>
            </a:r>
            <a:r>
              <a:rPr lang="en-US" altLang="zh-CN" sz="3200" b="1" dirty="0"/>
              <a:t> </a:t>
            </a:r>
            <a:r>
              <a:rPr lang="en-AU" sz="3200" b="1" dirty="0"/>
              <a:t>practices</a:t>
            </a:r>
            <a:endParaRPr lang="en-US" sz="32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868558"/>
            <a:ext cx="10864355" cy="5650887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spc="-1" dirty="0">
                <a:solidFill>
                  <a:srgbClr val="000000"/>
                </a:solidFill>
              </a:rPr>
              <a:t>Continuous Delivery and Continuous Deployment:</a:t>
            </a:r>
          </a:p>
          <a:p>
            <a:pPr lvl="1"/>
            <a:r>
              <a:rPr lang="en-US" spc="-1" dirty="0">
                <a:solidFill>
                  <a:srgbClr val="000000"/>
                </a:solidFill>
              </a:rPr>
              <a:t>Expand upon continuous integration by deploying all code changes to a testing environment and/or a production environment after the build stage. </a:t>
            </a: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r>
              <a:rPr lang="en-US" spc="-1" dirty="0"/>
              <a:t>Benefits: Continuous </a:t>
            </a:r>
            <a:r>
              <a:rPr lang="en-US" spc="-1" dirty="0">
                <a:solidFill>
                  <a:srgbClr val="000000"/>
                </a:solidFill>
              </a:rPr>
              <a:t>Integration + Automate the Software Release Process</a:t>
            </a:r>
          </a:p>
          <a:p>
            <a:pPr lvl="1"/>
            <a:endParaRPr lang="en-US" spc="-1" dirty="0">
              <a:solidFill>
                <a:srgbClr val="000000"/>
              </a:solidFill>
            </a:endParaRPr>
          </a:p>
          <a:p>
            <a:pPr lvl="1"/>
            <a:endParaRPr lang="en-US" spc="-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B04C1-F78E-4DAE-ABD7-E9C6C00E3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12" y="2448159"/>
            <a:ext cx="10330775" cy="28404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0D744D-12F3-46D5-9174-097AAD5E63B5}"/>
              </a:ext>
            </a:extLst>
          </p:cNvPr>
          <p:cNvSpPr/>
          <p:nvPr/>
        </p:nvSpPr>
        <p:spPr>
          <a:xfrm>
            <a:off x="4246554" y="2902863"/>
            <a:ext cx="2479112" cy="13071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803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190921"/>
            <a:ext cx="5598448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Fabric: automate tasks in DevOps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06DDE-EED3-4EA8-BF84-1D3C35DF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197429"/>
            <a:ext cx="10864355" cy="4095327"/>
          </a:xfrm>
        </p:spPr>
        <p:txBody>
          <a:bodyPr>
            <a:noAutofit/>
          </a:bodyPr>
          <a:lstStyle/>
          <a:p>
            <a:r>
              <a:rPr lang="en-US" sz="2400" spc="-1" dirty="0">
                <a:solidFill>
                  <a:srgbClr val="000000"/>
                </a:solidFill>
              </a:rPr>
              <a:t>Fabric is a high level Python library designed to execute shell commands remotely over SSH, yielding useful Python objects in return.</a:t>
            </a:r>
          </a:p>
          <a:p>
            <a:r>
              <a:rPr lang="en-US" sz="2400" spc="-1" dirty="0">
                <a:solidFill>
                  <a:srgbClr val="000000"/>
                </a:solidFill>
              </a:rPr>
              <a:t>OpenSSH: a widely used version of the SSH protocol, available </a:t>
            </a:r>
            <a:r>
              <a:rPr lang="en-US" altLang="en-US" sz="2400" dirty="0"/>
              <a:t>on Mac, Linux/Unix and Windows.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how is OpenSSH used for user/client authentication?</a:t>
            </a:r>
          </a:p>
          <a:p>
            <a:endParaRPr lang="en-US" sz="2400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95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46" y="117988"/>
            <a:ext cx="5607385" cy="811161"/>
          </a:xfrm>
        </p:spPr>
        <p:txBody>
          <a:bodyPr>
            <a:noAutofit/>
          </a:bodyPr>
          <a:lstStyle/>
          <a:p>
            <a:r>
              <a:rPr lang="en-US" sz="3200" b="1" dirty="0"/>
              <a:t>User/Client Authentication in SSH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B7490-7E11-1F4C-A7BD-2472B30A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429" y="929149"/>
            <a:ext cx="6924061" cy="490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2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C0968C-C2BC-48E7-B9CA-52B761B22FDC}"/>
              </a:ext>
            </a:extLst>
          </p:cNvPr>
          <p:cNvSpPr txBox="1">
            <a:spLocks/>
          </p:cNvSpPr>
          <p:nvPr/>
        </p:nvSpPr>
        <p:spPr>
          <a:xfrm>
            <a:off x="437473" y="370762"/>
            <a:ext cx="8223544" cy="550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3200" b="1" dirty="0">
                <a:latin typeface="+mj-lt"/>
              </a:rPr>
              <a:t>Add the public key to GitHub</a:t>
            </a:r>
            <a:endParaRPr lang="en-US" sz="3200" b="1" i="0" dirty="0">
              <a:effectLst/>
              <a:latin typeface="+mj-lt"/>
            </a:endParaRPr>
          </a:p>
          <a:p>
            <a:pPr marL="457200" indent="-457200" fontAlgn="auto">
              <a:spcAft>
                <a:spcPts val="0"/>
              </a:spcAft>
              <a:buClrTx/>
              <a:buSzTx/>
              <a:buAutoNum type="arabicPeriod"/>
            </a:pPr>
            <a:r>
              <a:rPr lang="en-US" sz="2400" dirty="0"/>
              <a:t>Check for existing </a:t>
            </a:r>
            <a:r>
              <a:rPr lang="en-US" altLang="en-US" sz="2400" dirty="0"/>
              <a:t>OpenSSH</a:t>
            </a:r>
            <a:r>
              <a:rPr lang="en-US" sz="2400" dirty="0"/>
              <a:t> key pairs: </a:t>
            </a:r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r>
              <a:rPr lang="en-US" dirty="0"/>
              <a:t>	</a:t>
            </a:r>
            <a:r>
              <a:rPr lang="en-AU" dirty="0"/>
              <a:t>ls ~/.</a:t>
            </a:r>
            <a:r>
              <a:rPr lang="en-AU" dirty="0" err="1"/>
              <a:t>ssh</a:t>
            </a:r>
            <a:endParaRPr lang="en-AU" dirty="0"/>
          </a:p>
          <a:p>
            <a:pPr marL="457200" indent="-457200" fontAlgn="auto">
              <a:spcAft>
                <a:spcPts val="0"/>
              </a:spcAft>
              <a:buClrTx/>
              <a:buSzTx/>
              <a:buAutoNum type="arabicPeriod"/>
            </a:pPr>
            <a:r>
              <a:rPr lang="en-US" sz="2400" dirty="0"/>
              <a:t>Generate </a:t>
            </a:r>
            <a:r>
              <a:rPr lang="en-US" altLang="en-US" sz="2400" dirty="0"/>
              <a:t>OpenSSH</a:t>
            </a:r>
            <a:r>
              <a:rPr lang="en-US" sz="2400" dirty="0"/>
              <a:t> keys if no key pairs exist:</a:t>
            </a:r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r>
              <a:rPr lang="de-DE" dirty="0"/>
              <a:t>	ssh-keygen -t rsa -b 4096 -C email@example.com</a:t>
            </a:r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r>
              <a:rPr lang="de-DE" dirty="0"/>
              <a:t>	private key: id_rsa</a:t>
            </a:r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r>
              <a:rPr lang="de-DE" dirty="0"/>
              <a:t>	public key: id_rsa.pub</a:t>
            </a:r>
          </a:p>
          <a:p>
            <a:pPr marL="457200" indent="-457200" fontAlgn="auto">
              <a:spcAft>
                <a:spcPts val="0"/>
              </a:spcAft>
              <a:buClrTx/>
              <a:buSzTx/>
              <a:buAutoNum type="arabicPeriod"/>
            </a:pPr>
            <a:r>
              <a:rPr lang="en-US" sz="2400" dirty="0"/>
              <a:t>Add the Public Key to GitHub: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035F9-829A-4CAB-AB77-6950AABC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429000"/>
            <a:ext cx="2741490" cy="27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7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53629"/>
            <a:ext cx="7354824" cy="859043"/>
          </a:xfrm>
        </p:spPr>
        <p:txBody>
          <a:bodyPr>
            <a:normAutofit/>
          </a:bodyPr>
          <a:lstStyle/>
          <a:p>
            <a:r>
              <a:rPr lang="en-US" sz="3200" b="1" dirty="0"/>
              <a:t>How to configure OpenSSH to support Fabric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9" y="910944"/>
            <a:ext cx="7185709" cy="996688"/>
          </a:xfrm>
        </p:spPr>
        <p:txBody>
          <a:bodyPr>
            <a:normAutofit/>
          </a:bodyPr>
          <a:lstStyle/>
          <a:p>
            <a:r>
              <a:rPr lang="en-AU" sz="2400" dirty="0"/>
              <a:t>Install fabric using: pip install fabric</a:t>
            </a:r>
          </a:p>
          <a:p>
            <a:r>
              <a:rPr lang="en-AU" sz="2400" dirty="0"/>
              <a:t>Create a config file in ~/.</a:t>
            </a:r>
            <a:r>
              <a:rPr lang="en-AU" sz="2400" dirty="0" err="1"/>
              <a:t>ssh</a:t>
            </a:r>
            <a:r>
              <a:rPr lang="en-AU" sz="2400" dirty="0"/>
              <a:t> 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E08E9F-E7EF-4C8B-B1FC-60D5D775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2" y="1907632"/>
            <a:ext cx="4972134" cy="18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50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53629"/>
            <a:ext cx="7354824" cy="859043"/>
          </a:xfrm>
        </p:spPr>
        <p:txBody>
          <a:bodyPr>
            <a:normAutofit/>
          </a:bodyPr>
          <a:lstStyle/>
          <a:p>
            <a:r>
              <a:rPr lang="en-US" sz="3200" b="1" dirty="0"/>
              <a:t>How to configure OpenSSH to support Fabric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9" y="910944"/>
            <a:ext cx="7185709" cy="996688"/>
          </a:xfrm>
        </p:spPr>
        <p:txBody>
          <a:bodyPr>
            <a:normAutofit/>
          </a:bodyPr>
          <a:lstStyle/>
          <a:p>
            <a:r>
              <a:rPr lang="en-AU" sz="2400" dirty="0"/>
              <a:t>Install fabric using: pip install fabric</a:t>
            </a:r>
          </a:p>
          <a:p>
            <a:r>
              <a:rPr lang="en-AU" sz="2400" dirty="0"/>
              <a:t>Create a config file in ~/.</a:t>
            </a:r>
            <a:r>
              <a:rPr lang="en-AU" sz="2400" dirty="0" err="1"/>
              <a:t>ssh</a:t>
            </a:r>
            <a:r>
              <a:rPr lang="en-AU" sz="2400" dirty="0"/>
              <a:t> 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E08E9F-E7EF-4C8B-B1FC-60D5D775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2" y="1907632"/>
            <a:ext cx="4972134" cy="185447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880E30-B726-485B-AD49-39D3E445BB8A}"/>
              </a:ext>
            </a:extLst>
          </p:cNvPr>
          <p:cNvSpPr txBox="1">
            <a:spLocks/>
          </p:cNvSpPr>
          <p:nvPr/>
        </p:nvSpPr>
        <p:spPr>
          <a:xfrm>
            <a:off x="714212" y="4092585"/>
            <a:ext cx="9632946" cy="146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Two lines in the configuration above will make the SSH connection NOT secure? What are they? Why.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52927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53629"/>
            <a:ext cx="7354824" cy="859043"/>
          </a:xfrm>
        </p:spPr>
        <p:txBody>
          <a:bodyPr>
            <a:normAutofit/>
          </a:bodyPr>
          <a:lstStyle/>
          <a:p>
            <a:r>
              <a:rPr lang="en-US" sz="3200" b="1" dirty="0"/>
              <a:t>How to configure OpenSSH to support Fabric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9" y="910944"/>
            <a:ext cx="7185709" cy="996688"/>
          </a:xfrm>
        </p:spPr>
        <p:txBody>
          <a:bodyPr>
            <a:normAutofit/>
          </a:bodyPr>
          <a:lstStyle/>
          <a:p>
            <a:r>
              <a:rPr lang="en-AU" sz="2400" dirty="0"/>
              <a:t>Install fabric using: pip install fabric</a:t>
            </a:r>
          </a:p>
          <a:p>
            <a:r>
              <a:rPr lang="en-AU" sz="2400" dirty="0"/>
              <a:t>Create a config file in ~/.</a:t>
            </a:r>
            <a:r>
              <a:rPr lang="en-AU" sz="2400" dirty="0" err="1"/>
              <a:t>ssh</a:t>
            </a:r>
            <a:r>
              <a:rPr lang="en-AU" sz="2400" dirty="0"/>
              <a:t> 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E08E9F-E7EF-4C8B-B1FC-60D5D775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2" y="1907632"/>
            <a:ext cx="4972134" cy="185447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30456B-5901-4899-896B-5C8541BE5C58}"/>
              </a:ext>
            </a:extLst>
          </p:cNvPr>
          <p:cNvSpPr txBox="1">
            <a:spLocks/>
          </p:cNvSpPr>
          <p:nvPr/>
        </p:nvSpPr>
        <p:spPr>
          <a:xfrm>
            <a:off x="714212" y="4092585"/>
            <a:ext cx="9632946" cy="146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Two lines in the configuration above will make the SSH connection NOT secure? What are they? Justify your answer.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AU" sz="2400" dirty="0"/>
              <a:t>Both “</a:t>
            </a:r>
            <a:r>
              <a:rPr lang="en-AU" sz="2400" dirty="0" err="1"/>
              <a:t>UserKnownHostsFile</a:t>
            </a:r>
            <a:r>
              <a:rPr lang="en-AU" sz="2400" dirty="0"/>
              <a:t> /dev/null” and “</a:t>
            </a:r>
            <a:r>
              <a:rPr lang="en-AU" sz="2400" dirty="0" err="1"/>
              <a:t>StrictHostKeyChecking</a:t>
            </a:r>
            <a:r>
              <a:rPr lang="en-AU" sz="2400" dirty="0"/>
              <a:t> no” disable </a:t>
            </a:r>
            <a:r>
              <a:rPr lang="en-US" sz="2400" dirty="0"/>
              <a:t>h</a:t>
            </a:r>
            <a:r>
              <a:rPr lang="en-US" altLang="en-US" sz="2400" dirty="0"/>
              <a:t>ost key checking, making the connection insecure to the client.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/>
              <a:t>To explain why, we need to be aware of “server/host authentication”.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56436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E96F31-C216-4884-900A-3BFAB5363C36}"/>
              </a:ext>
            </a:extLst>
          </p:cNvPr>
          <p:cNvSpPr txBox="1">
            <a:spLocks/>
          </p:cNvSpPr>
          <p:nvPr/>
        </p:nvSpPr>
        <p:spPr>
          <a:xfrm>
            <a:off x="447269" y="127540"/>
            <a:ext cx="5971116" cy="591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Server/Host Authentication in SSH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B4932-759D-4CB9-8C13-4E777F91C2D0}"/>
              </a:ext>
            </a:extLst>
          </p:cNvPr>
          <p:cNvSpPr txBox="1"/>
          <p:nvPr/>
        </p:nvSpPr>
        <p:spPr>
          <a:xfrm>
            <a:off x="493856" y="781686"/>
            <a:ext cx="9681275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+mn-lt"/>
              </a:rPr>
              <a:t>Key pair: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host key is a key pair. Public host key is stored on and distributed to different clients, and private key is stored on the host/server.</a:t>
            </a:r>
          </a:p>
          <a:p>
            <a:pPr algn="l"/>
            <a:r>
              <a:rPr lang="en-US" sz="2400" b="1" dirty="0">
                <a:solidFill>
                  <a:srgbClr val="000000"/>
                </a:solidFill>
                <a:latin typeface="+mn-lt"/>
              </a:rPr>
              <a:t>Key Exchange: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when a client attempts to connect to a server for the first time</a:t>
            </a:r>
            <a:endParaRPr lang="en-AU" sz="24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3A5289-A4E1-40F3-91BA-9425C2E07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670" y="2636429"/>
            <a:ext cx="4473074" cy="34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95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E96F31-C216-4884-900A-3BFAB5363C36}"/>
              </a:ext>
            </a:extLst>
          </p:cNvPr>
          <p:cNvSpPr txBox="1">
            <a:spLocks/>
          </p:cNvSpPr>
          <p:nvPr/>
        </p:nvSpPr>
        <p:spPr>
          <a:xfrm>
            <a:off x="447269" y="127540"/>
            <a:ext cx="5971116" cy="591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Server/Host Authentication in SSH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1B173-0073-477F-9292-7FFF2D916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827" y="2401592"/>
            <a:ext cx="4872217" cy="3704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ACACEE-5008-4541-B9B5-2E5B717032F3}"/>
              </a:ext>
            </a:extLst>
          </p:cNvPr>
          <p:cNvSpPr txBox="1"/>
          <p:nvPr/>
        </p:nvSpPr>
        <p:spPr>
          <a:xfrm>
            <a:off x="447269" y="761116"/>
            <a:ext cx="9335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+mn-lt"/>
              </a:rPr>
              <a:t>Key Exchange: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when a client attempts to connect to a server for the first time, the server presents its host public key to the client.</a:t>
            </a:r>
          </a:p>
        </p:txBody>
      </p:sp>
    </p:spTree>
    <p:extLst>
      <p:ext uri="{BB962C8B-B14F-4D97-AF65-F5344CB8AC3E}">
        <p14:creationId xmlns:p14="http://schemas.microsoft.com/office/powerpoint/2010/main" val="887490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E96F31-C216-4884-900A-3BFAB5363C36}"/>
              </a:ext>
            </a:extLst>
          </p:cNvPr>
          <p:cNvSpPr txBox="1">
            <a:spLocks/>
          </p:cNvSpPr>
          <p:nvPr/>
        </p:nvSpPr>
        <p:spPr>
          <a:xfrm>
            <a:off x="447269" y="127540"/>
            <a:ext cx="5971116" cy="591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Server/Host Authentication in SSH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1B173-0073-477F-9292-7FFF2D916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891" y="2549360"/>
            <a:ext cx="4872217" cy="3704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BBA3D-A035-46B6-ABE8-82B2BE53255B}"/>
              </a:ext>
            </a:extLst>
          </p:cNvPr>
          <p:cNvSpPr txBox="1"/>
          <p:nvPr/>
        </p:nvSpPr>
        <p:spPr>
          <a:xfrm>
            <a:off x="447269" y="870567"/>
            <a:ext cx="10870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None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The host-key database is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called </a:t>
            </a:r>
            <a:r>
              <a:rPr lang="en-US" sz="2400" b="0" i="1" dirty="0" err="1">
                <a:solidFill>
                  <a:srgbClr val="000000"/>
                </a:solidFill>
                <a:effectLst/>
                <a:latin typeface="+mn-lt"/>
              </a:rPr>
              <a:t>known_hosts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 in Linux and contains </a:t>
            </a:r>
            <a:r>
              <a:rPr lang="en-US" sz="2400" i="1" dirty="0">
                <a:solidFill>
                  <a:srgbClr val="000000"/>
                </a:solidFill>
                <a:latin typeface="+mn-lt"/>
              </a:rPr>
              <a:t>known host keys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  <a:endParaRPr lang="en-US" sz="2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A62BC-7832-44FE-8EE3-24383CDBC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91" y="1484152"/>
            <a:ext cx="7306695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33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E96F31-C216-4884-900A-3BFAB5363C36}"/>
              </a:ext>
            </a:extLst>
          </p:cNvPr>
          <p:cNvSpPr txBox="1">
            <a:spLocks/>
          </p:cNvSpPr>
          <p:nvPr/>
        </p:nvSpPr>
        <p:spPr>
          <a:xfrm>
            <a:off x="447269" y="127540"/>
            <a:ext cx="5971116" cy="591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Server/Host Authentication in SSH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1B173-0073-477F-9292-7FFF2D916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891" y="2610523"/>
            <a:ext cx="4872217" cy="3704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ACACEE-5008-4541-B9B5-2E5B717032F3}"/>
              </a:ext>
            </a:extLst>
          </p:cNvPr>
          <p:cNvSpPr txBox="1"/>
          <p:nvPr/>
        </p:nvSpPr>
        <p:spPr>
          <a:xfrm>
            <a:off x="447269" y="1249086"/>
            <a:ext cx="104392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+mn-lt"/>
              </a:rPr>
              <a:t>Host Key Checking: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The client checks the server's host key against a copy stored in its "</a:t>
            </a:r>
            <a:r>
              <a:rPr lang="en-US" sz="2400" dirty="0" err="1">
                <a:solidFill>
                  <a:srgbClr val="000000"/>
                </a:solidFill>
                <a:latin typeface="+mn-lt"/>
              </a:rPr>
              <a:t>known_hosts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" file. If the check succeeds, the server is authenticated.</a:t>
            </a:r>
            <a:endParaRPr lang="en-AU" sz="24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508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EE08E9F-E7EF-4C8B-B1FC-60D5D775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39" y="1109065"/>
            <a:ext cx="4791429" cy="17870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4B8117-46D2-444E-A841-4891D84A2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38" y="4297570"/>
            <a:ext cx="4791429" cy="16193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5921A-2E70-43A0-8FFE-D6F1763D8E2F}"/>
              </a:ext>
            </a:extLst>
          </p:cNvPr>
          <p:cNvCxnSpPr>
            <a:cxnSpLocks/>
          </p:cNvCxnSpPr>
          <p:nvPr/>
        </p:nvCxnSpPr>
        <p:spPr>
          <a:xfrm>
            <a:off x="3467552" y="3062490"/>
            <a:ext cx="0" cy="93101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04574DD-B052-4B4E-A18B-42E9DB41BE53}"/>
              </a:ext>
            </a:extLst>
          </p:cNvPr>
          <p:cNvSpPr txBox="1">
            <a:spLocks/>
          </p:cNvSpPr>
          <p:nvPr/>
        </p:nvSpPr>
        <p:spPr>
          <a:xfrm>
            <a:off x="447269" y="127540"/>
            <a:ext cx="7297140" cy="8135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Enable Server/Host Authentication in SSH</a:t>
            </a:r>
          </a:p>
        </p:txBody>
      </p:sp>
    </p:spTree>
    <p:extLst>
      <p:ext uri="{BB962C8B-B14F-4D97-AF65-F5344CB8AC3E}">
        <p14:creationId xmlns:p14="http://schemas.microsoft.com/office/powerpoint/2010/main" val="2164289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1" y="182245"/>
            <a:ext cx="4888813" cy="940333"/>
          </a:xfrm>
        </p:spPr>
        <p:txBody>
          <a:bodyPr>
            <a:normAutofit/>
          </a:bodyPr>
          <a:lstStyle/>
          <a:p>
            <a:r>
              <a:rPr lang="en-US" sz="3200" b="1" dirty="0"/>
              <a:t>Fabric: common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14F2B-A91D-401C-9E11-120227B4B658}"/>
              </a:ext>
            </a:extLst>
          </p:cNvPr>
          <p:cNvSpPr txBox="1"/>
          <p:nvPr/>
        </p:nvSpPr>
        <p:spPr>
          <a:xfrm>
            <a:off x="497336" y="1122578"/>
            <a:ext cx="8591550" cy="90486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Courier" pitchFamily="2" charset="0"/>
              </a:rPr>
              <a:t>from fabric import Connection</a:t>
            </a:r>
          </a:p>
          <a:p>
            <a:pPr algn="l"/>
            <a:r>
              <a:rPr lang="en-US" sz="2400" dirty="0">
                <a:latin typeface="Courier" pitchFamily="2" charset="0"/>
              </a:rPr>
              <a:t>c = Connection(</a:t>
            </a:r>
            <a:r>
              <a:rPr lang="en-AU" sz="2400" b="0" i="0" dirty="0">
                <a:effectLst/>
                <a:latin typeface="Courier"/>
              </a:rPr>
              <a:t>'</a:t>
            </a:r>
            <a:r>
              <a:rPr lang="en-US" sz="2400" dirty="0" err="1">
                <a:latin typeface="Courier" pitchFamily="2" charset="0"/>
              </a:rPr>
              <a:t>myFabric</a:t>
            </a:r>
            <a:r>
              <a:rPr lang="en-AU" sz="2400" b="0" i="0" dirty="0">
                <a:effectLst/>
                <a:latin typeface="Courier"/>
              </a:rPr>
              <a:t>'</a:t>
            </a:r>
            <a:r>
              <a:rPr lang="en-US" sz="2400" dirty="0">
                <a:latin typeface="Courier" pitchFamily="2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87AC82-F7E9-40C1-BB42-5BC79F9D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36" y="2506662"/>
            <a:ext cx="9208625" cy="3228760"/>
          </a:xfrm>
        </p:spPr>
        <p:txBody>
          <a:bodyPr>
            <a:normAutofit/>
          </a:bodyPr>
          <a:lstStyle/>
          <a:p>
            <a:r>
              <a:rPr lang="en-US" sz="2400" dirty="0"/>
              <a:t>upload a local file to the remote server</a:t>
            </a:r>
            <a:endParaRPr lang="en-AU" sz="2400" dirty="0"/>
          </a:p>
          <a:p>
            <a:pPr lvl="1"/>
            <a:r>
              <a:rPr lang="en-AU" dirty="0" err="1"/>
              <a:t>c.put</a:t>
            </a:r>
            <a:r>
              <a:rPr lang="en-AU" dirty="0"/>
              <a:t>(</a:t>
            </a:r>
            <a:r>
              <a:rPr lang="en-AU" dirty="0" err="1"/>
              <a:t>localfile</a:t>
            </a:r>
            <a:r>
              <a:rPr lang="en-AU" dirty="0"/>
              <a:t>, </a:t>
            </a:r>
            <a:r>
              <a:rPr lang="en-AU" dirty="0" err="1"/>
              <a:t>remotefilepath</a:t>
            </a:r>
            <a:r>
              <a:rPr lang="en-AU" dirty="0"/>
              <a:t>)</a:t>
            </a:r>
          </a:p>
          <a:p>
            <a:r>
              <a:rPr lang="en-AU" sz="2400" dirty="0"/>
              <a:t>run a remote command</a:t>
            </a:r>
          </a:p>
          <a:p>
            <a:pPr lvl="1"/>
            <a:r>
              <a:rPr lang="en-AU" dirty="0" err="1"/>
              <a:t>c.run</a:t>
            </a:r>
            <a:r>
              <a:rPr lang="en-AU" dirty="0"/>
              <a:t>(command, </a:t>
            </a:r>
            <a:r>
              <a:rPr lang="en-AU" dirty="0" err="1"/>
              <a:t>otherargs</a:t>
            </a:r>
            <a:r>
              <a:rPr lang="en-AU" dirty="0"/>
              <a:t>)</a:t>
            </a:r>
          </a:p>
          <a:p>
            <a:r>
              <a:rPr lang="en-AU" sz="2400" dirty="0"/>
              <a:t>run a remote command with </a:t>
            </a:r>
            <a:r>
              <a:rPr lang="en-AU" sz="2400" dirty="0" err="1"/>
              <a:t>sudo</a:t>
            </a:r>
            <a:endParaRPr lang="en-AU" sz="2400" dirty="0"/>
          </a:p>
          <a:p>
            <a:pPr lvl="1"/>
            <a:r>
              <a:rPr lang="en-AU" dirty="0" err="1"/>
              <a:t>c.sudo</a:t>
            </a:r>
            <a:r>
              <a:rPr lang="en-AU" dirty="0"/>
              <a:t>(command, </a:t>
            </a:r>
            <a:r>
              <a:rPr lang="en-AU" dirty="0" err="1"/>
              <a:t>otherargs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4230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1" y="182245"/>
            <a:ext cx="4888813" cy="940333"/>
          </a:xfrm>
        </p:spPr>
        <p:txBody>
          <a:bodyPr>
            <a:normAutofit/>
          </a:bodyPr>
          <a:lstStyle/>
          <a:p>
            <a:r>
              <a:rPr lang="en-US" sz="3200" b="1" dirty="0"/>
              <a:t>Fabric: common functions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87AC82-F7E9-40C1-BB42-5BC79F9D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36" y="2506662"/>
            <a:ext cx="9208625" cy="3228760"/>
          </a:xfrm>
        </p:spPr>
        <p:txBody>
          <a:bodyPr>
            <a:normAutofit/>
          </a:bodyPr>
          <a:lstStyle/>
          <a:p>
            <a:r>
              <a:rPr lang="en-US" sz="2400" dirty="0"/>
              <a:t>upload a local file to the remote server</a:t>
            </a:r>
            <a:endParaRPr lang="en-AU" sz="2400" dirty="0"/>
          </a:p>
          <a:p>
            <a:pPr lvl="1"/>
            <a:r>
              <a:rPr lang="en-AU" dirty="0" err="1"/>
              <a:t>c.put</a:t>
            </a:r>
            <a:r>
              <a:rPr lang="en-AU" dirty="0"/>
              <a:t>(</a:t>
            </a:r>
            <a:r>
              <a:rPr lang="en-AU" dirty="0" err="1"/>
              <a:t>localfile</a:t>
            </a:r>
            <a:r>
              <a:rPr lang="en-AU" dirty="0"/>
              <a:t>, </a:t>
            </a:r>
            <a:r>
              <a:rPr lang="en-AU" dirty="0" err="1"/>
              <a:t>remotefilepath</a:t>
            </a:r>
            <a:r>
              <a:rPr lang="en-AU" dirty="0"/>
              <a:t>)</a:t>
            </a:r>
          </a:p>
          <a:p>
            <a:r>
              <a:rPr lang="en-AU" sz="2400" dirty="0"/>
              <a:t>run a remote command</a:t>
            </a:r>
          </a:p>
          <a:p>
            <a:pPr lvl="1"/>
            <a:r>
              <a:rPr lang="en-AU" dirty="0" err="1"/>
              <a:t>c.run</a:t>
            </a:r>
            <a:r>
              <a:rPr lang="en-AU" dirty="0"/>
              <a:t>(command, </a:t>
            </a:r>
            <a:r>
              <a:rPr lang="en-AU" dirty="0" err="1"/>
              <a:t>otherargs</a:t>
            </a:r>
            <a:r>
              <a:rPr lang="en-AU" dirty="0"/>
              <a:t>)</a:t>
            </a:r>
          </a:p>
          <a:p>
            <a:r>
              <a:rPr lang="en-AU" sz="2400" dirty="0"/>
              <a:t>run a remote command with </a:t>
            </a:r>
            <a:r>
              <a:rPr lang="en-AU" sz="2400" dirty="0" err="1"/>
              <a:t>sudo</a:t>
            </a:r>
            <a:endParaRPr lang="en-AU" sz="2400" dirty="0"/>
          </a:p>
          <a:p>
            <a:pPr lvl="1"/>
            <a:r>
              <a:rPr lang="en-AU" dirty="0" err="1"/>
              <a:t>c.sudo</a:t>
            </a:r>
            <a:r>
              <a:rPr lang="en-AU" dirty="0"/>
              <a:t>(command, </a:t>
            </a:r>
            <a:r>
              <a:rPr lang="en-AU" dirty="0" err="1"/>
              <a:t>otherargs</a:t>
            </a:r>
            <a:r>
              <a:rPr lang="en-AU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4AF182-05A3-45BC-8B4D-CF508F84FE24}"/>
              </a:ext>
            </a:extLst>
          </p:cNvPr>
          <p:cNvSpPr txBox="1">
            <a:spLocks/>
          </p:cNvSpPr>
          <p:nvPr/>
        </p:nvSpPr>
        <p:spPr>
          <a:xfrm>
            <a:off x="454151" y="5459993"/>
            <a:ext cx="8591550" cy="550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what are the differences between </a:t>
            </a:r>
            <a:r>
              <a:rPr lang="en-AU" sz="2400" dirty="0">
                <a:solidFill>
                  <a:srgbClr val="1F2328"/>
                </a:solidFill>
                <a:latin typeface="Courier"/>
              </a:rPr>
              <a:t>'</a:t>
            </a:r>
            <a:r>
              <a:rPr lang="en-US" altLang="en-US" sz="2400" dirty="0" err="1"/>
              <a:t>sudo</a:t>
            </a:r>
            <a:r>
              <a:rPr lang="en-AU" sz="2400" dirty="0">
                <a:solidFill>
                  <a:srgbClr val="1F2328"/>
                </a:solidFill>
                <a:latin typeface="Courier"/>
              </a:rPr>
              <a:t>'</a:t>
            </a:r>
            <a:r>
              <a:rPr lang="en-US" altLang="en-US" sz="2400" dirty="0"/>
              <a:t> and </a:t>
            </a:r>
            <a:r>
              <a:rPr lang="en-AU" sz="2400" dirty="0">
                <a:solidFill>
                  <a:srgbClr val="1F2328"/>
                </a:solidFill>
                <a:latin typeface="Courier"/>
              </a:rPr>
              <a:t>'</a:t>
            </a:r>
            <a:r>
              <a:rPr lang="en-US" altLang="en-US" sz="2400" dirty="0" err="1"/>
              <a:t>su</a:t>
            </a:r>
            <a:r>
              <a:rPr lang="en-AU" sz="2400" dirty="0">
                <a:solidFill>
                  <a:srgbClr val="1F2328"/>
                </a:solidFill>
                <a:latin typeface="Courier"/>
              </a:rPr>
              <a:t>'</a:t>
            </a:r>
            <a:r>
              <a:rPr lang="en-US" altLang="en-US" sz="2400" dirty="0"/>
              <a:t>? 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D7F7E-BE4E-44AD-8A61-E5D817084829}"/>
              </a:ext>
            </a:extLst>
          </p:cNvPr>
          <p:cNvSpPr txBox="1"/>
          <p:nvPr/>
        </p:nvSpPr>
        <p:spPr>
          <a:xfrm>
            <a:off x="497336" y="1122578"/>
            <a:ext cx="8591550" cy="90486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Courier" pitchFamily="2" charset="0"/>
              </a:rPr>
              <a:t>from fabric import Connection</a:t>
            </a:r>
          </a:p>
          <a:p>
            <a:pPr algn="l"/>
            <a:r>
              <a:rPr lang="en-US" sz="2400" dirty="0">
                <a:latin typeface="Courier" pitchFamily="2" charset="0"/>
              </a:rPr>
              <a:t>c = Connection(</a:t>
            </a:r>
            <a:r>
              <a:rPr lang="en-AU" sz="2400" b="0" i="0" dirty="0">
                <a:effectLst/>
                <a:latin typeface="Courier"/>
              </a:rPr>
              <a:t>'</a:t>
            </a:r>
            <a:r>
              <a:rPr lang="en-US" sz="2400" dirty="0" err="1">
                <a:latin typeface="Courier" pitchFamily="2" charset="0"/>
              </a:rPr>
              <a:t>myFabric</a:t>
            </a:r>
            <a:r>
              <a:rPr lang="en-AU" sz="2400" b="0" i="0" dirty="0">
                <a:effectLst/>
                <a:latin typeface="Courier"/>
              </a:rPr>
              <a:t>'</a:t>
            </a:r>
            <a:r>
              <a:rPr lang="en-US" sz="2400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51736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4AF182-05A3-45BC-8B4D-CF508F84FE24}"/>
              </a:ext>
            </a:extLst>
          </p:cNvPr>
          <p:cNvSpPr txBox="1">
            <a:spLocks/>
          </p:cNvSpPr>
          <p:nvPr/>
        </p:nvSpPr>
        <p:spPr>
          <a:xfrm>
            <a:off x="376330" y="440521"/>
            <a:ext cx="8591550" cy="550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what are the differences between 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 err="1"/>
              <a:t>sudo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/>
              <a:t> and 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 err="1"/>
              <a:t>su</a:t>
            </a:r>
            <a:r>
              <a:rPr lang="en-AU" sz="2400" dirty="0">
                <a:latin typeface="Courier"/>
              </a:rPr>
              <a:t>’</a:t>
            </a:r>
            <a:r>
              <a:rPr lang="en-US" altLang="en-US" sz="2400" dirty="0"/>
              <a:t>? 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en-US" alt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D3B4F3-8227-464C-A747-F16CD243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84" y="991379"/>
            <a:ext cx="8969846" cy="766366"/>
          </a:xfrm>
        </p:spPr>
        <p:txBody>
          <a:bodyPr>
            <a:normAutofit/>
          </a:bodyPr>
          <a:lstStyle/>
          <a:p>
            <a:r>
              <a:rPr lang="en-US" altLang="en-US" sz="2400" dirty="0" err="1"/>
              <a:t>sudo</a:t>
            </a:r>
            <a:r>
              <a:rPr lang="en-US" altLang="en-US" sz="2400" dirty="0"/>
              <a:t> (Superuser Do): </a:t>
            </a:r>
            <a:r>
              <a:rPr lang="en-US" sz="2400" dirty="0"/>
              <a:t>allows a user to execute specific commands that require superuser privileges. </a:t>
            </a:r>
            <a:endParaRPr lang="en-AU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DB814B-1223-44E8-B0A8-423121716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43" y="1968103"/>
            <a:ext cx="6474686" cy="895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CF96-B0E7-41DD-B302-417ED7573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3" y="4874627"/>
            <a:ext cx="6474686" cy="5508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1790EE-F318-4007-896E-70E80E3DA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43" y="3692126"/>
            <a:ext cx="6474686" cy="55085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A7697BD-E247-459C-8FC9-1A1BECD49A17}"/>
              </a:ext>
            </a:extLst>
          </p:cNvPr>
          <p:cNvSpPr txBox="1">
            <a:spLocks/>
          </p:cNvSpPr>
          <p:nvPr/>
        </p:nvSpPr>
        <p:spPr>
          <a:xfrm>
            <a:off x="666343" y="3294722"/>
            <a:ext cx="7260175" cy="490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sz="2000" dirty="0"/>
              <a:t>Allow members of group </a:t>
            </a:r>
            <a:r>
              <a:rPr lang="en-US" sz="2000" dirty="0" err="1"/>
              <a:t>sudo</a:t>
            </a:r>
            <a:r>
              <a:rPr lang="en-US" sz="2000" dirty="0"/>
              <a:t> to execute any command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381672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4AF182-05A3-45BC-8B4D-CF508F84FE24}"/>
              </a:ext>
            </a:extLst>
          </p:cNvPr>
          <p:cNvSpPr txBox="1">
            <a:spLocks/>
          </p:cNvSpPr>
          <p:nvPr/>
        </p:nvSpPr>
        <p:spPr>
          <a:xfrm>
            <a:off x="376330" y="440521"/>
            <a:ext cx="8591550" cy="550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Question</a:t>
            </a:r>
            <a:r>
              <a:rPr lang="en-US" altLang="en-US" sz="2400" dirty="0"/>
              <a:t>: what are the differences between 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 err="1"/>
              <a:t>sudo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/>
              <a:t> and 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 err="1"/>
              <a:t>su</a:t>
            </a:r>
            <a:r>
              <a:rPr lang="en-AU" sz="2400" dirty="0">
                <a:latin typeface="Courier"/>
              </a:rPr>
              <a:t>'</a:t>
            </a:r>
            <a:r>
              <a:rPr lang="en-US" altLang="en-US" sz="2400" dirty="0"/>
              <a:t>? 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de-DE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en-US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7F7B14-7C50-4AD6-BDD8-6BEE402DC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43" y="4060216"/>
            <a:ext cx="5830114" cy="159089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D3B4F3-8227-464C-A747-F16CD243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84" y="991379"/>
            <a:ext cx="8969846" cy="766366"/>
          </a:xfrm>
        </p:spPr>
        <p:txBody>
          <a:bodyPr>
            <a:normAutofit/>
          </a:bodyPr>
          <a:lstStyle/>
          <a:p>
            <a:r>
              <a:rPr lang="en-US" altLang="en-US" sz="2400" dirty="0" err="1"/>
              <a:t>sudo</a:t>
            </a:r>
            <a:r>
              <a:rPr lang="en-US" altLang="en-US" sz="2400" dirty="0"/>
              <a:t> (Superuser Do): </a:t>
            </a:r>
            <a:r>
              <a:rPr lang="en-US" sz="2400" dirty="0"/>
              <a:t>allows a user to execute specific commands that require superuser privileges. </a:t>
            </a:r>
            <a:endParaRPr lang="en-AU" sz="24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6524595-3E59-44BB-BC90-161806692760}"/>
              </a:ext>
            </a:extLst>
          </p:cNvPr>
          <p:cNvSpPr txBox="1">
            <a:spLocks/>
          </p:cNvSpPr>
          <p:nvPr/>
        </p:nvSpPr>
        <p:spPr>
          <a:xfrm>
            <a:off x="533382" y="3189738"/>
            <a:ext cx="9890777" cy="766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altLang="en-US" sz="2400" dirty="0" err="1"/>
              <a:t>su</a:t>
            </a:r>
            <a:r>
              <a:rPr lang="en-US" altLang="en-US" sz="2400" dirty="0"/>
              <a:t> (</a:t>
            </a:r>
            <a:r>
              <a:rPr lang="en-AU" sz="2400" dirty="0"/>
              <a:t>Switch User</a:t>
            </a:r>
            <a:r>
              <a:rPr lang="en-US" altLang="en-US" sz="2400" dirty="0"/>
              <a:t>): </a:t>
            </a:r>
            <a:r>
              <a:rPr lang="en-US" sz="2400" dirty="0"/>
              <a:t>allows a user to switch to another user account by entering that user account's password</a:t>
            </a:r>
            <a:r>
              <a:rPr lang="en-AU" sz="2400" dirty="0"/>
              <a:t>.</a:t>
            </a:r>
            <a:endParaRPr lang="en-US" sz="24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DB814B-1223-44E8-B0A8-423121716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3" y="1968103"/>
            <a:ext cx="5830114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93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6E4D08-FEB3-445A-9116-DBC7DA64A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37" y="852766"/>
            <a:ext cx="8683293" cy="257623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84645E-80FD-48C4-B2BE-FDD84C874037}"/>
              </a:ext>
            </a:extLst>
          </p:cNvPr>
          <p:cNvSpPr txBox="1">
            <a:spLocks/>
          </p:cNvSpPr>
          <p:nvPr/>
        </p:nvSpPr>
        <p:spPr>
          <a:xfrm>
            <a:off x="429137" y="3719088"/>
            <a:ext cx="11257341" cy="25762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r>
              <a:rPr lang="en-US" sz="2400" dirty="0"/>
              <a:t>@task is a decorator from the Fabric library.</a:t>
            </a:r>
            <a:endParaRPr lang="en-US" altLang="en-US" sz="2400" dirty="0"/>
          </a:p>
          <a:p>
            <a:pPr marL="457200" lvl="1" indent="0" fontAlgn="auto">
              <a:spcAft>
                <a:spcPts val="0"/>
              </a:spcAft>
              <a:buClrTx/>
              <a:buSzTx/>
              <a:buNone/>
            </a:pPr>
            <a:endParaRPr lang="en-US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536AED-3F43-4BB0-855A-2CD47ED3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37" y="179616"/>
            <a:ext cx="11110591" cy="645138"/>
          </a:xfrm>
        </p:spPr>
        <p:txBody>
          <a:bodyPr>
            <a:noAutofit/>
          </a:bodyPr>
          <a:lstStyle/>
          <a:p>
            <a:r>
              <a:rPr lang="en-US" altLang="zh-CN" sz="3200" b="1" dirty="0"/>
              <a:t>f</a:t>
            </a:r>
            <a:r>
              <a:rPr lang="en-US" sz="3200" b="1" dirty="0"/>
              <a:t>abfile.py: </a:t>
            </a:r>
            <a:r>
              <a:rPr lang="en-US" sz="3200" dirty="0"/>
              <a:t>a Python script that is a collection of tasks and functions</a:t>
            </a:r>
          </a:p>
        </p:txBody>
      </p:sp>
    </p:spTree>
    <p:extLst>
      <p:ext uri="{BB962C8B-B14F-4D97-AF65-F5344CB8AC3E}">
        <p14:creationId xmlns:p14="http://schemas.microsoft.com/office/powerpoint/2010/main" val="1412858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239636"/>
            <a:ext cx="6903912" cy="657511"/>
          </a:xfrm>
        </p:spPr>
        <p:txBody>
          <a:bodyPr>
            <a:normAutofit/>
          </a:bodyPr>
          <a:lstStyle/>
          <a:p>
            <a:r>
              <a:rPr lang="en-AU" sz="3200" b="1" dirty="0"/>
              <a:t>AWS Lambda: </a:t>
            </a:r>
            <a:r>
              <a:rPr lang="en-US" sz="3200" b="1" dirty="0"/>
              <a:t>automate tasks in DevOps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2100BB-FC76-49E8-9586-E3663122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52" y="1069675"/>
            <a:ext cx="11178633" cy="4205710"/>
          </a:xfrm>
        </p:spPr>
        <p:txBody>
          <a:bodyPr>
            <a:noAutofit/>
          </a:bodyPr>
          <a:lstStyle/>
          <a:p>
            <a:r>
              <a:rPr lang="en-US" sz="2400" b="1" spc="-1" dirty="0">
                <a:solidFill>
                  <a:srgbClr val="000000"/>
                </a:solidFill>
              </a:rPr>
              <a:t>Lambda: </a:t>
            </a:r>
            <a:r>
              <a:rPr lang="en-US" sz="2400" spc="-1" dirty="0">
                <a:solidFill>
                  <a:srgbClr val="000000"/>
                </a:solidFill>
              </a:rPr>
              <a:t>a microservice that lets us run code without provisioning or managing servers. With Lambda, all we need to do is</a:t>
            </a:r>
            <a:r>
              <a:rPr lang="en-US" sz="2400" b="1" spc="-1" dirty="0">
                <a:solidFill>
                  <a:srgbClr val="000000"/>
                </a:solidFill>
              </a:rPr>
              <a:t> </a:t>
            </a:r>
            <a:r>
              <a:rPr lang="en-US" sz="2400" spc="-1" dirty="0">
                <a:solidFill>
                  <a:srgbClr val="000000"/>
                </a:solidFill>
              </a:rPr>
              <a:t>supply our code in one of the language runtimes that Lambda supports. </a:t>
            </a:r>
          </a:p>
          <a:p>
            <a:pPr algn="l"/>
            <a:r>
              <a:rPr lang="en-US" sz="2400" b="1" spc="-1" dirty="0">
                <a:solidFill>
                  <a:srgbClr val="000000"/>
                </a:solidFill>
              </a:rPr>
              <a:t>Two main benefits:</a:t>
            </a:r>
          </a:p>
          <a:p>
            <a:pPr lvl="1"/>
            <a:r>
              <a:rPr lang="en-US" b="1" dirty="0"/>
              <a:t>Automatic Scaling:</a:t>
            </a:r>
            <a:r>
              <a:rPr lang="en-US" dirty="0"/>
              <a:t> Lambda automatically adjusts compute resources based on the workload, scaling up or down seamlessly without manual intervention. </a:t>
            </a:r>
          </a:p>
          <a:p>
            <a:pPr lvl="1"/>
            <a:r>
              <a:rPr lang="en-US" b="1" dirty="0"/>
              <a:t>Server Management: </a:t>
            </a:r>
            <a:r>
              <a:rPr lang="en-US" dirty="0"/>
              <a:t>Lambda abstracts away all server and operating system maintenance. It manages the underlying infrastructure, allowing developers to focus on their code and business logic.</a:t>
            </a:r>
            <a:endParaRPr lang="en-US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989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377659"/>
            <a:ext cx="6903912" cy="1054326"/>
          </a:xfrm>
        </p:spPr>
        <p:txBody>
          <a:bodyPr>
            <a:normAutofit/>
          </a:bodyPr>
          <a:lstStyle/>
          <a:p>
            <a:r>
              <a:rPr lang="en-AU" sz="3200" b="1" dirty="0"/>
              <a:t>AWS Lambda: </a:t>
            </a:r>
            <a:r>
              <a:rPr lang="en-US" sz="3200" b="1" dirty="0"/>
              <a:t>automate tasks in DevOps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54864F-A0EF-4294-B4E6-7FF5B282A762}"/>
              </a:ext>
            </a:extLst>
          </p:cNvPr>
          <p:cNvSpPr txBox="1">
            <a:spLocks/>
          </p:cNvSpPr>
          <p:nvPr/>
        </p:nvSpPr>
        <p:spPr>
          <a:xfrm>
            <a:off x="710337" y="1261062"/>
            <a:ext cx="9210040" cy="2620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800" b="1" dirty="0"/>
              <a:t>Examples: </a:t>
            </a:r>
          </a:p>
          <a:p>
            <a:pPr marL="914400" lvl="1" indent="-457200" algn="l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sz="2800" b="1" dirty="0">
                <a:latin typeface="+mj-lt"/>
                <a:ea typeface="+mj-ea"/>
                <a:cs typeface="+mj-cs"/>
              </a:rPr>
              <a:t>A toy</a:t>
            </a:r>
            <a:r>
              <a:rPr lang="en-US" sz="2800" b="1" dirty="0">
                <a:latin typeface="+mj-lt"/>
                <a:ea typeface="+mj-ea"/>
                <a:cs typeface="+mj-cs"/>
              </a:rPr>
              <a:t> lambda function </a:t>
            </a:r>
          </a:p>
          <a:p>
            <a:pPr marL="914400" lvl="1" indent="-457200" algn="l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ea typeface="+mj-ea"/>
                <a:cs typeface="+mj-cs"/>
              </a:rPr>
              <a:t>A combination of lambda function and S3</a:t>
            </a:r>
          </a:p>
        </p:txBody>
      </p:sp>
    </p:spTree>
    <p:extLst>
      <p:ext uri="{BB962C8B-B14F-4D97-AF65-F5344CB8AC3E}">
        <p14:creationId xmlns:p14="http://schemas.microsoft.com/office/powerpoint/2010/main" val="732769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242052"/>
            <a:ext cx="6371145" cy="810372"/>
          </a:xfrm>
        </p:spPr>
        <p:txBody>
          <a:bodyPr>
            <a:normAutofit/>
          </a:bodyPr>
          <a:lstStyle/>
          <a:p>
            <a:r>
              <a:rPr lang="en-AU" sz="3200" b="1" dirty="0"/>
              <a:t>Step1: o</a:t>
            </a:r>
            <a:r>
              <a:rPr lang="en-US" sz="3200" b="1" dirty="0"/>
              <a:t>pen the AWS Lambda Console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586A0-AD1E-4DD3-ACAC-4B318847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411" y="1214546"/>
            <a:ext cx="817359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35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242052"/>
            <a:ext cx="6371145" cy="810372"/>
          </a:xfrm>
        </p:spPr>
        <p:txBody>
          <a:bodyPr>
            <a:normAutofit/>
          </a:bodyPr>
          <a:lstStyle/>
          <a:p>
            <a:r>
              <a:rPr lang="en-AU" sz="3200" b="1" dirty="0"/>
              <a:t>Step1: o</a:t>
            </a:r>
            <a:r>
              <a:rPr lang="en-US" sz="3200" b="1" dirty="0"/>
              <a:t>pen the AWS Lambda Console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B82D0-877E-4644-8CBF-C2425961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447523"/>
            <a:ext cx="1126888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2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Step2: select a Lambda blueprint and configure it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47EB2-566B-4948-B342-481335C96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45" y="1207198"/>
            <a:ext cx="11136279" cy="222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86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80" y="146802"/>
            <a:ext cx="9491391" cy="534134"/>
          </a:xfrm>
        </p:spPr>
        <p:txBody>
          <a:bodyPr>
            <a:normAutofit/>
          </a:bodyPr>
          <a:lstStyle/>
          <a:p>
            <a:r>
              <a:rPr lang="en-AU" sz="3200" b="1" dirty="0"/>
              <a:t>Step3: basic information configuration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8EF79-57E2-4A84-B608-E016961AE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26" y="1189653"/>
            <a:ext cx="8103246" cy="45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96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Step4: preconfigured function code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FD8E2-702B-4A56-AA11-2F25B8CE7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14" y="1276708"/>
            <a:ext cx="8926171" cy="40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44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Step5: </a:t>
            </a:r>
            <a:r>
              <a:rPr lang="en-US" altLang="zh-CN" sz="3200" b="1" dirty="0"/>
              <a:t>configure a test event to trigger the code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9C701-E0C9-4112-8CBE-2E41AE449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833" y="1278673"/>
            <a:ext cx="8404333" cy="430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62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Step5.1: </a:t>
            </a:r>
            <a:r>
              <a:rPr lang="en-US" altLang="zh-CN" sz="3200" b="1" dirty="0"/>
              <a:t>configure a test event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11534-FB9F-4199-9544-1E468556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981" y="1090285"/>
            <a:ext cx="8096262" cy="49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31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Step5.2: </a:t>
            </a:r>
            <a:r>
              <a:rPr lang="en-US" altLang="zh-CN" sz="3200" b="1" dirty="0"/>
              <a:t>configure the event’s data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B903F-08CD-42EB-BF12-50CC7FA9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59" y="990600"/>
            <a:ext cx="7621064" cy="2600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72010-656D-49FC-8136-E619AB299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59" y="4435086"/>
            <a:ext cx="7563906" cy="177189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98AD23-1089-47C0-8B36-D016D3C03E9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053691" y="3591288"/>
            <a:ext cx="0" cy="84379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230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Step6: </a:t>
            </a:r>
            <a:r>
              <a:rPr lang="en-US" altLang="zh-CN" sz="3200" b="1" dirty="0"/>
              <a:t>trigger the Lambda function via the event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64D5B-70FB-40D1-A2BB-DC8B40338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86" y="1392114"/>
            <a:ext cx="10610827" cy="45514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A8154C-1972-4058-BFC6-E3171A1E648C}"/>
              </a:ext>
            </a:extLst>
          </p:cNvPr>
          <p:cNvSpPr/>
          <p:nvPr/>
        </p:nvSpPr>
        <p:spPr>
          <a:xfrm>
            <a:off x="5647765" y="1936376"/>
            <a:ext cx="1801906" cy="11295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7235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9" y="146802"/>
            <a:ext cx="9491391" cy="843798"/>
          </a:xfrm>
        </p:spPr>
        <p:txBody>
          <a:bodyPr>
            <a:normAutofit/>
          </a:bodyPr>
          <a:lstStyle/>
          <a:p>
            <a:r>
              <a:rPr lang="en-AU" sz="3200" b="1" dirty="0"/>
              <a:t>Step7: </a:t>
            </a:r>
            <a:r>
              <a:rPr lang="en-US" altLang="zh-CN" sz="3200" b="1" dirty="0"/>
              <a:t>Execution results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4EBB8-D9D0-46DB-AC65-02D24BB21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86" y="1273292"/>
            <a:ext cx="8783427" cy="43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7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52" y="377659"/>
            <a:ext cx="6903912" cy="1054326"/>
          </a:xfrm>
        </p:spPr>
        <p:txBody>
          <a:bodyPr>
            <a:normAutofit/>
          </a:bodyPr>
          <a:lstStyle/>
          <a:p>
            <a:r>
              <a:rPr lang="en-AU" sz="3200" b="1" dirty="0"/>
              <a:t>AWS Lambda: </a:t>
            </a:r>
            <a:r>
              <a:rPr lang="en-US" sz="3200" b="1" dirty="0"/>
              <a:t>automate tasks in DevOps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54864F-A0EF-4294-B4E6-7FF5B282A762}"/>
              </a:ext>
            </a:extLst>
          </p:cNvPr>
          <p:cNvSpPr txBox="1">
            <a:spLocks/>
          </p:cNvSpPr>
          <p:nvPr/>
        </p:nvSpPr>
        <p:spPr>
          <a:xfrm>
            <a:off x="710337" y="1261062"/>
            <a:ext cx="9210040" cy="2620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800" b="1" dirty="0"/>
              <a:t>Example: </a:t>
            </a:r>
          </a:p>
          <a:p>
            <a:pPr marL="914400" lvl="1" indent="-457200" algn="l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sz="2800" dirty="0">
                <a:latin typeface="+mj-lt"/>
                <a:ea typeface="+mj-ea"/>
                <a:cs typeface="+mj-cs"/>
              </a:rPr>
              <a:t>A toy</a:t>
            </a:r>
            <a:r>
              <a:rPr lang="en-US" sz="2800" dirty="0">
                <a:latin typeface="+mj-lt"/>
                <a:ea typeface="+mj-ea"/>
                <a:cs typeface="+mj-cs"/>
              </a:rPr>
              <a:t> Lambda function </a:t>
            </a:r>
          </a:p>
          <a:p>
            <a:pPr marL="914400" lvl="1" indent="-457200" algn="l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  <a:ea typeface="+mj-ea"/>
                <a:cs typeface="+mj-cs"/>
              </a:rPr>
              <a:t>A combination of lambda and S3</a:t>
            </a:r>
          </a:p>
        </p:txBody>
      </p:sp>
    </p:spTree>
    <p:extLst>
      <p:ext uri="{BB962C8B-B14F-4D97-AF65-F5344CB8AC3E}">
        <p14:creationId xmlns:p14="http://schemas.microsoft.com/office/powerpoint/2010/main" val="2654254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902" y="144341"/>
            <a:ext cx="4497560" cy="597922"/>
          </a:xfrm>
        </p:spPr>
        <p:txBody>
          <a:bodyPr>
            <a:normAutofit/>
          </a:bodyPr>
          <a:lstStyle/>
          <a:p>
            <a:r>
              <a:rPr lang="en-AU" sz="3200" b="1" dirty="0"/>
              <a:t>Combine Lambda with S3</a:t>
            </a:r>
            <a:endParaRPr lang="en-US" sz="32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F2C8D8-A2FE-4632-8369-4B23D6764F9D}"/>
              </a:ext>
            </a:extLst>
          </p:cNvPr>
          <p:cNvSpPr/>
          <p:nvPr/>
        </p:nvSpPr>
        <p:spPr>
          <a:xfrm>
            <a:off x="1305604" y="1242010"/>
            <a:ext cx="2227161" cy="184844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FA139-52BB-4085-8379-48E48E2C77D0}"/>
              </a:ext>
            </a:extLst>
          </p:cNvPr>
          <p:cNvSpPr/>
          <p:nvPr/>
        </p:nvSpPr>
        <p:spPr>
          <a:xfrm>
            <a:off x="1476491" y="1366433"/>
            <a:ext cx="1808624" cy="59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S3 BUCKET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A95B4-A30F-4169-820E-76A09AF3A8D8}"/>
              </a:ext>
            </a:extLst>
          </p:cNvPr>
          <p:cNvSpPr/>
          <p:nvPr/>
        </p:nvSpPr>
        <p:spPr>
          <a:xfrm>
            <a:off x="1476491" y="2033183"/>
            <a:ext cx="1808624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Create BUCKET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F8D734-2997-46F9-B134-8ED7A29A22C7}"/>
              </a:ext>
            </a:extLst>
          </p:cNvPr>
          <p:cNvSpPr/>
          <p:nvPr/>
        </p:nvSpPr>
        <p:spPr>
          <a:xfrm>
            <a:off x="4747462" y="1242010"/>
            <a:ext cx="2227161" cy="184844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E2FB2-8A70-4347-927D-E3AF576175BE}"/>
              </a:ext>
            </a:extLst>
          </p:cNvPr>
          <p:cNvSpPr/>
          <p:nvPr/>
        </p:nvSpPr>
        <p:spPr>
          <a:xfrm>
            <a:off x="4939088" y="1166408"/>
            <a:ext cx="1825985" cy="59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IAM</a:t>
            </a:r>
            <a:endParaRPr lang="en-AU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890A33-BDBB-45E6-A34A-B1ADFCB4BC46}"/>
              </a:ext>
            </a:extLst>
          </p:cNvPr>
          <p:cNvSpPr/>
          <p:nvPr/>
        </p:nvSpPr>
        <p:spPr>
          <a:xfrm>
            <a:off x="4939088" y="1638158"/>
            <a:ext cx="1832996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Create policy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2C00709-68C1-4D67-980E-BA2D5C618DF8}"/>
              </a:ext>
            </a:extLst>
          </p:cNvPr>
          <p:cNvSpPr/>
          <p:nvPr/>
        </p:nvSpPr>
        <p:spPr>
          <a:xfrm>
            <a:off x="4747462" y="3877362"/>
            <a:ext cx="2294359" cy="193462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FAED68-92C7-432A-BEA4-42B4627F4488}"/>
              </a:ext>
            </a:extLst>
          </p:cNvPr>
          <p:cNvSpPr/>
          <p:nvPr/>
        </p:nvSpPr>
        <p:spPr>
          <a:xfrm>
            <a:off x="5137789" y="3877363"/>
            <a:ext cx="1544432" cy="555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Lambda</a:t>
            </a:r>
            <a:endParaRPr lang="en-AU" sz="240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085C3C-F4DA-47D1-AD43-605E8692E16B}"/>
              </a:ext>
            </a:extLst>
          </p:cNvPr>
          <p:cNvSpPr/>
          <p:nvPr/>
        </p:nvSpPr>
        <p:spPr>
          <a:xfrm>
            <a:off x="4930176" y="4983382"/>
            <a:ext cx="1913066" cy="555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Add S3 trigger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3A2E7D-E90D-459D-AB2E-DD40E556B523}"/>
              </a:ext>
            </a:extLst>
          </p:cNvPr>
          <p:cNvSpPr/>
          <p:nvPr/>
        </p:nvSpPr>
        <p:spPr>
          <a:xfrm>
            <a:off x="1241527" y="3877362"/>
            <a:ext cx="2401000" cy="193462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69943D-B4B2-4F5D-8699-09A4E7CFE084}"/>
              </a:ext>
            </a:extLst>
          </p:cNvPr>
          <p:cNvSpPr/>
          <p:nvPr/>
        </p:nvSpPr>
        <p:spPr>
          <a:xfrm>
            <a:off x="1319687" y="3768897"/>
            <a:ext cx="2227161" cy="671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Test with trigger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590F2E-0FBC-47A1-AEE7-11C945E24F05}"/>
              </a:ext>
            </a:extLst>
          </p:cNvPr>
          <p:cNvSpPr/>
          <p:nvPr/>
        </p:nvSpPr>
        <p:spPr>
          <a:xfrm>
            <a:off x="8189783" y="1242010"/>
            <a:ext cx="2401000" cy="184844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728D7B-2017-4617-885C-5902A006D156}"/>
              </a:ext>
            </a:extLst>
          </p:cNvPr>
          <p:cNvSpPr/>
          <p:nvPr/>
        </p:nvSpPr>
        <p:spPr>
          <a:xfrm>
            <a:off x="8381409" y="1166408"/>
            <a:ext cx="1825985" cy="59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IAM</a:t>
            </a:r>
            <a:endParaRPr lang="en-AU" sz="24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8B260A-0B55-4DDA-80A6-8543C508F4F3}"/>
              </a:ext>
            </a:extLst>
          </p:cNvPr>
          <p:cNvSpPr/>
          <p:nvPr/>
        </p:nvSpPr>
        <p:spPr>
          <a:xfrm>
            <a:off x="8450911" y="1638158"/>
            <a:ext cx="1832996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policy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940817-D63C-4B74-8869-24F3667956C0}"/>
              </a:ext>
            </a:extLst>
          </p:cNvPr>
          <p:cNvSpPr/>
          <p:nvPr/>
        </p:nvSpPr>
        <p:spPr>
          <a:xfrm>
            <a:off x="8450911" y="2228708"/>
            <a:ext cx="1832996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Create role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7E7DBDA-4670-4BC1-9353-009776A50B29}"/>
              </a:ext>
            </a:extLst>
          </p:cNvPr>
          <p:cNvSpPr/>
          <p:nvPr/>
        </p:nvSpPr>
        <p:spPr>
          <a:xfrm>
            <a:off x="8189783" y="3877362"/>
            <a:ext cx="2401000" cy="193462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210CE9-5920-4B04-948F-8422754130A9}"/>
              </a:ext>
            </a:extLst>
          </p:cNvPr>
          <p:cNvSpPr/>
          <p:nvPr/>
        </p:nvSpPr>
        <p:spPr>
          <a:xfrm>
            <a:off x="8457609" y="3813954"/>
            <a:ext cx="1825985" cy="59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Lambda</a:t>
            </a:r>
            <a:endParaRPr lang="en-AU" sz="2400" b="1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229309-0D78-4D5F-B985-899F2B95C3E1}"/>
              </a:ext>
            </a:extLst>
          </p:cNvPr>
          <p:cNvSpPr/>
          <p:nvPr/>
        </p:nvSpPr>
        <p:spPr>
          <a:xfrm>
            <a:off x="8450911" y="4323804"/>
            <a:ext cx="1832996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role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64FC119-A39B-481F-989E-AF68D56953F0}"/>
              </a:ext>
            </a:extLst>
          </p:cNvPr>
          <p:cNvSpPr/>
          <p:nvPr/>
        </p:nvSpPr>
        <p:spPr>
          <a:xfrm>
            <a:off x="8450911" y="4914354"/>
            <a:ext cx="1832996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Create function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C91623D4-2DF0-4B7C-A9A8-51FB9F1AF642}"/>
              </a:ext>
            </a:extLst>
          </p:cNvPr>
          <p:cNvSpPr txBox="1">
            <a:spLocks/>
          </p:cNvSpPr>
          <p:nvPr/>
        </p:nvSpPr>
        <p:spPr>
          <a:xfrm>
            <a:off x="1997037" y="742262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1</a:t>
            </a:r>
            <a:endParaRPr lang="en-US" sz="2000" b="1" dirty="0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9ADB3DCB-F56F-4B6A-BE08-03FCD350ED66}"/>
              </a:ext>
            </a:extLst>
          </p:cNvPr>
          <p:cNvSpPr txBox="1">
            <a:spLocks/>
          </p:cNvSpPr>
          <p:nvPr/>
        </p:nvSpPr>
        <p:spPr>
          <a:xfrm>
            <a:off x="5370491" y="742262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2</a:t>
            </a:r>
            <a:endParaRPr lang="en-US" sz="2000" b="1" dirty="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E1B8A448-9611-42D9-819F-1E06A5533ECB}"/>
              </a:ext>
            </a:extLst>
          </p:cNvPr>
          <p:cNvSpPr txBox="1">
            <a:spLocks/>
          </p:cNvSpPr>
          <p:nvPr/>
        </p:nvSpPr>
        <p:spPr>
          <a:xfrm>
            <a:off x="8972177" y="704064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3</a:t>
            </a:r>
            <a:endParaRPr lang="en-US" sz="200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890229-D25C-41E4-AC38-75A1E0C973BE}"/>
              </a:ext>
            </a:extLst>
          </p:cNvPr>
          <p:cNvSpPr/>
          <p:nvPr/>
        </p:nvSpPr>
        <p:spPr>
          <a:xfrm>
            <a:off x="4944544" y="4380608"/>
            <a:ext cx="1919018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349938A-92F5-4E0C-BF75-5C3AFD801239}"/>
              </a:ext>
            </a:extLst>
          </p:cNvPr>
          <p:cNvSpPr txBox="1">
            <a:spLocks/>
          </p:cNvSpPr>
          <p:nvPr/>
        </p:nvSpPr>
        <p:spPr>
          <a:xfrm>
            <a:off x="8972177" y="5952721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4</a:t>
            </a:r>
            <a:endParaRPr lang="en-US" sz="2000" b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47F9F8-E292-4453-AF18-4C859EB3BA5A}"/>
              </a:ext>
            </a:extLst>
          </p:cNvPr>
          <p:cNvSpPr/>
          <p:nvPr/>
        </p:nvSpPr>
        <p:spPr>
          <a:xfrm>
            <a:off x="1601217" y="4417698"/>
            <a:ext cx="1707550" cy="3717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D62C16-19F0-477B-AC2B-B32D59DAE647}"/>
              </a:ext>
            </a:extLst>
          </p:cNvPr>
          <p:cNvSpPr/>
          <p:nvPr/>
        </p:nvSpPr>
        <p:spPr>
          <a:xfrm>
            <a:off x="1601217" y="5258073"/>
            <a:ext cx="1707550" cy="472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CloudWatch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AD1371-1E17-4BC0-8DE4-C6706F691CE2}"/>
              </a:ext>
            </a:extLst>
          </p:cNvPr>
          <p:cNvSpPr/>
          <p:nvPr/>
        </p:nvSpPr>
        <p:spPr>
          <a:xfrm>
            <a:off x="1601217" y="4789415"/>
            <a:ext cx="1707550" cy="472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err="1">
                <a:solidFill>
                  <a:schemeClr val="tx1"/>
                </a:solidFill>
              </a:rPr>
              <a:t>Lamda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1CB57199-A097-4FA0-9077-EACE43972328}"/>
              </a:ext>
            </a:extLst>
          </p:cNvPr>
          <p:cNvSpPr txBox="1">
            <a:spLocks/>
          </p:cNvSpPr>
          <p:nvPr/>
        </p:nvSpPr>
        <p:spPr>
          <a:xfrm>
            <a:off x="5370491" y="5931821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5</a:t>
            </a:r>
            <a:endParaRPr lang="en-US" sz="2000" b="1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874CD580-9553-4A02-9474-ADC628914EEC}"/>
              </a:ext>
            </a:extLst>
          </p:cNvPr>
          <p:cNvSpPr txBox="1">
            <a:spLocks/>
          </p:cNvSpPr>
          <p:nvPr/>
        </p:nvSpPr>
        <p:spPr>
          <a:xfrm>
            <a:off x="1997037" y="5952721"/>
            <a:ext cx="1311730" cy="47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2000" b="1" dirty="0"/>
              <a:t>Step 6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71078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Step1: </a:t>
            </a:r>
            <a:r>
              <a:rPr lang="en-US" sz="3200" b="1" dirty="0"/>
              <a:t>create a bucket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51737-3030-444E-BA52-9447847FE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226" y="1344526"/>
            <a:ext cx="6163055" cy="208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12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Step2: create a customer managed policy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920F3-B1D8-420A-B2F1-56C15594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59" y="1989001"/>
            <a:ext cx="5446993" cy="4329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36131-17BA-40B8-90F4-19F199AC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9" y="821516"/>
            <a:ext cx="919290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00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B16F61-8601-497E-BAD0-F2D307AE51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450" y="2067579"/>
            <a:ext cx="4762500" cy="17900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Step2: create a customer managed policy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920F3-B1D8-420A-B2F1-56C15594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9" y="1989001"/>
            <a:ext cx="5446993" cy="4329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36131-17BA-40B8-90F4-19F199ACF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59" y="821516"/>
            <a:ext cx="9192908" cy="847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F21E65-1D74-447C-AE01-4D48F670FA39}"/>
              </a:ext>
            </a:extLst>
          </p:cNvPr>
          <p:cNvSpPr txBox="1"/>
          <p:nvPr/>
        </p:nvSpPr>
        <p:spPr>
          <a:xfrm>
            <a:off x="5804452" y="1989001"/>
            <a:ext cx="6216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b="1" dirty="0">
                <a:solidFill>
                  <a:srgbClr val="16191F"/>
                </a:solidFill>
                <a:latin typeface="+mn-lt"/>
              </a:rPr>
              <a:t>log event: </a:t>
            </a:r>
            <a:r>
              <a:rPr lang="en-AU" dirty="0">
                <a:solidFill>
                  <a:srgbClr val="16191F"/>
                </a:solidFill>
                <a:latin typeface="+mn-lt"/>
              </a:rPr>
              <a:t>a</a:t>
            </a:r>
            <a:r>
              <a:rPr lang="zh-CN" altLang="en-US" dirty="0">
                <a:solidFill>
                  <a:srgbClr val="16191F"/>
                </a:solidFill>
                <a:latin typeface="+mn-lt"/>
              </a:rPr>
              <a:t> </a:t>
            </a:r>
            <a:r>
              <a:rPr lang="en-AU" altLang="zh-CN" dirty="0">
                <a:solidFill>
                  <a:srgbClr val="16191F"/>
                </a:solidFill>
                <a:latin typeface="+mn-lt"/>
              </a:rPr>
              <a:t>set</a:t>
            </a:r>
            <a:r>
              <a:rPr lang="zh-CN" altLang="en-US" dirty="0">
                <a:solidFill>
                  <a:srgbClr val="16191F"/>
                </a:solidFill>
                <a:latin typeface="+mn-lt"/>
              </a:rPr>
              <a:t> </a:t>
            </a:r>
            <a:r>
              <a:rPr lang="en-AU" altLang="zh-CN" dirty="0">
                <a:solidFill>
                  <a:srgbClr val="16191F"/>
                </a:solidFill>
                <a:latin typeface="+mn-lt"/>
              </a:rPr>
              <a:t>of</a:t>
            </a:r>
            <a:r>
              <a:rPr lang="en-AU" dirty="0">
                <a:solidFill>
                  <a:srgbClr val="16191F"/>
                </a:solidFill>
                <a:latin typeface="+mn-lt"/>
              </a:rPr>
              <a:t> log records and each record consists of a timestamp and a message</a:t>
            </a:r>
            <a:r>
              <a:rPr lang="en-US" dirty="0">
                <a:solidFill>
                  <a:srgbClr val="16191F"/>
                </a:solidFill>
                <a:latin typeface="+mn-lt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BA611-A797-4E58-8275-7DDABC612FA8}"/>
              </a:ext>
            </a:extLst>
          </p:cNvPr>
          <p:cNvSpPr txBox="1"/>
          <p:nvPr/>
        </p:nvSpPr>
        <p:spPr>
          <a:xfrm>
            <a:off x="5804451" y="3316421"/>
            <a:ext cx="6216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b="1" dirty="0">
                <a:solidFill>
                  <a:srgbClr val="16191F"/>
                </a:solidFill>
                <a:latin typeface="+mn-lt"/>
              </a:rPr>
              <a:t>log stream: </a:t>
            </a:r>
            <a:r>
              <a:rPr lang="en-US" dirty="0">
                <a:solidFill>
                  <a:srgbClr val="16191F"/>
                </a:solidFill>
                <a:latin typeface="+mn-lt"/>
              </a:rPr>
              <a:t>a sequence of log events from the same runtime environment.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7EBB7-B203-4E3C-A06B-C7979E060F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450" y="4153604"/>
            <a:ext cx="5408599" cy="17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384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Step2: create a customer managed policy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920F3-B1D8-420A-B2F1-56C15594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59" y="1989001"/>
            <a:ext cx="5446993" cy="4329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36131-17BA-40B8-90F4-19F199AC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9" y="821516"/>
            <a:ext cx="9192908" cy="8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EEA00C-B0BD-4E2F-ADEA-86B636966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903" y="2856340"/>
            <a:ext cx="3928533" cy="156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C9A1CD-7EF7-44C6-8CE6-ACB7C3CA9D15}"/>
              </a:ext>
            </a:extLst>
          </p:cNvPr>
          <p:cNvSpPr txBox="1"/>
          <p:nvPr/>
        </p:nvSpPr>
        <p:spPr>
          <a:xfrm>
            <a:off x="5975903" y="2008497"/>
            <a:ext cx="6216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b="1" dirty="0">
                <a:solidFill>
                  <a:srgbClr val="16191F"/>
                </a:solidFill>
                <a:latin typeface="+mn-lt"/>
              </a:rPr>
              <a:t>log group: </a:t>
            </a:r>
            <a:r>
              <a:rPr lang="en-US" dirty="0">
                <a:solidFill>
                  <a:srgbClr val="16191F"/>
                </a:solidFill>
                <a:latin typeface="+mn-lt"/>
              </a:rPr>
              <a:t>a group of log streams that share the same application/component.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80DFF7-6F26-49C1-9420-C76599CD6415}"/>
              </a:ext>
            </a:extLst>
          </p:cNvPr>
          <p:cNvSpPr txBox="1"/>
          <p:nvPr/>
        </p:nvSpPr>
        <p:spPr>
          <a:xfrm>
            <a:off x="5975902" y="5013825"/>
            <a:ext cx="6216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b="1" dirty="0">
                <a:latin typeface="+mn-lt"/>
              </a:rPr>
              <a:t>Hierarchy:</a:t>
            </a:r>
            <a:r>
              <a:rPr lang="en-US" dirty="0">
                <a:latin typeface="+mn-lt"/>
              </a:rPr>
              <a:t> Log group → multiple log streams → many log events in each stream.</a:t>
            </a:r>
            <a:endParaRPr lang="en-US" dirty="0">
              <a:solidFill>
                <a:srgbClr val="16191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3197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Step3: create a role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078B8-9081-40BA-A284-070DC49F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72" y="1028365"/>
            <a:ext cx="935485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17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F21E65-1D74-447C-AE01-4D48F670FA39}"/>
              </a:ext>
            </a:extLst>
          </p:cNvPr>
          <p:cNvSpPr txBox="1"/>
          <p:nvPr/>
        </p:nvSpPr>
        <p:spPr>
          <a:xfrm>
            <a:off x="352558" y="522510"/>
            <a:ext cx="11362114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sz="2400" b="1" dirty="0">
                <a:solidFill>
                  <a:srgbClr val="16191F"/>
                </a:solidFill>
                <a:latin typeface="+mn-lt"/>
              </a:rPr>
              <a:t>AWS account: </a:t>
            </a:r>
            <a:r>
              <a:rPr lang="en-US" sz="2400" dirty="0">
                <a:solidFill>
                  <a:srgbClr val="16191F"/>
                </a:solidFill>
                <a:latin typeface="+mn-lt"/>
              </a:rPr>
              <a:t>another AWS account (or entities within that account) is trusted to assume a role in this account.</a:t>
            </a:r>
          </a:p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AU" sz="2400" b="1" dirty="0">
                <a:solidFill>
                  <a:srgbClr val="16191F"/>
                </a:solidFill>
                <a:latin typeface="+mn-lt"/>
              </a:rPr>
              <a:t>Web identity: </a:t>
            </a:r>
            <a:r>
              <a:rPr lang="en-US" sz="2400" dirty="0">
                <a:solidFill>
                  <a:srgbClr val="16191F"/>
                </a:solidFill>
                <a:latin typeface="+mn-lt"/>
              </a:rPr>
              <a:t>users authenticated through an external web identity provider are trusted to assume a role in this account. </a:t>
            </a:r>
          </a:p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sz="2400" b="1" dirty="0">
                <a:solidFill>
                  <a:srgbClr val="16191F"/>
                </a:solidFill>
                <a:latin typeface="+mn-lt"/>
              </a:rPr>
              <a:t>SAML (Security Assertion Markup Language) 2.0 Federation: </a:t>
            </a:r>
            <a:r>
              <a:rPr lang="en-US" sz="2400" dirty="0">
                <a:solidFill>
                  <a:srgbClr val="16191F"/>
                </a:solidFill>
                <a:latin typeface="+mn-lt"/>
              </a:rPr>
              <a:t>users authenticated via their corporate credentials (e.g., Microsoft Active Directory) are trusted to assume a role in this account. </a:t>
            </a:r>
          </a:p>
          <a:p>
            <a:pPr algn="l" fontAlgn="auto">
              <a:spcAft>
                <a:spcPts val="0"/>
              </a:spcAft>
              <a:buClrTx/>
              <a:buSzTx/>
              <a:defRPr/>
            </a:pPr>
            <a:r>
              <a:rPr lang="en-US" sz="2400" b="1" dirty="0">
                <a:solidFill>
                  <a:srgbClr val="16191F"/>
                </a:solidFill>
                <a:latin typeface="+mn-lt"/>
              </a:rPr>
              <a:t>Custom trust policy: </a:t>
            </a:r>
            <a:r>
              <a:rPr lang="en-US" sz="2400" dirty="0">
                <a:solidFill>
                  <a:srgbClr val="16191F"/>
                </a:solidFill>
                <a:latin typeface="+mn-lt"/>
              </a:rPr>
              <a:t>provides more flexibility in defining who or what is trusted to assume a role in this account.</a:t>
            </a:r>
          </a:p>
        </p:txBody>
      </p:sp>
    </p:spTree>
    <p:extLst>
      <p:ext uri="{BB962C8B-B14F-4D97-AF65-F5344CB8AC3E}">
        <p14:creationId xmlns:p14="http://schemas.microsoft.com/office/powerpoint/2010/main" val="2909910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Step3.1: create a role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E7090-E30A-4AC4-A172-E547599F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36" y="821517"/>
            <a:ext cx="7567341" cy="2474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84133-5901-483D-9016-FA1F727E9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35" y="3429000"/>
            <a:ext cx="7567340" cy="30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38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Step3.2: create a role</a:t>
            </a:r>
            <a:endParaRPr lang="en-US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8019B7-6FB8-4DBC-8072-FD7FDB06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621" y="983822"/>
            <a:ext cx="642074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520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Step4: create a lambda function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51004-6AC3-49A0-A465-92B61856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36" y="821516"/>
            <a:ext cx="7640116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668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Step4.1: create a lambda function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88154D-1F55-4C4E-BD05-A71970EB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778" y="1049236"/>
            <a:ext cx="8672029" cy="475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75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Step4.2: create a lambda function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CC61A-49DC-42B6-A780-75F0C834D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7" y="1092536"/>
            <a:ext cx="10145541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42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Step4.3: create a lambda function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E7BEB-3F91-44AB-BA5F-5D44F984511D}"/>
              </a:ext>
            </a:extLst>
          </p:cNvPr>
          <p:cNvSpPr txBox="1"/>
          <p:nvPr/>
        </p:nvSpPr>
        <p:spPr>
          <a:xfrm>
            <a:off x="514056" y="1442977"/>
            <a:ext cx="1167794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event['Records']: contains an array of records. A record corresponds to a specific event that triggered the lambda function. </a:t>
            </a:r>
          </a:p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event['Records'][0]: retrieves the first record in this array. </a:t>
            </a:r>
          </a:p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event['Records'][0]['s3']: contains information specific to an S3 event in the record.</a:t>
            </a:r>
          </a:p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event['Records'][0]['s3']['bucket']: contains information about the S3 bucket where the S3 event occurred.</a:t>
            </a:r>
          </a:p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event['Records'][0]['s3']['bucket']['name’]: retrieves the name field from the bucket.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C3809-97F0-4BF1-A4CC-120430615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57" y="821516"/>
            <a:ext cx="4105848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275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Step4.4: create a lambda function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E7BEB-3F91-44AB-BA5F-5D44F984511D}"/>
              </a:ext>
            </a:extLst>
          </p:cNvPr>
          <p:cNvSpPr txBox="1"/>
          <p:nvPr/>
        </p:nvSpPr>
        <p:spPr>
          <a:xfrm>
            <a:off x="190206" y="1550206"/>
            <a:ext cx="1146839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  <a:defRPr/>
            </a:pPr>
            <a:r>
              <a:rPr lang="en-US" dirty="0">
                <a:solidFill>
                  <a:srgbClr val="16191F"/>
                </a:solidFill>
                <a:latin typeface="+mn-lt"/>
              </a:rPr>
              <a:t>event['Records'][0]['s3']['object']['key']: retrieves the S3 object key from the S3 object, encoded by utf-8. </a:t>
            </a:r>
          </a:p>
          <a:p>
            <a:pPr marL="457200" indent="-457200" algn="l" fontAlgn="auto">
              <a:spcAft>
                <a:spcPts val="0"/>
              </a:spcAft>
              <a:buClrTx/>
              <a:buSzTx/>
              <a:buFont typeface="Wingdings" pitchFamily="2" charset="2"/>
              <a:buAutoNum type="arabicPeriod"/>
              <a:defRPr/>
            </a:pPr>
            <a:r>
              <a:rPr lang="en-US" dirty="0" err="1">
                <a:solidFill>
                  <a:srgbClr val="16191F"/>
                </a:solidFill>
                <a:latin typeface="+mn-lt"/>
              </a:rPr>
              <a:t>urllib.parse.unquote_plus</a:t>
            </a:r>
            <a:r>
              <a:rPr lang="en-US" dirty="0">
                <a:solidFill>
                  <a:srgbClr val="16191F"/>
                </a:solidFill>
                <a:latin typeface="+mn-lt"/>
              </a:rPr>
              <a:t>(): a function call that decodes</a:t>
            </a:r>
            <a:r>
              <a:rPr lang="en-AU" dirty="0">
                <a:solidFill>
                  <a:srgbClr val="16191F"/>
                </a:solidFill>
                <a:latin typeface="+mn-lt"/>
              </a:rPr>
              <a:t> an encoded URL string.</a:t>
            </a:r>
            <a:endParaRPr lang="en-US" dirty="0">
              <a:solidFill>
                <a:srgbClr val="16191F"/>
              </a:solidFill>
              <a:latin typeface="+mn-lt"/>
            </a:endParaRPr>
          </a:p>
          <a:p>
            <a:pPr marL="457200" indent="-457200" algn="l" fontAlgn="auto">
              <a:spcAft>
                <a:spcPts val="0"/>
              </a:spcAft>
              <a:buClrTx/>
              <a:buSzTx/>
              <a:buAutoNum type="arabicPeriod"/>
              <a:defRPr/>
            </a:pPr>
            <a:r>
              <a:rPr lang="en-AU" dirty="0">
                <a:solidFill>
                  <a:srgbClr val="16191F"/>
                </a:solidFill>
                <a:latin typeface="+mn-lt"/>
              </a:rPr>
              <a:t>encoding='utf-8'</a:t>
            </a:r>
            <a:r>
              <a:rPr lang="en-US" dirty="0">
                <a:solidFill>
                  <a:srgbClr val="16191F"/>
                </a:solidFill>
                <a:latin typeface="+mn-lt"/>
              </a:rPr>
              <a:t>: specifies the character encoding to be used when decoding the object key.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A749C-C8AD-4030-8BAC-D35FBB2BF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6" y="821516"/>
            <a:ext cx="6630325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33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Step4.5: create a lambda function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9A889-AB1C-41E9-B8FA-0C6290282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6" y="821516"/>
            <a:ext cx="10145541" cy="39343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0855FD-275B-45D0-B333-FFB3D6902459}"/>
              </a:ext>
            </a:extLst>
          </p:cNvPr>
          <p:cNvSpPr/>
          <p:nvPr/>
        </p:nvSpPr>
        <p:spPr>
          <a:xfrm>
            <a:off x="3024554" y="650631"/>
            <a:ext cx="896815" cy="5802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0CF71-810C-44AE-9A98-37D4B55FE948}"/>
              </a:ext>
            </a:extLst>
          </p:cNvPr>
          <p:cNvSpPr/>
          <p:nvPr/>
        </p:nvSpPr>
        <p:spPr>
          <a:xfrm>
            <a:off x="900136" y="3554502"/>
            <a:ext cx="10145541" cy="12013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7554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Step5: c</a:t>
            </a:r>
            <a:r>
              <a:rPr lang="en-US" sz="3200" b="1" dirty="0" err="1"/>
              <a:t>reate</a:t>
            </a:r>
            <a:r>
              <a:rPr lang="en-US" sz="3200" b="1" dirty="0"/>
              <a:t> a trigger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BF3A2-32C4-4E7D-9C22-11A1B9506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57" y="2500738"/>
            <a:ext cx="5582020" cy="2529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314B55-901F-4AAC-BD12-772D23B79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457" y="1529052"/>
            <a:ext cx="5582020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385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Step5.1: c</a:t>
            </a:r>
            <a:r>
              <a:rPr lang="en-US" sz="3200" b="1" dirty="0" err="1"/>
              <a:t>reate</a:t>
            </a:r>
            <a:r>
              <a:rPr lang="en-US" sz="3200" b="1" dirty="0"/>
              <a:t> a trigger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3F443-5AB0-442C-9BAC-B25727DC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541" y="821516"/>
            <a:ext cx="6430272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558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Step6: </a:t>
            </a:r>
            <a:r>
              <a:rPr lang="en-US" sz="3200" b="1" dirty="0"/>
              <a:t>test the function via the trigger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6EBF7-6D43-44DA-9F5D-66AF9A2D5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59" y="3740562"/>
            <a:ext cx="8249801" cy="26197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F2E3B9-F569-4B5A-8C4D-891FC6F55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9" y="821516"/>
            <a:ext cx="338184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021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F4B37C-3A93-46D5-8BF0-5A6C3BDE8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59" y="2629640"/>
            <a:ext cx="11658329" cy="4073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459" y="0"/>
            <a:ext cx="10121071" cy="821516"/>
          </a:xfrm>
        </p:spPr>
        <p:txBody>
          <a:bodyPr>
            <a:normAutofit/>
          </a:bodyPr>
          <a:lstStyle/>
          <a:p>
            <a:r>
              <a:rPr lang="en-AU" sz="3200" b="1" dirty="0"/>
              <a:t>Step6.1: </a:t>
            </a:r>
            <a:r>
              <a:rPr lang="en-US" sz="3200" b="1" dirty="0"/>
              <a:t>test the function via the trigger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AFCBE8-3689-45CC-AF93-F033C99948EE}"/>
              </a:ext>
            </a:extLst>
          </p:cNvPr>
          <p:cNvSpPr/>
          <p:nvPr/>
        </p:nvSpPr>
        <p:spPr>
          <a:xfrm>
            <a:off x="3422029" y="5334209"/>
            <a:ext cx="1660418" cy="49130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D270C7-334D-44D1-B56E-CFADDEBB9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59" y="931039"/>
            <a:ext cx="6345779" cy="205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17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2091</Words>
  <Application>Microsoft Office PowerPoint</Application>
  <PresentationFormat>Widescreen</PresentationFormat>
  <Paragraphs>332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AmazonEmber</vt:lpstr>
      <vt:lpstr>Courier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Week 10 DevOps</vt:lpstr>
      <vt:lpstr>PowerPoint Presentation</vt:lpstr>
      <vt:lpstr>Overview</vt:lpstr>
      <vt:lpstr>What is DevOps?</vt:lpstr>
      <vt:lpstr>PowerPoint Presentation</vt:lpstr>
      <vt:lpstr>DevOps best practices</vt:lpstr>
      <vt:lpstr>DevOps best practices</vt:lpstr>
      <vt:lpstr>DevOps best practices</vt:lpstr>
      <vt:lpstr>DevOps best practices</vt:lpstr>
      <vt:lpstr>DevOps best practices</vt:lpstr>
      <vt:lpstr>The software/application release process:</vt:lpstr>
      <vt:lpstr>The software/application release process:</vt:lpstr>
      <vt:lpstr>The software/application release process:</vt:lpstr>
      <vt:lpstr>The software/application release process:</vt:lpstr>
      <vt:lpstr>The software/application release process:</vt:lpstr>
      <vt:lpstr>The software/application release process:</vt:lpstr>
      <vt:lpstr>DevOps best practices</vt:lpstr>
      <vt:lpstr>DevOps best practices</vt:lpstr>
      <vt:lpstr>DevOps best practices</vt:lpstr>
      <vt:lpstr>Fabric: automate tasks in DevOps</vt:lpstr>
      <vt:lpstr>User/Client Authentication in SSH</vt:lpstr>
      <vt:lpstr>PowerPoint Presentation</vt:lpstr>
      <vt:lpstr>How to configure OpenSSH to support Fabric</vt:lpstr>
      <vt:lpstr>How to configure OpenSSH to support Fabric</vt:lpstr>
      <vt:lpstr>How to configure OpenSSH to support Fabric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Fabric: common functions</vt:lpstr>
      <vt:lpstr>Fabric: common functions</vt:lpstr>
      <vt:lpstr>PowerPoint Presentation</vt:lpstr>
      <vt:lpstr>PowerPoint Presentation</vt:lpstr>
      <vt:lpstr>fabfile.py: a Python script that is a collection of tasks and functions</vt:lpstr>
      <vt:lpstr>AWS Lambda: automate tasks in DevOps</vt:lpstr>
      <vt:lpstr>AWS Lambda: automate tasks in DevOps</vt:lpstr>
      <vt:lpstr>Step1: open the AWS Lambda Console</vt:lpstr>
      <vt:lpstr>Step1: open the AWS Lambda Console</vt:lpstr>
      <vt:lpstr>Step2: select a Lambda blueprint and configure it</vt:lpstr>
      <vt:lpstr>Step3: basic information configuration</vt:lpstr>
      <vt:lpstr>Step4: preconfigured function code</vt:lpstr>
      <vt:lpstr>Step5: configure a test event to trigger the code</vt:lpstr>
      <vt:lpstr>Step5.1: configure a test event</vt:lpstr>
      <vt:lpstr>Step5.2: configure the event’s data</vt:lpstr>
      <vt:lpstr>Step6: trigger the Lambda function via the event</vt:lpstr>
      <vt:lpstr>Step7: Execution results</vt:lpstr>
      <vt:lpstr>AWS Lambda: automate tasks in DevOps</vt:lpstr>
      <vt:lpstr>Combine Lambda with S3</vt:lpstr>
      <vt:lpstr>Step1: create a bucket</vt:lpstr>
      <vt:lpstr>Step2: create a customer managed policy</vt:lpstr>
      <vt:lpstr>Step2: create a customer managed policy</vt:lpstr>
      <vt:lpstr>Step2: create a customer managed policy</vt:lpstr>
      <vt:lpstr>Step3: create a role</vt:lpstr>
      <vt:lpstr>PowerPoint Presentation</vt:lpstr>
      <vt:lpstr>Step3.1: create a role</vt:lpstr>
      <vt:lpstr>Step3.2: create a role</vt:lpstr>
      <vt:lpstr>Step4: create a lambda function</vt:lpstr>
      <vt:lpstr>Step4.1: create a lambda function</vt:lpstr>
      <vt:lpstr>Step4.2: create a lambda function</vt:lpstr>
      <vt:lpstr>Step4.3: create a lambda function</vt:lpstr>
      <vt:lpstr>Step4.4: create a lambda function</vt:lpstr>
      <vt:lpstr>Step4.5: create a lambda function</vt:lpstr>
      <vt:lpstr>Step5: create a trigger</vt:lpstr>
      <vt:lpstr>Step5.1: create a trigger</vt:lpstr>
      <vt:lpstr>Step6: test the function via the trigger</vt:lpstr>
      <vt:lpstr>Step6.1: test the function via the trigger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2026-10-01T07:44:09Z</dcterms:created>
  <dcterms:modified xsi:type="dcterms:W3CDTF">2026-10-01T07:44:36Z</dcterms:modified>
  <cp:category/>
</cp:coreProperties>
</file>