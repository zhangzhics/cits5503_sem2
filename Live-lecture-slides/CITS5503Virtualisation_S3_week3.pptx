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trictFirstAndLastChars="0" saveSubsetFonts="1">
  <p:sldMasterIdLst>
    <p:sldMasterId id="2147483694" r:id="rId1"/>
  </p:sldMasterIdLst>
  <p:notesMasterIdLst>
    <p:notesMasterId r:id="rId54"/>
  </p:notesMasterIdLst>
  <p:handoutMasterIdLst>
    <p:handoutMasterId r:id="rId55"/>
  </p:handoutMasterIdLst>
  <p:sldIdLst>
    <p:sldId id="1344" r:id="rId2"/>
    <p:sldId id="343" r:id="rId3"/>
    <p:sldId id="1510" r:id="rId4"/>
    <p:sldId id="1519" r:id="rId5"/>
    <p:sldId id="1517" r:id="rId6"/>
    <p:sldId id="1417" r:id="rId7"/>
    <p:sldId id="1554" r:id="rId8"/>
    <p:sldId id="1555" r:id="rId9"/>
    <p:sldId id="1556" r:id="rId10"/>
    <p:sldId id="1557" r:id="rId11"/>
    <p:sldId id="1542" r:id="rId12"/>
    <p:sldId id="1558" r:id="rId13"/>
    <p:sldId id="1540" r:id="rId14"/>
    <p:sldId id="1361" r:id="rId15"/>
    <p:sldId id="1360" r:id="rId16"/>
    <p:sldId id="1560" r:id="rId17"/>
    <p:sldId id="1352" r:id="rId18"/>
    <p:sldId id="1363" r:id="rId19"/>
    <p:sldId id="1364" r:id="rId20"/>
    <p:sldId id="1367" r:id="rId21"/>
    <p:sldId id="1362" r:id="rId22"/>
    <p:sldId id="1368" r:id="rId23"/>
    <p:sldId id="1371" r:id="rId24"/>
    <p:sldId id="1365" r:id="rId25"/>
    <p:sldId id="1335" r:id="rId26"/>
    <p:sldId id="1420" r:id="rId27"/>
    <p:sldId id="1561" r:id="rId28"/>
    <p:sldId id="1562" r:id="rId29"/>
    <p:sldId id="1390" r:id="rId30"/>
    <p:sldId id="1391" r:id="rId31"/>
    <p:sldId id="1453" r:id="rId32"/>
    <p:sldId id="1418" r:id="rId33"/>
    <p:sldId id="1559" r:id="rId34"/>
    <p:sldId id="260" r:id="rId35"/>
    <p:sldId id="1421" r:id="rId36"/>
    <p:sldId id="1563" r:id="rId37"/>
    <p:sldId id="1565" r:id="rId38"/>
    <p:sldId id="1564" r:id="rId39"/>
    <p:sldId id="1566" r:id="rId40"/>
    <p:sldId id="1369" r:id="rId41"/>
    <p:sldId id="1370" r:id="rId42"/>
    <p:sldId id="1372" r:id="rId43"/>
    <p:sldId id="1377" r:id="rId44"/>
    <p:sldId id="1378" r:id="rId45"/>
    <p:sldId id="1379" r:id="rId46"/>
    <p:sldId id="1376" r:id="rId47"/>
    <p:sldId id="1331" r:id="rId48"/>
    <p:sldId id="1388" r:id="rId49"/>
    <p:sldId id="1357" r:id="rId50"/>
    <p:sldId id="1375" r:id="rId51"/>
    <p:sldId id="1382" r:id="rId52"/>
    <p:sldId id="1387" r:id="rId53"/>
  </p:sldIdLst>
  <p:sldSz cx="12192000" cy="6858000"/>
  <p:notesSz cx="9601200" cy="7315200"/>
  <p:defaultTextStyle>
    <a:defPPr>
      <a:defRPr lang="en-US"/>
    </a:defPPr>
    <a:lvl1pPr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D367A80-E1D0-4283-84A7-6215EC2C7308}">
          <p14:sldIdLst>
            <p14:sldId id="1344"/>
            <p14:sldId id="343"/>
            <p14:sldId id="1510"/>
            <p14:sldId id="1519"/>
            <p14:sldId id="1517"/>
            <p14:sldId id="1417"/>
            <p14:sldId id="1554"/>
            <p14:sldId id="1555"/>
            <p14:sldId id="1556"/>
            <p14:sldId id="1557"/>
            <p14:sldId id="1542"/>
            <p14:sldId id="1558"/>
            <p14:sldId id="1540"/>
            <p14:sldId id="1361"/>
            <p14:sldId id="1360"/>
            <p14:sldId id="1560"/>
            <p14:sldId id="1352"/>
            <p14:sldId id="1363"/>
            <p14:sldId id="1364"/>
            <p14:sldId id="1367"/>
            <p14:sldId id="1362"/>
            <p14:sldId id="1368"/>
            <p14:sldId id="1371"/>
            <p14:sldId id="1365"/>
            <p14:sldId id="1335"/>
            <p14:sldId id="1420"/>
            <p14:sldId id="1561"/>
            <p14:sldId id="1562"/>
            <p14:sldId id="1390"/>
            <p14:sldId id="1391"/>
            <p14:sldId id="1453"/>
            <p14:sldId id="1418"/>
            <p14:sldId id="1559"/>
            <p14:sldId id="260"/>
            <p14:sldId id="1421"/>
            <p14:sldId id="1563"/>
            <p14:sldId id="1565"/>
            <p14:sldId id="1564"/>
            <p14:sldId id="1566"/>
            <p14:sldId id="1369"/>
            <p14:sldId id="1370"/>
            <p14:sldId id="1372"/>
            <p14:sldId id="1377"/>
            <p14:sldId id="1378"/>
            <p14:sldId id="1379"/>
            <p14:sldId id="1376"/>
            <p14:sldId id="1331"/>
            <p14:sldId id="1388"/>
            <p14:sldId id="1357"/>
            <p14:sldId id="1375"/>
            <p14:sldId id="1382"/>
            <p14:sldId id="138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888" userDrawn="1">
          <p15:clr>
            <a:srgbClr val="A4A3A4"/>
          </p15:clr>
        </p15:guide>
        <p15:guide id="2" pos="73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304">
          <p15:clr>
            <a:srgbClr val="A4A3A4"/>
          </p15:clr>
        </p15:guide>
        <p15:guide id="2" pos="30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9900"/>
    <a:srgbClr val="33CC33"/>
    <a:srgbClr val="66FFFF"/>
    <a:srgbClr val="00FFFF"/>
    <a:srgbClr val="00CC00"/>
    <a:srgbClr val="FF3399"/>
    <a:srgbClr val="66FF33"/>
    <a:srgbClr val="FFCC99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294" autoAdjust="0"/>
    <p:restoredTop sz="85311" autoAdjust="0"/>
  </p:normalViewPr>
  <p:slideViewPr>
    <p:cSldViewPr snapToGrid="0">
      <p:cViewPr varScale="1">
        <p:scale>
          <a:sx n="60" d="100"/>
          <a:sy n="60" d="100"/>
        </p:scale>
        <p:origin x="516" y="78"/>
      </p:cViewPr>
      <p:guideLst>
        <p:guide orient="horz" pos="3888"/>
        <p:guide pos="73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-1344" y="-96"/>
      </p:cViewPr>
      <p:guideLst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160973" cy="36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de-DE"/>
          </a:p>
        </p:txBody>
      </p:sp>
      <p:sp>
        <p:nvSpPr>
          <p:cNvPr id="541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440230" y="1"/>
            <a:ext cx="4160972" cy="36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de-DE"/>
          </a:p>
        </p:txBody>
      </p:sp>
      <p:sp>
        <p:nvSpPr>
          <p:cNvPr id="541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6950145"/>
            <a:ext cx="4160973" cy="36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de-DE"/>
          </a:p>
        </p:txBody>
      </p:sp>
      <p:sp>
        <p:nvSpPr>
          <p:cNvPr id="541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40230" y="6950145"/>
            <a:ext cx="4160972" cy="36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fld id="{66017A74-8498-4425-B905-56B59BE89ABC}" type="slidenum">
              <a:rPr lang="de-DE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42088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160973" cy="36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40230" y="1"/>
            <a:ext cx="4160972" cy="36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62200" y="549275"/>
            <a:ext cx="4876800" cy="2743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33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79256" y="3475660"/>
            <a:ext cx="7042689" cy="3290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3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950145"/>
            <a:ext cx="4160973" cy="36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40230" y="6950145"/>
            <a:ext cx="4160972" cy="36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fld id="{D37F8DB4-A4FF-4A8B-9A85-9B1874A58FC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8116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4468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389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6329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9937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7890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4106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658421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974660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5185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0273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35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3836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6678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2410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2916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675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0202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076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1577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6977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1759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2921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4804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72380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55504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41767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50450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96465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  <a:prstGeom prst="rect">
            <a:avLst/>
          </a:prstGeom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1279080" y="3475800"/>
            <a:ext cx="7042320" cy="3289680"/>
          </a:xfrm>
          <a:prstGeom prst="rect">
            <a:avLst/>
          </a:prstGeom>
        </p:spPr>
        <p:txBody>
          <a:bodyPr>
            <a:noAutofit/>
          </a:bodyPr>
          <a:lstStyle/>
          <a:p>
            <a:pPr fontAlgn="auto">
              <a:spcAft>
                <a:spcPts val="0"/>
              </a:spcAft>
              <a:buClrTx/>
              <a:buSzTx/>
            </a:pPr>
            <a:endParaRPr lang="en-US" dirty="0"/>
          </a:p>
        </p:txBody>
      </p:sp>
      <p:sp>
        <p:nvSpPr>
          <p:cNvPr id="360" name="TextShape 3"/>
          <p:cNvSpPr txBox="1"/>
          <p:nvPr/>
        </p:nvSpPr>
        <p:spPr>
          <a:xfrm>
            <a:off x="5440320" y="6950160"/>
            <a:ext cx="4160520" cy="36468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26068DFF-E21A-4561-867A-339A4A25E644}" type="slidenum">
              <a:rPr lang="en-US" sz="1200" b="0" strike="noStrike" spc="-1">
                <a:latin typeface="Arial"/>
              </a:rPr>
              <a:t>34</a:t>
            </a:fld>
            <a:endParaRPr lang="en-AU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9680514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>
              <a:buFont typeface="+mj-lt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57494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>
              <a:buFont typeface="+mj-lt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7072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>
              <a:buFont typeface="+mj-lt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35648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>
              <a:buFont typeface="+mj-lt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02345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>
              <a:buFont typeface="+mj-lt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15847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33328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8291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79640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6996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8671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07885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50412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06170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77124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522388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745373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41019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0869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BFC76-A687-7B4B-B7C4-626092A4E7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7D0C56-5CE4-974A-9396-D3EB55B4D7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DA849-C6BE-0D42-92BA-360B93EE9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B5C5E-AC5B-A14E-A301-AD633DC7D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D572F-30CF-9840-9A79-9226228BE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06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378CA-57F7-834F-A3B8-2F41FDE5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E7C3A-CA92-5142-9827-289275BFE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6E172-3480-524D-A4CE-62BEC772E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CCA29-E44B-4C43-BD55-3FCD251CD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14242-6B07-8543-919A-1FC4E1ADF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9467007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ACDA5-F91D-D044-B783-1882CD742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0242B5-90F0-4E4A-AAB6-B12084FC3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F56A0-C271-B245-A1C9-25A589EF5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6E697-8320-434A-86D9-AAC230922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B4B91-4A86-974C-8CCB-8A3EB058B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6896112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B212B-8369-DA4C-BABB-1A078941E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90E38-4CB2-584D-B9E8-A2B2094BF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6C5A60-5C7D-254F-9697-BF3AEA3A3A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CFB941-C882-CC41-A9CF-2E02FA3FC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9EE5D5-3BD1-6B4E-B031-3D61A515D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F84497-F0E4-324C-96C4-4BDF38002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9670515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9C25F-5F64-AB4A-BBF5-77AF58584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848DA2-5CA8-1F4E-9841-4BBF63574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3FFDB4-FED0-1C4F-8D7D-17B0867BD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BD7F3F-2DF5-3447-AAF3-1776599017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613463-9787-6941-B670-25EC1557F0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10F4E8-78E2-3747-80C1-43D61721C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C262F4-0E96-6C4F-B0F2-DF033F911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680677-D036-7543-8C21-49D40D16F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3045931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5E4D1-730E-504F-9683-098495A95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4C212F-EA7C-C045-BCB8-108319BCD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36530A-03A9-CA4D-B18F-9C4F56378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73F1B-9FF0-8641-9282-74CC1E49A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463311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740EEF-C38B-144B-821E-4975E49F3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ABF87A-B408-1D4E-A728-89D503529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A79A3-BC23-5049-AB5A-EEBEFC1DD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9640783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8979A-65AB-B347-9E09-756CA6284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05E94-A13D-4147-89EB-2AE179F7E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5A8F7D-3AD4-1D43-A088-C33A031872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D2DD2C-19B1-0A43-9570-9A1842C00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A2C57-1FDB-C346-95CB-FA52DB282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96CB0-35B3-1D4E-8AD4-4B0E0C05C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450557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DD222-4F45-014E-98B9-BC327CE71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ECB534-A460-C74C-B118-2356A474DA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56C72C-FBD3-8440-AED3-C06C44303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971F36-EF5A-5F46-9C28-6E6A7D474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3FA358-451B-7942-B0C1-D0B7B9D6D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C32310-9E80-224C-B30E-CC263F97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130085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C5363-015D-7D4B-BAFF-135F6C4F8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1C766A-A719-2A44-9699-E3C404432B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E4ADE-3ECD-8641-9FE0-CD597AA3D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53541-5822-2348-8881-F75DD26C0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F7EAC-E5FB-A241-A525-745F31899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4430046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E3AC36-B8F3-904D-9D44-3800404FE9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B37D3E-B28E-E04C-B298-29CCA5D7CE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93EA0-EACD-4649-BF69-F205284D4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7CA7A-55ED-7443-A196-4D2842C27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9D338-29CC-A549-9D40-63A8AB4F7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7650622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2685" y="1990725"/>
            <a:ext cx="10390716" cy="990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5" name="Rectangle 111"/>
          <p:cNvSpPr>
            <a:spLocks noChangeArrowheads="1"/>
          </p:cNvSpPr>
          <p:nvPr userDrawn="1"/>
        </p:nvSpPr>
        <p:spPr bwMode="auto">
          <a:xfrm>
            <a:off x="406400" y="838200"/>
            <a:ext cx="1049867" cy="3429000"/>
          </a:xfrm>
          <a:prstGeom prst="rect">
            <a:avLst/>
          </a:prstGeom>
          <a:gradFill rotWithShape="0">
            <a:gsLst>
              <a:gs pos="0">
                <a:srgbClr val="708FE6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6" name="Line 110"/>
          <p:cNvSpPr>
            <a:spLocks noChangeShapeType="1"/>
          </p:cNvSpPr>
          <p:nvPr userDrawn="1"/>
        </p:nvSpPr>
        <p:spPr bwMode="auto">
          <a:xfrm>
            <a:off x="1123951" y="1143000"/>
            <a:ext cx="0" cy="28956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18217" y="3944938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10" name="Rectangle 11"/>
          <p:cNvSpPr>
            <a:spLocks noChangeArrowheads="1"/>
          </p:cNvSpPr>
          <p:nvPr userDrawn="1"/>
        </p:nvSpPr>
        <p:spPr bwMode="auto">
          <a:xfrm flipV="1">
            <a:off x="268817" y="3011488"/>
            <a:ext cx="11590867" cy="55562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pic>
        <p:nvPicPr>
          <p:cNvPr id="11" name="Picture 10" descr="Penn shield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01061" y="2612508"/>
            <a:ext cx="878809" cy="740196"/>
          </a:xfrm>
          <a:prstGeom prst="rect">
            <a:avLst/>
          </a:prstGeom>
        </p:spPr>
      </p:pic>
      <p:sp>
        <p:nvSpPr>
          <p:cNvPr id="12" name="Rectangle 32"/>
          <p:cNvSpPr>
            <a:spLocks noChangeArrowheads="1"/>
          </p:cNvSpPr>
          <p:nvPr userDrawn="1"/>
        </p:nvSpPr>
        <p:spPr bwMode="auto">
          <a:xfrm>
            <a:off x="1" y="6605588"/>
            <a:ext cx="2331217" cy="252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900"/>
              <a:t>© 2013 A. Haeberlen, Z. Ives</a:t>
            </a:r>
            <a:endParaRPr lang="en-GB" sz="9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9D4BDC-9DBC-F647-991C-B00D6C38D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5DE1C-9DB9-0E43-B50B-973E8289E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81C8A-F206-BA43-8D7E-04234D39F2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3EDD4-9495-C047-B664-F26C63648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8D715-2296-A64B-AA69-3A1F4CFB77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1058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658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gi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 title="intersecting circles">
            <a:extLst>
              <a:ext uri="{FF2B5EF4-FFF2-40B4-BE49-F238E27FC236}">
                <a16:creationId xmlns:a16="http://schemas.microsoft.com/office/drawing/2014/main" id="{D2C4BFA1-2075-4901-9E24-E41D1FDD51FD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1" name="Oval 5">
              <a:extLst>
                <a:ext uri="{FF2B5EF4-FFF2-40B4-BE49-F238E27FC236}">
                  <a16:creationId xmlns:a16="http://schemas.microsoft.com/office/drawing/2014/main" id="{985A7375-E3AF-4F5C-85AE-17E8832952CA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0307F65-8304-4FA8-A841-D4D7625411BE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Oval 5">
              <a:extLst>
                <a:ext uri="{FF2B5EF4-FFF2-40B4-BE49-F238E27FC236}">
                  <a16:creationId xmlns:a16="http://schemas.microsoft.com/office/drawing/2014/main" id="{C8B8394C-136F-4E05-A002-D93A5E79CD50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Rectangle 14" title="ribbon">
            <a:extLst>
              <a:ext uri="{FF2B5EF4-FFF2-40B4-BE49-F238E27FC236}">
                <a16:creationId xmlns:a16="http://schemas.microsoft.com/office/drawing/2014/main" id="{053FB2EE-284F-4C87-AB3D-BBF87A9FAB9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0812FA-7938-534A-A788-A42161393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76538"/>
            <a:ext cx="9144000" cy="1381188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2"/>
                </a:solidFill>
              </a:rPr>
              <a:t>W</a:t>
            </a:r>
            <a:r>
              <a:rPr lang="en-US" altLang="zh-CN" sz="4000" dirty="0">
                <a:solidFill>
                  <a:schemeClr val="bg2"/>
                </a:solidFill>
              </a:rPr>
              <a:t>eek </a:t>
            </a:r>
            <a:r>
              <a:rPr lang="en-US" altLang="zh-CN" sz="4000">
                <a:solidFill>
                  <a:schemeClr val="bg2"/>
                </a:solidFill>
              </a:rPr>
              <a:t>3 CPU </a:t>
            </a:r>
            <a:r>
              <a:rPr lang="en-US" sz="4000">
                <a:solidFill>
                  <a:schemeClr val="bg2"/>
                </a:solidFill>
              </a:rPr>
              <a:t>Virtualization and AWS S3</a:t>
            </a:r>
            <a:endParaRPr lang="en-US" sz="4000" dirty="0">
              <a:solidFill>
                <a:schemeClr val="bg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497D37-585A-944D-9149-54D6FAD95F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95800"/>
            <a:ext cx="9144000" cy="762000"/>
          </a:xfrm>
        </p:spPr>
        <p:txBody>
          <a:bodyPr>
            <a:normAutofit/>
          </a:bodyPr>
          <a:lstStyle/>
          <a:p>
            <a:r>
              <a:rPr lang="en-US" sz="1800" dirty="0"/>
              <a:t>Dr </a:t>
            </a:r>
            <a:r>
              <a:rPr lang="en-US" sz="1800" dirty="0" err="1"/>
              <a:t>Zhi</a:t>
            </a:r>
            <a:r>
              <a:rPr lang="en-US" sz="1800" dirty="0"/>
              <a:t> Zhang</a:t>
            </a:r>
          </a:p>
        </p:txBody>
      </p:sp>
    </p:spTree>
    <p:extLst>
      <p:ext uri="{BB962C8B-B14F-4D97-AF65-F5344CB8AC3E}">
        <p14:creationId xmlns:p14="http://schemas.microsoft.com/office/powerpoint/2010/main" val="42448640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12784-199A-4366-8059-4B353600D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415" y="1683011"/>
            <a:ext cx="7765322" cy="2233006"/>
          </a:xfrm>
        </p:spPr>
        <p:txBody>
          <a:bodyPr>
            <a:normAutofit/>
          </a:bodyPr>
          <a:lstStyle/>
          <a:p>
            <a:r>
              <a:rPr lang="en-AU" b="0" dirty="0"/>
              <a:t>process scheduling</a:t>
            </a:r>
            <a:endParaRPr lang="en-AU" dirty="0"/>
          </a:p>
          <a:p>
            <a:r>
              <a:rPr lang="en-AU" dirty="0"/>
              <a:t>CPU Virtualization</a:t>
            </a:r>
          </a:p>
          <a:p>
            <a:endParaRPr lang="en-AU" dirty="0"/>
          </a:p>
          <a:p>
            <a:r>
              <a:rPr lang="en-AU" dirty="0"/>
              <a:t>Amazon S3</a:t>
            </a:r>
          </a:p>
          <a:p>
            <a:pPr marL="27675" indent="0">
              <a:buNone/>
            </a:pPr>
            <a:endParaRPr lang="en-A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20ABAFD-759F-44AD-9737-4DC91D283D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8415" y="217593"/>
            <a:ext cx="3258393" cy="99417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AU" sz="3200" b="1" dirty="0"/>
              <a:t>Overview</a:t>
            </a:r>
            <a:endParaRPr sz="2800" b="1" dirty="0"/>
          </a:p>
        </p:txBody>
      </p:sp>
    </p:spTree>
    <p:extLst>
      <p:ext uri="{BB962C8B-B14F-4D97-AF65-F5344CB8AC3E}">
        <p14:creationId xmlns:p14="http://schemas.microsoft.com/office/powerpoint/2010/main" val="3039451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3">
            <a:extLst>
              <a:ext uri="{FF2B5EF4-FFF2-40B4-BE49-F238E27FC236}">
                <a16:creationId xmlns:a16="http://schemas.microsoft.com/office/drawing/2014/main" id="{3B1DCC51-8A7B-4F8A-9ECE-7F45CDBD8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522" y="408474"/>
            <a:ext cx="5398478" cy="654783"/>
          </a:xfrm>
        </p:spPr>
        <p:txBody>
          <a:bodyPr>
            <a:normAutofit/>
          </a:bodyPr>
          <a:lstStyle/>
          <a:p>
            <a:r>
              <a:rPr lang="en-US" sz="3200" b="1" dirty="0">
                <a:ea typeface="ＭＳ Ｐゴシック" charset="0"/>
                <a:cs typeface="Arial" charset="0"/>
              </a:rPr>
              <a:t>What is a process?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5C64D635-E168-4B5C-B387-9F86ED39B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0940"/>
            <a:ext cx="10515600" cy="2128060"/>
          </a:xfrm>
        </p:spPr>
        <p:txBody>
          <a:bodyPr>
            <a:normAutofit/>
          </a:bodyPr>
          <a:lstStyle/>
          <a:p>
            <a:r>
              <a:rPr lang="en-US" sz="2400" dirty="0"/>
              <a:t>A process is a program that is executed.</a:t>
            </a:r>
          </a:p>
          <a:p>
            <a:r>
              <a:rPr lang="en-US" sz="2400" dirty="0"/>
              <a:t>It is a basic unit of execution in an OS.</a:t>
            </a:r>
          </a:p>
        </p:txBody>
      </p:sp>
    </p:spTree>
    <p:extLst>
      <p:ext uri="{BB962C8B-B14F-4D97-AF65-F5344CB8AC3E}">
        <p14:creationId xmlns:p14="http://schemas.microsoft.com/office/powerpoint/2010/main" val="2124858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3">
            <a:extLst>
              <a:ext uri="{FF2B5EF4-FFF2-40B4-BE49-F238E27FC236}">
                <a16:creationId xmlns:a16="http://schemas.microsoft.com/office/drawing/2014/main" id="{3B1DCC51-8A7B-4F8A-9ECE-7F45CDBD8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522" y="408474"/>
            <a:ext cx="5398478" cy="654783"/>
          </a:xfrm>
        </p:spPr>
        <p:txBody>
          <a:bodyPr>
            <a:normAutofit/>
          </a:bodyPr>
          <a:lstStyle/>
          <a:p>
            <a:r>
              <a:rPr lang="en-US" sz="3200" b="1" dirty="0">
                <a:ea typeface="ＭＳ Ｐゴシック" charset="0"/>
                <a:cs typeface="Arial" charset="0"/>
              </a:rPr>
              <a:t>What is a process?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5C64D635-E168-4B5C-B387-9F86ED39B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0940"/>
            <a:ext cx="10515600" cy="2128060"/>
          </a:xfrm>
        </p:spPr>
        <p:txBody>
          <a:bodyPr>
            <a:normAutofit/>
          </a:bodyPr>
          <a:lstStyle/>
          <a:p>
            <a:r>
              <a:rPr lang="en-US" sz="2400" dirty="0"/>
              <a:t>A process is a program that is executed</a:t>
            </a:r>
          </a:p>
          <a:p>
            <a:r>
              <a:rPr lang="en-US" sz="2400" dirty="0"/>
              <a:t>It is a basic unit of execution in an OS.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47332FC-B8A9-45E8-9953-80DD1683649B}"/>
              </a:ext>
            </a:extLst>
          </p:cNvPr>
          <p:cNvSpPr txBox="1">
            <a:spLocks/>
          </p:cNvSpPr>
          <p:nvPr/>
        </p:nvSpPr>
        <p:spPr>
          <a:xfrm>
            <a:off x="838200" y="3429000"/>
            <a:ext cx="6136758" cy="6547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US" sz="3200" b="1" dirty="0">
                <a:ea typeface="ＭＳ Ｐゴシック" charset="0"/>
                <a:cs typeface="Arial" charset="0"/>
              </a:rPr>
              <a:t>Process scheduling (time-sharing)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1DB0C86-17F7-49BD-8E89-E3A8A651A66E}"/>
              </a:ext>
            </a:extLst>
          </p:cNvPr>
          <p:cNvSpPr txBox="1">
            <a:spLocks/>
          </p:cNvSpPr>
          <p:nvPr/>
        </p:nvSpPr>
        <p:spPr>
          <a:xfrm>
            <a:off x="838200" y="4036174"/>
            <a:ext cx="10515600" cy="1074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US" sz="2400" dirty="0"/>
              <a:t>Each process is scheduled and executed within their time share.</a:t>
            </a:r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400" dirty="0"/>
              <a:t>The number of processes can be much larger than that of the CPUs. </a:t>
            </a:r>
          </a:p>
          <a:p>
            <a:pPr fontAlgn="auto">
              <a:spcAft>
                <a:spcPts val="0"/>
              </a:spcAft>
              <a:buClrTx/>
              <a:buSzTx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47911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EE430A9-A464-4671-ABCD-8797CB531F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573" y="1196670"/>
            <a:ext cx="9134854" cy="4464660"/>
          </a:xfrm>
          <a:prstGeom prst="rect">
            <a:avLst/>
          </a:prstGeom>
        </p:spPr>
      </p:pic>
      <p:sp>
        <p:nvSpPr>
          <p:cNvPr id="10" name="Title 3">
            <a:extLst>
              <a:ext uri="{FF2B5EF4-FFF2-40B4-BE49-F238E27FC236}">
                <a16:creationId xmlns:a16="http://schemas.microsoft.com/office/drawing/2014/main" id="{3B1DCC51-8A7B-4F8A-9ECE-7F45CDBD8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522" y="259618"/>
            <a:ext cx="5398478" cy="654783"/>
          </a:xfrm>
        </p:spPr>
        <p:txBody>
          <a:bodyPr>
            <a:normAutofit/>
          </a:bodyPr>
          <a:lstStyle/>
          <a:p>
            <a:r>
              <a:rPr lang="en-US" sz="3200" b="1" dirty="0">
                <a:ea typeface="ＭＳ Ｐゴシック" charset="0"/>
                <a:cs typeface="Arial" charset="0"/>
              </a:rPr>
              <a:t>Process scheduling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85E5CF-6C1F-4CFE-9ED9-A7EC5BAC824F}"/>
              </a:ext>
            </a:extLst>
          </p:cNvPr>
          <p:cNvSpPr/>
          <p:nvPr/>
        </p:nvSpPr>
        <p:spPr>
          <a:xfrm>
            <a:off x="8283389" y="2560788"/>
            <a:ext cx="672172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9920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0" name="Picture 53" descr="Picture 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091" y="2723820"/>
            <a:ext cx="447566" cy="447616"/>
          </a:xfrm>
          <a:prstGeom prst="rect">
            <a:avLst/>
          </a:prstGeom>
          <a:ln w="12700">
            <a:miter lim="400000"/>
          </a:ln>
        </p:spPr>
      </p:pic>
      <p:sp>
        <p:nvSpPr>
          <p:cNvPr id="722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2066235" y="3787444"/>
            <a:ext cx="8306476" cy="1462111"/>
          </a:xfrm>
          <a:prstGeom prst="rect">
            <a:avLst/>
          </a:prstGeom>
        </p:spPr>
        <p:txBody>
          <a:bodyPr>
            <a:noAutofit/>
          </a:bodyPr>
          <a:lstStyle/>
          <a:p>
            <a:pPr marL="169735" indent="-169735" defTabSz="678941">
              <a:spcBef>
                <a:spcPts val="675"/>
              </a:spcBef>
              <a:defRPr sz="2772"/>
            </a:pPr>
            <a:r>
              <a:rPr sz="2000" dirty="0"/>
              <a:t>A</a:t>
            </a:r>
            <a:r>
              <a:rPr lang="en-US" sz="2000" dirty="0"/>
              <a:t>lice has a machine with 16 CPUs. </a:t>
            </a:r>
            <a:endParaRPr sz="2000" dirty="0"/>
          </a:p>
          <a:p>
            <a:pPr marL="504063" lvl="1" indent="-168020" defTabSz="672083">
              <a:lnSpc>
                <a:spcPct val="81000"/>
              </a:lnSpc>
              <a:spcBef>
                <a:spcPts val="300"/>
              </a:spcBef>
              <a:defRPr sz="2156"/>
            </a:pPr>
            <a:r>
              <a:rPr lang="en-US" sz="2000" dirty="0"/>
              <a:t>Bob is assigned with 8 vCPUs.</a:t>
            </a:r>
          </a:p>
          <a:p>
            <a:pPr marL="504063" lvl="1" indent="-168020" defTabSz="672083">
              <a:lnSpc>
                <a:spcPct val="81000"/>
              </a:lnSpc>
              <a:spcBef>
                <a:spcPts val="300"/>
              </a:spcBef>
              <a:defRPr sz="2156"/>
            </a:pPr>
            <a:r>
              <a:rPr lang="en-US" sz="2000" dirty="0"/>
              <a:t>Charlie is assigned with 8 vCPUs.</a:t>
            </a:r>
          </a:p>
          <a:p>
            <a:pPr marL="504063" lvl="1" indent="-168020" defTabSz="672083">
              <a:lnSpc>
                <a:spcPct val="81000"/>
              </a:lnSpc>
              <a:spcBef>
                <a:spcPts val="300"/>
              </a:spcBef>
              <a:defRPr sz="2156"/>
            </a:pPr>
            <a:r>
              <a:rPr lang="en-US" sz="2000" dirty="0"/>
              <a:t>Daniel is assigned with 4 vCPUs.</a:t>
            </a:r>
            <a:endParaRPr lang="en-AU" sz="2000" dirty="0"/>
          </a:p>
        </p:txBody>
      </p:sp>
      <p:pic>
        <p:nvPicPr>
          <p:cNvPr id="724" name="Picture 51" descr="Picture 5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804" y="1604572"/>
            <a:ext cx="1369111" cy="1369262"/>
          </a:xfrm>
          <a:prstGeom prst="rect">
            <a:avLst/>
          </a:prstGeom>
          <a:ln w="12700">
            <a:miter lim="400000"/>
          </a:ln>
        </p:spPr>
      </p:pic>
      <p:pic>
        <p:nvPicPr>
          <p:cNvPr id="725" name="Picture 2" descr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1927" y="2062965"/>
            <a:ext cx="415528" cy="415528"/>
          </a:xfrm>
          <a:prstGeom prst="rect">
            <a:avLst/>
          </a:prstGeom>
          <a:ln w="12700">
            <a:miter lim="400000"/>
          </a:ln>
        </p:spPr>
      </p:pic>
      <p:pic>
        <p:nvPicPr>
          <p:cNvPr id="726" name="Picture 3" descr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7360738" y="1392642"/>
            <a:ext cx="378620" cy="378620"/>
          </a:xfrm>
          <a:prstGeom prst="rect">
            <a:avLst/>
          </a:prstGeom>
          <a:ln w="12700">
            <a:miter lim="400000"/>
          </a:ln>
        </p:spPr>
      </p:pic>
      <p:pic>
        <p:nvPicPr>
          <p:cNvPr id="727" name="Picture 19" descr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4780" y="2199886"/>
            <a:ext cx="479822" cy="479822"/>
          </a:xfrm>
          <a:prstGeom prst="rect">
            <a:avLst/>
          </a:prstGeom>
          <a:ln w="12700">
            <a:miter lim="400000"/>
          </a:ln>
        </p:spPr>
      </p:pic>
      <p:sp>
        <p:nvSpPr>
          <p:cNvPr id="728" name="TextBox 9"/>
          <p:cNvSpPr txBox="1"/>
          <p:nvPr/>
        </p:nvSpPr>
        <p:spPr>
          <a:xfrm>
            <a:off x="3558398" y="2642799"/>
            <a:ext cx="38516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/>
              <a:t>Alice</a:t>
            </a:r>
          </a:p>
        </p:txBody>
      </p:sp>
      <p:pic>
        <p:nvPicPr>
          <p:cNvPr id="729" name="Picture 3" descr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10345" y="1671248"/>
            <a:ext cx="400050" cy="400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730" name="Picture 14" descr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27232" y="2446216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31" name="Picture 3" descr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6113" y="1671248"/>
            <a:ext cx="400050" cy="400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732" name="Picture 3" descr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17488" y="2057010"/>
            <a:ext cx="400050" cy="400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733" name="Picture 3" descr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8970" y="2064154"/>
            <a:ext cx="400050" cy="400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734" name="Picture 23" descr="Picture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0144" y="2446216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35" name="Picture 26" descr="Picture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20088" y="2560516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36" name="Picture 27" descr="Picture 2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3000" y="2560516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37" name="Picture 28" descr="Picture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27232" y="2667673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38" name="Picture 29" descr="Picture 2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0144" y="2667673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39" name="Picture 30" descr="Picture 3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27232" y="2774829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0" name="Picture 31" descr="Picture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0144" y="2774829"/>
            <a:ext cx="383165" cy="88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1" name="Picture 5" descr="Picture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H="1">
            <a:off x="7375026" y="2735667"/>
            <a:ext cx="435662" cy="435662"/>
          </a:xfrm>
          <a:prstGeom prst="rect">
            <a:avLst/>
          </a:prstGeom>
          <a:ln w="12700">
            <a:miter lim="400000"/>
          </a:ln>
        </p:spPr>
      </p:pic>
      <p:sp>
        <p:nvSpPr>
          <p:cNvPr id="742" name="TextBox 33"/>
          <p:cNvSpPr txBox="1"/>
          <p:nvPr/>
        </p:nvSpPr>
        <p:spPr>
          <a:xfrm>
            <a:off x="7400893" y="1714112"/>
            <a:ext cx="329705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/>
              <a:t>Bob</a:t>
            </a:r>
          </a:p>
        </p:txBody>
      </p:sp>
      <p:sp>
        <p:nvSpPr>
          <p:cNvPr id="743" name="TextBox 34"/>
          <p:cNvSpPr txBox="1"/>
          <p:nvPr/>
        </p:nvSpPr>
        <p:spPr>
          <a:xfrm>
            <a:off x="7311307" y="2428487"/>
            <a:ext cx="53745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/>
              <a:t>Charlie</a:t>
            </a:r>
          </a:p>
        </p:txBody>
      </p:sp>
      <p:sp>
        <p:nvSpPr>
          <p:cNvPr id="744" name="TextBox 35"/>
          <p:cNvSpPr txBox="1"/>
          <p:nvPr/>
        </p:nvSpPr>
        <p:spPr>
          <a:xfrm>
            <a:off x="7348101" y="3114287"/>
            <a:ext cx="492440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/>
              <a:t>Daniel</a:t>
            </a:r>
          </a:p>
        </p:txBody>
      </p:sp>
      <p:pic>
        <p:nvPicPr>
          <p:cNvPr id="751" name="Picture 52" descr="Picture 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548" y="2004623"/>
            <a:ext cx="790466" cy="790553"/>
          </a:xfrm>
          <a:prstGeom prst="rect">
            <a:avLst/>
          </a:prstGeom>
          <a:ln w="12700">
            <a:miter lim="400000"/>
          </a:ln>
        </p:spPr>
      </p:pic>
      <p:sp>
        <p:nvSpPr>
          <p:cNvPr id="752" name="TextBox 54"/>
          <p:cNvSpPr txBox="1"/>
          <p:nvPr/>
        </p:nvSpPr>
        <p:spPr>
          <a:xfrm>
            <a:off x="4024175" y="2907118"/>
            <a:ext cx="1225270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/>
              <a:t>Physical machine</a:t>
            </a:r>
          </a:p>
        </p:txBody>
      </p:sp>
      <p:sp>
        <p:nvSpPr>
          <p:cNvPr id="753" name="TextBox 55"/>
          <p:cNvSpPr txBox="1"/>
          <p:nvPr/>
        </p:nvSpPr>
        <p:spPr>
          <a:xfrm>
            <a:off x="5997726" y="3197242"/>
            <a:ext cx="119295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rPr sz="1200" dirty="0"/>
              <a:t>Virtual machines</a:t>
            </a:r>
          </a:p>
        </p:txBody>
      </p:sp>
      <p:pic>
        <p:nvPicPr>
          <p:cNvPr id="758" name="Picture 51" descr="Picture 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380" y="1397404"/>
            <a:ext cx="552391" cy="552452"/>
          </a:xfrm>
          <a:prstGeom prst="rect">
            <a:avLst/>
          </a:prstGeom>
          <a:ln w="12700">
            <a:miter lim="400000"/>
          </a:ln>
        </p:spPr>
      </p:pic>
      <p:sp>
        <p:nvSpPr>
          <p:cNvPr id="764" name="TextBox 59"/>
          <p:cNvSpPr txBox="1"/>
          <p:nvPr/>
        </p:nvSpPr>
        <p:spPr>
          <a:xfrm>
            <a:off x="5459851" y="1985574"/>
            <a:ext cx="639918" cy="646331"/>
          </a:xfrm>
          <a:prstGeom prst="rect">
            <a:avLst/>
          </a:prstGeom>
          <a:solidFill>
            <a:srgbClr val="00B0F0"/>
          </a:solidFill>
          <a:ln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4289" rIns="34289">
            <a:spAutoFit/>
          </a:bodyPr>
          <a:lstStyle/>
          <a:p>
            <a:pPr>
              <a:spcBef>
                <a:spcPts val="225"/>
              </a:spcBef>
              <a:defRPr sz="1600">
                <a:latin typeface="Tahoma"/>
                <a:ea typeface="Tahoma"/>
                <a:cs typeface="Tahoma"/>
                <a:sym typeface="Tahoma"/>
              </a:defRPr>
            </a:pPr>
            <a:r>
              <a:rPr sz="1200"/>
              <a:t>Virtual </a:t>
            </a:r>
            <a:br>
              <a:rPr sz="1200"/>
            </a:br>
            <a:r>
              <a:rPr sz="1200"/>
              <a:t>machine</a:t>
            </a:r>
            <a:br>
              <a:rPr sz="1200"/>
            </a:br>
            <a:r>
              <a:rPr sz="1200"/>
              <a:t>monitor</a:t>
            </a:r>
          </a:p>
        </p:txBody>
      </p:sp>
      <p:sp>
        <p:nvSpPr>
          <p:cNvPr id="765" name="Straight Arrow Connector 61"/>
          <p:cNvSpPr/>
          <p:nvPr/>
        </p:nvSpPr>
        <p:spPr>
          <a:xfrm flipV="1">
            <a:off x="5096170" y="2297199"/>
            <a:ext cx="330660" cy="9845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sp>
        <p:nvSpPr>
          <p:cNvPr id="766" name="Straight Arrow Connector 64"/>
          <p:cNvSpPr/>
          <p:nvPr/>
        </p:nvSpPr>
        <p:spPr>
          <a:xfrm flipV="1">
            <a:off x="6139157" y="1864129"/>
            <a:ext cx="314326" cy="307182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sp>
        <p:nvSpPr>
          <p:cNvPr id="767" name="Straight Arrow Connector 66"/>
          <p:cNvSpPr/>
          <p:nvPr/>
        </p:nvSpPr>
        <p:spPr>
          <a:xfrm>
            <a:off x="6132792" y="2297198"/>
            <a:ext cx="456423" cy="24133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sp>
        <p:nvSpPr>
          <p:cNvPr id="768" name="Straight Arrow Connector 68"/>
          <p:cNvSpPr/>
          <p:nvPr/>
        </p:nvSpPr>
        <p:spPr>
          <a:xfrm>
            <a:off x="6146301" y="2449918"/>
            <a:ext cx="340575" cy="273905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34289" rIns="34289"/>
          <a:lstStyle/>
          <a:p>
            <a:endParaRPr sz="1500"/>
          </a:p>
        </p:txBody>
      </p:sp>
      <p:grpSp>
        <p:nvGrpSpPr>
          <p:cNvPr id="774" name="Cloud Callout 69"/>
          <p:cNvGrpSpPr/>
          <p:nvPr/>
        </p:nvGrpSpPr>
        <p:grpSpPr>
          <a:xfrm>
            <a:off x="7660266" y="986924"/>
            <a:ext cx="600872" cy="561296"/>
            <a:chOff x="0" y="0"/>
            <a:chExt cx="801161" cy="748392"/>
          </a:xfrm>
        </p:grpSpPr>
        <p:sp>
          <p:nvSpPr>
            <p:cNvPr id="769" name="Shape"/>
            <p:cNvSpPr/>
            <p:nvPr/>
          </p:nvSpPr>
          <p:spPr>
            <a:xfrm>
              <a:off x="0" y="0"/>
              <a:ext cx="801162" cy="6107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79" h="20684" extrusionOk="0">
                  <a:moveTo>
                    <a:pt x="1901" y="6800"/>
                  </a:moveTo>
                  <a:cubicBezTo>
                    <a:pt x="1658" y="4397"/>
                    <a:pt x="2907" y="2184"/>
                    <a:pt x="4691" y="1857"/>
                  </a:cubicBezTo>
                  <a:cubicBezTo>
                    <a:pt x="5414" y="1724"/>
                    <a:pt x="6149" y="1922"/>
                    <a:pt x="6778" y="2419"/>
                  </a:cubicBezTo>
                  <a:cubicBezTo>
                    <a:pt x="7445" y="725"/>
                    <a:pt x="9003" y="82"/>
                    <a:pt x="10259" y="981"/>
                  </a:cubicBezTo>
                  <a:cubicBezTo>
                    <a:pt x="10478" y="1139"/>
                    <a:pt x="10680" y="1338"/>
                    <a:pt x="10857" y="1573"/>
                  </a:cubicBezTo>
                  <a:cubicBezTo>
                    <a:pt x="11377" y="169"/>
                    <a:pt x="12642" y="-401"/>
                    <a:pt x="13683" y="299"/>
                  </a:cubicBezTo>
                  <a:cubicBezTo>
                    <a:pt x="13971" y="493"/>
                    <a:pt x="14223" y="774"/>
                    <a:pt x="14418" y="1119"/>
                  </a:cubicBezTo>
                  <a:cubicBezTo>
                    <a:pt x="15255" y="-209"/>
                    <a:pt x="16734" y="-373"/>
                    <a:pt x="17722" y="753"/>
                  </a:cubicBezTo>
                  <a:cubicBezTo>
                    <a:pt x="18137" y="1226"/>
                    <a:pt x="18417" y="1878"/>
                    <a:pt x="18513" y="2598"/>
                  </a:cubicBezTo>
                  <a:cubicBezTo>
                    <a:pt x="19885" y="3102"/>
                    <a:pt x="20694" y="5013"/>
                    <a:pt x="20321" y="6865"/>
                  </a:cubicBezTo>
                  <a:cubicBezTo>
                    <a:pt x="20289" y="7020"/>
                    <a:pt x="20250" y="7173"/>
                    <a:pt x="20203" y="7321"/>
                  </a:cubicBezTo>
                  <a:cubicBezTo>
                    <a:pt x="21303" y="9251"/>
                    <a:pt x="21034" y="12017"/>
                    <a:pt x="19601" y="13499"/>
                  </a:cubicBezTo>
                  <a:cubicBezTo>
                    <a:pt x="19156" y="13961"/>
                    <a:pt x="18629" y="14259"/>
                    <a:pt x="18072" y="14367"/>
                  </a:cubicBezTo>
                  <a:cubicBezTo>
                    <a:pt x="18072" y="16443"/>
                    <a:pt x="16822" y="18126"/>
                    <a:pt x="15280" y="18126"/>
                  </a:cubicBezTo>
                  <a:cubicBezTo>
                    <a:pt x="14757" y="18126"/>
                    <a:pt x="14245" y="17928"/>
                    <a:pt x="13801" y="17556"/>
                  </a:cubicBezTo>
                  <a:cubicBezTo>
                    <a:pt x="13280" y="19883"/>
                    <a:pt x="11460" y="21199"/>
                    <a:pt x="9738" y="20494"/>
                  </a:cubicBezTo>
                  <a:cubicBezTo>
                    <a:pt x="9016" y="20199"/>
                    <a:pt x="8392" y="19574"/>
                    <a:pt x="7973" y="18727"/>
                  </a:cubicBezTo>
                  <a:cubicBezTo>
                    <a:pt x="6209" y="20160"/>
                    <a:pt x="3920" y="19389"/>
                    <a:pt x="2859" y="17004"/>
                  </a:cubicBezTo>
                  <a:cubicBezTo>
                    <a:pt x="2846" y="16974"/>
                    <a:pt x="2833" y="16944"/>
                    <a:pt x="2820" y="16914"/>
                  </a:cubicBezTo>
                  <a:lnTo>
                    <a:pt x="2820" y="16914"/>
                  </a:lnTo>
                  <a:cubicBezTo>
                    <a:pt x="1666" y="17096"/>
                    <a:pt x="620" y="15986"/>
                    <a:pt x="485" y="14435"/>
                  </a:cubicBezTo>
                  <a:cubicBezTo>
                    <a:pt x="412" y="13608"/>
                    <a:pt x="615" y="12780"/>
                    <a:pt x="1038" y="12172"/>
                  </a:cubicBezTo>
                  <a:cubicBezTo>
                    <a:pt x="39" y="11379"/>
                    <a:pt x="-297" y="9639"/>
                    <a:pt x="288" y="8285"/>
                  </a:cubicBezTo>
                  <a:cubicBezTo>
                    <a:pt x="626" y="7504"/>
                    <a:pt x="1218" y="6988"/>
                    <a:pt x="1883" y="6895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70" name="Circle"/>
            <p:cNvSpPr/>
            <p:nvPr/>
          </p:nvSpPr>
          <p:spPr>
            <a:xfrm>
              <a:off x="100949" y="558996"/>
              <a:ext cx="101601" cy="101601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71" name="Circle"/>
            <p:cNvSpPr/>
            <p:nvPr/>
          </p:nvSpPr>
          <p:spPr>
            <a:xfrm>
              <a:off x="57875" y="649912"/>
              <a:ext cx="67735" cy="67735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72" name="Circle"/>
            <p:cNvSpPr/>
            <p:nvPr/>
          </p:nvSpPr>
          <p:spPr>
            <a:xfrm>
              <a:off x="36136" y="714526"/>
              <a:ext cx="33867" cy="33867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73" name="Shape"/>
            <p:cNvSpPr/>
            <p:nvPr/>
          </p:nvSpPr>
          <p:spPr>
            <a:xfrm>
              <a:off x="40681" y="31057"/>
              <a:ext cx="734132" cy="5185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80" y="14010"/>
                  </a:moveTo>
                  <a:cubicBezTo>
                    <a:pt x="899" y="14066"/>
                    <a:pt x="417" y="13902"/>
                    <a:pt x="0" y="13542"/>
                  </a:cubicBezTo>
                  <a:moveTo>
                    <a:pt x="2598" y="19137"/>
                  </a:moveTo>
                  <a:cubicBezTo>
                    <a:pt x="2405" y="19250"/>
                    <a:pt x="2202" y="19325"/>
                    <a:pt x="1994" y="19361"/>
                  </a:cubicBezTo>
                  <a:moveTo>
                    <a:pt x="7802" y="21600"/>
                  </a:moveTo>
                  <a:cubicBezTo>
                    <a:pt x="7657" y="21279"/>
                    <a:pt x="7535" y="20936"/>
                    <a:pt x="7438" y="20577"/>
                  </a:cubicBezTo>
                  <a:moveTo>
                    <a:pt x="14532" y="19050"/>
                  </a:moveTo>
                  <a:cubicBezTo>
                    <a:pt x="14510" y="19430"/>
                    <a:pt x="14462" y="19806"/>
                    <a:pt x="14386" y="20172"/>
                  </a:cubicBezTo>
                  <a:moveTo>
                    <a:pt x="17421" y="12116"/>
                  </a:moveTo>
                  <a:cubicBezTo>
                    <a:pt x="18505" y="12890"/>
                    <a:pt x="19193" y="14504"/>
                    <a:pt x="19193" y="16273"/>
                  </a:cubicBezTo>
                  <a:moveTo>
                    <a:pt x="21600" y="7649"/>
                  </a:moveTo>
                  <a:cubicBezTo>
                    <a:pt x="21423" y="8256"/>
                    <a:pt x="21153" y="8794"/>
                    <a:pt x="20811" y="9222"/>
                  </a:cubicBezTo>
                  <a:moveTo>
                    <a:pt x="19707" y="1814"/>
                  </a:moveTo>
                  <a:cubicBezTo>
                    <a:pt x="19737" y="2059"/>
                    <a:pt x="19751" y="2307"/>
                    <a:pt x="19749" y="2556"/>
                  </a:cubicBezTo>
                  <a:moveTo>
                    <a:pt x="14668" y="947"/>
                  </a:moveTo>
                  <a:cubicBezTo>
                    <a:pt x="14771" y="605"/>
                    <a:pt x="14907" y="286"/>
                    <a:pt x="15073" y="0"/>
                  </a:cubicBezTo>
                  <a:moveTo>
                    <a:pt x="10888" y="1399"/>
                  </a:moveTo>
                  <a:cubicBezTo>
                    <a:pt x="10930" y="1115"/>
                    <a:pt x="10996" y="841"/>
                    <a:pt x="11084" y="582"/>
                  </a:cubicBezTo>
                  <a:moveTo>
                    <a:pt x="6452" y="1676"/>
                  </a:moveTo>
                  <a:cubicBezTo>
                    <a:pt x="6709" y="1897"/>
                    <a:pt x="6947" y="2163"/>
                    <a:pt x="7160" y="2469"/>
                  </a:cubicBezTo>
                  <a:moveTo>
                    <a:pt x="1072" y="7905"/>
                  </a:moveTo>
                  <a:lnTo>
                    <a:pt x="1072" y="7905"/>
                  </a:lnTo>
                  <a:cubicBezTo>
                    <a:pt x="1016" y="7632"/>
                    <a:pt x="974" y="7353"/>
                    <a:pt x="948" y="7071"/>
                  </a:cubicBez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</p:grpSp>
      <p:grpSp>
        <p:nvGrpSpPr>
          <p:cNvPr id="780" name="Cloud Callout 72"/>
          <p:cNvGrpSpPr/>
          <p:nvPr/>
        </p:nvGrpSpPr>
        <p:grpSpPr>
          <a:xfrm>
            <a:off x="7745991" y="1629861"/>
            <a:ext cx="600872" cy="561296"/>
            <a:chOff x="0" y="0"/>
            <a:chExt cx="801161" cy="748392"/>
          </a:xfrm>
        </p:grpSpPr>
        <p:sp>
          <p:nvSpPr>
            <p:cNvPr id="775" name="Shape"/>
            <p:cNvSpPr/>
            <p:nvPr/>
          </p:nvSpPr>
          <p:spPr>
            <a:xfrm>
              <a:off x="0" y="0"/>
              <a:ext cx="801162" cy="6107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79" h="20684" extrusionOk="0">
                  <a:moveTo>
                    <a:pt x="1901" y="6800"/>
                  </a:moveTo>
                  <a:cubicBezTo>
                    <a:pt x="1658" y="4397"/>
                    <a:pt x="2907" y="2184"/>
                    <a:pt x="4691" y="1857"/>
                  </a:cubicBezTo>
                  <a:cubicBezTo>
                    <a:pt x="5414" y="1724"/>
                    <a:pt x="6149" y="1922"/>
                    <a:pt x="6778" y="2419"/>
                  </a:cubicBezTo>
                  <a:cubicBezTo>
                    <a:pt x="7445" y="725"/>
                    <a:pt x="9003" y="82"/>
                    <a:pt x="10259" y="981"/>
                  </a:cubicBezTo>
                  <a:cubicBezTo>
                    <a:pt x="10478" y="1139"/>
                    <a:pt x="10680" y="1338"/>
                    <a:pt x="10857" y="1573"/>
                  </a:cubicBezTo>
                  <a:cubicBezTo>
                    <a:pt x="11377" y="169"/>
                    <a:pt x="12642" y="-401"/>
                    <a:pt x="13683" y="299"/>
                  </a:cubicBezTo>
                  <a:cubicBezTo>
                    <a:pt x="13971" y="493"/>
                    <a:pt x="14223" y="774"/>
                    <a:pt x="14418" y="1119"/>
                  </a:cubicBezTo>
                  <a:cubicBezTo>
                    <a:pt x="15255" y="-209"/>
                    <a:pt x="16734" y="-373"/>
                    <a:pt x="17722" y="753"/>
                  </a:cubicBezTo>
                  <a:cubicBezTo>
                    <a:pt x="18137" y="1226"/>
                    <a:pt x="18417" y="1878"/>
                    <a:pt x="18513" y="2598"/>
                  </a:cubicBezTo>
                  <a:cubicBezTo>
                    <a:pt x="19885" y="3102"/>
                    <a:pt x="20694" y="5013"/>
                    <a:pt x="20321" y="6865"/>
                  </a:cubicBezTo>
                  <a:cubicBezTo>
                    <a:pt x="20289" y="7020"/>
                    <a:pt x="20250" y="7173"/>
                    <a:pt x="20203" y="7321"/>
                  </a:cubicBezTo>
                  <a:cubicBezTo>
                    <a:pt x="21303" y="9251"/>
                    <a:pt x="21034" y="12017"/>
                    <a:pt x="19601" y="13499"/>
                  </a:cubicBezTo>
                  <a:cubicBezTo>
                    <a:pt x="19156" y="13961"/>
                    <a:pt x="18629" y="14259"/>
                    <a:pt x="18072" y="14367"/>
                  </a:cubicBezTo>
                  <a:cubicBezTo>
                    <a:pt x="18072" y="16443"/>
                    <a:pt x="16822" y="18126"/>
                    <a:pt x="15280" y="18126"/>
                  </a:cubicBezTo>
                  <a:cubicBezTo>
                    <a:pt x="14757" y="18126"/>
                    <a:pt x="14245" y="17928"/>
                    <a:pt x="13801" y="17556"/>
                  </a:cubicBezTo>
                  <a:cubicBezTo>
                    <a:pt x="13280" y="19883"/>
                    <a:pt x="11460" y="21199"/>
                    <a:pt x="9738" y="20494"/>
                  </a:cubicBezTo>
                  <a:cubicBezTo>
                    <a:pt x="9016" y="20199"/>
                    <a:pt x="8392" y="19574"/>
                    <a:pt x="7973" y="18727"/>
                  </a:cubicBezTo>
                  <a:cubicBezTo>
                    <a:pt x="6209" y="20160"/>
                    <a:pt x="3920" y="19389"/>
                    <a:pt x="2859" y="17004"/>
                  </a:cubicBezTo>
                  <a:cubicBezTo>
                    <a:pt x="2846" y="16974"/>
                    <a:pt x="2833" y="16944"/>
                    <a:pt x="2820" y="16914"/>
                  </a:cubicBezTo>
                  <a:lnTo>
                    <a:pt x="2820" y="16914"/>
                  </a:lnTo>
                  <a:cubicBezTo>
                    <a:pt x="1666" y="17096"/>
                    <a:pt x="620" y="15986"/>
                    <a:pt x="485" y="14435"/>
                  </a:cubicBezTo>
                  <a:cubicBezTo>
                    <a:pt x="412" y="13608"/>
                    <a:pt x="615" y="12780"/>
                    <a:pt x="1038" y="12172"/>
                  </a:cubicBezTo>
                  <a:cubicBezTo>
                    <a:pt x="39" y="11379"/>
                    <a:pt x="-297" y="9639"/>
                    <a:pt x="288" y="8285"/>
                  </a:cubicBezTo>
                  <a:cubicBezTo>
                    <a:pt x="626" y="7504"/>
                    <a:pt x="1218" y="6988"/>
                    <a:pt x="1883" y="6895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76" name="Circle"/>
            <p:cNvSpPr/>
            <p:nvPr/>
          </p:nvSpPr>
          <p:spPr>
            <a:xfrm>
              <a:off x="100949" y="558996"/>
              <a:ext cx="101601" cy="101601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77" name="Circle"/>
            <p:cNvSpPr/>
            <p:nvPr/>
          </p:nvSpPr>
          <p:spPr>
            <a:xfrm>
              <a:off x="57875" y="649912"/>
              <a:ext cx="67735" cy="67735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78" name="Circle"/>
            <p:cNvSpPr/>
            <p:nvPr/>
          </p:nvSpPr>
          <p:spPr>
            <a:xfrm>
              <a:off x="36136" y="714526"/>
              <a:ext cx="33867" cy="33867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79" name="Shape"/>
            <p:cNvSpPr/>
            <p:nvPr/>
          </p:nvSpPr>
          <p:spPr>
            <a:xfrm>
              <a:off x="40681" y="31057"/>
              <a:ext cx="734132" cy="5185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80" y="14010"/>
                  </a:moveTo>
                  <a:cubicBezTo>
                    <a:pt x="899" y="14066"/>
                    <a:pt x="417" y="13902"/>
                    <a:pt x="0" y="13542"/>
                  </a:cubicBezTo>
                  <a:moveTo>
                    <a:pt x="2598" y="19137"/>
                  </a:moveTo>
                  <a:cubicBezTo>
                    <a:pt x="2405" y="19250"/>
                    <a:pt x="2202" y="19325"/>
                    <a:pt x="1994" y="19361"/>
                  </a:cubicBezTo>
                  <a:moveTo>
                    <a:pt x="7802" y="21600"/>
                  </a:moveTo>
                  <a:cubicBezTo>
                    <a:pt x="7657" y="21279"/>
                    <a:pt x="7535" y="20936"/>
                    <a:pt x="7438" y="20577"/>
                  </a:cubicBezTo>
                  <a:moveTo>
                    <a:pt x="14532" y="19050"/>
                  </a:moveTo>
                  <a:cubicBezTo>
                    <a:pt x="14510" y="19430"/>
                    <a:pt x="14462" y="19806"/>
                    <a:pt x="14386" y="20172"/>
                  </a:cubicBezTo>
                  <a:moveTo>
                    <a:pt x="17421" y="12116"/>
                  </a:moveTo>
                  <a:cubicBezTo>
                    <a:pt x="18505" y="12890"/>
                    <a:pt x="19193" y="14504"/>
                    <a:pt x="19193" y="16273"/>
                  </a:cubicBezTo>
                  <a:moveTo>
                    <a:pt x="21600" y="7649"/>
                  </a:moveTo>
                  <a:cubicBezTo>
                    <a:pt x="21423" y="8256"/>
                    <a:pt x="21153" y="8794"/>
                    <a:pt x="20811" y="9222"/>
                  </a:cubicBezTo>
                  <a:moveTo>
                    <a:pt x="19707" y="1814"/>
                  </a:moveTo>
                  <a:cubicBezTo>
                    <a:pt x="19737" y="2059"/>
                    <a:pt x="19751" y="2307"/>
                    <a:pt x="19749" y="2556"/>
                  </a:cubicBezTo>
                  <a:moveTo>
                    <a:pt x="14668" y="947"/>
                  </a:moveTo>
                  <a:cubicBezTo>
                    <a:pt x="14771" y="605"/>
                    <a:pt x="14907" y="286"/>
                    <a:pt x="15073" y="0"/>
                  </a:cubicBezTo>
                  <a:moveTo>
                    <a:pt x="10888" y="1399"/>
                  </a:moveTo>
                  <a:cubicBezTo>
                    <a:pt x="10930" y="1115"/>
                    <a:pt x="10996" y="841"/>
                    <a:pt x="11084" y="582"/>
                  </a:cubicBezTo>
                  <a:moveTo>
                    <a:pt x="6452" y="1676"/>
                  </a:moveTo>
                  <a:cubicBezTo>
                    <a:pt x="6709" y="1897"/>
                    <a:pt x="6947" y="2163"/>
                    <a:pt x="7160" y="2469"/>
                  </a:cubicBezTo>
                  <a:moveTo>
                    <a:pt x="1072" y="7905"/>
                  </a:moveTo>
                  <a:lnTo>
                    <a:pt x="1072" y="7905"/>
                  </a:lnTo>
                  <a:cubicBezTo>
                    <a:pt x="1016" y="7632"/>
                    <a:pt x="974" y="7353"/>
                    <a:pt x="948" y="7071"/>
                  </a:cubicBez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</p:grpSp>
      <p:grpSp>
        <p:nvGrpSpPr>
          <p:cNvPr id="786" name="Cloud Callout 74"/>
          <p:cNvGrpSpPr/>
          <p:nvPr/>
        </p:nvGrpSpPr>
        <p:grpSpPr>
          <a:xfrm>
            <a:off x="7795998" y="2279942"/>
            <a:ext cx="600872" cy="561296"/>
            <a:chOff x="0" y="0"/>
            <a:chExt cx="801161" cy="748392"/>
          </a:xfrm>
        </p:grpSpPr>
        <p:sp>
          <p:nvSpPr>
            <p:cNvPr id="781" name="Shape"/>
            <p:cNvSpPr/>
            <p:nvPr/>
          </p:nvSpPr>
          <p:spPr>
            <a:xfrm>
              <a:off x="0" y="0"/>
              <a:ext cx="801162" cy="6107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79" h="20684" extrusionOk="0">
                  <a:moveTo>
                    <a:pt x="1901" y="6800"/>
                  </a:moveTo>
                  <a:cubicBezTo>
                    <a:pt x="1658" y="4397"/>
                    <a:pt x="2907" y="2184"/>
                    <a:pt x="4691" y="1857"/>
                  </a:cubicBezTo>
                  <a:cubicBezTo>
                    <a:pt x="5414" y="1724"/>
                    <a:pt x="6149" y="1922"/>
                    <a:pt x="6778" y="2419"/>
                  </a:cubicBezTo>
                  <a:cubicBezTo>
                    <a:pt x="7445" y="725"/>
                    <a:pt x="9003" y="82"/>
                    <a:pt x="10259" y="981"/>
                  </a:cubicBezTo>
                  <a:cubicBezTo>
                    <a:pt x="10478" y="1139"/>
                    <a:pt x="10680" y="1338"/>
                    <a:pt x="10857" y="1573"/>
                  </a:cubicBezTo>
                  <a:cubicBezTo>
                    <a:pt x="11377" y="169"/>
                    <a:pt x="12642" y="-401"/>
                    <a:pt x="13683" y="299"/>
                  </a:cubicBezTo>
                  <a:cubicBezTo>
                    <a:pt x="13971" y="493"/>
                    <a:pt x="14223" y="774"/>
                    <a:pt x="14418" y="1119"/>
                  </a:cubicBezTo>
                  <a:cubicBezTo>
                    <a:pt x="15255" y="-209"/>
                    <a:pt x="16734" y="-373"/>
                    <a:pt x="17722" y="753"/>
                  </a:cubicBezTo>
                  <a:cubicBezTo>
                    <a:pt x="18137" y="1226"/>
                    <a:pt x="18417" y="1878"/>
                    <a:pt x="18513" y="2598"/>
                  </a:cubicBezTo>
                  <a:cubicBezTo>
                    <a:pt x="19885" y="3102"/>
                    <a:pt x="20694" y="5013"/>
                    <a:pt x="20321" y="6865"/>
                  </a:cubicBezTo>
                  <a:cubicBezTo>
                    <a:pt x="20289" y="7020"/>
                    <a:pt x="20250" y="7173"/>
                    <a:pt x="20203" y="7321"/>
                  </a:cubicBezTo>
                  <a:cubicBezTo>
                    <a:pt x="21303" y="9251"/>
                    <a:pt x="21034" y="12017"/>
                    <a:pt x="19601" y="13499"/>
                  </a:cubicBezTo>
                  <a:cubicBezTo>
                    <a:pt x="19156" y="13961"/>
                    <a:pt x="18629" y="14259"/>
                    <a:pt x="18072" y="14367"/>
                  </a:cubicBezTo>
                  <a:cubicBezTo>
                    <a:pt x="18072" y="16443"/>
                    <a:pt x="16822" y="18126"/>
                    <a:pt x="15280" y="18126"/>
                  </a:cubicBezTo>
                  <a:cubicBezTo>
                    <a:pt x="14757" y="18126"/>
                    <a:pt x="14245" y="17928"/>
                    <a:pt x="13801" y="17556"/>
                  </a:cubicBezTo>
                  <a:cubicBezTo>
                    <a:pt x="13280" y="19883"/>
                    <a:pt x="11460" y="21199"/>
                    <a:pt x="9738" y="20494"/>
                  </a:cubicBezTo>
                  <a:cubicBezTo>
                    <a:pt x="9016" y="20199"/>
                    <a:pt x="8392" y="19574"/>
                    <a:pt x="7973" y="18727"/>
                  </a:cubicBezTo>
                  <a:cubicBezTo>
                    <a:pt x="6209" y="20160"/>
                    <a:pt x="3920" y="19389"/>
                    <a:pt x="2859" y="17004"/>
                  </a:cubicBezTo>
                  <a:cubicBezTo>
                    <a:pt x="2846" y="16974"/>
                    <a:pt x="2833" y="16944"/>
                    <a:pt x="2820" y="16914"/>
                  </a:cubicBezTo>
                  <a:lnTo>
                    <a:pt x="2820" y="16914"/>
                  </a:lnTo>
                  <a:cubicBezTo>
                    <a:pt x="1666" y="17096"/>
                    <a:pt x="620" y="15986"/>
                    <a:pt x="485" y="14435"/>
                  </a:cubicBezTo>
                  <a:cubicBezTo>
                    <a:pt x="412" y="13608"/>
                    <a:pt x="615" y="12780"/>
                    <a:pt x="1038" y="12172"/>
                  </a:cubicBezTo>
                  <a:cubicBezTo>
                    <a:pt x="39" y="11379"/>
                    <a:pt x="-297" y="9639"/>
                    <a:pt x="288" y="8285"/>
                  </a:cubicBezTo>
                  <a:cubicBezTo>
                    <a:pt x="626" y="7504"/>
                    <a:pt x="1218" y="6988"/>
                    <a:pt x="1883" y="6895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82" name="Circle"/>
            <p:cNvSpPr/>
            <p:nvPr/>
          </p:nvSpPr>
          <p:spPr>
            <a:xfrm>
              <a:off x="100949" y="558996"/>
              <a:ext cx="101601" cy="101601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83" name="Circle"/>
            <p:cNvSpPr/>
            <p:nvPr/>
          </p:nvSpPr>
          <p:spPr>
            <a:xfrm>
              <a:off x="57875" y="649912"/>
              <a:ext cx="67735" cy="67735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84" name="Circle"/>
            <p:cNvSpPr/>
            <p:nvPr/>
          </p:nvSpPr>
          <p:spPr>
            <a:xfrm>
              <a:off x="36136" y="714526"/>
              <a:ext cx="33867" cy="33867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  <p:sp>
          <p:nvSpPr>
            <p:cNvPr id="785" name="Shape"/>
            <p:cNvSpPr/>
            <p:nvPr/>
          </p:nvSpPr>
          <p:spPr>
            <a:xfrm>
              <a:off x="40681" y="31057"/>
              <a:ext cx="734132" cy="5185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80" y="14010"/>
                  </a:moveTo>
                  <a:cubicBezTo>
                    <a:pt x="899" y="14066"/>
                    <a:pt x="417" y="13902"/>
                    <a:pt x="0" y="13542"/>
                  </a:cubicBezTo>
                  <a:moveTo>
                    <a:pt x="2598" y="19137"/>
                  </a:moveTo>
                  <a:cubicBezTo>
                    <a:pt x="2405" y="19250"/>
                    <a:pt x="2202" y="19325"/>
                    <a:pt x="1994" y="19361"/>
                  </a:cubicBezTo>
                  <a:moveTo>
                    <a:pt x="7802" y="21600"/>
                  </a:moveTo>
                  <a:cubicBezTo>
                    <a:pt x="7657" y="21279"/>
                    <a:pt x="7535" y="20936"/>
                    <a:pt x="7438" y="20577"/>
                  </a:cubicBezTo>
                  <a:moveTo>
                    <a:pt x="14532" y="19050"/>
                  </a:moveTo>
                  <a:cubicBezTo>
                    <a:pt x="14510" y="19430"/>
                    <a:pt x="14462" y="19806"/>
                    <a:pt x="14386" y="20172"/>
                  </a:cubicBezTo>
                  <a:moveTo>
                    <a:pt x="17421" y="12116"/>
                  </a:moveTo>
                  <a:cubicBezTo>
                    <a:pt x="18505" y="12890"/>
                    <a:pt x="19193" y="14504"/>
                    <a:pt x="19193" y="16273"/>
                  </a:cubicBezTo>
                  <a:moveTo>
                    <a:pt x="21600" y="7649"/>
                  </a:moveTo>
                  <a:cubicBezTo>
                    <a:pt x="21423" y="8256"/>
                    <a:pt x="21153" y="8794"/>
                    <a:pt x="20811" y="9222"/>
                  </a:cubicBezTo>
                  <a:moveTo>
                    <a:pt x="19707" y="1814"/>
                  </a:moveTo>
                  <a:cubicBezTo>
                    <a:pt x="19737" y="2059"/>
                    <a:pt x="19751" y="2307"/>
                    <a:pt x="19749" y="2556"/>
                  </a:cubicBezTo>
                  <a:moveTo>
                    <a:pt x="14668" y="947"/>
                  </a:moveTo>
                  <a:cubicBezTo>
                    <a:pt x="14771" y="605"/>
                    <a:pt x="14907" y="286"/>
                    <a:pt x="15073" y="0"/>
                  </a:cubicBezTo>
                  <a:moveTo>
                    <a:pt x="10888" y="1399"/>
                  </a:moveTo>
                  <a:cubicBezTo>
                    <a:pt x="10930" y="1115"/>
                    <a:pt x="10996" y="841"/>
                    <a:pt x="11084" y="582"/>
                  </a:cubicBezTo>
                  <a:moveTo>
                    <a:pt x="6452" y="1676"/>
                  </a:moveTo>
                  <a:cubicBezTo>
                    <a:pt x="6709" y="1897"/>
                    <a:pt x="6947" y="2163"/>
                    <a:pt x="7160" y="2469"/>
                  </a:cubicBezTo>
                  <a:moveTo>
                    <a:pt x="1072" y="7905"/>
                  </a:moveTo>
                  <a:lnTo>
                    <a:pt x="1072" y="7905"/>
                  </a:lnTo>
                  <a:cubicBezTo>
                    <a:pt x="1016" y="7632"/>
                    <a:pt x="974" y="7353"/>
                    <a:pt x="948" y="7071"/>
                  </a:cubicBez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4289" tIns="34289" rIns="34289" bIns="3428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 sz="1500"/>
            </a:p>
          </p:txBody>
        </p:sp>
      </p:grpSp>
      <p:pic>
        <p:nvPicPr>
          <p:cNvPr id="787" name="Picture 60" descr="Picture 6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96508" y="1056887"/>
            <a:ext cx="321469" cy="321469"/>
          </a:xfrm>
          <a:prstGeom prst="rect">
            <a:avLst/>
          </a:prstGeom>
          <a:ln w="12700">
            <a:miter lim="400000"/>
          </a:ln>
        </p:spPr>
      </p:pic>
      <p:pic>
        <p:nvPicPr>
          <p:cNvPr id="788" name="Picture 62" descr="Picture 6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96521" y="1685537"/>
            <a:ext cx="321469" cy="321469"/>
          </a:xfrm>
          <a:prstGeom prst="rect">
            <a:avLst/>
          </a:prstGeom>
          <a:ln w="12700">
            <a:miter lim="400000"/>
          </a:ln>
        </p:spPr>
      </p:pic>
      <p:pic>
        <p:nvPicPr>
          <p:cNvPr id="789" name="Picture 63" descr="Picture 6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32240" y="2349905"/>
            <a:ext cx="321469" cy="321469"/>
          </a:xfrm>
          <a:prstGeom prst="rect">
            <a:avLst/>
          </a:prstGeom>
          <a:ln w="12700">
            <a:miter lim="400000"/>
          </a:ln>
        </p:spPr>
      </p:pic>
      <p:sp>
        <p:nvSpPr>
          <p:cNvPr id="74" name="Title 1">
            <a:extLst>
              <a:ext uri="{FF2B5EF4-FFF2-40B4-BE49-F238E27FC236}">
                <a16:creationId xmlns:a16="http://schemas.microsoft.com/office/drawing/2014/main" id="{92E55797-DCEF-4021-886B-EEB8F18BD8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4880" y="149461"/>
            <a:ext cx="7886700" cy="74395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AU" sz="2800" b="1" dirty="0"/>
              <a:t>CPU Virtualization</a:t>
            </a:r>
            <a:endParaRPr sz="2800" b="1" dirty="0"/>
          </a:p>
        </p:txBody>
      </p:sp>
      <p:sp>
        <p:nvSpPr>
          <p:cNvPr id="75" name="Content Placeholder 2">
            <a:extLst>
              <a:ext uri="{FF2B5EF4-FFF2-40B4-BE49-F238E27FC236}">
                <a16:creationId xmlns:a16="http://schemas.microsoft.com/office/drawing/2014/main" id="{76F54E32-6B9E-4C8C-ADC2-B6B214C4E533}"/>
              </a:ext>
            </a:extLst>
          </p:cNvPr>
          <p:cNvSpPr txBox="1">
            <a:spLocks/>
          </p:cNvSpPr>
          <p:nvPr/>
        </p:nvSpPr>
        <p:spPr>
          <a:xfrm>
            <a:off x="1810334" y="5679220"/>
            <a:ext cx="8048819" cy="19911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4063" lvl="1" indent="-168020" defTabSz="672083" fontAlgn="auto">
              <a:lnSpc>
                <a:spcPct val="81000"/>
              </a:lnSpc>
              <a:spcBef>
                <a:spcPts val="300"/>
              </a:spcBef>
              <a:spcAft>
                <a:spcPts val="0"/>
              </a:spcAft>
              <a:buClrTx/>
              <a:buSzTx/>
              <a:defRPr sz="2156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75118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389" y="195810"/>
            <a:ext cx="65836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82828"/>
                </a:solidFill>
                <a:latin typeface="Arial"/>
              </a:defRPr>
            </a:pPr>
            <a:r>
              <a:rPr dirty="0"/>
              <a:t>What is a virtual CPU (vCPU)?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374008" y="2510749"/>
            <a:ext cx="0" cy="484632"/>
          </a:xfrm>
          <a:prstGeom prst="line">
            <a:avLst/>
          </a:prstGeom>
          <a:ln w="19050">
            <a:solidFill>
              <a:srgbClr val="2F7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334128" y="2510749"/>
            <a:ext cx="0" cy="484632"/>
          </a:xfrm>
          <a:prstGeom prst="line">
            <a:avLst/>
          </a:prstGeom>
          <a:ln w="19050">
            <a:solidFill>
              <a:srgbClr val="2F7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4248" y="2510749"/>
            <a:ext cx="0" cy="484632"/>
          </a:xfrm>
          <a:prstGeom prst="line">
            <a:avLst/>
          </a:prstGeom>
          <a:ln w="19050">
            <a:solidFill>
              <a:srgbClr val="2F7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11040" y="2510749"/>
            <a:ext cx="0" cy="484632"/>
          </a:xfrm>
          <a:prstGeom prst="line">
            <a:avLst/>
          </a:prstGeom>
          <a:ln w="19050">
            <a:solidFill>
              <a:srgbClr val="2F7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617144" y="3635461"/>
            <a:ext cx="0" cy="502919"/>
          </a:xfrm>
          <a:prstGeom prst="line">
            <a:avLst/>
          </a:prstGeom>
          <a:ln w="1905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07984" y="1166581"/>
            <a:ext cx="3886200" cy="411478"/>
          </a:xfrm>
          <a:prstGeom prst="roundRect">
            <a:avLst/>
          </a:prstGeom>
          <a:solidFill>
            <a:srgbClr val="BDD7EE"/>
          </a:solidFill>
          <a:ln w="1524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2000" b="1">
                <a:solidFill>
                  <a:srgbClr val="282828"/>
                </a:solidFill>
                <a:latin typeface="Arial"/>
              </a:defRPr>
            </a:pPr>
            <a:r>
              <a:t>Bob's VM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6584" y="1669501"/>
            <a:ext cx="4297680" cy="32004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ctr">
              <a:defRPr sz="1800" b="0">
                <a:solidFill>
                  <a:srgbClr val="282828"/>
                </a:solidFill>
                <a:latin typeface="Arial"/>
              </a:defRPr>
            </a:pPr>
            <a:r>
              <a:t>Guest OS sees 8 CPUs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3968" y="1989540"/>
            <a:ext cx="68580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300" b="1">
                <a:solidFill>
                  <a:srgbClr val="282828"/>
                </a:solidFill>
                <a:latin typeface="Arial"/>
              </a:defRPr>
            </a:pPr>
            <a:r>
              <a:t>vCPU</a:t>
            </a:r>
            <a:br/>
            <a: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14088" y="1989540"/>
            <a:ext cx="68580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300" b="1">
                <a:solidFill>
                  <a:srgbClr val="282828"/>
                </a:solidFill>
                <a:latin typeface="Arial"/>
              </a:defRPr>
            </a:pPr>
            <a:r>
              <a:t>vCPU</a:t>
            </a:r>
            <a:br/>
            <a: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74208" y="1989540"/>
            <a:ext cx="68580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300" b="1">
                <a:solidFill>
                  <a:srgbClr val="282828"/>
                </a:solidFill>
                <a:latin typeface="Arial"/>
              </a:defRPr>
            </a:pPr>
            <a:r>
              <a:t>vCPU</a:t>
            </a:r>
            <a:br/>
            <a: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91000" y="1989540"/>
            <a:ext cx="68580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300" b="1">
                <a:solidFill>
                  <a:srgbClr val="282828"/>
                </a:solidFill>
                <a:latin typeface="Arial"/>
              </a:defRPr>
            </a:pPr>
            <a:r>
              <a:rPr dirty="0"/>
              <a:t>vCPU</a:t>
            </a:r>
            <a:br>
              <a:rPr dirty="0"/>
            </a:br>
            <a:r>
              <a:rPr lang="en-AU" dirty="0"/>
              <a:t>8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3494016" y="1989540"/>
            <a:ext cx="862976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500" b="0">
                <a:solidFill>
                  <a:srgbClr val="282828"/>
                </a:solidFill>
                <a:latin typeface="Arial"/>
              </a:defRPr>
            </a:pPr>
            <a:r>
              <a:rPr sz="1800" dirty="0"/>
              <a:t>...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54683" y="1166581"/>
            <a:ext cx="2930771" cy="411478"/>
          </a:xfrm>
          <a:prstGeom prst="roundRect">
            <a:avLst/>
          </a:prstGeom>
          <a:solidFill>
            <a:srgbClr val="C6E0B4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2000" b="1">
                <a:solidFill>
                  <a:srgbClr val="282828"/>
                </a:solidFill>
                <a:latin typeface="Arial"/>
              </a:defRPr>
            </a:pPr>
            <a:r>
              <a:rPr dirty="0"/>
              <a:t>Charlie’s VM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0073" y="1692359"/>
            <a:ext cx="4297680" cy="32004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ctr">
              <a:defRPr sz="1800" b="0">
                <a:solidFill>
                  <a:srgbClr val="282828"/>
                </a:solidFill>
                <a:latin typeface="Arial"/>
              </a:defRPr>
            </a:pPr>
            <a:r>
              <a:rPr dirty="0"/>
              <a:t>Guest OS sees 8 CPUs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36584" y="2995381"/>
            <a:ext cx="10236218" cy="640080"/>
          </a:xfrm>
          <a:prstGeom prst="roundRect">
            <a:avLst/>
          </a:prstGeom>
          <a:solidFill>
            <a:srgbClr val="CCC0DA"/>
          </a:solidFill>
          <a:ln w="1524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2000" b="1">
                <a:solidFill>
                  <a:srgbClr val="282828"/>
                </a:solidFill>
                <a:latin typeface="Arial"/>
              </a:defRPr>
            </a:pPr>
            <a:r>
              <a:rPr dirty="0"/>
              <a:t>VMM</a:t>
            </a:r>
            <a:r>
              <a:rPr lang="en-AU" dirty="0"/>
              <a:t> </a:t>
            </a:r>
            <a:r>
              <a:rPr dirty="0"/>
              <a:t>schedules vCPUs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39704" y="4138380"/>
            <a:ext cx="4754880" cy="548640"/>
          </a:xfrm>
          <a:prstGeom prst="roundRect">
            <a:avLst/>
          </a:prstGeom>
          <a:solidFill>
            <a:srgbClr val="E6E6E6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900" b="1">
                <a:solidFill>
                  <a:srgbClr val="282828"/>
                </a:solidFill>
                <a:latin typeface="Arial"/>
              </a:defRPr>
            </a:pPr>
            <a:r>
              <a:rPr lang="en-AU" dirty="0"/>
              <a:t>16 </a:t>
            </a:r>
            <a:r>
              <a:rPr dirty="0"/>
              <a:t>Physical CPUs</a:t>
            </a:r>
            <a:r>
              <a:rPr lang="en-AU" dirty="0"/>
              <a:t> on Alice’s machine</a:t>
            </a:r>
            <a:endParaRPr dirty="0"/>
          </a:p>
        </p:txBody>
      </p:sp>
      <p:sp>
        <p:nvSpPr>
          <p:cNvPr id="30" name="Rounded Rectangle 18">
            <a:extLst>
              <a:ext uri="{FF2B5EF4-FFF2-40B4-BE49-F238E27FC236}">
                <a16:creationId xmlns:a16="http://schemas.microsoft.com/office/drawing/2014/main" id="{850BDC01-1B87-45DD-ABCE-138C6DC0553E}"/>
              </a:ext>
            </a:extLst>
          </p:cNvPr>
          <p:cNvSpPr/>
          <p:nvPr/>
        </p:nvSpPr>
        <p:spPr>
          <a:xfrm>
            <a:off x="8442031" y="1163079"/>
            <a:ext cx="2930771" cy="411478"/>
          </a:xfrm>
          <a:prstGeom prst="roundRect">
            <a:avLst/>
          </a:prstGeom>
          <a:solidFill>
            <a:srgbClr val="C6E0B4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2000" b="1">
                <a:solidFill>
                  <a:srgbClr val="282828"/>
                </a:solidFill>
                <a:latin typeface="Arial"/>
              </a:defRPr>
            </a:pPr>
            <a:r>
              <a:rPr lang="en-AU" dirty="0"/>
              <a:t>Daniel</a:t>
            </a:r>
            <a:r>
              <a:rPr dirty="0"/>
              <a:t>’s VM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ADF63F-47ED-4583-8B36-55CCC296A94E}"/>
              </a:ext>
            </a:extLst>
          </p:cNvPr>
          <p:cNvSpPr txBox="1"/>
          <p:nvPr/>
        </p:nvSpPr>
        <p:spPr>
          <a:xfrm>
            <a:off x="7887421" y="1688857"/>
            <a:ext cx="4297680" cy="32004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ctr">
              <a:defRPr sz="1800" b="0">
                <a:solidFill>
                  <a:srgbClr val="282828"/>
                </a:solidFill>
                <a:latin typeface="Arial"/>
              </a:defRPr>
            </a:pPr>
            <a:r>
              <a:rPr dirty="0"/>
              <a:t>Guest OS sees </a:t>
            </a:r>
            <a:r>
              <a:rPr lang="en-AU" dirty="0"/>
              <a:t>4</a:t>
            </a:r>
            <a:r>
              <a:rPr dirty="0"/>
              <a:t> CPUs</a:t>
            </a:r>
          </a:p>
        </p:txBody>
      </p:sp>
    </p:spTree>
    <p:extLst>
      <p:ext uri="{BB962C8B-B14F-4D97-AF65-F5344CB8AC3E}">
        <p14:creationId xmlns:p14="http://schemas.microsoft.com/office/powerpoint/2010/main" val="1854770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33272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ptos"/>
              </a:rPr>
              <a:t>CPU virtualization: two scheduling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573475"/>
            <a:ext cx="4892040" cy="3222458"/>
          </a:xfrm>
          <a:prstGeom prst="rect">
            <a:avLst/>
          </a:prstGeom>
          <a:solidFill>
            <a:srgbClr val="FFFFFF"/>
          </a:solidFill>
          <a:ln w="1587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664915"/>
            <a:ext cx="4526280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700" b="1">
                <a:solidFill>
                  <a:srgbClr val="2E75B6"/>
                </a:solidFill>
                <a:latin typeface="Aptos"/>
              </a:rPr>
              <a:t>Inside each VM: guest OS scheduling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213555"/>
            <a:ext cx="1234440" cy="685800"/>
          </a:xfrm>
          <a:prstGeom prst="roundRect">
            <a:avLst/>
          </a:prstGeom>
          <a:solidFill>
            <a:srgbClr val="DDEBF7"/>
          </a:solidFill>
          <a:ln w="1587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1E1E1E"/>
                </a:solidFill>
                <a:latin typeface="Aptos"/>
              </a:rPr>
              <a:t>Process</a:t>
            </a:r>
            <a:br/>
            <a:r>
              <a:rPr sz="1500" b="1">
                <a:solidFill>
                  <a:srgbClr val="1E1E1E"/>
                </a:solidFill>
                <a:latin typeface="Aptos"/>
              </a:rPr>
              <a:t>queue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19395"/>
            <a:ext cx="64008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E1E1E"/>
                </a:solidFill>
                <a:latin typeface="Aptos"/>
              </a:rPr>
              <a:t>P1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89888" y="3219395"/>
            <a:ext cx="64008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E1E1E"/>
                </a:solidFill>
                <a:latin typeface="Aptos"/>
              </a:rPr>
              <a:t>P2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56816" y="3219395"/>
            <a:ext cx="64008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E1E1E"/>
                </a:solidFill>
                <a:latin typeface="Aptos"/>
              </a:rPr>
              <a:t>P3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3744" y="3219395"/>
            <a:ext cx="64008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E1E1E"/>
                </a:solidFill>
                <a:latin typeface="Aptos"/>
              </a:rPr>
              <a:t>P4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2213555"/>
            <a:ext cx="1325880" cy="68580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1E1E1E"/>
                </a:solidFill>
                <a:latin typeface="Aptos"/>
              </a:rPr>
              <a:t>Guest OS</a:t>
            </a:r>
            <a:br/>
            <a:r>
              <a:rPr sz="1500" b="1">
                <a:solidFill>
                  <a:srgbClr val="1E1E1E"/>
                </a:solidFill>
                <a:latin typeface="Aptos"/>
              </a:rPr>
              <a:t>scheduler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213555"/>
            <a:ext cx="777240" cy="68580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1E1E1E"/>
                </a:solidFill>
                <a:latin typeface="Aptos"/>
              </a:rPr>
              <a:t>vCPU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48840" y="2561027"/>
            <a:ext cx="457200" cy="0"/>
          </a:xfrm>
          <a:prstGeom prst="line">
            <a:avLst/>
          </a:prstGeom>
          <a:ln w="2286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023360" y="2561027"/>
            <a:ext cx="365760" cy="0"/>
          </a:xfrm>
          <a:prstGeom prst="line">
            <a:avLst/>
          </a:prstGeom>
          <a:ln w="2286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3950915"/>
            <a:ext cx="4389120" cy="566309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600" b="0" dirty="0">
                <a:solidFill>
                  <a:srgbClr val="1E1E1E"/>
                </a:solidFill>
                <a:latin typeface="Aptos"/>
              </a:rPr>
              <a:t>The guest OS schedules processes onto vCPUs.</a:t>
            </a:r>
            <a:br>
              <a:rPr dirty="0"/>
            </a:br>
            <a:r>
              <a:rPr sz="1600" b="0" dirty="0">
                <a:solidFill>
                  <a:srgbClr val="1E1E1E"/>
                </a:solidFill>
                <a:latin typeface="Aptos"/>
              </a:rPr>
              <a:t>It thinks these vCPUs are </a:t>
            </a:r>
            <a:r>
              <a:rPr lang="en-AU" sz="1600" b="0" dirty="0">
                <a:solidFill>
                  <a:srgbClr val="1E1E1E"/>
                </a:solidFill>
                <a:latin typeface="Aptos"/>
              </a:rPr>
              <a:t>physical </a:t>
            </a:r>
            <a:r>
              <a:rPr sz="1600" b="0" dirty="0">
                <a:solidFill>
                  <a:srgbClr val="1E1E1E"/>
                </a:solidFill>
                <a:latin typeface="Aptos"/>
              </a:rPr>
              <a:t>CPUs.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573475"/>
            <a:ext cx="4892040" cy="3222458"/>
          </a:xfrm>
          <a:prstGeom prst="rect">
            <a:avLst/>
          </a:prstGeom>
          <a:solidFill>
            <a:srgbClr val="FFFFFF"/>
          </a:solidFill>
          <a:ln w="158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1664915"/>
            <a:ext cx="4526280" cy="33547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lang="en-AU" sz="1700" b="1" dirty="0">
                <a:solidFill>
                  <a:srgbClr val="7030A0"/>
                </a:solidFill>
                <a:latin typeface="Aptos"/>
              </a:rPr>
              <a:t>Under</a:t>
            </a:r>
            <a:r>
              <a:rPr sz="1700" b="1" dirty="0">
                <a:solidFill>
                  <a:srgbClr val="7030A0"/>
                </a:solidFill>
                <a:latin typeface="Aptos"/>
              </a:rPr>
              <a:t> all VMs: VMM scheduling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2213555"/>
            <a:ext cx="1463040" cy="685800"/>
          </a:xfrm>
          <a:prstGeom prst="roundRect">
            <a:avLst/>
          </a:prstGeom>
          <a:solidFill>
            <a:srgbClr val="E5E0EC"/>
          </a:solidFill>
          <a:ln w="158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1E1E1E"/>
                </a:solidFill>
                <a:latin typeface="Aptos"/>
              </a:rPr>
              <a:t>vCPU</a:t>
            </a:r>
            <a:br/>
            <a:r>
              <a:rPr sz="1500" b="1">
                <a:solidFill>
                  <a:srgbClr val="1E1E1E"/>
                </a:solidFill>
                <a:latin typeface="Aptos"/>
              </a:rPr>
              <a:t>queue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3219395"/>
            <a:ext cx="685800" cy="41148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E1E1E"/>
                </a:solidFill>
                <a:latin typeface="Aptos"/>
              </a:rPr>
              <a:t>B1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96328" y="3219395"/>
            <a:ext cx="685800" cy="411480"/>
          </a:xfrm>
          <a:prstGeom prst="roundRect">
            <a:avLst/>
          </a:prstGeom>
          <a:solidFill>
            <a:srgbClr val="DDEBF7"/>
          </a:solidFill>
          <a:ln w="15875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E1E1E"/>
                </a:solidFill>
                <a:latin typeface="Aptos"/>
              </a:rPr>
              <a:t>C1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46136" y="3219395"/>
            <a:ext cx="685800" cy="41148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E1E1E"/>
                </a:solidFill>
                <a:latin typeface="Aptos"/>
              </a:rPr>
              <a:t>D1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95944" y="3219395"/>
            <a:ext cx="685800" cy="41148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E1E1E"/>
                </a:solidFill>
                <a:latin typeface="Aptos"/>
              </a:rPr>
              <a:t>B2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2213555"/>
            <a:ext cx="1325880" cy="68580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1E1E1E"/>
                </a:solidFill>
                <a:latin typeface="Aptos"/>
              </a:rPr>
              <a:t>VMM</a:t>
            </a:r>
            <a:br/>
            <a:r>
              <a:rPr sz="1500" b="1">
                <a:solidFill>
                  <a:srgbClr val="1E1E1E"/>
                </a:solidFill>
                <a:latin typeface="Aptos"/>
              </a:rPr>
              <a:t>scheduler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04120" y="2213555"/>
            <a:ext cx="777240" cy="6858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1E1E1E"/>
                </a:solidFill>
                <a:latin typeface="Aptos"/>
              </a:rPr>
              <a:t>pCPU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046720" y="2561027"/>
            <a:ext cx="320040" cy="0"/>
          </a:xfrm>
          <a:prstGeom prst="line">
            <a:avLst/>
          </a:prstGeom>
          <a:ln w="2286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784080" y="2561027"/>
            <a:ext cx="274320" cy="0"/>
          </a:xfrm>
          <a:prstGeom prst="line">
            <a:avLst/>
          </a:prstGeom>
          <a:ln w="2286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37960" y="3950915"/>
            <a:ext cx="4522254" cy="566309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600" b="0" dirty="0">
                <a:solidFill>
                  <a:srgbClr val="1E1E1E"/>
                </a:solidFill>
                <a:latin typeface="Aptos"/>
              </a:rPr>
              <a:t>The VMM schedules vCPUs onto real physical CPUs.</a:t>
            </a:r>
            <a:br>
              <a:rPr dirty="0"/>
            </a:br>
            <a:endParaRPr sz="1600" b="0" dirty="0">
              <a:solidFill>
                <a:srgbClr val="1E1E1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33272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2800" b="1" dirty="0">
                <a:solidFill>
                  <a:srgbClr val="1E1E1E"/>
                </a:solidFill>
                <a:latin typeface="Aptos"/>
              </a:rPr>
              <a:t>Example: Bob's program runs through two schedulers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78172"/>
            <a:ext cx="10652760" cy="914400"/>
          </a:xfrm>
          <a:prstGeom prst="roundRect">
            <a:avLst/>
          </a:prstGeom>
          <a:solidFill>
            <a:srgbClr val="DDEBF7"/>
          </a:solidFill>
          <a:ln w="1587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200" b="1">
                <a:solidFill>
                  <a:srgbClr val="1E1E1E"/>
                </a:solidFill>
                <a:latin typeface="Aptos"/>
              </a:rPr>
              <a:t>Bob starts a web server process inside his VM.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466892"/>
            <a:ext cx="2468880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800" b="1" dirty="0">
                <a:solidFill>
                  <a:srgbClr val="1E1E1E"/>
                </a:solidFill>
                <a:latin typeface="Aptos"/>
              </a:rPr>
              <a:t>Process ready</a:t>
            </a:r>
            <a:br>
              <a:rPr dirty="0"/>
            </a:br>
            <a:r>
              <a:rPr sz="1800" b="1" dirty="0">
                <a:solidFill>
                  <a:srgbClr val="1E1E1E"/>
                </a:solidFill>
                <a:latin typeface="Aptos"/>
              </a:rPr>
              <a:t>inside Bob VM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466892"/>
            <a:ext cx="2468880" cy="123444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800" b="1" dirty="0">
                <a:solidFill>
                  <a:srgbClr val="1E1E1E"/>
                </a:solidFill>
                <a:latin typeface="Aptos"/>
              </a:rPr>
              <a:t>Guest OS puts it</a:t>
            </a:r>
            <a:br>
              <a:rPr dirty="0"/>
            </a:br>
            <a:r>
              <a:rPr sz="1800" b="1" dirty="0">
                <a:solidFill>
                  <a:srgbClr val="1E1E1E"/>
                </a:solidFill>
                <a:latin typeface="Aptos"/>
              </a:rPr>
              <a:t>on B</a:t>
            </a:r>
            <a:r>
              <a:rPr lang="en-AU" sz="1800" b="1" dirty="0" err="1">
                <a:solidFill>
                  <a:srgbClr val="1E1E1E"/>
                </a:solidFill>
                <a:latin typeface="Aptos"/>
              </a:rPr>
              <a:t>ob</a:t>
            </a:r>
            <a:r>
              <a:rPr lang="en-AU" sz="1800" b="1" dirty="0">
                <a:solidFill>
                  <a:srgbClr val="1E1E1E"/>
                </a:solidFill>
                <a:latin typeface="Aptos"/>
              </a:rPr>
              <a:t> vCPU 1</a:t>
            </a:r>
            <a:endParaRPr sz="1800" b="1" dirty="0">
              <a:solidFill>
                <a:srgbClr val="1E1E1E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95360" y="2466892"/>
            <a:ext cx="2651760" cy="123444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800" b="1" dirty="0">
                <a:solidFill>
                  <a:srgbClr val="1E1E1E"/>
                </a:solidFill>
                <a:latin typeface="Aptos"/>
              </a:rPr>
              <a:t>VMM maps </a:t>
            </a:r>
            <a:r>
              <a:rPr lang="en-AU" sz="1800" b="1" dirty="0">
                <a:solidFill>
                  <a:srgbClr val="1E1E1E"/>
                </a:solidFill>
                <a:latin typeface="Aptos"/>
              </a:rPr>
              <a:t>Bob vCPU 1</a:t>
            </a:r>
            <a:r>
              <a:rPr sz="1800" b="1" dirty="0">
                <a:solidFill>
                  <a:srgbClr val="1E1E1E"/>
                </a:solidFill>
                <a:latin typeface="Aptos"/>
              </a:rPr>
              <a:t> to</a:t>
            </a:r>
            <a:r>
              <a:rPr lang="en-AU" sz="1800" b="1" dirty="0">
                <a:solidFill>
                  <a:srgbClr val="1E1E1E"/>
                </a:solidFill>
                <a:latin typeface="Aptos"/>
              </a:rPr>
              <a:t> </a:t>
            </a:r>
            <a:r>
              <a:rPr sz="1800" b="1" dirty="0">
                <a:solidFill>
                  <a:srgbClr val="1E1E1E"/>
                </a:solidFill>
                <a:latin typeface="Aptos"/>
              </a:rPr>
              <a:t>a </a:t>
            </a:r>
            <a:r>
              <a:rPr lang="en-AU" sz="1800" b="1" dirty="0">
                <a:solidFill>
                  <a:srgbClr val="1E1E1E"/>
                </a:solidFill>
                <a:latin typeface="Aptos"/>
              </a:rPr>
              <a:t>p</a:t>
            </a:r>
            <a:r>
              <a:rPr sz="1800" b="1" dirty="0">
                <a:solidFill>
                  <a:srgbClr val="1E1E1E"/>
                </a:solidFill>
                <a:latin typeface="Aptos"/>
              </a:rPr>
              <a:t>CPU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36392" y="3079540"/>
            <a:ext cx="1344168" cy="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104888" y="3079540"/>
            <a:ext cx="1399032" cy="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4158532"/>
            <a:ext cx="283464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600" b="1">
                <a:solidFill>
                  <a:srgbClr val="2E75B6"/>
                </a:solidFill>
                <a:latin typeface="Aptos"/>
              </a:rPr>
              <a:t>Guest OS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4158532"/>
            <a:ext cx="297180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600" b="1">
                <a:solidFill>
                  <a:srgbClr val="ED7D31"/>
                </a:solidFill>
                <a:latin typeface="Aptos"/>
              </a:rPr>
              <a:t>Guest OS 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158532"/>
            <a:ext cx="283464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600" b="1">
                <a:solidFill>
                  <a:srgbClr val="70AD47"/>
                </a:solidFill>
                <a:latin typeface="Aptos"/>
              </a:rPr>
              <a:t>VMM decision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88300"/>
            <a:ext cx="9966960" cy="777240"/>
          </a:xfrm>
          <a:prstGeom prst="roundRect">
            <a:avLst/>
          </a:prstGeom>
          <a:noFill/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en-AU" b="1" dirty="0">
                <a:solidFill>
                  <a:srgbClr val="1E1E1E"/>
                </a:solidFill>
                <a:latin typeface="Aptos"/>
              </a:rPr>
              <a:t>Considering that the web server process is already put onto </a:t>
            </a:r>
            <a:r>
              <a:rPr lang="en-AU" sz="2000" b="1" dirty="0">
                <a:solidFill>
                  <a:srgbClr val="1E1E1E"/>
                </a:solidFill>
                <a:latin typeface="Aptos"/>
              </a:rPr>
              <a:t>Bob vCPU 1</a:t>
            </a:r>
            <a:r>
              <a:rPr lang="en-AU" b="1" dirty="0">
                <a:solidFill>
                  <a:srgbClr val="1E1E1E"/>
                </a:solidFill>
                <a:latin typeface="Aptos"/>
              </a:rPr>
              <a:t> but </a:t>
            </a:r>
            <a:r>
              <a:rPr lang="en-AU" sz="2000" b="1" dirty="0">
                <a:solidFill>
                  <a:srgbClr val="1E1E1E"/>
                </a:solidFill>
                <a:latin typeface="Aptos"/>
              </a:rPr>
              <a:t>Bob vCPU 1</a:t>
            </a:r>
            <a:r>
              <a:rPr lang="en-US" b="1" dirty="0">
                <a:solidFill>
                  <a:srgbClr val="1E1E1E"/>
                </a:solidFill>
                <a:latin typeface="Aptos"/>
              </a:rPr>
              <a:t> is waiting for a physical CPU, </a:t>
            </a:r>
            <a:r>
              <a:rPr lang="en-AU" b="1" dirty="0">
                <a:solidFill>
                  <a:srgbClr val="1E1E1E"/>
                </a:solidFill>
                <a:latin typeface="Aptos"/>
              </a:rPr>
              <a:t>can the process make progress? Why?</a:t>
            </a:r>
            <a:endParaRPr b="1" dirty="0">
              <a:solidFill>
                <a:srgbClr val="1E1E1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46895" y="1544683"/>
            <a:ext cx="2468880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600" b="1" dirty="0">
                <a:solidFill>
                  <a:srgbClr val="2E75B6"/>
                </a:solidFill>
                <a:latin typeface="Aptos"/>
              </a:rPr>
              <a:t>Inside Bob VM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6895" y="3624943"/>
            <a:ext cx="2468880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600" b="1" dirty="0">
                <a:solidFill>
                  <a:srgbClr val="7030A0"/>
                </a:solidFill>
                <a:latin typeface="Aptos"/>
              </a:rPr>
              <a:t>VMM on Alice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95735" y="1521823"/>
            <a:ext cx="2011680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400" b="1">
                <a:solidFill>
                  <a:srgbClr val="1E1E1E"/>
                </a:solidFill>
                <a:latin typeface="Aptos"/>
              </a:rPr>
              <a:t>Time slice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0335" y="1521823"/>
            <a:ext cx="2011680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400" b="1">
                <a:solidFill>
                  <a:srgbClr val="1E1E1E"/>
                </a:solidFill>
                <a:latin typeface="Aptos"/>
              </a:rPr>
              <a:t>Time slice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4935" y="1521823"/>
            <a:ext cx="2011680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400" b="1">
                <a:solidFill>
                  <a:srgbClr val="1E1E1E"/>
                </a:solidFill>
                <a:latin typeface="Aptos"/>
              </a:rPr>
              <a:t>Time slice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0015" y="1979023"/>
            <a:ext cx="2011680" cy="594360"/>
          </a:xfrm>
          <a:prstGeom prst="roundRect">
            <a:avLst/>
          </a:prstGeom>
          <a:solidFill>
            <a:srgbClr val="DDEBF7"/>
          </a:solidFill>
          <a:ln w="1587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dirty="0">
                <a:solidFill>
                  <a:srgbClr val="1E1E1E"/>
                </a:solidFill>
                <a:latin typeface="Aptos"/>
              </a:rPr>
              <a:t>Web server</a:t>
            </a:r>
            <a:br>
              <a:rPr dirty="0"/>
            </a:br>
            <a:r>
              <a:rPr sz="1500" b="1" dirty="0">
                <a:solidFill>
                  <a:srgbClr val="1E1E1E"/>
                </a:solidFill>
                <a:latin typeface="Aptos"/>
              </a:rPr>
              <a:t>→ Bob vCPU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4615" y="1979023"/>
            <a:ext cx="2011680" cy="594360"/>
          </a:xfrm>
          <a:prstGeom prst="roundRect">
            <a:avLst/>
          </a:prstGeom>
          <a:solidFill>
            <a:srgbClr val="DDEBF7"/>
          </a:solidFill>
          <a:ln w="1587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1E1E1E"/>
                </a:solidFill>
                <a:latin typeface="Aptos"/>
              </a:rPr>
              <a:t>Web server</a:t>
            </a:r>
            <a:br/>
            <a:r>
              <a:rPr sz="1500" b="1">
                <a:solidFill>
                  <a:srgbClr val="1E1E1E"/>
                </a:solidFill>
                <a:latin typeface="Aptos"/>
              </a:rPr>
              <a:t>→ Bob vCPU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79214" y="1979023"/>
            <a:ext cx="2011680" cy="594360"/>
          </a:xfrm>
          <a:prstGeom prst="roundRect">
            <a:avLst/>
          </a:prstGeom>
          <a:solidFill>
            <a:srgbClr val="DDEBF7"/>
          </a:solidFill>
          <a:ln w="1587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1E1E1E"/>
                </a:solidFill>
                <a:latin typeface="Aptos"/>
              </a:rPr>
              <a:t>Web server</a:t>
            </a:r>
            <a:br/>
            <a:r>
              <a:rPr sz="1500" b="1">
                <a:solidFill>
                  <a:srgbClr val="1E1E1E"/>
                </a:solidFill>
                <a:latin typeface="Aptos"/>
              </a:rPr>
              <a:t>→ Bob vCPU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82065" y="3944983"/>
            <a:ext cx="2468877" cy="59436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dirty="0">
                <a:solidFill>
                  <a:srgbClr val="1E1E1E"/>
                </a:solidFill>
                <a:latin typeface="Aptos"/>
              </a:rPr>
              <a:t>B</a:t>
            </a:r>
            <a:r>
              <a:rPr lang="en-AU" sz="1500" b="1" dirty="0" err="1">
                <a:solidFill>
                  <a:srgbClr val="1E1E1E"/>
                </a:solidFill>
                <a:latin typeface="Aptos"/>
              </a:rPr>
              <a:t>ob</a:t>
            </a:r>
            <a:r>
              <a:rPr lang="en-AU" sz="1500" b="1" dirty="0">
                <a:solidFill>
                  <a:srgbClr val="1E1E1E"/>
                </a:solidFill>
                <a:latin typeface="Aptos"/>
              </a:rPr>
              <a:t> vCPU 1</a:t>
            </a:r>
            <a:r>
              <a:rPr sz="1500" b="1" dirty="0">
                <a:solidFill>
                  <a:srgbClr val="1E1E1E"/>
                </a:solidFill>
                <a:latin typeface="Aptos"/>
              </a:rPr>
              <a:t> runs on </a:t>
            </a:r>
            <a:r>
              <a:rPr sz="1500" b="1" dirty="0" err="1">
                <a:solidFill>
                  <a:srgbClr val="1E1E1E"/>
                </a:solidFill>
                <a:latin typeface="Aptos"/>
              </a:rPr>
              <a:t>pCPU</a:t>
            </a:r>
            <a:endParaRPr sz="1500" b="1" dirty="0">
              <a:solidFill>
                <a:srgbClr val="1E1E1E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627292" y="3944983"/>
            <a:ext cx="2468875" cy="59436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dirty="0">
                <a:solidFill>
                  <a:srgbClr val="1E1E1E"/>
                </a:solidFill>
                <a:latin typeface="Aptos"/>
              </a:rPr>
              <a:t>C</a:t>
            </a:r>
            <a:r>
              <a:rPr lang="en-AU" sz="1500" b="1" dirty="0" err="1">
                <a:solidFill>
                  <a:srgbClr val="1E1E1E"/>
                </a:solidFill>
                <a:latin typeface="Aptos"/>
              </a:rPr>
              <a:t>harlie</a:t>
            </a:r>
            <a:r>
              <a:rPr lang="en-AU" sz="1500" b="1" dirty="0">
                <a:solidFill>
                  <a:srgbClr val="1E1E1E"/>
                </a:solidFill>
                <a:latin typeface="Aptos"/>
              </a:rPr>
              <a:t> vCPU 1</a:t>
            </a:r>
            <a:r>
              <a:rPr sz="1500" b="1" dirty="0">
                <a:solidFill>
                  <a:srgbClr val="1E1E1E"/>
                </a:solidFill>
                <a:latin typeface="Aptos"/>
              </a:rPr>
              <a:t> runs on </a:t>
            </a:r>
            <a:r>
              <a:rPr sz="1500" b="1" dirty="0" err="1">
                <a:solidFill>
                  <a:srgbClr val="1E1E1E"/>
                </a:solidFill>
                <a:latin typeface="Aptos"/>
              </a:rPr>
              <a:t>pCPU</a:t>
            </a:r>
            <a:endParaRPr sz="1500" b="1" dirty="0">
              <a:solidFill>
                <a:srgbClr val="1E1E1E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235197" y="3944983"/>
            <a:ext cx="2233750" cy="59436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en-AU" sz="1500" b="1" dirty="0">
                <a:solidFill>
                  <a:srgbClr val="1E1E1E"/>
                </a:solidFill>
                <a:latin typeface="Aptos"/>
              </a:rPr>
              <a:t>Bob vCPU 1</a:t>
            </a:r>
            <a:r>
              <a:rPr sz="1500" b="1" dirty="0">
                <a:solidFill>
                  <a:srgbClr val="1E1E1E"/>
                </a:solidFill>
                <a:latin typeface="Aptos"/>
              </a:rPr>
              <a:t> runs on </a:t>
            </a:r>
            <a:r>
              <a:rPr sz="1500" b="1" dirty="0" err="1">
                <a:solidFill>
                  <a:srgbClr val="1E1E1E"/>
                </a:solidFill>
                <a:latin typeface="Aptos"/>
              </a:rPr>
              <a:t>pCPU</a:t>
            </a:r>
            <a:endParaRPr sz="1500" b="1" dirty="0">
              <a:solidFill>
                <a:srgbClr val="1E1E1E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092615" y="1979023"/>
            <a:ext cx="1645920" cy="594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1E1E1E"/>
                </a:solidFill>
                <a:latin typeface="Aptos"/>
              </a:rPr>
              <a:t>Guest OS</a:t>
            </a:r>
            <a:br/>
            <a:r>
              <a:rPr sz="1500" b="1">
                <a:solidFill>
                  <a:srgbClr val="1E1E1E"/>
                </a:solidFill>
                <a:latin typeface="Aptos"/>
              </a:rPr>
              <a:t>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2615" y="3944983"/>
            <a:ext cx="1645920" cy="594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en-AU" sz="1500" b="1" dirty="0">
                <a:solidFill>
                  <a:srgbClr val="1E1E1E"/>
                </a:solidFill>
                <a:latin typeface="Aptos"/>
              </a:rPr>
              <a:t>VMM</a:t>
            </a:r>
            <a:br>
              <a:rPr dirty="0"/>
            </a:br>
            <a:r>
              <a:rPr sz="1500" b="1" dirty="0">
                <a:solidFill>
                  <a:srgbClr val="1E1E1E"/>
                </a:solidFill>
                <a:latin typeface="Aptos"/>
              </a:rPr>
              <a:t>view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55855" y="2646535"/>
            <a:ext cx="0" cy="1207008"/>
          </a:xfrm>
          <a:prstGeom prst="line">
            <a:avLst/>
          </a:prstGeom>
          <a:ln w="2032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670455" y="2646535"/>
            <a:ext cx="0" cy="1207008"/>
          </a:xfrm>
          <a:prstGeom prst="line">
            <a:avLst/>
          </a:prstGeom>
          <a:ln w="2032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85055" y="2646535"/>
            <a:ext cx="0" cy="1207008"/>
          </a:xfrm>
          <a:prstGeom prst="line">
            <a:avLst/>
          </a:prstGeom>
          <a:ln w="2032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75A3C46-B01E-4BB0-9299-2576AB07C49F}"/>
              </a:ext>
            </a:extLst>
          </p:cNvPr>
          <p:cNvSpPr txBox="1"/>
          <p:nvPr/>
        </p:nvSpPr>
        <p:spPr>
          <a:xfrm>
            <a:off x="594360" y="228600"/>
            <a:ext cx="1033272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2800" b="1" dirty="0">
                <a:solidFill>
                  <a:srgbClr val="1E1E1E"/>
                </a:solidFill>
                <a:latin typeface="Aptos"/>
              </a:rPr>
              <a:t>Example: Bob's program runs through two schedulers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9325" y="246102"/>
            <a:ext cx="420018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82828"/>
                </a:solidFill>
                <a:latin typeface="Arial"/>
              </a:defRPr>
            </a:pPr>
            <a:r>
              <a:rPr lang="en-AU" dirty="0"/>
              <a:t>CPU overcommitment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936794" y="1491032"/>
            <a:ext cx="2011680" cy="822960"/>
          </a:xfrm>
          <a:prstGeom prst="roundRect">
            <a:avLst/>
          </a:prstGeom>
          <a:solidFill>
            <a:srgbClr val="BDD7EE"/>
          </a:solidFill>
          <a:ln w="1524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2000" b="1">
                <a:solidFill>
                  <a:srgbClr val="282828"/>
                </a:solidFill>
                <a:latin typeface="Arial"/>
              </a:defRPr>
            </a:pPr>
            <a:r>
              <a:t>Bob</a:t>
            </a:r>
            <a:br/>
            <a:r>
              <a:t>8 vCPUs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85634" y="1491032"/>
            <a:ext cx="2011680" cy="822960"/>
          </a:xfrm>
          <a:prstGeom prst="roundRect">
            <a:avLst/>
          </a:prstGeom>
          <a:solidFill>
            <a:srgbClr val="C6E0B4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2000" b="1">
                <a:solidFill>
                  <a:srgbClr val="282828"/>
                </a:solidFill>
                <a:latin typeface="Arial"/>
              </a:defRPr>
            </a:pPr>
            <a:r>
              <a:t>Charlie</a:t>
            </a:r>
            <a:br/>
            <a:r>
              <a:t>8 vCPUs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34474" y="1491032"/>
            <a:ext cx="2011680" cy="822960"/>
          </a:xfrm>
          <a:prstGeom prst="roundRect">
            <a:avLst/>
          </a:prstGeom>
          <a:solidFill>
            <a:srgbClr val="FFE699"/>
          </a:solidFill>
          <a:ln w="15240">
            <a:solidFill>
              <a:srgbClr val="B4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2000" b="1">
                <a:solidFill>
                  <a:srgbClr val="282828"/>
                </a:solidFill>
                <a:latin typeface="Arial"/>
              </a:defRPr>
            </a:pPr>
            <a:r>
              <a:t>Daniel</a:t>
            </a:r>
            <a:br/>
            <a:r>
              <a:t>4 vCPUs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20474" y="1491032"/>
            <a:ext cx="3566160" cy="822960"/>
          </a:xfrm>
          <a:prstGeom prst="roundRect">
            <a:avLst/>
          </a:prstGeom>
          <a:solidFill>
            <a:srgbClr val="F4B183"/>
          </a:solidFill>
          <a:ln w="15240">
            <a:solidFill>
              <a:srgbClr val="B46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2000" b="1">
                <a:solidFill>
                  <a:srgbClr val="282828"/>
                </a:solidFill>
                <a:latin typeface="Arial"/>
              </a:defRPr>
            </a:pPr>
            <a:r>
              <a:t>Total = 20 vCPUs</a:t>
            </a:r>
            <a:br/>
            <a:r>
              <a:t>Physical CPUs =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514" y="3136952"/>
            <a:ext cx="4754880" cy="32004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1800" b="1">
                <a:solidFill>
                  <a:srgbClr val="282828"/>
                </a:solidFill>
                <a:latin typeface="Arial"/>
              </a:defRPr>
            </a:pPr>
            <a:r>
              <a:t>Running now on 16 physical CPUs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2514" y="3548432"/>
            <a:ext cx="502920" cy="384048"/>
          </a:xfrm>
          <a:prstGeom prst="roundRect">
            <a:avLst/>
          </a:prstGeom>
          <a:solidFill>
            <a:srgbClr val="BDD7EE"/>
          </a:solidFill>
          <a:ln w="1524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200" b="1">
                <a:solidFill>
                  <a:srgbClr val="282828"/>
                </a:solidFill>
                <a:latin typeface="Arial"/>
              </a:defRPr>
            </a:pPr>
            <a:r>
              <a:t>B1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8586" y="3548432"/>
            <a:ext cx="502920" cy="384048"/>
          </a:xfrm>
          <a:prstGeom prst="roundRect">
            <a:avLst/>
          </a:prstGeom>
          <a:solidFill>
            <a:srgbClr val="BDD7EE"/>
          </a:solidFill>
          <a:ln w="1524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200" b="1">
                <a:solidFill>
                  <a:srgbClr val="282828"/>
                </a:solidFill>
                <a:latin typeface="Arial"/>
              </a:defRPr>
            </a:pPr>
            <a:r>
              <a:t>B2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34658" y="3548432"/>
            <a:ext cx="502920" cy="384048"/>
          </a:xfrm>
          <a:prstGeom prst="roundRect">
            <a:avLst/>
          </a:prstGeom>
          <a:solidFill>
            <a:srgbClr val="BDD7EE"/>
          </a:solidFill>
          <a:ln w="1524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200" b="1">
                <a:solidFill>
                  <a:srgbClr val="282828"/>
                </a:solidFill>
                <a:latin typeface="Arial"/>
              </a:defRPr>
            </a:pPr>
            <a:r>
              <a:t>B3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10730" y="3548432"/>
            <a:ext cx="502920" cy="384048"/>
          </a:xfrm>
          <a:prstGeom prst="roundRect">
            <a:avLst/>
          </a:prstGeom>
          <a:solidFill>
            <a:srgbClr val="BDD7EE"/>
          </a:solidFill>
          <a:ln w="1524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200" b="1">
                <a:solidFill>
                  <a:srgbClr val="282828"/>
                </a:solidFill>
                <a:latin typeface="Arial"/>
              </a:defRPr>
            </a:pPr>
            <a:r>
              <a:t>B4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86802" y="3548432"/>
            <a:ext cx="502920" cy="384048"/>
          </a:xfrm>
          <a:prstGeom prst="roundRect">
            <a:avLst/>
          </a:prstGeom>
          <a:solidFill>
            <a:srgbClr val="BDD7EE"/>
          </a:solidFill>
          <a:ln w="1524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200" b="1">
                <a:solidFill>
                  <a:srgbClr val="282828"/>
                </a:solidFill>
                <a:latin typeface="Arial"/>
              </a:defRPr>
            </a:pPr>
            <a:r>
              <a:t>B5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62874" y="3548432"/>
            <a:ext cx="502920" cy="384048"/>
          </a:xfrm>
          <a:prstGeom prst="roundRect">
            <a:avLst/>
          </a:prstGeom>
          <a:solidFill>
            <a:srgbClr val="C6E0B4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200" b="1">
                <a:solidFill>
                  <a:srgbClr val="282828"/>
                </a:solidFill>
                <a:latin typeface="Arial"/>
              </a:defRPr>
            </a:pPr>
            <a:r>
              <a:t>C1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8946" y="3548432"/>
            <a:ext cx="502920" cy="384048"/>
          </a:xfrm>
          <a:prstGeom prst="roundRect">
            <a:avLst/>
          </a:prstGeom>
          <a:solidFill>
            <a:srgbClr val="C6E0B4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200" b="1">
                <a:solidFill>
                  <a:srgbClr val="282828"/>
                </a:solidFill>
                <a:latin typeface="Arial"/>
              </a:defRPr>
            </a:pPr>
            <a:r>
              <a:t>C2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15018" y="3548432"/>
            <a:ext cx="502920" cy="384048"/>
          </a:xfrm>
          <a:prstGeom prst="roundRect">
            <a:avLst/>
          </a:prstGeom>
          <a:solidFill>
            <a:srgbClr val="C6E0B4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200" b="1">
                <a:solidFill>
                  <a:srgbClr val="282828"/>
                </a:solidFill>
                <a:latin typeface="Arial"/>
              </a:defRPr>
            </a:pPr>
            <a:r>
              <a:t>C3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2514" y="4078784"/>
            <a:ext cx="502920" cy="384048"/>
          </a:xfrm>
          <a:prstGeom prst="roundRect">
            <a:avLst/>
          </a:prstGeom>
          <a:solidFill>
            <a:srgbClr val="C6E0B4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200" b="1">
                <a:solidFill>
                  <a:srgbClr val="282828"/>
                </a:solidFill>
                <a:latin typeface="Arial"/>
              </a:defRPr>
            </a:pPr>
            <a:r>
              <a:t>C4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58586" y="4078784"/>
            <a:ext cx="502920" cy="384048"/>
          </a:xfrm>
          <a:prstGeom prst="roundRect">
            <a:avLst/>
          </a:prstGeom>
          <a:solidFill>
            <a:srgbClr val="C6E0B4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200" b="1">
                <a:solidFill>
                  <a:srgbClr val="282828"/>
                </a:solidFill>
                <a:latin typeface="Arial"/>
              </a:defRPr>
            </a:pPr>
            <a:r>
              <a:t>C5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4658" y="4078784"/>
            <a:ext cx="502920" cy="384048"/>
          </a:xfrm>
          <a:prstGeom prst="roundRect">
            <a:avLst/>
          </a:prstGeom>
          <a:solidFill>
            <a:srgbClr val="FFE699"/>
          </a:solidFill>
          <a:ln w="15240">
            <a:solidFill>
              <a:srgbClr val="B4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200" b="1">
                <a:solidFill>
                  <a:srgbClr val="282828"/>
                </a:solidFill>
                <a:latin typeface="Arial"/>
              </a:defRPr>
            </a:pPr>
            <a:r>
              <a:t>D1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10730" y="4078784"/>
            <a:ext cx="502920" cy="384048"/>
          </a:xfrm>
          <a:prstGeom prst="roundRect">
            <a:avLst/>
          </a:prstGeom>
          <a:solidFill>
            <a:srgbClr val="FFE699"/>
          </a:solidFill>
          <a:ln w="15240">
            <a:solidFill>
              <a:srgbClr val="B4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200" b="1">
                <a:solidFill>
                  <a:srgbClr val="282828"/>
                </a:solidFill>
                <a:latin typeface="Arial"/>
              </a:defRPr>
            </a:pPr>
            <a:r>
              <a:t>D2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86802" y="4078784"/>
            <a:ext cx="502920" cy="384048"/>
          </a:xfrm>
          <a:prstGeom prst="roundRect">
            <a:avLst/>
          </a:prstGeom>
          <a:solidFill>
            <a:srgbClr val="BDD7EE"/>
          </a:solidFill>
          <a:ln w="1524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200" b="1">
                <a:solidFill>
                  <a:srgbClr val="282828"/>
                </a:solidFill>
                <a:latin typeface="Arial"/>
              </a:defRPr>
            </a:pPr>
            <a:r>
              <a:t>B6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62874" y="4078784"/>
            <a:ext cx="502920" cy="384048"/>
          </a:xfrm>
          <a:prstGeom prst="roundRect">
            <a:avLst/>
          </a:prstGeom>
          <a:solidFill>
            <a:srgbClr val="BDD7EE"/>
          </a:solidFill>
          <a:ln w="1524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200" b="1">
                <a:solidFill>
                  <a:srgbClr val="282828"/>
                </a:solidFill>
                <a:latin typeface="Arial"/>
              </a:defRPr>
            </a:pPr>
            <a:r>
              <a:t>B7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8946" y="4078784"/>
            <a:ext cx="502920" cy="384048"/>
          </a:xfrm>
          <a:prstGeom prst="roundRect">
            <a:avLst/>
          </a:prstGeom>
          <a:solidFill>
            <a:srgbClr val="C6E0B4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200" b="1">
                <a:solidFill>
                  <a:srgbClr val="282828"/>
                </a:solidFill>
                <a:latin typeface="Arial"/>
              </a:defRPr>
            </a:pPr>
            <a:r>
              <a:t>C6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15018" y="4078784"/>
            <a:ext cx="502920" cy="384048"/>
          </a:xfrm>
          <a:prstGeom prst="roundRect">
            <a:avLst/>
          </a:prstGeom>
          <a:solidFill>
            <a:srgbClr val="C6E0B4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200" b="1">
                <a:solidFill>
                  <a:srgbClr val="282828"/>
                </a:solidFill>
                <a:latin typeface="Arial"/>
              </a:defRPr>
            </a:pPr>
            <a:r>
              <a:t>C7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2514" y="4645712"/>
            <a:ext cx="4617720" cy="502920"/>
          </a:xfrm>
          <a:prstGeom prst="roundRect">
            <a:avLst/>
          </a:prstGeom>
          <a:solidFill>
            <a:srgbClr val="E6E6E6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700" b="1">
                <a:solidFill>
                  <a:srgbClr val="282828"/>
                </a:solidFill>
                <a:latin typeface="Arial"/>
              </a:defRPr>
            </a:pPr>
            <a:r>
              <a:t>16 physical CPU slots are occupied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3194" y="3136952"/>
            <a:ext cx="4023360" cy="32004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1800" b="1">
                <a:solidFill>
                  <a:srgbClr val="282828"/>
                </a:solidFill>
                <a:latin typeface="Arial"/>
              </a:defRPr>
            </a:pPr>
            <a:r>
              <a:t>Waiting for next time slice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06074" y="3548432"/>
            <a:ext cx="548640" cy="438912"/>
          </a:xfrm>
          <a:prstGeom prst="roundRect">
            <a:avLst/>
          </a:prstGeom>
          <a:solidFill>
            <a:srgbClr val="BDD7EE"/>
          </a:solidFill>
          <a:ln w="1524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300" b="1">
                <a:solidFill>
                  <a:srgbClr val="282828"/>
                </a:solidFill>
                <a:latin typeface="Arial"/>
              </a:defRPr>
            </a:pPr>
            <a:r>
              <a:t>B8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91874" y="3548432"/>
            <a:ext cx="548640" cy="438912"/>
          </a:xfrm>
          <a:prstGeom prst="roundRect">
            <a:avLst/>
          </a:prstGeom>
          <a:solidFill>
            <a:srgbClr val="C6E0B4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300" b="1">
                <a:solidFill>
                  <a:srgbClr val="282828"/>
                </a:solidFill>
                <a:latin typeface="Arial"/>
              </a:defRPr>
            </a:pPr>
            <a:r>
              <a:t>C8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77674" y="3548432"/>
            <a:ext cx="548640" cy="438912"/>
          </a:xfrm>
          <a:prstGeom prst="roundRect">
            <a:avLst/>
          </a:prstGeom>
          <a:solidFill>
            <a:srgbClr val="FFE699"/>
          </a:solidFill>
          <a:ln w="15240">
            <a:solidFill>
              <a:srgbClr val="B4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300" b="1">
                <a:solidFill>
                  <a:srgbClr val="282828"/>
                </a:solidFill>
                <a:latin typeface="Arial"/>
              </a:defRPr>
            </a:pPr>
            <a:r>
              <a:t>D3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63474" y="3548432"/>
            <a:ext cx="548640" cy="438912"/>
          </a:xfrm>
          <a:prstGeom prst="roundRect">
            <a:avLst/>
          </a:prstGeom>
          <a:solidFill>
            <a:srgbClr val="FFE699"/>
          </a:solidFill>
          <a:ln w="15240">
            <a:solidFill>
              <a:srgbClr val="B4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300" b="1">
                <a:solidFill>
                  <a:srgbClr val="282828"/>
                </a:solidFill>
                <a:latin typeface="Arial"/>
              </a:defRPr>
            </a:pPr>
            <a:r>
              <a:t>D4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23194" y="4645712"/>
            <a:ext cx="3840480" cy="502920"/>
          </a:xfrm>
          <a:prstGeom prst="roundRect">
            <a:avLst/>
          </a:prstGeom>
          <a:solidFill>
            <a:srgbClr val="E6E6E6"/>
          </a:solidFill>
          <a:ln w="1524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700" b="1">
                <a:solidFill>
                  <a:srgbClr val="282828"/>
                </a:solidFill>
                <a:latin typeface="Arial"/>
              </a:defRPr>
            </a:pPr>
            <a:r>
              <a:t>4 vCPUs wait in the queue</a:t>
            </a:r>
          </a:p>
        </p:txBody>
      </p:sp>
      <p:sp>
        <p:nvSpPr>
          <p:cNvPr id="33" name="Rounded Rectangle 11">
            <a:extLst>
              <a:ext uri="{FF2B5EF4-FFF2-40B4-BE49-F238E27FC236}">
                <a16:creationId xmlns:a16="http://schemas.microsoft.com/office/drawing/2014/main" id="{6A8B5C13-5E87-4142-9FA4-E807552EC378}"/>
              </a:ext>
            </a:extLst>
          </p:cNvPr>
          <p:cNvSpPr/>
          <p:nvPr/>
        </p:nvSpPr>
        <p:spPr>
          <a:xfrm>
            <a:off x="982514" y="5473244"/>
            <a:ext cx="9966960" cy="777240"/>
          </a:xfrm>
          <a:prstGeom prst="roundRect">
            <a:avLst/>
          </a:prstGeom>
          <a:noFill/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en-AU" b="1" dirty="0">
                <a:solidFill>
                  <a:srgbClr val="1E1E1E"/>
                </a:solidFill>
                <a:latin typeface="Aptos"/>
              </a:rPr>
              <a:t>Do </a:t>
            </a:r>
            <a:r>
              <a:rPr lang="en-AU" sz="2000" b="1" dirty="0">
                <a:solidFill>
                  <a:srgbClr val="1E1E1E"/>
                </a:solidFill>
                <a:latin typeface="Aptos"/>
              </a:rPr>
              <a:t>Bob and Charlie get more time of running on </a:t>
            </a:r>
            <a:r>
              <a:rPr lang="en-AU" sz="2000" b="1" dirty="0" err="1">
                <a:solidFill>
                  <a:srgbClr val="1E1E1E"/>
                </a:solidFill>
                <a:latin typeface="Aptos"/>
              </a:rPr>
              <a:t>pCPU</a:t>
            </a:r>
            <a:r>
              <a:rPr lang="en-AU" b="1" dirty="0">
                <a:solidFill>
                  <a:srgbClr val="1E1E1E"/>
                </a:solidFill>
                <a:latin typeface="Aptos"/>
              </a:rPr>
              <a:t> than Daniel?</a:t>
            </a:r>
            <a:endParaRPr b="1" dirty="0">
              <a:solidFill>
                <a:srgbClr val="1E1E1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79325" y="2158325"/>
            <a:ext cx="1234440" cy="384048"/>
          </a:xfrm>
          <a:prstGeom prst="roundRect">
            <a:avLst/>
          </a:prstGeom>
          <a:solidFill>
            <a:srgbClr val="B4D5F5"/>
          </a:solidFill>
          <a:ln w="15875">
            <a:solidFill>
              <a:srgbClr val="457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Bob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42365" y="2222333"/>
            <a:ext cx="310896" cy="219456"/>
          </a:xfrm>
          <a:prstGeom prst="roundRect">
            <a:avLst/>
          </a:prstGeom>
          <a:solidFill>
            <a:srgbClr val="B4D5F5"/>
          </a:solidFill>
          <a:ln w="15875">
            <a:solidFill>
              <a:srgbClr val="457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B1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3845" y="2222333"/>
            <a:ext cx="310896" cy="219456"/>
          </a:xfrm>
          <a:prstGeom prst="roundRect">
            <a:avLst/>
          </a:prstGeom>
          <a:solidFill>
            <a:srgbClr val="B4D5F5"/>
          </a:solidFill>
          <a:ln w="15875">
            <a:solidFill>
              <a:srgbClr val="457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B2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65325" y="2222333"/>
            <a:ext cx="310896" cy="219456"/>
          </a:xfrm>
          <a:prstGeom prst="roundRect">
            <a:avLst/>
          </a:prstGeom>
          <a:solidFill>
            <a:srgbClr val="B4D5F5"/>
          </a:solidFill>
          <a:ln w="15875">
            <a:solidFill>
              <a:srgbClr val="457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B3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6805" y="2222333"/>
            <a:ext cx="310896" cy="219456"/>
          </a:xfrm>
          <a:prstGeom prst="roundRect">
            <a:avLst/>
          </a:prstGeom>
          <a:solidFill>
            <a:srgbClr val="B4D5F5"/>
          </a:solidFill>
          <a:ln w="15875">
            <a:solidFill>
              <a:srgbClr val="457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B4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88285" y="2222333"/>
            <a:ext cx="310896" cy="219456"/>
          </a:xfrm>
          <a:prstGeom prst="roundRect">
            <a:avLst/>
          </a:prstGeom>
          <a:solidFill>
            <a:srgbClr val="B4D5F5"/>
          </a:solidFill>
          <a:ln w="15875">
            <a:solidFill>
              <a:srgbClr val="457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B5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9765" y="2222333"/>
            <a:ext cx="310896" cy="219456"/>
          </a:xfrm>
          <a:prstGeom prst="roundRect">
            <a:avLst/>
          </a:prstGeom>
          <a:solidFill>
            <a:srgbClr val="B4D5F5"/>
          </a:solidFill>
          <a:ln w="15875">
            <a:solidFill>
              <a:srgbClr val="457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B6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11245" y="2222333"/>
            <a:ext cx="310896" cy="219456"/>
          </a:xfrm>
          <a:prstGeom prst="roundRect">
            <a:avLst/>
          </a:prstGeom>
          <a:solidFill>
            <a:srgbClr val="B4D5F5"/>
          </a:solidFill>
          <a:ln w="15875">
            <a:solidFill>
              <a:srgbClr val="457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B7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22725" y="2222333"/>
            <a:ext cx="310896" cy="219456"/>
          </a:xfrm>
          <a:prstGeom prst="roundRect">
            <a:avLst/>
          </a:prstGeom>
          <a:solidFill>
            <a:srgbClr val="B4D5F5"/>
          </a:solidFill>
          <a:ln w="15875">
            <a:solidFill>
              <a:srgbClr val="457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B8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9325" y="2981285"/>
            <a:ext cx="1234440" cy="384048"/>
          </a:xfrm>
          <a:prstGeom prst="roundRect">
            <a:avLst/>
          </a:prstGeom>
          <a:solidFill>
            <a:srgbClr val="C6E8B7"/>
          </a:solidFill>
          <a:ln w="15875">
            <a:solidFill>
              <a:srgbClr val="509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Charlie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42365" y="3045293"/>
            <a:ext cx="310896" cy="219456"/>
          </a:xfrm>
          <a:prstGeom prst="roundRect">
            <a:avLst/>
          </a:prstGeom>
          <a:solidFill>
            <a:srgbClr val="C6E8B7"/>
          </a:solidFill>
          <a:ln w="15875">
            <a:solidFill>
              <a:srgbClr val="509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C1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53845" y="3045293"/>
            <a:ext cx="310896" cy="219456"/>
          </a:xfrm>
          <a:prstGeom prst="roundRect">
            <a:avLst/>
          </a:prstGeom>
          <a:solidFill>
            <a:srgbClr val="C6E8B7"/>
          </a:solidFill>
          <a:ln w="15875">
            <a:solidFill>
              <a:srgbClr val="509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C2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65325" y="3045293"/>
            <a:ext cx="310896" cy="219456"/>
          </a:xfrm>
          <a:prstGeom prst="roundRect">
            <a:avLst/>
          </a:prstGeom>
          <a:solidFill>
            <a:srgbClr val="C6E8B7"/>
          </a:solidFill>
          <a:ln w="15875">
            <a:solidFill>
              <a:srgbClr val="509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C3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6805" y="3045293"/>
            <a:ext cx="310896" cy="219456"/>
          </a:xfrm>
          <a:prstGeom prst="roundRect">
            <a:avLst/>
          </a:prstGeom>
          <a:solidFill>
            <a:srgbClr val="C6E8B7"/>
          </a:solidFill>
          <a:ln w="15875">
            <a:solidFill>
              <a:srgbClr val="509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C4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88285" y="3045293"/>
            <a:ext cx="310896" cy="219456"/>
          </a:xfrm>
          <a:prstGeom prst="roundRect">
            <a:avLst/>
          </a:prstGeom>
          <a:solidFill>
            <a:srgbClr val="C6E8B7"/>
          </a:solidFill>
          <a:ln w="15875">
            <a:solidFill>
              <a:srgbClr val="509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C5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99765" y="3045293"/>
            <a:ext cx="310896" cy="219456"/>
          </a:xfrm>
          <a:prstGeom prst="roundRect">
            <a:avLst/>
          </a:prstGeom>
          <a:solidFill>
            <a:srgbClr val="C6E8B7"/>
          </a:solidFill>
          <a:ln w="15875">
            <a:solidFill>
              <a:srgbClr val="509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C6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11245" y="3045293"/>
            <a:ext cx="310896" cy="219456"/>
          </a:xfrm>
          <a:prstGeom prst="roundRect">
            <a:avLst/>
          </a:prstGeom>
          <a:solidFill>
            <a:srgbClr val="C6E8B7"/>
          </a:solidFill>
          <a:ln w="15875">
            <a:solidFill>
              <a:srgbClr val="509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C7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22725" y="3045293"/>
            <a:ext cx="310896" cy="219456"/>
          </a:xfrm>
          <a:prstGeom prst="roundRect">
            <a:avLst/>
          </a:prstGeom>
          <a:solidFill>
            <a:srgbClr val="C6E8B7"/>
          </a:solidFill>
          <a:ln w="15875">
            <a:solidFill>
              <a:srgbClr val="509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C8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9325" y="3804245"/>
            <a:ext cx="1234440" cy="384048"/>
          </a:xfrm>
          <a:prstGeom prst="roundRect">
            <a:avLst/>
          </a:prstGeom>
          <a:solidFill>
            <a:srgbClr val="FFE291"/>
          </a:solidFill>
          <a:ln w="15875">
            <a:solidFill>
              <a:srgbClr val="C49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Daniel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42365" y="3868253"/>
            <a:ext cx="310896" cy="219456"/>
          </a:xfrm>
          <a:prstGeom prst="roundRect">
            <a:avLst/>
          </a:prstGeom>
          <a:solidFill>
            <a:srgbClr val="FFE291"/>
          </a:solidFill>
          <a:ln w="15875">
            <a:solidFill>
              <a:srgbClr val="C49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D1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53845" y="3868253"/>
            <a:ext cx="310896" cy="219456"/>
          </a:xfrm>
          <a:prstGeom prst="roundRect">
            <a:avLst/>
          </a:prstGeom>
          <a:solidFill>
            <a:srgbClr val="FFE291"/>
          </a:solidFill>
          <a:ln w="15875">
            <a:solidFill>
              <a:srgbClr val="C49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D2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65325" y="3868253"/>
            <a:ext cx="310896" cy="219456"/>
          </a:xfrm>
          <a:prstGeom prst="roundRect">
            <a:avLst/>
          </a:prstGeom>
          <a:solidFill>
            <a:srgbClr val="FFE291"/>
          </a:solidFill>
          <a:ln w="15875">
            <a:solidFill>
              <a:srgbClr val="C49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D3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76805" y="3868253"/>
            <a:ext cx="310896" cy="219456"/>
          </a:xfrm>
          <a:prstGeom prst="roundRect">
            <a:avLst/>
          </a:prstGeom>
          <a:solidFill>
            <a:srgbClr val="FFE291"/>
          </a:solidFill>
          <a:ln w="15875">
            <a:solidFill>
              <a:srgbClr val="C49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D4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2251" y="1387155"/>
            <a:ext cx="9255936" cy="41148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r>
              <a:rPr lang="en-US" sz="1800" b="1" dirty="0">
                <a:solidFill>
                  <a:srgbClr val="1F4E79"/>
                </a:solidFill>
                <a:latin typeface="Arial"/>
              </a:rPr>
              <a:t>Each vCPU becomes one scheduling ticket. </a:t>
            </a:r>
            <a:r>
              <a:rPr sz="1800" b="1" dirty="0">
                <a:solidFill>
                  <a:srgbClr val="1F4E79"/>
                </a:solidFill>
                <a:latin typeface="Arial"/>
              </a:rPr>
              <a:t>Total = 20 scheduling tickets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334205" y="3209885"/>
            <a:ext cx="960120" cy="0"/>
          </a:xfrm>
          <a:prstGeom prst="line">
            <a:avLst/>
          </a:prstGeom>
          <a:ln w="25400">
            <a:solidFill>
              <a:srgbClr val="7D57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31485" y="2204045"/>
            <a:ext cx="822960" cy="256032"/>
          </a:xfrm>
          <a:prstGeom prst="rect">
            <a:avLst/>
          </a:prstGeom>
          <a:noFill/>
        </p:spPr>
        <p:txBody>
          <a:bodyPr wrap="square" lIns="64008" tIns="27432" rIns="64008" bIns="27432" anchor="t">
            <a:spAutoFit/>
          </a:bodyPr>
          <a:lstStyle/>
          <a:p>
            <a:pPr algn="l"/>
            <a:r>
              <a:rPr sz="1600" b="1">
                <a:solidFill>
                  <a:srgbClr val="2D2D2D"/>
                </a:solidFill>
                <a:latin typeface="Arial"/>
              </a:rPr>
              <a:t>Bob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37325" y="2204045"/>
            <a:ext cx="2788920" cy="27432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437325" y="2204045"/>
            <a:ext cx="2788920" cy="274320"/>
          </a:xfrm>
          <a:prstGeom prst="roundRect">
            <a:avLst/>
          </a:prstGeom>
          <a:solidFill>
            <a:srgbClr val="B4D5F5"/>
          </a:solidFill>
          <a:ln w="15875">
            <a:solidFill>
              <a:srgbClr val="457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409125" y="2185757"/>
            <a:ext cx="1234440" cy="301752"/>
          </a:xfrm>
          <a:prstGeom prst="rect">
            <a:avLst/>
          </a:prstGeom>
          <a:noFill/>
        </p:spPr>
        <p:txBody>
          <a:bodyPr wrap="square" lIns="64008" tIns="27432" rIns="64008" bIns="27432" anchor="t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Arial"/>
              </a:rPr>
              <a:t>8/20 = 40%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31485" y="3045293"/>
            <a:ext cx="822960" cy="256032"/>
          </a:xfrm>
          <a:prstGeom prst="rect">
            <a:avLst/>
          </a:prstGeom>
          <a:noFill/>
        </p:spPr>
        <p:txBody>
          <a:bodyPr wrap="square" lIns="64008" tIns="27432" rIns="64008" bIns="27432" anchor="t">
            <a:spAutoFit/>
          </a:bodyPr>
          <a:lstStyle/>
          <a:p>
            <a:pPr algn="l"/>
            <a:r>
              <a:rPr sz="1600" b="1">
                <a:solidFill>
                  <a:srgbClr val="2D2D2D"/>
                </a:solidFill>
                <a:latin typeface="Arial"/>
              </a:rPr>
              <a:t>Charlie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37325" y="3045293"/>
            <a:ext cx="2788920" cy="27432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437325" y="3045293"/>
            <a:ext cx="2788920" cy="274320"/>
          </a:xfrm>
          <a:prstGeom prst="roundRect">
            <a:avLst/>
          </a:prstGeom>
          <a:solidFill>
            <a:srgbClr val="C6E8B7"/>
          </a:solidFill>
          <a:ln w="15875">
            <a:solidFill>
              <a:srgbClr val="509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409125" y="3027005"/>
            <a:ext cx="1234440" cy="301752"/>
          </a:xfrm>
          <a:prstGeom prst="rect">
            <a:avLst/>
          </a:prstGeom>
          <a:noFill/>
        </p:spPr>
        <p:txBody>
          <a:bodyPr wrap="square" lIns="64008" tIns="27432" rIns="64008" bIns="27432" anchor="t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Arial"/>
              </a:rPr>
              <a:t>8/20 = 40%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31485" y="3886541"/>
            <a:ext cx="822960" cy="256032"/>
          </a:xfrm>
          <a:prstGeom prst="rect">
            <a:avLst/>
          </a:prstGeom>
          <a:noFill/>
        </p:spPr>
        <p:txBody>
          <a:bodyPr wrap="square" lIns="64008" tIns="27432" rIns="64008" bIns="27432" anchor="t">
            <a:spAutoFit/>
          </a:bodyPr>
          <a:lstStyle/>
          <a:p>
            <a:pPr algn="l"/>
            <a:r>
              <a:rPr sz="1600" b="1">
                <a:solidFill>
                  <a:srgbClr val="2D2D2D"/>
                </a:solidFill>
                <a:latin typeface="Arial"/>
              </a:rPr>
              <a:t>Daniel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37325" y="3886541"/>
            <a:ext cx="2788920" cy="27432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7437325" y="3886541"/>
            <a:ext cx="1394460" cy="274320"/>
          </a:xfrm>
          <a:prstGeom prst="roundRect">
            <a:avLst/>
          </a:prstGeom>
          <a:solidFill>
            <a:srgbClr val="FFE291"/>
          </a:solidFill>
          <a:ln w="15875">
            <a:solidFill>
              <a:srgbClr val="C49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409125" y="3868253"/>
            <a:ext cx="1234440" cy="301752"/>
          </a:xfrm>
          <a:prstGeom prst="rect">
            <a:avLst/>
          </a:prstGeom>
          <a:noFill/>
        </p:spPr>
        <p:txBody>
          <a:bodyPr wrap="square" lIns="64008" tIns="27432" rIns="64008" bIns="27432" anchor="t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Arial"/>
              </a:rPr>
              <a:t>4/20 = 20%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13FE4A9-C86A-479E-AC4F-D300D3B44B21}"/>
              </a:ext>
            </a:extLst>
          </p:cNvPr>
          <p:cNvSpPr txBox="1"/>
          <p:nvPr/>
        </p:nvSpPr>
        <p:spPr>
          <a:xfrm>
            <a:off x="579325" y="246102"/>
            <a:ext cx="420018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82828"/>
                </a:solidFill>
                <a:latin typeface="Arial"/>
              </a:defRPr>
            </a:pPr>
            <a:r>
              <a:rPr lang="en-AU" dirty="0"/>
              <a:t>CPU overcommitment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599" y="289561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82828"/>
                </a:solidFill>
                <a:latin typeface="Arial"/>
              </a:defRPr>
            </a:pPr>
            <a:r>
              <a:rPr dirty="0"/>
              <a:t>CPU virtualization: same idea as process scheduling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58241"/>
            <a:ext cx="4389120" cy="6400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000" b="1">
                <a:solidFill>
                  <a:srgbClr val="282828"/>
                </a:solidFill>
                <a:latin typeface="Arial"/>
              </a:defRPr>
            </a:pPr>
            <a:r>
              <a:rPr dirty="0"/>
              <a:t>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960" y="1112521"/>
            <a:ext cx="4389120" cy="6857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000" b="1">
                <a:solidFill>
                  <a:srgbClr val="282828"/>
                </a:solidFill>
                <a:latin typeface="Arial"/>
              </a:defRPr>
            </a:pPr>
            <a:r>
              <a:rPr dirty="0"/>
              <a:t>Virtualization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40" y="2484119"/>
            <a:ext cx="0" cy="365761"/>
          </a:xfrm>
          <a:prstGeom prst="line">
            <a:avLst/>
          </a:prstGeom>
          <a:ln w="19050">
            <a:solidFill>
              <a:srgbClr val="2F7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834640" y="3444240"/>
            <a:ext cx="0" cy="411480"/>
          </a:xfrm>
          <a:prstGeom prst="line">
            <a:avLst/>
          </a:prstGeom>
          <a:ln w="19050">
            <a:solidFill>
              <a:srgbClr val="2F7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686800" y="2484119"/>
            <a:ext cx="0" cy="365761"/>
          </a:xfrm>
          <a:prstGeom prst="line">
            <a:avLst/>
          </a:prstGeom>
          <a:ln w="1905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686800" y="3444240"/>
            <a:ext cx="0" cy="411480"/>
          </a:xfrm>
          <a:prstGeom prst="line">
            <a:avLst/>
          </a:prstGeom>
          <a:ln w="1905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051560" y="1752601"/>
            <a:ext cx="3566160" cy="777239"/>
          </a:xfrm>
          <a:prstGeom prst="roundRect">
            <a:avLst/>
          </a:prstGeom>
          <a:solidFill>
            <a:srgbClr val="BDD7EE"/>
          </a:solidFill>
          <a:ln w="1524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800" b="1">
                <a:solidFill>
                  <a:srgbClr val="282828"/>
                </a:solidFill>
                <a:latin typeface="Arial"/>
              </a:defRPr>
            </a:pPr>
            <a:r>
              <a:rPr dirty="0"/>
              <a:t>Many processes</a:t>
            </a:r>
            <a:br>
              <a:rPr dirty="0"/>
            </a:br>
            <a:r>
              <a:rPr dirty="0"/>
              <a:t>P1  P2  P3  P4  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2849880"/>
            <a:ext cx="3108960" cy="640080"/>
          </a:xfrm>
          <a:prstGeom prst="roundRect">
            <a:avLst/>
          </a:prstGeom>
          <a:solidFill>
            <a:srgbClr val="E6E6E6"/>
          </a:solidFill>
          <a:ln w="1524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700" b="1">
                <a:solidFill>
                  <a:srgbClr val="282828"/>
                </a:solidFill>
                <a:latin typeface="Arial"/>
              </a:defRPr>
            </a:pPr>
            <a:r>
              <a:t>OS scheduler</a:t>
            </a:r>
            <a:br/>
            <a:r>
              <a:t>chooses one process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3855720"/>
            <a:ext cx="2560320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800" b="1">
                <a:solidFill>
                  <a:srgbClr val="282828"/>
                </a:solidFill>
                <a:latin typeface="Arial"/>
              </a:defRPr>
            </a:pPr>
            <a:r>
              <a:t>Physical CPU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779321"/>
            <a:ext cx="41148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800" b="0">
                <a:solidFill>
                  <a:srgbClr val="282828"/>
                </a:solidFill>
                <a:latin typeface="Arial"/>
              </a:defRPr>
            </a:pPr>
            <a:r>
              <a:rPr dirty="0"/>
              <a:t>Processes take turns on CPUs.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752601"/>
            <a:ext cx="3749039" cy="777239"/>
          </a:xfrm>
          <a:prstGeom prst="roundRect">
            <a:avLst/>
          </a:prstGeom>
          <a:solidFill>
            <a:srgbClr val="C6E0B4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800" b="1">
                <a:solidFill>
                  <a:srgbClr val="282828"/>
                </a:solidFill>
                <a:latin typeface="Arial"/>
              </a:defRPr>
            </a:pPr>
            <a:r>
              <a:rPr dirty="0"/>
              <a:t>Many vCPUs</a:t>
            </a:r>
            <a:br>
              <a:rPr dirty="0"/>
            </a:br>
            <a:r>
              <a:rPr dirty="0"/>
              <a:t>B1  B2  C1  D1  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2849880"/>
            <a:ext cx="3200400" cy="640080"/>
          </a:xfrm>
          <a:prstGeom prst="roundRect">
            <a:avLst/>
          </a:prstGeom>
          <a:solidFill>
            <a:srgbClr val="E6E6E6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700" b="1">
                <a:solidFill>
                  <a:srgbClr val="282828"/>
                </a:solidFill>
                <a:latin typeface="Arial"/>
              </a:defRPr>
            </a:pPr>
            <a:r>
              <a:t>VMM scheduler</a:t>
            </a:r>
            <a:br/>
            <a:r>
              <a:t>chooses vCPUs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3855720"/>
            <a:ext cx="2560320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1800" b="1">
                <a:solidFill>
                  <a:srgbClr val="282828"/>
                </a:solidFill>
                <a:latin typeface="Arial"/>
              </a:defRPr>
            </a:pPr>
            <a:r>
              <a:t>Physical CPU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779321"/>
            <a:ext cx="429768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800" b="0">
                <a:solidFill>
                  <a:srgbClr val="282828"/>
                </a:solidFill>
                <a:latin typeface="Arial"/>
              </a:defRPr>
            </a:pPr>
            <a:r>
              <a:rPr dirty="0"/>
              <a:t>vCPUs take turns on physical CPUs.</a:t>
            </a:r>
          </a:p>
        </p:txBody>
      </p:sp>
    </p:spTree>
    <p:extLst>
      <p:ext uri="{BB962C8B-B14F-4D97-AF65-F5344CB8AC3E}">
        <p14:creationId xmlns:p14="http://schemas.microsoft.com/office/powerpoint/2010/main" val="3447767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9819F-C052-EA48-AF4A-97DF04512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14326"/>
            <a:ext cx="6172200" cy="667808"/>
          </a:xfrm>
        </p:spPr>
        <p:txBody>
          <a:bodyPr>
            <a:normAutofit/>
          </a:bodyPr>
          <a:lstStyle/>
          <a:p>
            <a:r>
              <a:rPr lang="en-US" sz="3200" b="1" dirty="0"/>
              <a:t>Amazon S3 (</a:t>
            </a:r>
            <a:r>
              <a:rPr lang="en-AU" sz="3200" b="1" dirty="0"/>
              <a:t>Simple Storage Service)</a:t>
            </a:r>
            <a:endParaRPr lang="en-US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F3D8E-DAB3-1D4C-9C2E-2A64ADFCF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253331"/>
            <a:ext cx="11353800" cy="4351338"/>
          </a:xfrm>
        </p:spPr>
        <p:txBody>
          <a:bodyPr/>
          <a:lstStyle/>
          <a:p>
            <a:r>
              <a:rPr lang="en-US" sz="2400" dirty="0"/>
              <a:t>It is a popular and widely used cloud storage service provided by AWS</a:t>
            </a:r>
          </a:p>
          <a:p>
            <a:pPr lvl="1"/>
            <a:r>
              <a:rPr lang="en-US" dirty="0"/>
              <a:t>It allows users to store and retrieve any amount of data at any time over the internet</a:t>
            </a:r>
          </a:p>
        </p:txBody>
      </p:sp>
    </p:spTree>
    <p:extLst>
      <p:ext uri="{BB962C8B-B14F-4D97-AF65-F5344CB8AC3E}">
        <p14:creationId xmlns:p14="http://schemas.microsoft.com/office/powerpoint/2010/main" val="2007520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9819F-C052-EA48-AF4A-97DF04512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615" y="169182"/>
            <a:ext cx="3668486" cy="728889"/>
          </a:xfrm>
        </p:spPr>
        <p:txBody>
          <a:bodyPr>
            <a:normAutofit/>
          </a:bodyPr>
          <a:lstStyle/>
          <a:p>
            <a:r>
              <a:rPr lang="en-US" sz="3200" b="1" dirty="0"/>
              <a:t>Cloud storage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D44173-31C4-4881-B751-197F376143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1130" y="1102471"/>
            <a:ext cx="6408232" cy="367165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D7AA0D5-F9E0-4C8D-9ACF-0D2B27A38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7339" y="5069644"/>
            <a:ext cx="9450210" cy="1430547"/>
          </a:xfrm>
        </p:spPr>
        <p:txBody>
          <a:bodyPr>
            <a:normAutofit/>
          </a:bodyPr>
          <a:lstStyle/>
          <a:p>
            <a:r>
              <a:rPr lang="en-US" sz="2400" dirty="0"/>
              <a:t>Cloud storage, provided by a third-party cloud provider allows customers to store and access data over the internet. </a:t>
            </a:r>
          </a:p>
          <a:p>
            <a:r>
              <a:rPr lang="en-US" sz="2400" dirty="0"/>
              <a:t>Examples: Dropbox, Google drive, iCloud, Amazon S3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401135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9819F-C052-EA48-AF4A-97DF04512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14326"/>
            <a:ext cx="6172200" cy="667808"/>
          </a:xfrm>
        </p:spPr>
        <p:txBody>
          <a:bodyPr>
            <a:normAutofit/>
          </a:bodyPr>
          <a:lstStyle/>
          <a:p>
            <a:r>
              <a:rPr lang="en-US" sz="3200" b="1" dirty="0"/>
              <a:t>Amazon S3 (</a:t>
            </a:r>
            <a:r>
              <a:rPr lang="en-AU" sz="3200" b="1" dirty="0"/>
              <a:t>Simple Storage Service)</a:t>
            </a:r>
            <a:endParaRPr lang="en-US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F3D8E-DAB3-1D4C-9C2E-2A64ADFCF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253331"/>
            <a:ext cx="11353800" cy="4351338"/>
          </a:xfrm>
        </p:spPr>
        <p:txBody>
          <a:bodyPr/>
          <a:lstStyle/>
          <a:p>
            <a:r>
              <a:rPr lang="en-US" sz="2400" dirty="0"/>
              <a:t>It is a popular and widely used cloud storage service provided by AWS</a:t>
            </a:r>
          </a:p>
          <a:p>
            <a:pPr lvl="1"/>
            <a:r>
              <a:rPr lang="en-US" dirty="0"/>
              <a:t>It allows users to store and retrieve any amount of data at any time over the internet</a:t>
            </a:r>
          </a:p>
          <a:p>
            <a:r>
              <a:rPr lang="en-US" sz="2400" dirty="0"/>
              <a:t>Bucket</a:t>
            </a:r>
          </a:p>
          <a:p>
            <a:r>
              <a:rPr lang="en-US" sz="2400" dirty="0"/>
              <a:t>Object</a:t>
            </a:r>
          </a:p>
        </p:txBody>
      </p:sp>
    </p:spTree>
    <p:extLst>
      <p:ext uri="{BB962C8B-B14F-4D97-AF65-F5344CB8AC3E}">
        <p14:creationId xmlns:p14="http://schemas.microsoft.com/office/powerpoint/2010/main" val="9421340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9819F-C052-EA48-AF4A-97DF04512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533" y="178859"/>
            <a:ext cx="2768600" cy="752475"/>
          </a:xfrm>
        </p:spPr>
        <p:txBody>
          <a:bodyPr>
            <a:normAutofit/>
          </a:bodyPr>
          <a:lstStyle/>
          <a:p>
            <a:r>
              <a:rPr lang="en-US" sz="3200" b="1" dirty="0"/>
              <a:t>Create bucket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198B1D-8D74-47EB-93FA-F3E154CA6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0266" y="1255529"/>
            <a:ext cx="8771467" cy="2622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3331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EEF1D65-C6BD-48B2-9376-C4D1B28635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0900" y="950789"/>
            <a:ext cx="7670800" cy="325156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8BD3CBA-331F-4609-8E74-D7C322D90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4945" y="4410070"/>
            <a:ext cx="10739336" cy="2269070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Bucket name must be unique within the global namespace.</a:t>
            </a:r>
          </a:p>
          <a:p>
            <a:pPr lvl="2"/>
            <a:r>
              <a:rPr lang="en-US" sz="2400" dirty="0"/>
              <a:t>Bucket names must be unique across all AWS accounts in an AWS partition. A partition is a group of AWS Regions. </a:t>
            </a:r>
          </a:p>
          <a:p>
            <a:pPr lvl="3"/>
            <a:r>
              <a:rPr lang="en-US" sz="2200" dirty="0"/>
              <a:t>three partitions: AWS (Standard Regions), AWS-CN (China Regions), and AWS-US-Gov (US Gov Regions).</a:t>
            </a:r>
          </a:p>
          <a:p>
            <a:pPr lvl="1"/>
            <a:r>
              <a:rPr lang="en-US" dirty="0"/>
              <a:t>It must follow the bucket naming rules.</a:t>
            </a:r>
            <a:endParaRPr lang="en-US" sz="28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FEA7362-3824-4D42-A3DF-2CC6221BE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533" y="178860"/>
            <a:ext cx="3242734" cy="600074"/>
          </a:xfrm>
        </p:spPr>
        <p:txBody>
          <a:bodyPr>
            <a:normAutofit/>
          </a:bodyPr>
          <a:lstStyle/>
          <a:p>
            <a:r>
              <a:rPr lang="en-US" sz="3200" b="1" dirty="0"/>
              <a:t>Create Bucket</a:t>
            </a:r>
          </a:p>
        </p:txBody>
      </p:sp>
    </p:spTree>
    <p:extLst>
      <p:ext uri="{BB962C8B-B14F-4D97-AF65-F5344CB8AC3E}">
        <p14:creationId xmlns:p14="http://schemas.microsoft.com/office/powerpoint/2010/main" val="15230147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8F5649D-86CB-420E-BD00-ADC6BD52E0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22" y="1231104"/>
            <a:ext cx="7456278" cy="471603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117331E-C865-4E37-86D3-683EEB7F2695}"/>
              </a:ext>
            </a:extLst>
          </p:cNvPr>
          <p:cNvSpPr txBox="1">
            <a:spLocks/>
          </p:cNvSpPr>
          <p:nvPr/>
        </p:nvSpPr>
        <p:spPr>
          <a:xfrm>
            <a:off x="347133" y="158384"/>
            <a:ext cx="4478867" cy="7524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US" sz="3200" b="1" dirty="0"/>
              <a:t>Rules for bucket naming</a:t>
            </a:r>
          </a:p>
        </p:txBody>
      </p:sp>
    </p:spTree>
    <p:extLst>
      <p:ext uri="{BB962C8B-B14F-4D97-AF65-F5344CB8AC3E}">
        <p14:creationId xmlns:p14="http://schemas.microsoft.com/office/powerpoint/2010/main" val="2397954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117331E-C865-4E37-86D3-683EEB7F2695}"/>
              </a:ext>
            </a:extLst>
          </p:cNvPr>
          <p:cNvSpPr txBox="1">
            <a:spLocks/>
          </p:cNvSpPr>
          <p:nvPr/>
        </p:nvSpPr>
        <p:spPr>
          <a:xfrm>
            <a:off x="347133" y="158384"/>
            <a:ext cx="4478867" cy="7524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US" sz="3200" b="1" dirty="0"/>
              <a:t>Object ownership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9F1A43-D9BF-4539-8626-F17276BB9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1880" y="1207009"/>
            <a:ext cx="8830695" cy="3090672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B4AEDD-CA95-4746-A1A0-F2E14614E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1880" y="5082929"/>
            <a:ext cx="10214152" cy="752475"/>
          </a:xfrm>
        </p:spPr>
        <p:txBody>
          <a:bodyPr/>
          <a:lstStyle/>
          <a:p>
            <a:r>
              <a:rPr lang="en-US" dirty="0"/>
              <a:t>What is an object?  </a:t>
            </a:r>
          </a:p>
        </p:txBody>
      </p:sp>
    </p:spTree>
    <p:extLst>
      <p:ext uri="{BB962C8B-B14F-4D97-AF65-F5344CB8AC3E}">
        <p14:creationId xmlns:p14="http://schemas.microsoft.com/office/powerpoint/2010/main" val="13670891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9819F-C052-EA48-AF4A-97DF04512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777" y="401326"/>
            <a:ext cx="2084641" cy="722184"/>
          </a:xfrm>
        </p:spPr>
        <p:txBody>
          <a:bodyPr>
            <a:normAutofit/>
          </a:bodyPr>
          <a:lstStyle/>
          <a:p>
            <a:r>
              <a:rPr lang="en-US" sz="3200" b="1" dirty="0"/>
              <a:t>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F3D8E-DAB3-1D4C-9C2E-2A64ADFCF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777" y="1676817"/>
            <a:ext cx="6477735" cy="3312625"/>
          </a:xfrm>
        </p:spPr>
        <p:txBody>
          <a:bodyPr>
            <a:normAutofit/>
          </a:bodyPr>
          <a:lstStyle/>
          <a:p>
            <a:r>
              <a:rPr lang="en-US" sz="2400" dirty="0"/>
              <a:t>It is an individual unit of data stored in a bucket</a:t>
            </a:r>
          </a:p>
          <a:p>
            <a:r>
              <a:rPr lang="en-US" sz="2400" dirty="0"/>
              <a:t>Can be a file of any type:</a:t>
            </a:r>
          </a:p>
          <a:p>
            <a:pPr lvl="1"/>
            <a:r>
              <a:rPr lang="en-AU" dirty="0"/>
              <a:t>documents, images, videos, etc</a:t>
            </a:r>
            <a:endParaRPr lang="en-US" dirty="0"/>
          </a:p>
          <a:p>
            <a:r>
              <a:rPr lang="en-US" sz="2400" dirty="0"/>
              <a:t>It contains both </a:t>
            </a:r>
            <a:r>
              <a:rPr lang="en-US" sz="2400" u="sng" dirty="0"/>
              <a:t>data</a:t>
            </a:r>
            <a:r>
              <a:rPr lang="en-US" sz="2400" dirty="0"/>
              <a:t> and </a:t>
            </a:r>
            <a:r>
              <a:rPr lang="en-US" sz="2400" u="sng" dirty="0"/>
              <a:t>metadata</a:t>
            </a:r>
            <a:r>
              <a:rPr lang="en-US" sz="2400" dirty="0"/>
              <a:t>:</a:t>
            </a:r>
          </a:p>
          <a:p>
            <a:pPr lvl="1"/>
            <a:r>
              <a:rPr lang="en-US" dirty="0"/>
              <a:t>Data refers to file contents. Metadata include file attributes. </a:t>
            </a:r>
          </a:p>
          <a:p>
            <a:pPr lvl="1"/>
            <a:r>
              <a:rPr lang="en-US" dirty="0"/>
              <a:t>e.g., a file called sunset.jpg is uploaded into a bucket. 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2BC6CA-D098-4057-9C77-9412A2AB5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174" y="1123510"/>
            <a:ext cx="3677477" cy="453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1898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9819F-C052-EA48-AF4A-97DF04512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534" y="198782"/>
            <a:ext cx="2084641" cy="722184"/>
          </a:xfrm>
        </p:spPr>
        <p:txBody>
          <a:bodyPr>
            <a:normAutofit/>
          </a:bodyPr>
          <a:lstStyle/>
          <a:p>
            <a:r>
              <a:rPr lang="en-US" sz="3200" b="1" dirty="0"/>
              <a:t>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F3D8E-DAB3-1D4C-9C2E-2A64ADFCF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829" y="920966"/>
            <a:ext cx="10334119" cy="5459956"/>
          </a:xfrm>
        </p:spPr>
        <p:txBody>
          <a:bodyPr>
            <a:normAutofit/>
          </a:bodyPr>
          <a:lstStyle/>
          <a:p>
            <a:r>
              <a:rPr lang="en-US" sz="2400" b="1" dirty="0"/>
              <a:t>How to identify an object? </a:t>
            </a:r>
            <a:r>
              <a:rPr lang="en-US" sz="2400" dirty="0"/>
              <a:t>object key + version ID (if enabled)</a:t>
            </a:r>
          </a:p>
          <a:p>
            <a:pPr lvl="1"/>
            <a:r>
              <a:rPr lang="en-US" dirty="0"/>
              <a:t>Object key is a string specifying the object’s location and name, e.g., </a:t>
            </a:r>
            <a:r>
              <a:rPr lang="en-US" i="1" dirty="0"/>
              <a:t>cits5503-123456-lecture/subdir/sunset.jpg</a:t>
            </a:r>
          </a:p>
          <a:p>
            <a:pPr lvl="1"/>
            <a:endParaRPr lang="en-US" i="1" dirty="0"/>
          </a:p>
          <a:p>
            <a:pPr lvl="1"/>
            <a:r>
              <a:rPr lang="en-US" dirty="0"/>
              <a:t>Version ID: denotes a specific version of an object, e.g., </a:t>
            </a:r>
            <a:r>
              <a:rPr lang="en-AU" dirty="0"/>
              <a:t>v1AbCdEfGhIjKlMnOpQrStUvWxYz1234567890</a:t>
            </a:r>
          </a:p>
          <a:p>
            <a:pPr lvl="1"/>
            <a:endParaRPr lang="en-AU" dirty="0"/>
          </a:p>
          <a:p>
            <a:pPr lvl="1"/>
            <a:r>
              <a:rPr lang="en-US" dirty="0"/>
              <a:t>A combination of an object key and version ID uniquely identifies a specific version of an object in a bucket.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8458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117331E-C865-4E37-86D3-683EEB7F2695}"/>
              </a:ext>
            </a:extLst>
          </p:cNvPr>
          <p:cNvSpPr txBox="1">
            <a:spLocks/>
          </p:cNvSpPr>
          <p:nvPr/>
        </p:nvSpPr>
        <p:spPr>
          <a:xfrm>
            <a:off x="347133" y="158385"/>
            <a:ext cx="9307230" cy="772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AU" sz="3200" b="1" i="0" dirty="0">
                <a:solidFill>
                  <a:srgbClr val="16191F"/>
                </a:solidFill>
                <a:effectLst/>
              </a:rPr>
              <a:t>Bucket versioning</a:t>
            </a:r>
            <a:endParaRPr lang="en-US" sz="205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B78215-B93E-43E1-A513-DFA074F80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906" y="1466576"/>
            <a:ext cx="7544853" cy="2140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4010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117331E-C865-4E37-86D3-683EEB7F2695}"/>
              </a:ext>
            </a:extLst>
          </p:cNvPr>
          <p:cNvSpPr txBox="1">
            <a:spLocks/>
          </p:cNvSpPr>
          <p:nvPr/>
        </p:nvSpPr>
        <p:spPr>
          <a:xfrm>
            <a:off x="347133" y="158384"/>
            <a:ext cx="4478867" cy="7524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US" sz="3200" b="1" dirty="0"/>
              <a:t>Object ownership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A7B6CEF-C272-4DEB-8F71-58692C37E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067" y="4924028"/>
            <a:ext cx="8733422" cy="752475"/>
          </a:xfrm>
        </p:spPr>
        <p:txBody>
          <a:bodyPr>
            <a:normAutofit/>
          </a:bodyPr>
          <a:lstStyle/>
          <a:p>
            <a:r>
              <a:rPr lang="en-US" sz="2400" dirty="0"/>
              <a:t>Bucket ACLs are access-control mechanism for buckets.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209D39-AADD-4B9F-9FE2-8A923A64A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067" y="1271001"/>
            <a:ext cx="8519413" cy="3409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5593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769" y="154435"/>
            <a:ext cx="4085631" cy="755087"/>
          </a:xfrm>
        </p:spPr>
        <p:txBody>
          <a:bodyPr>
            <a:normAutofit/>
          </a:bodyPr>
          <a:lstStyle/>
          <a:p>
            <a:r>
              <a:rPr lang="en-US" sz="3200" b="1" dirty="0"/>
              <a:t>Bucket policy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B33008-DCB2-4FF8-9DBE-95FC43D10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768" y="909522"/>
            <a:ext cx="11204257" cy="213185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400" dirty="0"/>
              <a:t>Secure access to buckets and their objects</a:t>
            </a:r>
            <a:endParaRPr lang="en-AU" sz="2400" dirty="0"/>
          </a:p>
          <a:p>
            <a:pPr lvl="1">
              <a:defRPr/>
            </a:pPr>
            <a:r>
              <a:rPr lang="en-AU" altLang="zh-CN" dirty="0"/>
              <a:t>For unauthenticated users, access is denied</a:t>
            </a:r>
          </a:p>
          <a:p>
            <a:pPr lvl="1">
              <a:defRPr/>
            </a:pPr>
            <a:r>
              <a:rPr lang="en-AU" dirty="0"/>
              <a:t>For authenticated users, access is dependent on their permissions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1966788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769" y="154435"/>
            <a:ext cx="4085631" cy="755087"/>
          </a:xfrm>
        </p:spPr>
        <p:txBody>
          <a:bodyPr>
            <a:normAutofit/>
          </a:bodyPr>
          <a:lstStyle/>
          <a:p>
            <a:r>
              <a:rPr lang="en-US" sz="3200" b="1" dirty="0"/>
              <a:t>Bucket policy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B33008-DCB2-4FF8-9DBE-95FC43D10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769" y="942744"/>
            <a:ext cx="9328191" cy="75508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400" dirty="0"/>
              <a:t>Secure access to buckets and their objects</a:t>
            </a:r>
            <a:endParaRPr lang="en-AU"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7E63C46-73C8-4F3F-BF2A-DC001CC3A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566" y="1982170"/>
            <a:ext cx="5317534" cy="38034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6C6692-A552-4719-B9E7-9FD70AF88D12}"/>
              </a:ext>
            </a:extLst>
          </p:cNvPr>
          <p:cNvSpPr txBox="1"/>
          <p:nvPr/>
        </p:nvSpPr>
        <p:spPr>
          <a:xfrm>
            <a:off x="384769" y="1819334"/>
            <a:ext cx="6016031" cy="3832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latin typeface="+mn-lt"/>
              </a:rPr>
              <a:t>Version</a:t>
            </a:r>
            <a:r>
              <a:rPr lang="en-US" sz="1800" dirty="0">
                <a:latin typeface="+mn-lt"/>
              </a:rPr>
              <a:t>: indicates the language version of the policy language.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latin typeface="+mn-lt"/>
              </a:rPr>
              <a:t>Statement</a:t>
            </a:r>
            <a:r>
              <a:rPr lang="en-US" sz="1800" dirty="0">
                <a:latin typeface="+mn-lt"/>
              </a:rPr>
              <a:t>: represents a permission rule.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latin typeface="+mn-lt"/>
              </a:rPr>
              <a:t>Effect</a:t>
            </a:r>
            <a:r>
              <a:rPr lang="en-US" sz="1800" dirty="0">
                <a:latin typeface="+mn-lt"/>
              </a:rPr>
              <a:t>: what the effect will be when a user requests a specific action—this can be either </a:t>
            </a:r>
            <a:r>
              <a:rPr lang="en-US" sz="1800" b="1" dirty="0">
                <a:latin typeface="+mn-lt"/>
              </a:rPr>
              <a:t>’Allow</a:t>
            </a:r>
            <a:r>
              <a:rPr lang="en-US" sz="1800" dirty="0">
                <a:latin typeface="+mn-lt"/>
              </a:rPr>
              <a:t>’ or </a:t>
            </a:r>
            <a:r>
              <a:rPr lang="en-US" sz="1800" b="1" dirty="0">
                <a:latin typeface="+mn-lt"/>
              </a:rPr>
              <a:t>’Deny</a:t>
            </a:r>
            <a:r>
              <a:rPr lang="en-US" sz="1800" dirty="0">
                <a:latin typeface="+mn-lt"/>
              </a:rPr>
              <a:t>’.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latin typeface="+mn-lt"/>
              </a:rPr>
              <a:t>Principal</a:t>
            </a:r>
            <a:r>
              <a:rPr lang="en-US" sz="1800" dirty="0">
                <a:latin typeface="+mn-lt"/>
              </a:rPr>
              <a:t>: refers to a set of users/applications that have allowed (or denied) access to the actions and resources below. 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latin typeface="+mn-lt"/>
              </a:rPr>
              <a:t>Action</a:t>
            </a:r>
            <a:r>
              <a:rPr lang="en-US" sz="1800" dirty="0">
                <a:latin typeface="+mn-lt"/>
              </a:rPr>
              <a:t>: defines a set of resource operations a principal is allowed (or denied) to perform.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latin typeface="+mn-lt"/>
              </a:rPr>
              <a:t>Resource</a:t>
            </a:r>
            <a:r>
              <a:rPr lang="en-US" sz="1800" dirty="0">
                <a:latin typeface="+mn-lt"/>
              </a:rPr>
              <a:t>: specifies AWS resources for which a principal is allowed (or denied) to take actions. ARN identifies the bucket.</a:t>
            </a:r>
          </a:p>
        </p:txBody>
      </p:sp>
    </p:spTree>
    <p:extLst>
      <p:ext uri="{BB962C8B-B14F-4D97-AF65-F5344CB8AC3E}">
        <p14:creationId xmlns:p14="http://schemas.microsoft.com/office/powerpoint/2010/main" val="24234121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489" y="158344"/>
            <a:ext cx="4286693" cy="558438"/>
          </a:xfrm>
        </p:spPr>
        <p:txBody>
          <a:bodyPr>
            <a:normAutofit/>
          </a:bodyPr>
          <a:lstStyle/>
          <a:p>
            <a:r>
              <a:rPr lang="en-US" sz="3200" b="1" dirty="0"/>
              <a:t>ARN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907ECB5-E6DB-4384-BB15-F4853E88E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888" y="841427"/>
            <a:ext cx="7186191" cy="258757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52F88FA0-B686-4499-94A7-F42B9D0B46F3}"/>
              </a:ext>
            </a:extLst>
          </p:cNvPr>
          <p:cNvSpPr/>
          <p:nvPr/>
        </p:nvSpPr>
        <p:spPr>
          <a:xfrm>
            <a:off x="4285982" y="2817601"/>
            <a:ext cx="3757005" cy="736044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EDC35F8-A780-48E1-8976-7C6FE42A7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888" y="3786865"/>
            <a:ext cx="9384173" cy="97739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AU" sz="2400" dirty="0"/>
              <a:t>ARN: </a:t>
            </a:r>
            <a:r>
              <a:rPr lang="en-US" sz="2400" dirty="0"/>
              <a:t>a unique ID for any AWS resources, such as S3 buckets, EC2 instances and IAM users.</a:t>
            </a:r>
          </a:p>
        </p:txBody>
      </p:sp>
    </p:spTree>
    <p:extLst>
      <p:ext uri="{BB962C8B-B14F-4D97-AF65-F5344CB8AC3E}">
        <p14:creationId xmlns:p14="http://schemas.microsoft.com/office/powerpoint/2010/main" val="26962662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769" y="154435"/>
            <a:ext cx="4085631" cy="755087"/>
          </a:xfrm>
        </p:spPr>
        <p:txBody>
          <a:bodyPr>
            <a:normAutofit/>
          </a:bodyPr>
          <a:lstStyle/>
          <a:p>
            <a:r>
              <a:rPr lang="en-US" sz="3200" b="1" dirty="0"/>
              <a:t>Bucket policy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B33008-DCB2-4FF8-9DBE-95FC43D10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769" y="942744"/>
            <a:ext cx="9328191" cy="75508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400" dirty="0"/>
              <a:t>Secure access to buckets and their objects</a:t>
            </a:r>
            <a:endParaRPr lang="en-AU"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7E63C46-73C8-4F3F-BF2A-DC001CC3A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566" y="1982170"/>
            <a:ext cx="5317534" cy="38034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6C6692-A552-4719-B9E7-9FD70AF88D12}"/>
              </a:ext>
            </a:extLst>
          </p:cNvPr>
          <p:cNvSpPr txBox="1"/>
          <p:nvPr/>
        </p:nvSpPr>
        <p:spPr>
          <a:xfrm>
            <a:off x="384769" y="1819334"/>
            <a:ext cx="6016031" cy="3832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latin typeface="+mn-lt"/>
              </a:rPr>
              <a:t>Version</a:t>
            </a:r>
            <a:r>
              <a:rPr lang="en-US" sz="1800" dirty="0">
                <a:latin typeface="+mn-lt"/>
              </a:rPr>
              <a:t>: indicates the language version of the policy language.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latin typeface="+mn-lt"/>
              </a:rPr>
              <a:t>Statement</a:t>
            </a:r>
            <a:r>
              <a:rPr lang="en-US" sz="1800" dirty="0">
                <a:latin typeface="+mn-lt"/>
              </a:rPr>
              <a:t>: represents a permission rule.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latin typeface="+mn-lt"/>
              </a:rPr>
              <a:t>Effect</a:t>
            </a:r>
            <a:r>
              <a:rPr lang="en-US" sz="1800" dirty="0">
                <a:latin typeface="+mn-lt"/>
              </a:rPr>
              <a:t>: what the effect will be when a user requests a specific action—this can be either </a:t>
            </a:r>
            <a:r>
              <a:rPr lang="en-US" sz="1800" b="1" dirty="0">
                <a:latin typeface="+mn-lt"/>
              </a:rPr>
              <a:t>’Allow</a:t>
            </a:r>
            <a:r>
              <a:rPr lang="en-US" sz="1800" dirty="0">
                <a:latin typeface="+mn-lt"/>
              </a:rPr>
              <a:t>’ or </a:t>
            </a:r>
            <a:r>
              <a:rPr lang="en-US" sz="1800" b="1" dirty="0">
                <a:latin typeface="+mn-lt"/>
              </a:rPr>
              <a:t>’Deny</a:t>
            </a:r>
            <a:r>
              <a:rPr lang="en-US" sz="1800" dirty="0">
                <a:latin typeface="+mn-lt"/>
              </a:rPr>
              <a:t>’.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latin typeface="+mn-lt"/>
              </a:rPr>
              <a:t>Principal</a:t>
            </a:r>
            <a:r>
              <a:rPr lang="en-US" sz="1800" dirty="0">
                <a:latin typeface="+mn-lt"/>
              </a:rPr>
              <a:t>: refers to a set of users/applications that have allowed (or denied) access to the actions and resources below. 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latin typeface="+mn-lt"/>
              </a:rPr>
              <a:t>Action</a:t>
            </a:r>
            <a:r>
              <a:rPr lang="en-US" sz="1800" dirty="0">
                <a:latin typeface="+mn-lt"/>
              </a:rPr>
              <a:t>: defines a set of resource operations a principal is allowed (or denied) to perform.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latin typeface="+mn-lt"/>
              </a:rPr>
              <a:t>Resource</a:t>
            </a:r>
            <a:r>
              <a:rPr lang="en-US" sz="1800" dirty="0">
                <a:latin typeface="+mn-lt"/>
              </a:rPr>
              <a:t>: specifies AWS resources for which a principal is allowed (or denied) to take actions. ARN identifies the bucket.</a:t>
            </a:r>
          </a:p>
        </p:txBody>
      </p:sp>
    </p:spTree>
    <p:extLst>
      <p:ext uri="{BB962C8B-B14F-4D97-AF65-F5344CB8AC3E}">
        <p14:creationId xmlns:p14="http://schemas.microsoft.com/office/powerpoint/2010/main" val="5106929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769" y="154435"/>
            <a:ext cx="4085631" cy="963166"/>
          </a:xfrm>
        </p:spPr>
        <p:txBody>
          <a:bodyPr>
            <a:normAutofit/>
          </a:bodyPr>
          <a:lstStyle/>
          <a:p>
            <a:r>
              <a:rPr lang="en-US" sz="3200" b="1" dirty="0"/>
              <a:t>Common S3 actions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13A80E-7094-4A08-9125-65D532453951}"/>
              </a:ext>
            </a:extLst>
          </p:cNvPr>
          <p:cNvSpPr txBox="1"/>
          <p:nvPr/>
        </p:nvSpPr>
        <p:spPr>
          <a:xfrm>
            <a:off x="548640" y="1420324"/>
            <a:ext cx="10017760" cy="3723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AU" sz="2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s3:GetObject</a:t>
            </a:r>
            <a:r>
              <a:rPr lang="en-AU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: Allow users to read objects from the bucket.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AU" sz="2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s3:PutObject</a:t>
            </a:r>
            <a:r>
              <a:rPr lang="en-AU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: Allow users to upload new objects to the bucket.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AU" sz="2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s3:DeleteObject</a:t>
            </a:r>
            <a:r>
              <a:rPr lang="en-AU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: Allow users to delete objects from the bucket.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AU" sz="2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s3:ListBucket</a:t>
            </a:r>
            <a:r>
              <a:rPr lang="en-AU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: Allow users to list the objects in the bucket.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AU" sz="2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s3:GetBucketLocation</a:t>
            </a:r>
            <a:r>
              <a:rPr lang="en-AU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: Allow users to retrieve the bucket’s AWS region.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AU" sz="24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 complete list of actions (https://docs.aws.amazon.com/AmazonS3/latest/API/API_Operations.html)</a:t>
            </a:r>
          </a:p>
        </p:txBody>
      </p:sp>
    </p:spTree>
    <p:extLst>
      <p:ext uri="{BB962C8B-B14F-4D97-AF65-F5344CB8AC3E}">
        <p14:creationId xmlns:p14="http://schemas.microsoft.com/office/powerpoint/2010/main" val="15008391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3554" y="332509"/>
            <a:ext cx="4085631" cy="674388"/>
          </a:xfrm>
        </p:spPr>
        <p:txBody>
          <a:bodyPr>
            <a:normAutofit/>
          </a:bodyPr>
          <a:lstStyle/>
          <a:p>
            <a:r>
              <a:rPr lang="en-US" sz="3200" b="1" dirty="0"/>
              <a:t>Bucket policy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B19275-73F5-4D28-9A14-BE237B909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07798"/>
            <a:ext cx="5375162" cy="56424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5449106-F9EC-4809-94AB-85E9426DB0BB}"/>
              </a:ext>
            </a:extLst>
          </p:cNvPr>
          <p:cNvSpPr txBox="1"/>
          <p:nvPr/>
        </p:nvSpPr>
        <p:spPr>
          <a:xfrm>
            <a:off x="543554" y="1507863"/>
            <a:ext cx="5800096" cy="2799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Id</a:t>
            </a:r>
            <a:r>
              <a:rPr lang="en-US" sz="18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sz="1800" b="1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An optional identifier for the policy, denoting a unique name for the policy.</a:t>
            </a:r>
          </a:p>
          <a:p>
            <a:pPr algn="l"/>
            <a:r>
              <a:rPr lang="en-US" sz="1800" b="1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Sid</a:t>
            </a:r>
            <a:r>
              <a:rPr lang="en-US" sz="18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: An optional identifier for the statement, denoting a unique name for the statement.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AU" sz="18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s3:GetObject</a:t>
            </a:r>
            <a:r>
              <a:rPr lang="en-AU" sz="18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: Allows users to read objects in the bucket.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AU" sz="18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s3:GetBucketLocation</a:t>
            </a:r>
            <a:r>
              <a:rPr lang="en-AU" sz="18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: Allow users to retrieve the bucket's region.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AU" sz="18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s3:ListBucket</a:t>
            </a:r>
            <a:r>
              <a:rPr lang="en-AU" sz="18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: Allows users to list the objects in the bucket.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A9A77F8-E3EB-48F8-810B-2791E5CAB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554" y="4664288"/>
            <a:ext cx="5306684" cy="685849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AU" sz="1800" dirty="0">
                <a:solidFill>
                  <a:srgbClr val="FF0000"/>
                </a:solidFill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What is the difference between the two ARNs in the Resource field?</a:t>
            </a:r>
          </a:p>
        </p:txBody>
      </p:sp>
    </p:spTree>
    <p:extLst>
      <p:ext uri="{BB962C8B-B14F-4D97-AF65-F5344CB8AC3E}">
        <p14:creationId xmlns:p14="http://schemas.microsoft.com/office/powerpoint/2010/main" val="34674726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3554" y="332509"/>
            <a:ext cx="4085631" cy="674388"/>
          </a:xfrm>
        </p:spPr>
        <p:txBody>
          <a:bodyPr>
            <a:normAutofit/>
          </a:bodyPr>
          <a:lstStyle/>
          <a:p>
            <a:r>
              <a:rPr lang="en-US" sz="3200" b="1" dirty="0"/>
              <a:t>Bucket policy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B19275-73F5-4D28-9A14-BE237B909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07798"/>
            <a:ext cx="5375162" cy="56424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5449106-F9EC-4809-94AB-85E9426DB0BB}"/>
              </a:ext>
            </a:extLst>
          </p:cNvPr>
          <p:cNvSpPr txBox="1"/>
          <p:nvPr/>
        </p:nvSpPr>
        <p:spPr>
          <a:xfrm>
            <a:off x="543554" y="1507863"/>
            <a:ext cx="5800096" cy="2799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Id</a:t>
            </a:r>
            <a:r>
              <a:rPr lang="en-US" sz="18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sz="1800" b="1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An optional identifier for the policy, denoting a unique name for the policy.</a:t>
            </a:r>
          </a:p>
          <a:p>
            <a:pPr algn="l"/>
            <a:r>
              <a:rPr lang="en-US" sz="1800" b="1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Sid</a:t>
            </a:r>
            <a:r>
              <a:rPr lang="en-US" sz="18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: An optional identifier for the statement, denoting a unique name for the statement.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AU" sz="18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s3:GetObject</a:t>
            </a:r>
            <a:r>
              <a:rPr lang="en-AU" sz="18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: Allows users to read objects in the bucket.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AU" sz="18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s3:GetBucketLocation</a:t>
            </a:r>
            <a:r>
              <a:rPr lang="en-AU" sz="18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: Allow users to retrieve the bucket's region.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AU" sz="18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s3:ListBucket</a:t>
            </a:r>
            <a:r>
              <a:rPr lang="en-AU" sz="18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: Allows users to list the objects in the bucket.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A9A77F8-E3EB-48F8-810B-2791E5CAB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554" y="4664288"/>
            <a:ext cx="5552446" cy="1585914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AU" sz="1800" dirty="0">
                <a:solidFill>
                  <a:srgbClr val="FF0000"/>
                </a:solidFill>
              </a:rPr>
              <a:t>What is the difference between the two ARNs in the Resource field?</a:t>
            </a:r>
          </a:p>
          <a:p>
            <a:pPr marL="0" indent="0">
              <a:buNone/>
              <a:defRPr/>
            </a:pPr>
            <a:r>
              <a:rPr lang="en-AU" sz="1800" dirty="0"/>
              <a:t>First ARN: refers to all the objects within the bucket.</a:t>
            </a:r>
          </a:p>
          <a:p>
            <a:pPr marL="0" indent="0">
              <a:buNone/>
              <a:defRPr/>
            </a:pPr>
            <a:r>
              <a:rPr lang="en-AU" sz="1800" dirty="0"/>
              <a:t>Second ARN: refers to the bucket itself.</a:t>
            </a:r>
          </a:p>
        </p:txBody>
      </p:sp>
    </p:spTree>
    <p:extLst>
      <p:ext uri="{BB962C8B-B14F-4D97-AF65-F5344CB8AC3E}">
        <p14:creationId xmlns:p14="http://schemas.microsoft.com/office/powerpoint/2010/main" val="32421436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3554" y="332509"/>
            <a:ext cx="4085631" cy="674388"/>
          </a:xfrm>
        </p:spPr>
        <p:txBody>
          <a:bodyPr>
            <a:normAutofit/>
          </a:bodyPr>
          <a:lstStyle/>
          <a:p>
            <a:r>
              <a:rPr lang="en-US" sz="3200" b="1" dirty="0"/>
              <a:t>Bucket policy: practice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9DF7E6-9180-4785-A1DA-AB17D3E49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555" y="1257039"/>
            <a:ext cx="5306684" cy="158591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AU" sz="2400" dirty="0"/>
              <a:t>What does this policy do?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B2C260-8313-41B1-923D-5DD7F7C6C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2682" y="525242"/>
            <a:ext cx="5306684" cy="5807516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7EBBA19-6D43-4637-A937-97FA20B033AC}"/>
              </a:ext>
            </a:extLst>
          </p:cNvPr>
          <p:cNvSpPr txBox="1">
            <a:spLocks/>
          </p:cNvSpPr>
          <p:nvPr/>
        </p:nvSpPr>
        <p:spPr>
          <a:xfrm>
            <a:off x="543554" y="2159171"/>
            <a:ext cx="5306684" cy="189183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US" sz="2400" dirty="0"/>
              <a:t>192.0.2.0 is an </a:t>
            </a:r>
            <a:r>
              <a:rPr lang="en-AU" sz="2400" dirty="0"/>
              <a:t>Internet Protocol Version 4 address</a:t>
            </a:r>
            <a:r>
              <a:rPr lang="en-US" sz="2400" dirty="0"/>
              <a:t>.</a:t>
            </a:r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400" dirty="0"/>
              <a:t>An IPv4 (</a:t>
            </a:r>
            <a:r>
              <a:rPr lang="en-AU" sz="2400" dirty="0"/>
              <a:t>Internet Protocol version 4</a:t>
            </a:r>
            <a:r>
              <a:rPr lang="en-US" sz="2400" dirty="0"/>
              <a:t>) address has 4 bytes (32 bits) separated by periods.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584B652-1C59-460C-8217-2D3B4B4792C9}"/>
              </a:ext>
            </a:extLst>
          </p:cNvPr>
          <p:cNvSpPr txBox="1">
            <a:spLocks/>
          </p:cNvSpPr>
          <p:nvPr/>
        </p:nvSpPr>
        <p:spPr>
          <a:xfrm>
            <a:off x="543554" y="4554960"/>
            <a:ext cx="5552446" cy="1585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sz="2400" b="0" i="0" u="none" strike="noStrike" baseline="0" dirty="0">
                <a:solidFill>
                  <a:srgbClr val="FF0000"/>
                </a:solidFill>
              </a:rPr>
              <a:t>What is the value range of each byte in an IPv4 address? </a:t>
            </a:r>
          </a:p>
          <a:p>
            <a:pPr marL="0" indent="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54708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3554" y="332509"/>
            <a:ext cx="4085631" cy="674388"/>
          </a:xfrm>
        </p:spPr>
        <p:txBody>
          <a:bodyPr>
            <a:normAutofit/>
          </a:bodyPr>
          <a:lstStyle/>
          <a:p>
            <a:r>
              <a:rPr lang="en-US" sz="3200" b="1" dirty="0"/>
              <a:t>Bucket policy: practice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9DF7E6-9180-4785-A1DA-AB17D3E49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555" y="1257039"/>
            <a:ext cx="5306684" cy="158591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AU" sz="2400" dirty="0"/>
              <a:t>What does this policy do?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B2C260-8313-41B1-923D-5DD7F7C6C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2682" y="525242"/>
            <a:ext cx="5306684" cy="5807516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7EBBA19-6D43-4637-A937-97FA20B033AC}"/>
              </a:ext>
            </a:extLst>
          </p:cNvPr>
          <p:cNvSpPr txBox="1">
            <a:spLocks/>
          </p:cNvSpPr>
          <p:nvPr/>
        </p:nvSpPr>
        <p:spPr>
          <a:xfrm>
            <a:off x="543554" y="2159171"/>
            <a:ext cx="5306684" cy="189183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US" sz="2400" dirty="0"/>
              <a:t>192.0.2.0 is an </a:t>
            </a:r>
            <a:r>
              <a:rPr lang="en-AU" sz="2400" dirty="0"/>
              <a:t>Internet Protocol Version 4 address</a:t>
            </a:r>
            <a:r>
              <a:rPr lang="en-US" sz="2400" dirty="0"/>
              <a:t>.</a:t>
            </a:r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400" dirty="0"/>
              <a:t>An IPv4 (</a:t>
            </a:r>
            <a:r>
              <a:rPr lang="en-AU" sz="2400" dirty="0"/>
              <a:t>Internet Protocol version 4</a:t>
            </a:r>
            <a:r>
              <a:rPr lang="en-US" sz="2400" dirty="0"/>
              <a:t>) address has 4 bytes (32 bits) separated by periods.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584B652-1C59-460C-8217-2D3B4B4792C9}"/>
              </a:ext>
            </a:extLst>
          </p:cNvPr>
          <p:cNvSpPr txBox="1">
            <a:spLocks/>
          </p:cNvSpPr>
          <p:nvPr/>
        </p:nvSpPr>
        <p:spPr>
          <a:xfrm>
            <a:off x="543554" y="4554960"/>
            <a:ext cx="5552446" cy="1585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sz="2400" b="0" i="0" u="none" strike="noStrike" baseline="0" dirty="0">
                <a:solidFill>
                  <a:srgbClr val="FF0000"/>
                </a:solidFill>
              </a:rPr>
              <a:t>What is the value range of each byte in an IPv4 address? </a:t>
            </a:r>
          </a:p>
          <a:p>
            <a:pPr marL="0" indent="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sz="2400" dirty="0"/>
              <a:t>0-255</a:t>
            </a:r>
            <a:endParaRPr lang="en-US" sz="2400" b="0" i="0" u="none" strike="noStrike" baseline="0" dirty="0"/>
          </a:p>
          <a:p>
            <a:pPr marL="0" indent="0" fontAlgn="auto"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43379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764C18F-34B5-47C9-9BE5-2FC18E74D209}"/>
              </a:ext>
            </a:extLst>
          </p:cNvPr>
          <p:cNvSpPr txBox="1">
            <a:spLocks/>
          </p:cNvSpPr>
          <p:nvPr/>
        </p:nvSpPr>
        <p:spPr>
          <a:xfrm>
            <a:off x="512006" y="466412"/>
            <a:ext cx="6834192" cy="66642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US" sz="3200" b="1" dirty="0">
                <a:latin typeface="+mn-lt"/>
                <a:ea typeface="+mn-ea"/>
                <a:cs typeface="+mn-cs"/>
              </a:rPr>
              <a:t>CIDR (</a:t>
            </a:r>
            <a:r>
              <a:rPr lang="en-AU" sz="3200" b="1" dirty="0">
                <a:latin typeface="+mn-lt"/>
                <a:ea typeface="+mn-ea"/>
                <a:cs typeface="+mn-cs"/>
              </a:rPr>
              <a:t>Classless Inter-Domain Routing)</a:t>
            </a:r>
            <a:endParaRPr lang="en-US" sz="3200" b="1" dirty="0"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E66830E-56EA-40A3-9619-80DC1A4C7493}"/>
              </a:ext>
            </a:extLst>
          </p:cNvPr>
          <p:cNvSpPr txBox="1">
            <a:spLocks/>
          </p:cNvSpPr>
          <p:nvPr/>
        </p:nvSpPr>
        <p:spPr>
          <a:xfrm>
            <a:off x="512006" y="1308383"/>
            <a:ext cx="11432344" cy="130256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US" sz="2400" spc="-1" dirty="0">
                <a:solidFill>
                  <a:srgbClr val="000000"/>
                </a:solidFill>
                <a:latin typeface="Calibri"/>
              </a:rPr>
              <a:t>CIDR is a notation to represent IP addresses and their associated subnet masks.</a:t>
            </a:r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400" spc="-1" dirty="0">
                <a:solidFill>
                  <a:srgbClr val="000000"/>
                </a:solidFill>
                <a:latin typeface="Calibri"/>
              </a:rPr>
              <a:t>In CIDR notation, an IPv4 address (e.g., </a:t>
            </a:r>
            <a:r>
              <a:rPr lang="pt-BR" sz="2400" b="0" strike="noStrike" spc="-1" dirty="0">
                <a:solidFill>
                  <a:srgbClr val="000000"/>
                </a:solidFill>
                <a:latin typeface="Calibri"/>
              </a:rPr>
              <a:t>192.0.2.0/24</a:t>
            </a:r>
            <a:r>
              <a:rPr lang="en-US" sz="2400" spc="-1" dirty="0">
                <a:solidFill>
                  <a:srgbClr val="000000"/>
                </a:solidFill>
                <a:latin typeface="Calibri"/>
              </a:rPr>
              <a:t>) is followed by a slash ("/") and a number. This number represents the bit length of the network portion of the IP address. </a:t>
            </a:r>
          </a:p>
          <a:p>
            <a:pPr fontAlgn="auto">
              <a:spcAft>
                <a:spcPts val="0"/>
              </a:spcAft>
              <a:buClrTx/>
              <a:buSzTx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341893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4651" y="592725"/>
            <a:ext cx="4085631" cy="674388"/>
          </a:xfrm>
        </p:spPr>
        <p:txBody>
          <a:bodyPr>
            <a:normAutofit/>
          </a:bodyPr>
          <a:lstStyle/>
          <a:p>
            <a:r>
              <a:rPr lang="en-US" sz="3200" b="1" dirty="0"/>
              <a:t>Bucket policy: practice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9DF7E6-9180-4785-A1DA-AB17D3E49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651" y="2151560"/>
            <a:ext cx="5731349" cy="3255327"/>
          </a:xfrm>
        </p:spPr>
        <p:txBody>
          <a:bodyPr>
            <a:normAutofit fontScale="92500"/>
          </a:bodyPr>
          <a:lstStyle/>
          <a:p>
            <a:pPr>
              <a:defRPr/>
            </a:pPr>
            <a:r>
              <a:rPr lang="en-AU" sz="2400" dirty="0"/>
              <a:t>T</a:t>
            </a:r>
            <a:r>
              <a:rPr lang="en-US" sz="2400" dirty="0"/>
              <a:t>his policy allows any </a:t>
            </a:r>
            <a:r>
              <a:rPr lang="en-AU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users or applications to read objects and list objects from </a:t>
            </a:r>
            <a:r>
              <a:rPr lang="en-US" sz="2400" dirty="0"/>
              <a:t>the bucket named "cits5503-123456-lecture" and its contents from IP addresses within the "192.0.2.0/24" range. This range covers all IP addresses from 192.0.2.0 to 192.0.2.255, inclusive.</a:t>
            </a:r>
          </a:p>
          <a:p>
            <a:pPr>
              <a:defRPr/>
            </a:pPr>
            <a:endParaRPr lang="en-US" sz="2400" dirty="0"/>
          </a:p>
          <a:p>
            <a:pPr>
              <a:defRPr/>
            </a:pPr>
            <a:r>
              <a:rPr lang="en-US" sz="2400" dirty="0">
                <a:solidFill>
                  <a:srgbClr val="FF0000"/>
                </a:solidFill>
              </a:rPr>
              <a:t>What is the </a:t>
            </a:r>
            <a:r>
              <a:rPr lang="en-US" sz="2400" dirty="0" err="1">
                <a:solidFill>
                  <a:srgbClr val="FF0000"/>
                </a:solidFill>
              </a:rPr>
              <a:t>ip</a:t>
            </a:r>
            <a:r>
              <a:rPr lang="en-US" sz="2400" dirty="0">
                <a:solidFill>
                  <a:srgbClr val="FF0000"/>
                </a:solidFill>
              </a:rPr>
              <a:t> address range of 192.0.2.0/16?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B2C260-8313-41B1-923D-5DD7F7C6C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92725"/>
            <a:ext cx="5306684" cy="5807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0700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4651" y="592725"/>
            <a:ext cx="4085631" cy="674388"/>
          </a:xfrm>
        </p:spPr>
        <p:txBody>
          <a:bodyPr>
            <a:normAutofit/>
          </a:bodyPr>
          <a:lstStyle/>
          <a:p>
            <a:r>
              <a:rPr lang="en-US" sz="3200" b="1" dirty="0"/>
              <a:t>Bucket policy: practice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F1E7D1-5495-4DAA-B95B-E3BE9A632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064" y="145474"/>
            <a:ext cx="7128606" cy="6510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3582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4651" y="592725"/>
            <a:ext cx="4085631" cy="674388"/>
          </a:xfrm>
        </p:spPr>
        <p:txBody>
          <a:bodyPr>
            <a:normAutofit/>
          </a:bodyPr>
          <a:lstStyle/>
          <a:p>
            <a:r>
              <a:rPr lang="en-US" sz="3200" b="1" dirty="0"/>
              <a:t>Bucket policy: practice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9DF7E6-9180-4785-A1DA-AB17D3E49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651" y="2151560"/>
            <a:ext cx="5731349" cy="3772990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AU" sz="2400" dirty="0"/>
              <a:t>T</a:t>
            </a:r>
            <a:r>
              <a:rPr lang="en-US" sz="2400" dirty="0"/>
              <a:t>his policy allows any </a:t>
            </a:r>
            <a:r>
              <a:rPr lang="en-AU" sz="2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users or applications to read </a:t>
            </a:r>
            <a:r>
              <a:rPr lang="en-AU" sz="2400" dirty="0"/>
              <a:t>objects and list objects from </a:t>
            </a:r>
            <a:r>
              <a:rPr lang="en-US" sz="2400" dirty="0"/>
              <a:t>the bucket named “cits5503-123456-lecture” and its contents </a:t>
            </a:r>
            <a:r>
              <a:rPr lang="en-AU" sz="2400" dirty="0"/>
              <a:t>during </a:t>
            </a:r>
            <a:r>
              <a:rPr lang="en-US" altLang="zh-CN" sz="2400" dirty="0"/>
              <a:t>a</a:t>
            </a:r>
            <a:r>
              <a:rPr lang="en-AU" sz="2400" dirty="0"/>
              <a:t> pre-defined period:</a:t>
            </a:r>
            <a:r>
              <a:rPr lang="zh-CN" altLang="en-US" sz="2400" dirty="0"/>
              <a:t> </a:t>
            </a:r>
            <a:r>
              <a:rPr lang="en-US" sz="2400" dirty="0"/>
              <a:t>after 10 August 2026, 00:00 UTC, and before 17 August 2026, 00:00 UTC.</a:t>
            </a:r>
          </a:p>
          <a:p>
            <a:pPr>
              <a:defRPr/>
            </a:pPr>
            <a:r>
              <a:rPr lang="en-AU" sz="2400" dirty="0"/>
              <a:t>2026-08-10T00:00:00Z: </a:t>
            </a:r>
            <a:r>
              <a:rPr lang="en-US" sz="2400" dirty="0"/>
              <a:t>is an AWS-standard timestamp.</a:t>
            </a:r>
            <a:r>
              <a:rPr lang="en-AU" sz="2400" dirty="0"/>
              <a:t> 2026-08-17 is </a:t>
            </a:r>
            <a:r>
              <a:rPr lang="en-US" sz="2400" dirty="0"/>
              <a:t>in YYYY-MM-DD format. 00:00:00</a:t>
            </a:r>
            <a:r>
              <a:rPr lang="en-AU" sz="2400" dirty="0"/>
              <a:t> is in 24-hour clock</a:t>
            </a:r>
            <a:r>
              <a:rPr lang="en-US" sz="2400" dirty="0"/>
              <a:t>. Z means UTC </a:t>
            </a:r>
            <a:r>
              <a:rPr lang="en-AU" sz="2400" dirty="0"/>
              <a:t>(Coordinated Universal Time)</a:t>
            </a:r>
            <a:r>
              <a:rPr lang="en-US" sz="2400" dirty="0"/>
              <a:t> time, also called Zulu time</a:t>
            </a:r>
          </a:p>
          <a:p>
            <a:pPr>
              <a:defRPr/>
            </a:pP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F1E7D1-5495-4DAA-B95B-E3BE9A632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5372" y="420914"/>
            <a:ext cx="5602514" cy="582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3294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4651" y="592725"/>
            <a:ext cx="4085631" cy="674388"/>
          </a:xfrm>
        </p:spPr>
        <p:txBody>
          <a:bodyPr>
            <a:normAutofit/>
          </a:bodyPr>
          <a:lstStyle/>
          <a:p>
            <a:r>
              <a:rPr lang="en-US" sz="3200" b="1" dirty="0"/>
              <a:t>Bucket policy: practice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A31B78-9EAD-4122-8D7D-9523CAD5F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207" y="330377"/>
            <a:ext cx="4872343" cy="5896798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9633655-A7D0-4490-B51E-E463601FE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651" y="2151560"/>
            <a:ext cx="5731349" cy="3255327"/>
          </a:xfrm>
        </p:spPr>
        <p:txBody>
          <a:bodyPr>
            <a:normAutofit/>
          </a:bodyPr>
          <a:lstStyle/>
          <a:p>
            <a:pPr>
              <a:defRPr/>
            </a:pPr>
            <a:endParaRPr lang="en-US" sz="2400" dirty="0"/>
          </a:p>
          <a:p>
            <a:pPr>
              <a:defRPr/>
            </a:pPr>
            <a:r>
              <a:rPr lang="en-US" sz="2400" dirty="0">
                <a:solidFill>
                  <a:srgbClr val="FF0000"/>
                </a:solidFill>
              </a:rPr>
              <a:t>Can a user access the bucket through HTTPS?</a:t>
            </a:r>
          </a:p>
        </p:txBody>
      </p:sp>
    </p:spTree>
    <p:extLst>
      <p:ext uri="{BB962C8B-B14F-4D97-AF65-F5344CB8AC3E}">
        <p14:creationId xmlns:p14="http://schemas.microsoft.com/office/powerpoint/2010/main" val="38745245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4651" y="592725"/>
            <a:ext cx="4085631" cy="674388"/>
          </a:xfrm>
        </p:spPr>
        <p:txBody>
          <a:bodyPr>
            <a:normAutofit/>
          </a:bodyPr>
          <a:lstStyle/>
          <a:p>
            <a:r>
              <a:rPr lang="en-US" sz="3200" b="1" dirty="0"/>
              <a:t>Bucket policy: practice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9DF7E6-9180-4785-A1DA-AB17D3E49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651" y="2151560"/>
            <a:ext cx="5731349" cy="377299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400" dirty="0"/>
              <a:t>This policy denies any users or applications from performing any S3 operations on the bucket named “cits5503-123456-lecture” and its contents when the request is made through an insecure http connection</a:t>
            </a:r>
            <a:r>
              <a:rPr lang="en-AU" altLang="zh-CN" sz="2400" dirty="0"/>
              <a:t>.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A31B78-9EAD-4122-8D7D-9523CAD5F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207" y="330377"/>
            <a:ext cx="4872343" cy="589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4643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117331E-C865-4E37-86D3-683EEB7F2695}"/>
              </a:ext>
            </a:extLst>
          </p:cNvPr>
          <p:cNvSpPr txBox="1">
            <a:spLocks/>
          </p:cNvSpPr>
          <p:nvPr/>
        </p:nvSpPr>
        <p:spPr>
          <a:xfrm>
            <a:off x="347133" y="158384"/>
            <a:ext cx="9307230" cy="7524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US" sz="3200" b="1" i="0" dirty="0">
                <a:solidFill>
                  <a:srgbClr val="16191F"/>
                </a:solidFill>
                <a:effectLst/>
              </a:rPr>
              <a:t>Block Public Access settings for this bucket</a:t>
            </a:r>
            <a:endParaRPr lang="en-US" sz="66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7BE9E62-9DDA-49E5-8409-C3C3C40DF5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984" y="910859"/>
            <a:ext cx="7554379" cy="472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2246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117331E-C865-4E37-86D3-683EEB7F2695}"/>
              </a:ext>
            </a:extLst>
          </p:cNvPr>
          <p:cNvSpPr txBox="1">
            <a:spLocks/>
          </p:cNvSpPr>
          <p:nvPr/>
        </p:nvSpPr>
        <p:spPr>
          <a:xfrm>
            <a:off x="347133" y="158385"/>
            <a:ext cx="9307230" cy="4512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US" sz="3200" b="1" i="0" dirty="0">
                <a:effectLst/>
              </a:rPr>
              <a:t>Block Public Access settings for this bucket</a:t>
            </a:r>
            <a:endParaRPr lang="en-US" sz="6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B3B520-6C2C-4E7E-A166-09D546332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600" y="772185"/>
            <a:ext cx="6410408" cy="407565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6EA5AC8-3FF7-4A3B-9657-E8B91F013C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462" y="4847838"/>
            <a:ext cx="6749075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3871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117331E-C865-4E37-86D3-683EEB7F2695}"/>
              </a:ext>
            </a:extLst>
          </p:cNvPr>
          <p:cNvSpPr txBox="1">
            <a:spLocks/>
          </p:cNvSpPr>
          <p:nvPr/>
        </p:nvSpPr>
        <p:spPr>
          <a:xfrm>
            <a:off x="534541" y="351031"/>
            <a:ext cx="2381247" cy="6353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AU" sz="3200" b="1" i="0" dirty="0">
                <a:effectLst/>
              </a:rPr>
              <a:t>Tags</a:t>
            </a:r>
            <a:endParaRPr lang="en-US" sz="20500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C50C713-58CE-4493-8000-AFD5133B2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541" y="4093643"/>
            <a:ext cx="7926119" cy="1852856"/>
          </a:xfrm>
        </p:spPr>
        <p:txBody>
          <a:bodyPr>
            <a:normAutofit fontScale="92500" lnSpcReduction="20000"/>
          </a:bodyPr>
          <a:lstStyle/>
          <a:p>
            <a:r>
              <a:rPr lang="en-US" sz="2600" dirty="0"/>
              <a:t>Tags are key-value pairs that provide customized label to track costs from buckets, e.g.,</a:t>
            </a:r>
          </a:p>
          <a:p>
            <a:pPr lvl="1"/>
            <a:r>
              <a:rPr lang="en-US" sz="2600" dirty="0"/>
              <a:t>If a bucket is tagged as cits5503/lectures, ‘cits5503’ is a key and ‘lectures’ is a value. </a:t>
            </a:r>
          </a:p>
          <a:p>
            <a:pPr lvl="1"/>
            <a:r>
              <a:rPr lang="en-US" sz="2600" dirty="0"/>
              <a:t>If another bucket is tagged as cits5503/labs, ‘cits5503’ is a key and ‘labs’ is a value. </a:t>
            </a:r>
          </a:p>
          <a:p>
            <a:pPr lvl="1"/>
            <a:endParaRPr lang="en-US" sz="2000" dirty="0"/>
          </a:p>
          <a:p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47B608-121F-4740-A9A0-3E2BB9682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6559" y="1168400"/>
            <a:ext cx="8178199" cy="25611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AFB0841-5AC9-411F-A911-4C43C47D46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0660" y="4366365"/>
            <a:ext cx="2716966" cy="130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5585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117331E-C865-4E37-86D3-683EEB7F2695}"/>
              </a:ext>
            </a:extLst>
          </p:cNvPr>
          <p:cNvSpPr txBox="1">
            <a:spLocks/>
          </p:cNvSpPr>
          <p:nvPr/>
        </p:nvSpPr>
        <p:spPr>
          <a:xfrm>
            <a:off x="555885" y="247402"/>
            <a:ext cx="3773145" cy="772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AU" sz="3200" b="1" i="0" dirty="0">
                <a:solidFill>
                  <a:srgbClr val="16191F"/>
                </a:solidFill>
                <a:effectLst/>
              </a:rPr>
              <a:t>Default encryption</a:t>
            </a:r>
            <a:endParaRPr lang="en-US" sz="815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322F50-50CE-4DAE-A672-AD8F22F9C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644" y="1613469"/>
            <a:ext cx="7991641" cy="3909507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B2C23AB-0D0E-40E4-8F58-2FC51766B584}"/>
              </a:ext>
            </a:extLst>
          </p:cNvPr>
          <p:cNvCxnSpPr>
            <a:cxnSpLocks/>
          </p:cNvCxnSpPr>
          <p:nvPr/>
        </p:nvCxnSpPr>
        <p:spPr>
          <a:xfrm>
            <a:off x="2075644" y="2258568"/>
            <a:ext cx="4736636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00545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117331E-C865-4E37-86D3-683EEB7F2695}"/>
              </a:ext>
            </a:extLst>
          </p:cNvPr>
          <p:cNvSpPr txBox="1">
            <a:spLocks/>
          </p:cNvSpPr>
          <p:nvPr/>
        </p:nvSpPr>
        <p:spPr>
          <a:xfrm>
            <a:off x="555885" y="161137"/>
            <a:ext cx="3773145" cy="666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AU" sz="3200" b="1" i="0" dirty="0">
                <a:solidFill>
                  <a:srgbClr val="16191F"/>
                </a:solidFill>
                <a:effectLst/>
              </a:rPr>
              <a:t>Default encryption</a:t>
            </a:r>
            <a:endParaRPr lang="en-US" sz="81500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C50C713-58CE-4493-8000-AFD5133B2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885" y="828135"/>
            <a:ext cx="10954797" cy="4464449"/>
          </a:xfrm>
        </p:spPr>
        <p:txBody>
          <a:bodyPr>
            <a:normAutofit/>
          </a:bodyPr>
          <a:lstStyle/>
          <a:p>
            <a:r>
              <a:rPr lang="en-US" sz="2400" b="1" dirty="0"/>
              <a:t>Server-side encryption with S3 managed keys (SSE-S3): </a:t>
            </a:r>
            <a:r>
              <a:rPr lang="en-US" sz="2400" dirty="0"/>
              <a:t>The</a:t>
            </a:r>
            <a:r>
              <a:rPr lang="en-US" sz="2400" b="1" dirty="0"/>
              <a:t> </a:t>
            </a:r>
            <a:r>
              <a:rPr lang="en-US" sz="2400" dirty="0"/>
              <a:t>S3 service manages the encryption keys (AES-256 encryption) used to encrypt and decrypt objects. </a:t>
            </a:r>
          </a:p>
          <a:p>
            <a:r>
              <a:rPr lang="en-US" sz="2400" b="1" dirty="0"/>
              <a:t>Server-side encryption with AWS Key Management Service keys (SSE-KMS): </a:t>
            </a:r>
            <a:r>
              <a:rPr lang="en-US" sz="2400" dirty="0"/>
              <a:t>It uses KMS to manage the encryption keys for each object stored in the bucket.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508332-97D5-40B1-8EBC-D43A4D0B1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1991" y="2595447"/>
            <a:ext cx="6621133" cy="3364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6587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117331E-C865-4E37-86D3-683EEB7F2695}"/>
              </a:ext>
            </a:extLst>
          </p:cNvPr>
          <p:cNvSpPr txBox="1">
            <a:spLocks/>
          </p:cNvSpPr>
          <p:nvPr/>
        </p:nvSpPr>
        <p:spPr>
          <a:xfrm>
            <a:off x="555885" y="247402"/>
            <a:ext cx="3773145" cy="772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AU" sz="3200" b="1" i="0" dirty="0">
                <a:solidFill>
                  <a:srgbClr val="16191F"/>
                </a:solidFill>
                <a:effectLst/>
              </a:rPr>
              <a:t>Default encryption</a:t>
            </a:r>
            <a:endParaRPr lang="en-US" sz="81500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C50C713-58CE-4493-8000-AFD5133B2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885" y="1183316"/>
            <a:ext cx="10954797" cy="4464449"/>
          </a:xfrm>
        </p:spPr>
        <p:txBody>
          <a:bodyPr>
            <a:normAutofit/>
          </a:bodyPr>
          <a:lstStyle/>
          <a:p>
            <a:r>
              <a:rPr lang="en-US" sz="2400" dirty="0"/>
              <a:t>Server-side encryption with S3 managed keys (SSE-S3): S3 manages the encryption keys (AES-256 encryption) used to encrypt and decrypt objects. </a:t>
            </a:r>
          </a:p>
          <a:p>
            <a:r>
              <a:rPr lang="en-US" sz="2400" dirty="0"/>
              <a:t>Server-side encryption with AWS Key Management Service keys (SSE-KMS): It uses KMS to manage the encryption keys for each object stored in the bucket. </a:t>
            </a:r>
          </a:p>
          <a:p>
            <a:r>
              <a:rPr lang="en-US" sz="2400" b="1" dirty="0"/>
              <a:t>Dual-layer server-side encryption with AWS KMS (DSSE-KMS): </a:t>
            </a:r>
            <a:r>
              <a:rPr lang="en-US" sz="2400" dirty="0"/>
              <a:t>It is a combination of SSE-S3 and SSE-KMS. </a:t>
            </a:r>
          </a:p>
        </p:txBody>
      </p:sp>
    </p:spTree>
    <p:extLst>
      <p:ext uri="{BB962C8B-B14F-4D97-AF65-F5344CB8AC3E}">
        <p14:creationId xmlns:p14="http://schemas.microsoft.com/office/powerpoint/2010/main" val="3183645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117331E-C865-4E37-86D3-683EEB7F2695}"/>
              </a:ext>
            </a:extLst>
          </p:cNvPr>
          <p:cNvSpPr txBox="1">
            <a:spLocks/>
          </p:cNvSpPr>
          <p:nvPr/>
        </p:nvSpPr>
        <p:spPr>
          <a:xfrm>
            <a:off x="389467" y="125669"/>
            <a:ext cx="2381247" cy="772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buClrTx/>
              <a:buSzTx/>
              <a:buFontTx/>
            </a:pPr>
            <a:r>
              <a:rPr lang="en-AU" sz="3200" b="1" i="0" dirty="0">
                <a:solidFill>
                  <a:srgbClr val="16191F"/>
                </a:solidFill>
                <a:effectLst/>
              </a:rPr>
              <a:t>Object lock</a:t>
            </a:r>
            <a:endParaRPr lang="en-US" sz="205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BBFA3A-B137-45FE-B541-8451C0547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090" y="1256997"/>
            <a:ext cx="7687748" cy="43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7236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489" y="158344"/>
            <a:ext cx="4286693" cy="558438"/>
          </a:xfrm>
        </p:spPr>
        <p:txBody>
          <a:bodyPr>
            <a:normAutofit/>
          </a:bodyPr>
          <a:lstStyle/>
          <a:p>
            <a:r>
              <a:rPr lang="en-US" sz="3200" b="1" dirty="0"/>
              <a:t>Configure a bucket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907ECB5-E6DB-4384-BB15-F4853E88E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888" y="841427"/>
            <a:ext cx="9477231" cy="3412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0720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489" y="158344"/>
            <a:ext cx="4286693" cy="558438"/>
          </a:xfrm>
        </p:spPr>
        <p:txBody>
          <a:bodyPr>
            <a:normAutofit/>
          </a:bodyPr>
          <a:lstStyle/>
          <a:p>
            <a:r>
              <a:rPr lang="en-US" sz="3200" b="1" dirty="0"/>
              <a:t>Configure a bucket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8409" y="2577008"/>
            <a:ext cx="9221487" cy="32816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AU" dirty="0"/>
              <a:t>Properties</a:t>
            </a:r>
          </a:p>
          <a:p>
            <a:pPr lvl="1">
              <a:defRPr/>
            </a:pPr>
            <a:r>
              <a:rPr lang="en-AU" dirty="0"/>
              <a:t>Bucket versioning </a:t>
            </a:r>
          </a:p>
          <a:p>
            <a:pPr lvl="1">
              <a:defRPr/>
            </a:pPr>
            <a:r>
              <a:rPr lang="en-AU" dirty="0"/>
              <a:t>Tags</a:t>
            </a:r>
          </a:p>
          <a:p>
            <a:pPr lvl="1">
              <a:defRPr/>
            </a:pPr>
            <a:r>
              <a:rPr lang="en-AU" i="0" u="none" strike="noStrike" dirty="0">
                <a:solidFill>
                  <a:srgbClr val="16191F"/>
                </a:solidFill>
                <a:effectLst/>
              </a:rPr>
              <a:t>Default encryption</a:t>
            </a:r>
            <a:endParaRPr lang="en-AU" dirty="0"/>
          </a:p>
          <a:p>
            <a:pPr lvl="1">
              <a:defRPr/>
            </a:pPr>
            <a:r>
              <a:rPr lang="en-AU" i="0" u="none" strike="noStrike" dirty="0">
                <a:solidFill>
                  <a:srgbClr val="16191F"/>
                </a:solidFill>
                <a:effectLst/>
              </a:rPr>
              <a:t>Object Lock</a:t>
            </a:r>
            <a:endParaRPr lang="en-AU" dirty="0"/>
          </a:p>
          <a:p>
            <a:pPr lvl="1">
              <a:defRPr/>
            </a:pPr>
            <a:r>
              <a:rPr lang="en-AU" b="1" i="0" u="none" strike="noStrike" dirty="0">
                <a:solidFill>
                  <a:srgbClr val="16191F"/>
                </a:solidFill>
                <a:effectLst/>
              </a:rPr>
              <a:t>Server access logging</a:t>
            </a:r>
          </a:p>
          <a:p>
            <a:pPr lvl="2">
              <a:defRPr/>
            </a:pPr>
            <a:r>
              <a:rPr lang="en-AU" sz="2400" dirty="0">
                <a:solidFill>
                  <a:srgbClr val="16191F"/>
                </a:solidFill>
              </a:rPr>
              <a:t>Provides </a:t>
            </a:r>
            <a:r>
              <a:rPr lang="en-US" sz="2400" i="0" dirty="0">
                <a:solidFill>
                  <a:srgbClr val="16191F"/>
                </a:solidFill>
                <a:effectLst/>
              </a:rPr>
              <a:t>records for the requests that are made to a bucket.</a:t>
            </a:r>
            <a:endParaRPr lang="en-AU" sz="2400" i="0" u="none" strike="noStrike" dirty="0">
              <a:solidFill>
                <a:srgbClr val="16191F"/>
              </a:solidFill>
              <a:effectLst/>
            </a:endParaRPr>
          </a:p>
          <a:p>
            <a:pPr lvl="1">
              <a:defRPr/>
            </a:pP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2CA561-A124-48A9-A0E6-556D202F2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09" y="1030767"/>
            <a:ext cx="9221487" cy="1276528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55D91B09-CE21-4AA0-8E3F-E9E5719DA14A}"/>
              </a:ext>
            </a:extLst>
          </p:cNvPr>
          <p:cNvSpPr/>
          <p:nvPr/>
        </p:nvSpPr>
        <p:spPr>
          <a:xfrm>
            <a:off x="1828800" y="1645920"/>
            <a:ext cx="1036320" cy="737575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17646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28133" y="157644"/>
            <a:ext cx="4101776" cy="942975"/>
          </a:xfrm>
        </p:spPr>
        <p:txBody>
          <a:bodyPr>
            <a:normAutofit/>
          </a:bodyPr>
          <a:lstStyle/>
          <a:p>
            <a:r>
              <a:rPr lang="en-AU" sz="3200" b="1" dirty="0"/>
              <a:t>Practice Questions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37019A2B-EE83-48C6-961D-5EF22D3CC41A}"/>
              </a:ext>
            </a:extLst>
          </p:cNvPr>
          <p:cNvSpPr txBox="1">
            <a:spLocks/>
          </p:cNvSpPr>
          <p:nvPr/>
        </p:nvSpPr>
        <p:spPr>
          <a:xfrm>
            <a:off x="728133" y="1100619"/>
            <a:ext cx="10070496" cy="942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AU" sz="2200" dirty="0"/>
              <a:t>[5 marks] Q1: </a:t>
            </a:r>
            <a:r>
              <a:rPr lang="en-US" sz="2200" dirty="0"/>
              <a:t>When a bucket is created, AWS provides features that can be managed. List and describe 5 key features?</a:t>
            </a:r>
          </a:p>
          <a:p>
            <a:pPr marL="0" indent="0" fontAlgn="auto">
              <a:spcAft>
                <a:spcPts val="0"/>
              </a:spcAft>
              <a:buClrTx/>
              <a:buSzTx/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895699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28133" y="157644"/>
            <a:ext cx="4101776" cy="942975"/>
          </a:xfrm>
        </p:spPr>
        <p:txBody>
          <a:bodyPr>
            <a:normAutofit/>
          </a:bodyPr>
          <a:lstStyle/>
          <a:p>
            <a:r>
              <a:rPr lang="en-AU" sz="3200" b="1" dirty="0"/>
              <a:t>Practice Questions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85F180D1-C7EF-4A34-96CA-73A86A26F467}"/>
              </a:ext>
            </a:extLst>
          </p:cNvPr>
          <p:cNvSpPr txBox="1">
            <a:spLocks/>
          </p:cNvSpPr>
          <p:nvPr/>
        </p:nvSpPr>
        <p:spPr>
          <a:xfrm>
            <a:off x="728133" y="1100619"/>
            <a:ext cx="10070496" cy="942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AU" sz="2200" dirty="0"/>
              <a:t>[5 marks] Q1: </a:t>
            </a:r>
            <a:r>
              <a:rPr lang="en-US" sz="2200" dirty="0"/>
              <a:t>When a bucket is created, AWS provides features that can be managed. List and describe 5 key features?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4D7B3B84-FDE9-4250-98AF-F8F63A52E3D9}"/>
              </a:ext>
            </a:extLst>
          </p:cNvPr>
          <p:cNvSpPr txBox="1">
            <a:spLocks/>
          </p:cNvSpPr>
          <p:nvPr/>
        </p:nvSpPr>
        <p:spPr>
          <a:xfrm>
            <a:off x="728133" y="2043594"/>
            <a:ext cx="10996507" cy="3843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ClrTx/>
              <a:buSzTx/>
              <a:buNone/>
            </a:pPr>
            <a:endParaRPr lang="en-AU" sz="2200" dirty="0"/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200" dirty="0"/>
              <a:t>[1 mark] </a:t>
            </a:r>
            <a:r>
              <a:rPr lang="en-US" sz="2200" b="1" dirty="0"/>
              <a:t>Bucket versioning</a:t>
            </a:r>
            <a:r>
              <a:rPr lang="en-US" sz="2200" dirty="0"/>
              <a:t>: keeps multiple versions of an object in the same bucket. </a:t>
            </a:r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200" dirty="0"/>
              <a:t>[1 mark] </a:t>
            </a:r>
            <a:r>
              <a:rPr lang="en-US" sz="2200" b="1" dirty="0"/>
              <a:t>Tags</a:t>
            </a:r>
            <a:r>
              <a:rPr lang="en-US" sz="2200" dirty="0"/>
              <a:t>:</a:t>
            </a:r>
            <a:r>
              <a:rPr lang="en-US" sz="2400" dirty="0"/>
              <a:t> are key-value pairs that provide customized label to track costs from buckets.</a:t>
            </a:r>
            <a:endParaRPr lang="en-US" sz="2200" dirty="0"/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200" dirty="0"/>
              <a:t>[1 mark] </a:t>
            </a:r>
            <a:r>
              <a:rPr lang="en-US" sz="2200" b="1" dirty="0"/>
              <a:t>Default Encryption</a:t>
            </a:r>
            <a:r>
              <a:rPr lang="en-US" sz="2200" dirty="0"/>
              <a:t>: All objects uploaded to the bucket will be automatically encrypted using one server-side encryption.</a:t>
            </a:r>
            <a:endParaRPr lang="en-AU" sz="2200" dirty="0"/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200" dirty="0"/>
              <a:t>[1 mark] </a:t>
            </a:r>
            <a:r>
              <a:rPr lang="en-US" sz="2200" b="1" dirty="0"/>
              <a:t>Object Lock</a:t>
            </a:r>
            <a:r>
              <a:rPr lang="en-US" sz="2200" dirty="0"/>
              <a:t>: prevent objects in a bucket from being deleted or overwritten for a fixed amount of time or indefinitely.</a:t>
            </a:r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200" dirty="0"/>
              <a:t>[1 mark] </a:t>
            </a:r>
            <a:r>
              <a:rPr lang="en-US" sz="2200" b="1" dirty="0"/>
              <a:t>Server access logging</a:t>
            </a:r>
            <a:r>
              <a:rPr lang="en-US" sz="2200" dirty="0"/>
              <a:t>:</a:t>
            </a:r>
            <a:r>
              <a:rPr lang="en-AU" sz="2200" dirty="0"/>
              <a:t> provides </a:t>
            </a:r>
            <a:r>
              <a:rPr lang="en-US" sz="2200" dirty="0"/>
              <a:t>records for the requests that are made to a bucket.</a:t>
            </a:r>
            <a:endParaRPr lang="en-AU" sz="2200" dirty="0"/>
          </a:p>
          <a:p>
            <a:pPr fontAlgn="auto">
              <a:spcAft>
                <a:spcPts val="0"/>
              </a:spcAft>
              <a:buClrTx/>
              <a:buSzTx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24938129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28133" y="157644"/>
            <a:ext cx="4101776" cy="942975"/>
          </a:xfrm>
        </p:spPr>
        <p:txBody>
          <a:bodyPr>
            <a:normAutofit/>
          </a:bodyPr>
          <a:lstStyle/>
          <a:p>
            <a:r>
              <a:rPr lang="en-AU" sz="3200" b="1" dirty="0"/>
              <a:t>Practice Questions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85F180D1-C7EF-4A34-96CA-73A86A26F467}"/>
              </a:ext>
            </a:extLst>
          </p:cNvPr>
          <p:cNvSpPr txBox="1">
            <a:spLocks/>
          </p:cNvSpPr>
          <p:nvPr/>
        </p:nvSpPr>
        <p:spPr>
          <a:xfrm>
            <a:off x="728132" y="1100619"/>
            <a:ext cx="9277513" cy="1317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AU" sz="2200" dirty="0"/>
              <a:t>[5 marks] Q2: </a:t>
            </a:r>
            <a:r>
              <a:rPr lang="en-US" sz="2200" dirty="0"/>
              <a:t>Describe how S3 handles consistency of objects and how this approach affects the state of objects when they are read using a GET.</a:t>
            </a:r>
          </a:p>
        </p:txBody>
      </p:sp>
    </p:spTree>
    <p:extLst>
      <p:ext uri="{BB962C8B-B14F-4D97-AF65-F5344CB8AC3E}">
        <p14:creationId xmlns:p14="http://schemas.microsoft.com/office/powerpoint/2010/main" val="35758118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28133" y="157644"/>
            <a:ext cx="4101776" cy="942975"/>
          </a:xfrm>
        </p:spPr>
        <p:txBody>
          <a:bodyPr>
            <a:normAutofit/>
          </a:bodyPr>
          <a:lstStyle/>
          <a:p>
            <a:r>
              <a:rPr lang="en-AU" sz="3200" b="1" dirty="0"/>
              <a:t>Practice Questions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85F180D1-C7EF-4A34-96CA-73A86A26F467}"/>
              </a:ext>
            </a:extLst>
          </p:cNvPr>
          <p:cNvSpPr txBox="1">
            <a:spLocks/>
          </p:cNvSpPr>
          <p:nvPr/>
        </p:nvSpPr>
        <p:spPr>
          <a:xfrm>
            <a:off x="728132" y="1100619"/>
            <a:ext cx="9277513" cy="1317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</a:pPr>
            <a:r>
              <a:rPr lang="en-AU" sz="2200" dirty="0"/>
              <a:t>[5 marks] Q2: </a:t>
            </a:r>
            <a:r>
              <a:rPr lang="en-US" sz="2200" dirty="0"/>
              <a:t>Describe how S3 handles consistency of objects and how this approach affects the state of objects when they are read using a GET.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C226B880-74C9-4BB2-A97A-C776E1FBB78C}"/>
              </a:ext>
            </a:extLst>
          </p:cNvPr>
          <p:cNvSpPr txBox="1">
            <a:spLocks/>
          </p:cNvSpPr>
          <p:nvPr/>
        </p:nvSpPr>
        <p:spPr>
          <a:xfrm>
            <a:off x="728132" y="2285954"/>
            <a:ext cx="10996507" cy="3843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ClrTx/>
              <a:buSzTx/>
              <a:buNone/>
            </a:pPr>
            <a:endParaRPr lang="en-AU" sz="2200" dirty="0"/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200" dirty="0"/>
              <a:t>[4 marks] S3 delivers strong </a:t>
            </a:r>
            <a:r>
              <a:rPr lang="en-US" sz="2200" b="1" dirty="0"/>
              <a:t>read-after-write</a:t>
            </a:r>
            <a:r>
              <a:rPr lang="en-US" sz="2200" dirty="0"/>
              <a:t> and </a:t>
            </a:r>
            <a:r>
              <a:rPr lang="en-US" sz="2200" b="1" dirty="0"/>
              <a:t>list</a:t>
            </a:r>
            <a:r>
              <a:rPr lang="en-US" sz="2200" dirty="0"/>
              <a:t> (i.e., GET, PUT and LIST operations) consistency automatically. Specifically, </a:t>
            </a:r>
            <a:r>
              <a:rPr lang="en-US" sz="2200" b="1" dirty="0"/>
              <a:t>what a user write is what they will read</a:t>
            </a:r>
            <a:r>
              <a:rPr lang="en-US" sz="2200" dirty="0"/>
              <a:t>, and </a:t>
            </a:r>
            <a:r>
              <a:rPr lang="en-US" sz="2200" b="1" dirty="0"/>
              <a:t>the results of a LIST will be an accurate reflection of what’s in the bucket</a:t>
            </a:r>
            <a:r>
              <a:rPr lang="en-US" sz="2200" dirty="0"/>
              <a:t>. </a:t>
            </a:r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200" dirty="0"/>
              <a:t>[1 mark] When GET is used to read an object, the read request immediately receives the latest content of the object. </a:t>
            </a:r>
          </a:p>
        </p:txBody>
      </p:sp>
    </p:spTree>
    <p:extLst>
      <p:ext uri="{BB962C8B-B14F-4D97-AF65-F5344CB8AC3E}">
        <p14:creationId xmlns:p14="http://schemas.microsoft.com/office/powerpoint/2010/main" val="198405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2474</Words>
  <Application>Microsoft Office PowerPoint</Application>
  <PresentationFormat>Widescreen</PresentationFormat>
  <Paragraphs>352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0" baseType="lpstr">
      <vt:lpstr>Aptos</vt:lpstr>
      <vt:lpstr>Arial</vt:lpstr>
      <vt:lpstr>Calibri</vt:lpstr>
      <vt:lpstr>Calibri Light</vt:lpstr>
      <vt:lpstr>Tahoma</vt:lpstr>
      <vt:lpstr>Times New Roman</vt:lpstr>
      <vt:lpstr>Wingdings</vt:lpstr>
      <vt:lpstr>Office Theme</vt:lpstr>
      <vt:lpstr>Week 3 CPU Virtualization and AWS S3</vt:lpstr>
      <vt:lpstr>Overview</vt:lpstr>
      <vt:lpstr>What is a process?</vt:lpstr>
      <vt:lpstr>What is a process?</vt:lpstr>
      <vt:lpstr>Process scheduling</vt:lpstr>
      <vt:lpstr>CPU Virtualization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Amazon S3 (Simple Storage Service)</vt:lpstr>
      <vt:lpstr>Cloud storage</vt:lpstr>
      <vt:lpstr>Amazon S3 (Simple Storage Service)</vt:lpstr>
      <vt:lpstr>Create bucket</vt:lpstr>
      <vt:lpstr>Create Bucket</vt:lpstr>
      <vt:lpstr>PowerPoint Presentation</vt:lpstr>
      <vt:lpstr>PowerPoint Presentation</vt:lpstr>
      <vt:lpstr>Object</vt:lpstr>
      <vt:lpstr>Object</vt:lpstr>
      <vt:lpstr>PowerPoint Presentation</vt:lpstr>
      <vt:lpstr>PowerPoint Presentation</vt:lpstr>
      <vt:lpstr>Bucket policy</vt:lpstr>
      <vt:lpstr>Bucket policy</vt:lpstr>
      <vt:lpstr>ARN</vt:lpstr>
      <vt:lpstr>Bucket policy</vt:lpstr>
      <vt:lpstr>Common S3 actions</vt:lpstr>
      <vt:lpstr>Bucket policy</vt:lpstr>
      <vt:lpstr>Bucket policy</vt:lpstr>
      <vt:lpstr>Bucket policy: practice</vt:lpstr>
      <vt:lpstr>Bucket policy: practice</vt:lpstr>
      <vt:lpstr>PowerPoint Presentation</vt:lpstr>
      <vt:lpstr>Bucket policy: practice</vt:lpstr>
      <vt:lpstr>Bucket policy: practice</vt:lpstr>
      <vt:lpstr>Bucket policy: practice</vt:lpstr>
      <vt:lpstr>Bucket policy: practice</vt:lpstr>
      <vt:lpstr>Bucket policy: 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Configure a bucket</vt:lpstr>
      <vt:lpstr>Configure a bucket</vt:lpstr>
      <vt:lpstr>Practice Questions</vt:lpstr>
      <vt:lpstr>Practice Questions</vt:lpstr>
      <vt:lpstr>Practice Questions</vt:lpstr>
      <vt:lpstr>Practice 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2026-08-03T03:59:41Z</dcterms:created>
  <dcterms:modified xsi:type="dcterms:W3CDTF">2026-08-05T06:08:22Z</dcterms:modified>
  <cp:category/>
</cp:coreProperties>
</file>