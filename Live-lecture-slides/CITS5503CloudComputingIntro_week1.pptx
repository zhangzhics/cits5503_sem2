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49" r:id="rId1"/>
  </p:sldMasterIdLst>
  <p:notesMasterIdLst>
    <p:notesMasterId r:id="rId65"/>
  </p:notesMasterIdLst>
  <p:handoutMasterIdLst>
    <p:handoutMasterId r:id="rId66"/>
  </p:handoutMasterIdLst>
  <p:sldIdLst>
    <p:sldId id="1344" r:id="rId2"/>
    <p:sldId id="349" r:id="rId3"/>
    <p:sldId id="580" r:id="rId4"/>
    <p:sldId id="545" r:id="rId5"/>
    <p:sldId id="1347" r:id="rId6"/>
    <p:sldId id="1349" r:id="rId7"/>
    <p:sldId id="1348" r:id="rId8"/>
    <p:sldId id="1376" r:id="rId9"/>
    <p:sldId id="1329" r:id="rId10"/>
    <p:sldId id="1381" r:id="rId11"/>
    <p:sldId id="1379" r:id="rId12"/>
    <p:sldId id="312" r:id="rId13"/>
    <p:sldId id="276" r:id="rId14"/>
    <p:sldId id="319" r:id="rId15"/>
    <p:sldId id="347" r:id="rId16"/>
    <p:sldId id="540" r:id="rId17"/>
    <p:sldId id="543" r:id="rId18"/>
    <p:sldId id="321" r:id="rId19"/>
    <p:sldId id="1374" r:id="rId20"/>
    <p:sldId id="1382" r:id="rId21"/>
    <p:sldId id="320" r:id="rId22"/>
    <p:sldId id="322" r:id="rId23"/>
    <p:sldId id="273" r:id="rId24"/>
    <p:sldId id="539" r:id="rId25"/>
    <p:sldId id="1375" r:id="rId26"/>
    <p:sldId id="1380" r:id="rId27"/>
    <p:sldId id="274" r:id="rId28"/>
    <p:sldId id="593" r:id="rId29"/>
    <p:sldId id="541" r:id="rId30"/>
    <p:sldId id="288" r:id="rId31"/>
    <p:sldId id="1295" r:id="rId32"/>
    <p:sldId id="290" r:id="rId33"/>
    <p:sldId id="1365" r:id="rId34"/>
    <p:sldId id="1366" r:id="rId35"/>
    <p:sldId id="1367" r:id="rId36"/>
    <p:sldId id="264" r:id="rId37"/>
    <p:sldId id="265" r:id="rId38"/>
    <p:sldId id="266" r:id="rId39"/>
    <p:sldId id="267" r:id="rId40"/>
    <p:sldId id="1361" r:id="rId41"/>
    <p:sldId id="269" r:id="rId42"/>
    <p:sldId id="270" r:id="rId43"/>
    <p:sldId id="271" r:id="rId44"/>
    <p:sldId id="272" r:id="rId45"/>
    <p:sldId id="1377" r:id="rId46"/>
    <p:sldId id="275" r:id="rId47"/>
    <p:sldId id="1363" r:id="rId48"/>
    <p:sldId id="1362" r:id="rId49"/>
    <p:sldId id="287" r:id="rId50"/>
    <p:sldId id="291" r:id="rId51"/>
    <p:sldId id="299" r:id="rId52"/>
    <p:sldId id="302" r:id="rId53"/>
    <p:sldId id="490" r:id="rId54"/>
    <p:sldId id="1358" r:id="rId55"/>
    <p:sldId id="1360" r:id="rId56"/>
    <p:sldId id="1372" r:id="rId57"/>
    <p:sldId id="1373" r:id="rId58"/>
    <p:sldId id="1369" r:id="rId59"/>
    <p:sldId id="1364" r:id="rId60"/>
    <p:sldId id="1370" r:id="rId61"/>
    <p:sldId id="1371" r:id="rId62"/>
    <p:sldId id="268" r:id="rId63"/>
    <p:sldId id="333" r:id="rId64"/>
  </p:sldIdLst>
  <p:sldSz cx="9144000" cy="6858000" type="screen4x3"/>
  <p:notesSz cx="7315200" cy="9601200"/>
  <p:defaultTextStyle>
    <a:defPPr>
      <a:defRPr lang="en-US"/>
    </a:defPPr>
    <a:lvl1pPr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1pPr>
    <a:lvl2pPr marL="4572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2pPr>
    <a:lvl3pPr marL="9144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3pPr>
    <a:lvl4pPr marL="13716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4pPr>
    <a:lvl5pPr marL="18288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3888">
          <p15:clr>
            <a:srgbClr val="A4A3A4"/>
          </p15:clr>
        </p15:guide>
        <p15:guide id="2" pos="552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8B00"/>
    <a:srgbClr val="FF9900"/>
    <a:srgbClr val="00CC00"/>
    <a:srgbClr val="33CC33"/>
    <a:srgbClr val="FF3399"/>
    <a:srgbClr val="66FF33"/>
    <a:srgbClr val="FFCC99"/>
    <a:srgbClr val="FF3300"/>
    <a:srgbClr val="FFFF00"/>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838" autoAdjust="0"/>
    <p:restoredTop sz="71375" autoAdjust="0"/>
  </p:normalViewPr>
  <p:slideViewPr>
    <p:cSldViewPr snapToGrid="0">
      <p:cViewPr varScale="1">
        <p:scale>
          <a:sx n="50" d="100"/>
          <a:sy n="50" d="100"/>
        </p:scale>
        <p:origin x="1290" y="60"/>
      </p:cViewPr>
      <p:guideLst>
        <p:guide orient="horz" pos="3888"/>
        <p:guide pos="55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93" d="100"/>
          <a:sy n="93" d="100"/>
        </p:scale>
        <p:origin x="-3492" y="-10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1698" name="Rectangle 2"/>
          <p:cNvSpPr>
            <a:spLocks noGrp="1" noChangeArrowheads="1"/>
          </p:cNvSpPr>
          <p:nvPr>
            <p:ph type="hdr" sz="quarter"/>
          </p:nvPr>
        </p:nvSpPr>
        <p:spPr bwMode="auto">
          <a:xfrm>
            <a:off x="0" y="1"/>
            <a:ext cx="3170265" cy="479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200"/>
            </a:lvl1pPr>
          </a:lstStyle>
          <a:p>
            <a:endParaRPr lang="de-DE"/>
          </a:p>
        </p:txBody>
      </p:sp>
      <p:sp>
        <p:nvSpPr>
          <p:cNvPr id="541699" name="Rectangle 3"/>
          <p:cNvSpPr>
            <a:spLocks noGrp="1" noChangeArrowheads="1"/>
          </p:cNvSpPr>
          <p:nvPr>
            <p:ph type="dt" sz="quarter" idx="1"/>
          </p:nvPr>
        </p:nvSpPr>
        <p:spPr bwMode="auto">
          <a:xfrm>
            <a:off x="4144937" y="1"/>
            <a:ext cx="3170264" cy="479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vl1pPr>
          </a:lstStyle>
          <a:p>
            <a:endParaRPr lang="de-DE"/>
          </a:p>
        </p:txBody>
      </p:sp>
      <p:sp>
        <p:nvSpPr>
          <p:cNvPr id="541700" name="Rectangle 4"/>
          <p:cNvSpPr>
            <a:spLocks noGrp="1" noChangeArrowheads="1"/>
          </p:cNvSpPr>
          <p:nvPr>
            <p:ph type="ftr" sz="quarter" idx="2"/>
          </p:nvPr>
        </p:nvSpPr>
        <p:spPr bwMode="auto">
          <a:xfrm>
            <a:off x="0" y="9122065"/>
            <a:ext cx="3170265" cy="47913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lvl1pPr>
          </a:lstStyle>
          <a:p>
            <a:endParaRPr lang="de-DE"/>
          </a:p>
        </p:txBody>
      </p:sp>
      <p:sp>
        <p:nvSpPr>
          <p:cNvPr id="541701" name="Rectangle 5"/>
          <p:cNvSpPr>
            <a:spLocks noGrp="1" noChangeArrowheads="1"/>
          </p:cNvSpPr>
          <p:nvPr>
            <p:ph type="sldNum" sz="quarter" idx="3"/>
          </p:nvPr>
        </p:nvSpPr>
        <p:spPr bwMode="auto">
          <a:xfrm>
            <a:off x="4144937" y="9122065"/>
            <a:ext cx="3170264" cy="47913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vl1pPr>
          </a:lstStyle>
          <a:p>
            <a:fld id="{66017A74-8498-4425-B905-56B59BE89ABC}" type="slidenum">
              <a:rPr lang="de-DE"/>
              <a:pPr/>
              <a:t>‹#›</a:t>
            </a:fld>
            <a:endParaRPr lang="de-DE"/>
          </a:p>
        </p:txBody>
      </p:sp>
    </p:spTree>
    <p:extLst>
      <p:ext uri="{BB962C8B-B14F-4D97-AF65-F5344CB8AC3E}">
        <p14:creationId xmlns:p14="http://schemas.microsoft.com/office/powerpoint/2010/main" val="6863155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1"/>
            <a:ext cx="3170265" cy="479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3" name="Rectangle 3"/>
          <p:cNvSpPr>
            <a:spLocks noGrp="1" noChangeArrowheads="1"/>
          </p:cNvSpPr>
          <p:nvPr>
            <p:ph type="dt" idx="1"/>
          </p:nvPr>
        </p:nvSpPr>
        <p:spPr bwMode="auto">
          <a:xfrm>
            <a:off x="4144937" y="1"/>
            <a:ext cx="3170264" cy="479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ClrTx/>
              <a:buSzTx/>
              <a:buFontTx/>
              <a:buNone/>
              <a:defRPr sz="1200">
                <a:latin typeface="Arial" charset="0"/>
              </a:defRPr>
            </a:lvl1pPr>
          </a:lstStyle>
          <a:p>
            <a:endParaRPr lang="en-US"/>
          </a:p>
        </p:txBody>
      </p:sp>
      <p:sp>
        <p:nvSpPr>
          <p:cNvPr id="13312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133125" name="Rectangle 5"/>
          <p:cNvSpPr>
            <a:spLocks noGrp="1" noChangeArrowheads="1"/>
          </p:cNvSpPr>
          <p:nvPr>
            <p:ph type="body" sz="quarter" idx="3"/>
          </p:nvPr>
        </p:nvSpPr>
        <p:spPr bwMode="auto">
          <a:xfrm>
            <a:off x="974671" y="4561803"/>
            <a:ext cx="5365858" cy="43183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26" name="Rectangle 6"/>
          <p:cNvSpPr>
            <a:spLocks noGrp="1" noChangeArrowheads="1"/>
          </p:cNvSpPr>
          <p:nvPr>
            <p:ph type="ftr" sz="quarter" idx="4"/>
          </p:nvPr>
        </p:nvSpPr>
        <p:spPr bwMode="auto">
          <a:xfrm>
            <a:off x="0" y="9122065"/>
            <a:ext cx="3170265" cy="47913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7" name="Rectangle 7"/>
          <p:cNvSpPr>
            <a:spLocks noGrp="1" noChangeArrowheads="1"/>
          </p:cNvSpPr>
          <p:nvPr>
            <p:ph type="sldNum" sz="quarter" idx="5"/>
          </p:nvPr>
        </p:nvSpPr>
        <p:spPr bwMode="auto">
          <a:xfrm>
            <a:off x="4144937" y="9122065"/>
            <a:ext cx="3170264" cy="47913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buClrTx/>
              <a:buSzTx/>
              <a:buFontTx/>
              <a:buNone/>
              <a:defRPr sz="1200">
                <a:latin typeface="Arial" charset="0"/>
              </a:defRPr>
            </a:lvl1pPr>
          </a:lstStyle>
          <a:p>
            <a:fld id="{D37F8DB4-A4FF-4A8B-9A85-9B1874A58FCC}" type="slidenum">
              <a:rPr lang="en-US"/>
              <a:pPr/>
              <a:t>‹#›</a:t>
            </a:fld>
            <a:endParaRPr lang="en-US"/>
          </a:p>
        </p:txBody>
      </p:sp>
    </p:spTree>
    <p:extLst>
      <p:ext uri="{BB962C8B-B14F-4D97-AF65-F5344CB8AC3E}">
        <p14:creationId xmlns:p14="http://schemas.microsoft.com/office/powerpoint/2010/main" val="15984556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1</a:t>
            </a:fld>
            <a:endParaRPr lang="en-US"/>
          </a:p>
        </p:txBody>
      </p:sp>
    </p:spTree>
    <p:extLst>
      <p:ext uri="{BB962C8B-B14F-4D97-AF65-F5344CB8AC3E}">
        <p14:creationId xmlns:p14="http://schemas.microsoft.com/office/powerpoint/2010/main" val="35115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AU" dirty="0"/>
          </a:p>
        </p:txBody>
      </p:sp>
      <p:sp>
        <p:nvSpPr>
          <p:cNvPr id="4" name="幻灯片编号占位符 3"/>
          <p:cNvSpPr>
            <a:spLocks noGrp="1"/>
          </p:cNvSpPr>
          <p:nvPr>
            <p:ph type="sldNum" sz="quarter" idx="10"/>
          </p:nvPr>
        </p:nvSpPr>
        <p:spPr/>
        <p:txBody>
          <a:bodyPr/>
          <a:lstStyle/>
          <a:p>
            <a:fld id="{D906AB83-A9BE-45DA-B7AF-45B94295F4B6}" type="slidenum">
              <a:rPr lang="en-AU" smtClean="0"/>
              <a:t>2</a:t>
            </a:fld>
            <a:endParaRPr lang="en-AU"/>
          </a:p>
        </p:txBody>
      </p:sp>
    </p:spTree>
    <p:extLst>
      <p:ext uri="{BB962C8B-B14F-4D97-AF65-F5344CB8AC3E}">
        <p14:creationId xmlns:p14="http://schemas.microsoft.com/office/powerpoint/2010/main" val="3344641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幻灯片编号占位符 3"/>
          <p:cNvSpPr>
            <a:spLocks noGrp="1"/>
          </p:cNvSpPr>
          <p:nvPr>
            <p:ph type="sldNum" sz="quarter" idx="10"/>
          </p:nvPr>
        </p:nvSpPr>
        <p:spPr/>
        <p:txBody>
          <a:bodyPr/>
          <a:lstStyle/>
          <a:p>
            <a:fld id="{D906AB83-A9BE-45DA-B7AF-45B94295F4B6}" type="slidenum">
              <a:rPr lang="en-AU" smtClean="0"/>
              <a:t>3</a:t>
            </a:fld>
            <a:endParaRPr lang="en-AU"/>
          </a:p>
        </p:txBody>
      </p:sp>
    </p:spTree>
    <p:extLst>
      <p:ext uri="{BB962C8B-B14F-4D97-AF65-F5344CB8AC3E}">
        <p14:creationId xmlns:p14="http://schemas.microsoft.com/office/powerpoint/2010/main" val="931348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2368179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a:t>
            </a:fld>
            <a:endParaRPr lang="en-US"/>
          </a:p>
        </p:txBody>
      </p:sp>
    </p:spTree>
    <p:extLst>
      <p:ext uri="{BB962C8B-B14F-4D97-AF65-F5344CB8AC3E}">
        <p14:creationId xmlns:p14="http://schemas.microsoft.com/office/powerpoint/2010/main" val="4170346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a:t>
            </a:fld>
            <a:endParaRPr lang="en-US"/>
          </a:p>
        </p:txBody>
      </p:sp>
    </p:spTree>
    <p:extLst>
      <p:ext uri="{BB962C8B-B14F-4D97-AF65-F5344CB8AC3E}">
        <p14:creationId xmlns:p14="http://schemas.microsoft.com/office/powerpoint/2010/main" val="1301024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7</a:t>
            </a:fld>
            <a:endParaRPr lang="en-US"/>
          </a:p>
        </p:txBody>
      </p:sp>
    </p:spTree>
    <p:extLst>
      <p:ext uri="{BB962C8B-B14F-4D97-AF65-F5344CB8AC3E}">
        <p14:creationId xmlns:p14="http://schemas.microsoft.com/office/powerpoint/2010/main" val="999382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8</a:t>
            </a:fld>
            <a:endParaRPr lang="en-US"/>
          </a:p>
        </p:txBody>
      </p:sp>
    </p:spTree>
    <p:extLst>
      <p:ext uri="{BB962C8B-B14F-4D97-AF65-F5344CB8AC3E}">
        <p14:creationId xmlns:p14="http://schemas.microsoft.com/office/powerpoint/2010/main" val="3642800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971800" y="549275"/>
            <a:ext cx="3657600" cy="2743200"/>
          </a:xfrm>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9</a:t>
            </a:fld>
            <a:endParaRPr lang="en-US"/>
          </a:p>
        </p:txBody>
      </p:sp>
    </p:spTree>
    <p:extLst>
      <p:ext uri="{BB962C8B-B14F-4D97-AF65-F5344CB8AC3E}">
        <p14:creationId xmlns:p14="http://schemas.microsoft.com/office/powerpoint/2010/main" val="2942332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10</a:t>
            </a:fld>
            <a:endParaRPr lang="en-US"/>
          </a:p>
        </p:txBody>
      </p:sp>
    </p:spTree>
    <p:extLst>
      <p:ext uri="{BB962C8B-B14F-4D97-AF65-F5344CB8AC3E}">
        <p14:creationId xmlns:p14="http://schemas.microsoft.com/office/powerpoint/2010/main" val="1638420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altLang="zh-CN"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11</a:t>
            </a:fld>
            <a:endParaRPr lang="en-US"/>
          </a:p>
        </p:txBody>
      </p:sp>
    </p:spTree>
    <p:extLst>
      <p:ext uri="{BB962C8B-B14F-4D97-AF65-F5344CB8AC3E}">
        <p14:creationId xmlns:p14="http://schemas.microsoft.com/office/powerpoint/2010/main" val="1364077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12</a:t>
            </a:fld>
            <a:endParaRPr lang="en-AU"/>
          </a:p>
        </p:txBody>
      </p:sp>
    </p:spTree>
    <p:extLst>
      <p:ext uri="{BB962C8B-B14F-4D97-AF65-F5344CB8AC3E}">
        <p14:creationId xmlns:p14="http://schemas.microsoft.com/office/powerpoint/2010/main" val="4042167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07000"/>
              </a:lnSpc>
              <a:spcAft>
                <a:spcPts val="800"/>
              </a:spcAft>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13</a:t>
            </a:fld>
            <a:endParaRPr lang="en-AU"/>
          </a:p>
        </p:txBody>
      </p:sp>
    </p:spTree>
    <p:extLst>
      <p:ext uri="{BB962C8B-B14F-4D97-AF65-F5344CB8AC3E}">
        <p14:creationId xmlns:p14="http://schemas.microsoft.com/office/powerpoint/2010/main" val="4225078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31800345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1385599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639955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5561950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17292574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19</a:t>
            </a:fld>
            <a:endParaRPr lang="en-US"/>
          </a:p>
        </p:txBody>
      </p:sp>
    </p:spTree>
    <p:extLst>
      <p:ext uri="{BB962C8B-B14F-4D97-AF65-F5344CB8AC3E}">
        <p14:creationId xmlns:p14="http://schemas.microsoft.com/office/powerpoint/2010/main" val="41103405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20</a:t>
            </a:fld>
            <a:endParaRPr lang="en-US"/>
          </a:p>
        </p:txBody>
      </p:sp>
    </p:spTree>
    <p:extLst>
      <p:ext uri="{BB962C8B-B14F-4D97-AF65-F5344CB8AC3E}">
        <p14:creationId xmlns:p14="http://schemas.microsoft.com/office/powerpoint/2010/main" val="938376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21</a:t>
            </a:fld>
            <a:endParaRPr lang="en-AU"/>
          </a:p>
        </p:txBody>
      </p:sp>
    </p:spTree>
    <p:extLst>
      <p:ext uri="{BB962C8B-B14F-4D97-AF65-F5344CB8AC3E}">
        <p14:creationId xmlns:p14="http://schemas.microsoft.com/office/powerpoint/2010/main" val="5609606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22</a:t>
            </a:fld>
            <a:endParaRPr lang="en-AU"/>
          </a:p>
        </p:txBody>
      </p:sp>
    </p:spTree>
    <p:extLst>
      <p:ext uri="{BB962C8B-B14F-4D97-AF65-F5344CB8AC3E}">
        <p14:creationId xmlns:p14="http://schemas.microsoft.com/office/powerpoint/2010/main" val="31027414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23</a:t>
            </a:fld>
            <a:endParaRPr lang="en-AU"/>
          </a:p>
        </p:txBody>
      </p:sp>
    </p:spTree>
    <p:extLst>
      <p:ext uri="{BB962C8B-B14F-4D97-AF65-F5344CB8AC3E}">
        <p14:creationId xmlns:p14="http://schemas.microsoft.com/office/powerpoint/2010/main" val="3012356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93571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6232795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24741209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5239607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2844108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29623665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30</a:t>
            </a:fld>
            <a:endParaRPr lang="en-US"/>
          </a:p>
        </p:txBody>
      </p:sp>
    </p:spTree>
    <p:extLst>
      <p:ext uri="{BB962C8B-B14F-4D97-AF65-F5344CB8AC3E}">
        <p14:creationId xmlns:p14="http://schemas.microsoft.com/office/powerpoint/2010/main" val="19235087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31</a:t>
            </a:fld>
            <a:endParaRPr lang="en-US"/>
          </a:p>
        </p:txBody>
      </p:sp>
    </p:spTree>
    <p:extLst>
      <p:ext uri="{BB962C8B-B14F-4D97-AF65-F5344CB8AC3E}">
        <p14:creationId xmlns:p14="http://schemas.microsoft.com/office/powerpoint/2010/main" val="11927409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32</a:t>
            </a:fld>
            <a:endParaRPr lang="en-US"/>
          </a:p>
        </p:txBody>
      </p:sp>
    </p:spTree>
    <p:extLst>
      <p:ext uri="{BB962C8B-B14F-4D97-AF65-F5344CB8AC3E}">
        <p14:creationId xmlns:p14="http://schemas.microsoft.com/office/powerpoint/2010/main" val="36564485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33</a:t>
            </a:fld>
            <a:endParaRPr lang="en-US"/>
          </a:p>
        </p:txBody>
      </p:sp>
    </p:spTree>
    <p:extLst>
      <p:ext uri="{BB962C8B-B14F-4D97-AF65-F5344CB8AC3E}">
        <p14:creationId xmlns:p14="http://schemas.microsoft.com/office/powerpoint/2010/main" val="3053821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34</a:t>
            </a:fld>
            <a:endParaRPr lang="en-US"/>
          </a:p>
        </p:txBody>
      </p:sp>
    </p:spTree>
    <p:extLst>
      <p:ext uri="{BB962C8B-B14F-4D97-AF65-F5344CB8AC3E}">
        <p14:creationId xmlns:p14="http://schemas.microsoft.com/office/powerpoint/2010/main" val="14776365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35</a:t>
            </a:fld>
            <a:endParaRPr lang="en-US"/>
          </a:p>
        </p:txBody>
      </p:sp>
    </p:spTree>
    <p:extLst>
      <p:ext uri="{BB962C8B-B14F-4D97-AF65-F5344CB8AC3E}">
        <p14:creationId xmlns:p14="http://schemas.microsoft.com/office/powerpoint/2010/main" val="7826748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36</a:t>
            </a:fld>
            <a:endParaRPr lang="en-US"/>
          </a:p>
        </p:txBody>
      </p:sp>
    </p:spTree>
    <p:extLst>
      <p:ext uri="{BB962C8B-B14F-4D97-AF65-F5344CB8AC3E}">
        <p14:creationId xmlns:p14="http://schemas.microsoft.com/office/powerpoint/2010/main" val="2335052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37</a:t>
            </a:fld>
            <a:endParaRPr lang="en-US"/>
          </a:p>
        </p:txBody>
      </p:sp>
    </p:spTree>
    <p:extLst>
      <p:ext uri="{BB962C8B-B14F-4D97-AF65-F5344CB8AC3E}">
        <p14:creationId xmlns:p14="http://schemas.microsoft.com/office/powerpoint/2010/main" val="14583562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38</a:t>
            </a:fld>
            <a:endParaRPr lang="en-US"/>
          </a:p>
        </p:txBody>
      </p:sp>
    </p:spTree>
    <p:extLst>
      <p:ext uri="{BB962C8B-B14F-4D97-AF65-F5344CB8AC3E}">
        <p14:creationId xmlns:p14="http://schemas.microsoft.com/office/powerpoint/2010/main" val="34863902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39</a:t>
            </a:fld>
            <a:endParaRPr lang="en-US"/>
          </a:p>
        </p:txBody>
      </p:sp>
    </p:spTree>
    <p:extLst>
      <p:ext uri="{BB962C8B-B14F-4D97-AF65-F5344CB8AC3E}">
        <p14:creationId xmlns:p14="http://schemas.microsoft.com/office/powerpoint/2010/main" val="41630401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40</a:t>
            </a:fld>
            <a:endParaRPr lang="en-US"/>
          </a:p>
        </p:txBody>
      </p:sp>
    </p:spTree>
    <p:extLst>
      <p:ext uri="{BB962C8B-B14F-4D97-AF65-F5344CB8AC3E}">
        <p14:creationId xmlns:p14="http://schemas.microsoft.com/office/powerpoint/2010/main" val="25499456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41</a:t>
            </a:fld>
            <a:endParaRPr lang="en-US"/>
          </a:p>
        </p:txBody>
      </p:sp>
    </p:spTree>
    <p:extLst>
      <p:ext uri="{BB962C8B-B14F-4D97-AF65-F5344CB8AC3E}">
        <p14:creationId xmlns:p14="http://schemas.microsoft.com/office/powerpoint/2010/main" val="10943267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42</a:t>
            </a:fld>
            <a:endParaRPr lang="en-US"/>
          </a:p>
        </p:txBody>
      </p:sp>
    </p:spTree>
    <p:extLst>
      <p:ext uri="{BB962C8B-B14F-4D97-AF65-F5344CB8AC3E}">
        <p14:creationId xmlns:p14="http://schemas.microsoft.com/office/powerpoint/2010/main" val="26466182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43</a:t>
            </a:fld>
            <a:endParaRPr lang="en-US"/>
          </a:p>
        </p:txBody>
      </p:sp>
    </p:spTree>
    <p:extLst>
      <p:ext uri="{BB962C8B-B14F-4D97-AF65-F5344CB8AC3E}">
        <p14:creationId xmlns:p14="http://schemas.microsoft.com/office/powerpoint/2010/main" val="41184323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44</a:t>
            </a:fld>
            <a:endParaRPr lang="en-US"/>
          </a:p>
        </p:txBody>
      </p:sp>
    </p:spTree>
    <p:extLst>
      <p:ext uri="{BB962C8B-B14F-4D97-AF65-F5344CB8AC3E}">
        <p14:creationId xmlns:p14="http://schemas.microsoft.com/office/powerpoint/2010/main" val="22383397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45</a:t>
            </a:fld>
            <a:endParaRPr lang="en-US"/>
          </a:p>
        </p:txBody>
      </p:sp>
    </p:spTree>
    <p:extLst>
      <p:ext uri="{BB962C8B-B14F-4D97-AF65-F5344CB8AC3E}">
        <p14:creationId xmlns:p14="http://schemas.microsoft.com/office/powerpoint/2010/main" val="23056624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46</a:t>
            </a:fld>
            <a:endParaRPr lang="en-US"/>
          </a:p>
        </p:txBody>
      </p:sp>
    </p:spTree>
    <p:extLst>
      <p:ext uri="{BB962C8B-B14F-4D97-AF65-F5344CB8AC3E}">
        <p14:creationId xmlns:p14="http://schemas.microsoft.com/office/powerpoint/2010/main" val="26765474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47</a:t>
            </a:fld>
            <a:endParaRPr lang="en-US"/>
          </a:p>
        </p:txBody>
      </p:sp>
    </p:spTree>
    <p:extLst>
      <p:ext uri="{BB962C8B-B14F-4D97-AF65-F5344CB8AC3E}">
        <p14:creationId xmlns:p14="http://schemas.microsoft.com/office/powerpoint/2010/main" val="5706521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48</a:t>
            </a:fld>
            <a:endParaRPr lang="en-US"/>
          </a:p>
        </p:txBody>
      </p:sp>
    </p:spTree>
    <p:extLst>
      <p:ext uri="{BB962C8B-B14F-4D97-AF65-F5344CB8AC3E}">
        <p14:creationId xmlns:p14="http://schemas.microsoft.com/office/powerpoint/2010/main" val="23346597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49</a:t>
            </a:fld>
            <a:endParaRPr lang="en-US"/>
          </a:p>
        </p:txBody>
      </p:sp>
    </p:spTree>
    <p:extLst>
      <p:ext uri="{BB962C8B-B14F-4D97-AF65-F5344CB8AC3E}">
        <p14:creationId xmlns:p14="http://schemas.microsoft.com/office/powerpoint/2010/main" val="8229185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50</a:t>
            </a:fld>
            <a:endParaRPr lang="en-US"/>
          </a:p>
        </p:txBody>
      </p:sp>
    </p:spTree>
    <p:extLst>
      <p:ext uri="{BB962C8B-B14F-4D97-AF65-F5344CB8AC3E}">
        <p14:creationId xmlns:p14="http://schemas.microsoft.com/office/powerpoint/2010/main" val="7317414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51</a:t>
            </a:fld>
            <a:endParaRPr lang="en-US"/>
          </a:p>
        </p:txBody>
      </p:sp>
    </p:spTree>
    <p:extLst>
      <p:ext uri="{BB962C8B-B14F-4D97-AF65-F5344CB8AC3E}">
        <p14:creationId xmlns:p14="http://schemas.microsoft.com/office/powerpoint/2010/main" val="20732833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52</a:t>
            </a:fld>
            <a:endParaRPr lang="en-US"/>
          </a:p>
        </p:txBody>
      </p:sp>
    </p:spTree>
    <p:extLst>
      <p:ext uri="{BB962C8B-B14F-4D97-AF65-F5344CB8AC3E}">
        <p14:creationId xmlns:p14="http://schemas.microsoft.com/office/powerpoint/2010/main" val="2714807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53</a:t>
            </a:fld>
            <a:endParaRPr lang="en-AU"/>
          </a:p>
        </p:txBody>
      </p:sp>
    </p:spTree>
    <p:extLst>
      <p:ext uri="{BB962C8B-B14F-4D97-AF65-F5344CB8AC3E}">
        <p14:creationId xmlns:p14="http://schemas.microsoft.com/office/powerpoint/2010/main" val="14800726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54</a:t>
            </a:fld>
            <a:endParaRPr lang="en-AU"/>
          </a:p>
        </p:txBody>
      </p:sp>
    </p:spTree>
    <p:extLst>
      <p:ext uri="{BB962C8B-B14F-4D97-AF65-F5344CB8AC3E}">
        <p14:creationId xmlns:p14="http://schemas.microsoft.com/office/powerpoint/2010/main" val="13259985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55</a:t>
            </a:fld>
            <a:endParaRPr lang="en-AU"/>
          </a:p>
        </p:txBody>
      </p:sp>
    </p:spTree>
    <p:extLst>
      <p:ext uri="{BB962C8B-B14F-4D97-AF65-F5344CB8AC3E}">
        <p14:creationId xmlns:p14="http://schemas.microsoft.com/office/powerpoint/2010/main" val="5632804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56</a:t>
            </a:fld>
            <a:endParaRPr lang="en-AU"/>
          </a:p>
        </p:txBody>
      </p:sp>
    </p:spTree>
    <p:extLst>
      <p:ext uri="{BB962C8B-B14F-4D97-AF65-F5344CB8AC3E}">
        <p14:creationId xmlns:p14="http://schemas.microsoft.com/office/powerpoint/2010/main" val="41811089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57</a:t>
            </a:fld>
            <a:endParaRPr lang="en-AU"/>
          </a:p>
        </p:txBody>
      </p:sp>
    </p:spTree>
    <p:extLst>
      <p:ext uri="{BB962C8B-B14F-4D97-AF65-F5344CB8AC3E}">
        <p14:creationId xmlns:p14="http://schemas.microsoft.com/office/powerpoint/2010/main" val="5328133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58</a:t>
            </a:fld>
            <a:endParaRPr lang="en-AU"/>
          </a:p>
        </p:txBody>
      </p:sp>
    </p:spTree>
    <p:extLst>
      <p:ext uri="{BB962C8B-B14F-4D97-AF65-F5344CB8AC3E}">
        <p14:creationId xmlns:p14="http://schemas.microsoft.com/office/powerpoint/2010/main" val="22488310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59</a:t>
            </a:fld>
            <a:endParaRPr lang="en-AU" dirty="0"/>
          </a:p>
        </p:txBody>
      </p:sp>
    </p:spTree>
    <p:extLst>
      <p:ext uri="{BB962C8B-B14F-4D97-AF65-F5344CB8AC3E}">
        <p14:creationId xmlns:p14="http://schemas.microsoft.com/office/powerpoint/2010/main" val="8300416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60</a:t>
            </a:fld>
            <a:endParaRPr lang="en-AU" dirty="0"/>
          </a:p>
        </p:txBody>
      </p:sp>
    </p:spTree>
    <p:extLst>
      <p:ext uri="{BB962C8B-B14F-4D97-AF65-F5344CB8AC3E}">
        <p14:creationId xmlns:p14="http://schemas.microsoft.com/office/powerpoint/2010/main" val="134653505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61</a:t>
            </a:fld>
            <a:endParaRPr lang="en-AU"/>
          </a:p>
        </p:txBody>
      </p:sp>
    </p:spTree>
    <p:extLst>
      <p:ext uri="{BB962C8B-B14F-4D97-AF65-F5344CB8AC3E}">
        <p14:creationId xmlns:p14="http://schemas.microsoft.com/office/powerpoint/2010/main" val="16044000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62</a:t>
            </a:fld>
            <a:endParaRPr lang="en-AU"/>
          </a:p>
        </p:txBody>
      </p:sp>
    </p:spTree>
    <p:extLst>
      <p:ext uri="{BB962C8B-B14F-4D97-AF65-F5344CB8AC3E}">
        <p14:creationId xmlns:p14="http://schemas.microsoft.com/office/powerpoint/2010/main" val="17675358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63</a:t>
            </a:fld>
            <a:endParaRPr lang="en-AU"/>
          </a:p>
        </p:txBody>
      </p:sp>
    </p:spTree>
    <p:extLst>
      <p:ext uri="{BB962C8B-B14F-4D97-AF65-F5344CB8AC3E}">
        <p14:creationId xmlns:p14="http://schemas.microsoft.com/office/powerpoint/2010/main" val="265063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24EC0-117D-3241-9E7D-7E6821D75D6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F8BABFE-96D0-7B40-B735-5F4FAB79CB5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82435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FF9E0-7368-FE48-ABC7-7B6CDC72D0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CE819C-9B63-C844-BF9E-99C8984B84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3771779"/>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36403-B80C-AD47-8E92-DDB417F06AC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65250AC-A367-404A-9102-99599C42457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169176196"/>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AC6CB-6DF2-8E45-BBD4-FD2B8F872D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40ED82-904D-A742-BD00-B51BABB90C24}"/>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C25BE2-D9D3-B946-983C-CFAA431FCFDB}"/>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151911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34E9-A2C0-5149-97FE-8B67B9ADBC7A}"/>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0F9C92-1B00-EC40-83B5-DD8E878C4E02}"/>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8C2F2A3F-35FE-1246-AE60-0FCFAE0218F2}"/>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22D0A6-1D92-BF47-BDCA-991F540C287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F6B092DB-3336-8042-BAA3-836B640A2E6D}"/>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825548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A816E-19A0-DE4F-B259-15305AD21A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62308706"/>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4259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AE461-B255-F441-9A84-2E5FD8A0CCA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3E02D54-45C4-214C-A1CA-08827EECD06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DD2236-160D-CC4C-9D2D-B26FB86D57C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Tree>
    <p:extLst>
      <p:ext uri="{BB962C8B-B14F-4D97-AF65-F5344CB8AC3E}">
        <p14:creationId xmlns:p14="http://schemas.microsoft.com/office/powerpoint/2010/main" val="4107872391"/>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0ED-8E34-1B45-93BE-4FE24E422B6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E2E54B50-CC6F-EB47-A9B6-AB8F32766B9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3218F83A-ED88-614E-852D-02667E1E78B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Tree>
    <p:extLst>
      <p:ext uri="{BB962C8B-B14F-4D97-AF65-F5344CB8AC3E}">
        <p14:creationId xmlns:p14="http://schemas.microsoft.com/office/powerpoint/2010/main" val="4050115166"/>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83E80-82A4-3443-B954-4879D00F60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2CDACE-B35B-844C-BFF1-9309B1AFFD7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5153594"/>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4A55E-2B7B-C049-932A-E7AB359B8CDF}"/>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4AADDF-398C-2843-AF28-44AF2CA89AA1}"/>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772553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1179513" y="1990725"/>
            <a:ext cx="7793037" cy="990600"/>
          </a:xfrm>
        </p:spPr>
        <p:txBody>
          <a:bodyPr/>
          <a:lstStyle>
            <a:lvl1pPr>
              <a:defRPr sz="4000"/>
            </a:lvl1pPr>
          </a:lstStyle>
          <a:p>
            <a:r>
              <a:rPr lang="en-US"/>
              <a:t>Click to edit Master title style</a:t>
            </a:r>
          </a:p>
        </p:txBody>
      </p:sp>
      <p:sp>
        <p:nvSpPr>
          <p:cNvPr id="5" name="Rectangle 111"/>
          <p:cNvSpPr>
            <a:spLocks noChangeArrowheads="1"/>
          </p:cNvSpPr>
          <p:nvPr userDrawn="1"/>
        </p:nvSpPr>
        <p:spPr bwMode="auto">
          <a:xfrm>
            <a:off x="304800" y="838200"/>
            <a:ext cx="787400" cy="3429000"/>
          </a:xfrm>
          <a:prstGeom prst="rect">
            <a:avLst/>
          </a:prstGeom>
          <a:gradFill rotWithShape="0">
            <a:gsLst>
              <a:gs pos="0">
                <a:srgbClr val="708FE6"/>
              </a:gs>
              <a:gs pos="100000">
                <a:srgbClr val="FFFFFF"/>
              </a:gs>
            </a:gsLst>
            <a:lin ang="5400000" scaled="1"/>
          </a:gradFill>
          <a:ln w="9525">
            <a:noFill/>
            <a:miter lim="800000"/>
            <a:headEnd/>
            <a:tailEnd/>
          </a:ln>
          <a:effectLst/>
        </p:spPr>
        <p:txBody>
          <a:bodyPr wrap="none" anchor="ctr"/>
          <a:lstStyle/>
          <a:p>
            <a:endParaRPr lang="en-US"/>
          </a:p>
        </p:txBody>
      </p:sp>
      <p:sp>
        <p:nvSpPr>
          <p:cNvPr id="6" name="Line 110"/>
          <p:cNvSpPr>
            <a:spLocks noChangeShapeType="1"/>
          </p:cNvSpPr>
          <p:nvPr userDrawn="1"/>
        </p:nvSpPr>
        <p:spPr bwMode="auto">
          <a:xfrm>
            <a:off x="842963" y="1143000"/>
            <a:ext cx="0" cy="2895600"/>
          </a:xfrm>
          <a:prstGeom prst="line">
            <a:avLst/>
          </a:prstGeom>
          <a:noFill/>
          <a:ln w="28575">
            <a:solidFill>
              <a:srgbClr val="000000"/>
            </a:solidFill>
            <a:round/>
            <a:headEnd/>
            <a:tailEnd/>
          </a:ln>
          <a:effectLst/>
        </p:spPr>
        <p:txBody>
          <a:bodyPr wrap="none" anchor="ctr"/>
          <a:lstStyle/>
          <a:p>
            <a:endParaRPr lang="en-US"/>
          </a:p>
        </p:txBody>
      </p:sp>
      <p:sp>
        <p:nvSpPr>
          <p:cNvPr id="8" name="Rectangle 13"/>
          <p:cNvSpPr>
            <a:spLocks noGrp="1" noChangeArrowheads="1"/>
          </p:cNvSpPr>
          <p:nvPr>
            <p:ph type="subTitle" idx="1"/>
          </p:nvPr>
        </p:nvSpPr>
        <p:spPr>
          <a:xfrm>
            <a:off x="1363663" y="3944938"/>
            <a:ext cx="6400800" cy="1752600"/>
          </a:xfrm>
        </p:spPr>
        <p:txBody>
          <a:bodyPr/>
          <a:lstStyle>
            <a:lvl1pPr marL="0" indent="0" algn="ctr">
              <a:buFont typeface="Wingdings" pitchFamily="2" charset="2"/>
              <a:buNone/>
              <a:defRPr/>
            </a:lvl1pPr>
          </a:lstStyle>
          <a:p>
            <a:r>
              <a:rPr lang="en-GB"/>
              <a:t>Click to edit Master subtitle style</a:t>
            </a:r>
          </a:p>
        </p:txBody>
      </p:sp>
      <p:sp>
        <p:nvSpPr>
          <p:cNvPr id="10" name="Rectangle 11"/>
          <p:cNvSpPr>
            <a:spLocks noChangeArrowheads="1"/>
          </p:cNvSpPr>
          <p:nvPr userDrawn="1"/>
        </p:nvSpPr>
        <p:spPr bwMode="auto">
          <a:xfrm flipV="1">
            <a:off x="201613" y="3011488"/>
            <a:ext cx="8693150" cy="55562"/>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endParaRPr lang="en-US"/>
          </a:p>
        </p:txBody>
      </p:sp>
      <p:pic>
        <p:nvPicPr>
          <p:cNvPr id="11" name="Picture 10" descr="Penn shield.gif"/>
          <p:cNvPicPr>
            <a:picLocks noChangeAspect="1"/>
          </p:cNvPicPr>
          <p:nvPr userDrawn="1"/>
        </p:nvPicPr>
        <p:blipFill>
          <a:blip r:embed="rId2" cstate="print"/>
          <a:stretch>
            <a:fillRect/>
          </a:stretch>
        </p:blipFill>
        <p:spPr>
          <a:xfrm>
            <a:off x="375795" y="2612508"/>
            <a:ext cx="659107" cy="7401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E6B61A-66B2-BF48-888C-025882E8E1A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E4478A-031A-F047-B581-67CB51BB798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045216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658"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cholar.google.com/citations?hl=en&amp;user=pXIJXmwAAAAJ&amp;view_op=list_works&amp;sortby=pubdat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2.png"/><Relationship Id="rId7"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g"/><Relationship Id="rId9"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hyperlink" Target="http://www.safety.uwa.edu.au/"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www.uwa.edu.au/students/Support-services/Disability-and-accessibility"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zhangzhics.gitbook.io/cits5503"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zhangzhics.gitbook.io/cits5503/labs/lab1introsetup"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zhangzhics.gitbook.io/cits5503#use-of-aws"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zhangzhics.gitbook.io/cits5503#live-lab-assessment"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jp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jpeg"/></Relationships>
</file>

<file path=ppt/slides/_rels/slide3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5.jpeg"/><Relationship Id="rId4" Type="http://schemas.openxmlformats.org/officeDocument/2006/relationships/image" Target="../media/image24.jpeg"/></Relationships>
</file>

<file path=ppt/slides/_rels/slide4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4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4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4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39.jpeg"/><Relationship Id="rId4" Type="http://schemas.openxmlformats.org/officeDocument/2006/relationships/image" Target="../media/image38.jpeg"/></Relationships>
</file>

<file path=ppt/slides/_rels/slide4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5.jpeg"/><Relationship Id="rId4" Type="http://schemas.openxmlformats.org/officeDocument/2006/relationships/image" Target="../media/image24.jpeg"/></Relationships>
</file>

<file path=ppt/slides/_rels/slide47.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43.gif"/></Relationships>
</file>

<file path=ppt/slides/_rels/slide48.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3.gif"/></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zhangzhics.gitbook.io/cits5503/weekly_questions"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10" name="Group 9" title="intersecting circles">
            <a:extLst>
              <a:ext uri="{FF2B5EF4-FFF2-40B4-BE49-F238E27FC236}">
                <a16:creationId xmlns:a16="http://schemas.microsoft.com/office/drawing/2014/main" id="{D2C4BFA1-2075-4901-9E24-E41D1FDD51FD}"/>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6610" y="498348"/>
            <a:ext cx="7426997" cy="5861304"/>
            <a:chOff x="1155481" y="498348"/>
            <a:chExt cx="9902663" cy="5861304"/>
          </a:xfrm>
        </p:grpSpPr>
        <p:sp>
          <p:nvSpPr>
            <p:cNvPr id="11" name="Oval 5">
              <a:extLst>
                <a:ext uri="{FF2B5EF4-FFF2-40B4-BE49-F238E27FC236}">
                  <a16:creationId xmlns:a16="http://schemas.microsoft.com/office/drawing/2014/main" id="{985A7375-E3AF-4F5C-85AE-17E8832952CA}"/>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12" name="Oval 11">
              <a:extLst>
                <a:ext uri="{FF2B5EF4-FFF2-40B4-BE49-F238E27FC236}">
                  <a16:creationId xmlns:a16="http://schemas.microsoft.com/office/drawing/2014/main" id="{F0307F65-8304-4FA8-A841-D4D7625411BE}"/>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13" name="Oval 5">
              <a:extLst>
                <a:ext uri="{FF2B5EF4-FFF2-40B4-BE49-F238E27FC236}">
                  <a16:creationId xmlns:a16="http://schemas.microsoft.com/office/drawing/2014/main" id="{C8B8394C-136F-4E05-A002-D93A5E79CD50}"/>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15" name="Rectangle 14" title="ribbon">
            <a:extLst>
              <a:ext uri="{FF2B5EF4-FFF2-40B4-BE49-F238E27FC236}">
                <a16:creationId xmlns:a16="http://schemas.microsoft.com/office/drawing/2014/main" id="{053FB2EE-284F-4C87-AB3D-BBF87A9FAB9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9144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Subtitle 2">
            <a:extLst>
              <a:ext uri="{FF2B5EF4-FFF2-40B4-BE49-F238E27FC236}">
                <a16:creationId xmlns:a16="http://schemas.microsoft.com/office/drawing/2014/main" id="{62EA9A19-EA4A-3140-9F24-20270B76E6C0}"/>
              </a:ext>
            </a:extLst>
          </p:cNvPr>
          <p:cNvSpPr>
            <a:spLocks noGrp="1"/>
          </p:cNvSpPr>
          <p:nvPr>
            <p:ph type="subTitle" idx="1"/>
          </p:nvPr>
        </p:nvSpPr>
        <p:spPr>
          <a:xfrm>
            <a:off x="1143000" y="4495800"/>
            <a:ext cx="6858000" cy="762000"/>
          </a:xfrm>
        </p:spPr>
        <p:txBody>
          <a:bodyPr>
            <a:normAutofit/>
          </a:bodyPr>
          <a:lstStyle/>
          <a:p>
            <a:r>
              <a:rPr lang="en-US" dirty="0"/>
              <a:t>D</a:t>
            </a:r>
            <a:r>
              <a:rPr lang="en-AU" dirty="0"/>
              <a:t>r</a:t>
            </a:r>
            <a:r>
              <a:rPr lang="zh-CN" altLang="en-US" dirty="0"/>
              <a:t> </a:t>
            </a:r>
            <a:r>
              <a:rPr lang="en-AU" altLang="zh-CN" dirty="0"/>
              <a:t>Zhi Zhang</a:t>
            </a:r>
            <a:endParaRPr lang="en-US" dirty="0"/>
          </a:p>
        </p:txBody>
      </p:sp>
      <p:sp>
        <p:nvSpPr>
          <p:cNvPr id="14" name="Title 1">
            <a:extLst>
              <a:ext uri="{FF2B5EF4-FFF2-40B4-BE49-F238E27FC236}">
                <a16:creationId xmlns:a16="http://schemas.microsoft.com/office/drawing/2014/main" id="{A9600650-6680-49D3-9469-763C5995063D}"/>
              </a:ext>
            </a:extLst>
          </p:cNvPr>
          <p:cNvSpPr txBox="1">
            <a:spLocks/>
          </p:cNvSpPr>
          <p:nvPr/>
        </p:nvSpPr>
        <p:spPr>
          <a:xfrm>
            <a:off x="1143000" y="2776538"/>
            <a:ext cx="6858000" cy="1381188"/>
          </a:xfrm>
          <a:prstGeom prst="rect">
            <a:avLst/>
          </a:prstGeom>
        </p:spPr>
        <p:txBody>
          <a:bodyPr vert="horz" lIns="91440" tIns="45720" rIns="91440" bIns="45720" rtlCol="0" anchor="ctr">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fontAlgn="auto">
              <a:spcAft>
                <a:spcPts val="0"/>
              </a:spcAft>
              <a:buClrTx/>
              <a:buSzTx/>
              <a:buFontTx/>
            </a:pPr>
            <a:r>
              <a:rPr lang="en-US" sz="3500" dirty="0">
                <a:solidFill>
                  <a:schemeClr val="bg2"/>
                </a:solidFill>
              </a:rPr>
              <a:t>CITS5503 Cloud </a:t>
            </a:r>
            <a:r>
              <a:rPr lang="en-US" sz="3500">
                <a:solidFill>
                  <a:schemeClr val="bg2"/>
                </a:solidFill>
              </a:rPr>
              <a:t>Computing 2026 </a:t>
            </a:r>
            <a:r>
              <a:rPr lang="en-US" sz="3500" dirty="0">
                <a:solidFill>
                  <a:schemeClr val="bg2"/>
                </a:solidFill>
              </a:rPr>
              <a:t>Introduction</a:t>
            </a:r>
          </a:p>
        </p:txBody>
      </p:sp>
    </p:spTree>
    <p:extLst>
      <p:ext uri="{BB962C8B-B14F-4D97-AF65-F5344CB8AC3E}">
        <p14:creationId xmlns:p14="http://schemas.microsoft.com/office/powerpoint/2010/main" val="81163372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E55EEFF-7D1A-4D79-92A3-2C59543E2F79}"/>
              </a:ext>
            </a:extLst>
          </p:cNvPr>
          <p:cNvSpPr/>
          <p:nvPr/>
        </p:nvSpPr>
        <p:spPr>
          <a:xfrm>
            <a:off x="95250" y="2477374"/>
            <a:ext cx="8953500" cy="4458927"/>
          </a:xfrm>
          <a:prstGeom prst="rect">
            <a:avLst/>
          </a:prstGeom>
        </p:spPr>
        <p:txBody>
          <a:bodyPr wrap="square" lIns="20016" tIns="10008" rIns="20016" bIns="10008">
            <a:spAutoFit/>
          </a:bodyPr>
          <a:lstStyle/>
          <a:p>
            <a:pPr marL="800000" lvl="1" indent="-342900" algn="l">
              <a:lnSpc>
                <a:spcPct val="200000"/>
              </a:lnSpc>
              <a:spcBef>
                <a:spcPts val="219"/>
              </a:spcBef>
              <a:buClr>
                <a:schemeClr val="tx1"/>
              </a:buClr>
              <a:buFont typeface="Wingdings" panose="05000000000000000000" pitchFamily="2" charset="2"/>
              <a:buChar char="Ø"/>
            </a:pPr>
            <a:r>
              <a:rPr lang="en-US" altLang="zh-CN" sz="2400" dirty="0">
                <a:latin typeface="+mn-lt"/>
              </a:rPr>
              <a:t>Senior Lecturer</a:t>
            </a:r>
            <a:endParaRPr lang="en-AU" altLang="zh-CN" sz="2400" dirty="0">
              <a:latin typeface="+mn-lt"/>
            </a:endParaRPr>
          </a:p>
          <a:p>
            <a:pPr marL="800000" lvl="1" indent="-342900" algn="l">
              <a:lnSpc>
                <a:spcPct val="200000"/>
              </a:lnSpc>
              <a:spcBef>
                <a:spcPts val="219"/>
              </a:spcBef>
              <a:buClr>
                <a:schemeClr val="tx1"/>
              </a:buClr>
              <a:buFont typeface="Wingdings" panose="05000000000000000000" pitchFamily="2" charset="2"/>
              <a:buChar char="Ø"/>
            </a:pPr>
            <a:r>
              <a:rPr lang="en-AU" altLang="zh-CN" sz="2400" dirty="0">
                <a:latin typeface="+mn-lt"/>
              </a:rPr>
              <a:t>Office: G10@CSSE</a:t>
            </a:r>
          </a:p>
          <a:p>
            <a:pPr marL="800000" lvl="1" indent="-342900" algn="l">
              <a:lnSpc>
                <a:spcPct val="200000"/>
              </a:lnSpc>
              <a:spcBef>
                <a:spcPts val="219"/>
              </a:spcBef>
              <a:buClr>
                <a:schemeClr val="tx1"/>
              </a:buClr>
              <a:buFont typeface="Wingdings" panose="05000000000000000000" pitchFamily="2" charset="2"/>
              <a:buChar char="Ø"/>
            </a:pPr>
            <a:r>
              <a:rPr lang="en-US" altLang="zh-CN" sz="2400" dirty="0">
                <a:latin typeface="+mn-lt"/>
              </a:rPr>
              <a:t>https://zhangzhics.github.io</a:t>
            </a:r>
            <a:r>
              <a:rPr lang="en-AU" sz="2400" dirty="0">
                <a:latin typeface="+mn-lt"/>
                <a:hlinkClick r:id="rId3">
                  <a:extLst>
                    <a:ext uri="{A12FA001-AC4F-418D-AE19-62706E023703}">
                      <ahyp:hlinkClr xmlns:ahyp="http://schemas.microsoft.com/office/drawing/2018/hyperlinkcolor" val="tx"/>
                    </a:ext>
                  </a:extLst>
                </a:hlinkClick>
              </a:rPr>
              <a:t>‬</a:t>
            </a:r>
            <a:endParaRPr lang="en-US" sz="2400" dirty="0">
              <a:latin typeface="+mn-lt"/>
            </a:endParaRPr>
          </a:p>
          <a:p>
            <a:pPr marL="800000" lvl="1" indent="-342900" algn="l">
              <a:lnSpc>
                <a:spcPct val="200000"/>
              </a:lnSpc>
              <a:spcBef>
                <a:spcPts val="219"/>
              </a:spcBef>
              <a:buClr>
                <a:schemeClr val="tx1"/>
              </a:buClr>
              <a:buFont typeface="Wingdings" panose="05000000000000000000" pitchFamily="2" charset="2"/>
              <a:buChar char="Ø"/>
            </a:pPr>
            <a:r>
              <a:rPr lang="en-AU" altLang="zh-CN" sz="2400" dirty="0">
                <a:latin typeface="+mn-lt"/>
              </a:rPr>
              <a:t>Email: zhi.zhang@uwa.edu.au </a:t>
            </a:r>
          </a:p>
          <a:p>
            <a:pPr marL="457100" lvl="1" algn="l">
              <a:lnSpc>
                <a:spcPct val="200000"/>
              </a:lnSpc>
              <a:spcBef>
                <a:spcPts val="219"/>
              </a:spcBef>
            </a:pPr>
            <a:r>
              <a:rPr lang="en-AU" altLang="zh-CN" sz="2400" dirty="0">
                <a:latin typeface="+mn-lt"/>
              </a:rPr>
              <a:t>        queries related to CITS5503: cits5503-pmc@uwa.edu.au</a:t>
            </a:r>
          </a:p>
          <a:p>
            <a:pPr marL="644752" lvl="1" indent="-187652">
              <a:lnSpc>
                <a:spcPct val="200000"/>
              </a:lnSpc>
              <a:spcBef>
                <a:spcPts val="219"/>
              </a:spcBef>
              <a:buFont typeface="Wingdings" panose="05000000000000000000" pitchFamily="2" charset="2"/>
              <a:buChar char="Ø"/>
            </a:pPr>
            <a:endParaRPr lang="en-US" altLang="zh-CN" sz="2400" dirty="0">
              <a:ea typeface="+mj-ea"/>
              <a:cs typeface="+mj-cs"/>
            </a:endParaRPr>
          </a:p>
        </p:txBody>
      </p:sp>
      <p:pic>
        <p:nvPicPr>
          <p:cNvPr id="6" name="Picture 5">
            <a:extLst>
              <a:ext uri="{FF2B5EF4-FFF2-40B4-BE49-F238E27FC236}">
                <a16:creationId xmlns:a16="http://schemas.microsoft.com/office/drawing/2014/main" id="{F122E11B-20C0-491A-A771-0523E50A05C1}"/>
              </a:ext>
            </a:extLst>
          </p:cNvPr>
          <p:cNvPicPr>
            <a:picLocks noChangeAspect="1"/>
          </p:cNvPicPr>
          <p:nvPr/>
        </p:nvPicPr>
        <p:blipFill>
          <a:blip r:embed="rId4"/>
          <a:stretch>
            <a:fillRect/>
          </a:stretch>
        </p:blipFill>
        <p:spPr>
          <a:xfrm>
            <a:off x="481025" y="330287"/>
            <a:ext cx="2037385" cy="2147087"/>
          </a:xfrm>
          <a:prstGeom prst="rect">
            <a:avLst/>
          </a:prstGeom>
        </p:spPr>
      </p:pic>
    </p:spTree>
    <p:extLst>
      <p:ext uri="{BB962C8B-B14F-4D97-AF65-F5344CB8AC3E}">
        <p14:creationId xmlns:p14="http://schemas.microsoft.com/office/powerpoint/2010/main" val="2114466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2142501" y="214626"/>
            <a:ext cx="4819407" cy="79582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AU" sz="3200" b="1" dirty="0">
                <a:solidFill>
                  <a:srgbClr val="374151"/>
                </a:solidFill>
                <a:latin typeface="+mj-lt"/>
                <a:ea typeface="+mj-ea"/>
                <a:cs typeface="+mj-cs"/>
              </a:rPr>
              <a:t>csrankings.org</a:t>
            </a:r>
            <a:endParaRPr lang="en-US" sz="3200" b="1" dirty="0">
              <a:solidFill>
                <a:srgbClr val="374151"/>
              </a:solidFill>
              <a:latin typeface="+mj-lt"/>
              <a:ea typeface="+mj-ea"/>
              <a:cs typeface="+mj-cs"/>
            </a:endParaRPr>
          </a:p>
        </p:txBody>
      </p:sp>
      <p:pic>
        <p:nvPicPr>
          <p:cNvPr id="3" name="Picture 2">
            <a:extLst>
              <a:ext uri="{FF2B5EF4-FFF2-40B4-BE49-F238E27FC236}">
                <a16:creationId xmlns:a16="http://schemas.microsoft.com/office/drawing/2014/main" id="{ABA96337-0164-47C4-B420-88E1CC5348B7}"/>
              </a:ext>
            </a:extLst>
          </p:cNvPr>
          <p:cNvPicPr>
            <a:picLocks noChangeAspect="1"/>
          </p:cNvPicPr>
          <p:nvPr/>
        </p:nvPicPr>
        <p:blipFill>
          <a:blip r:embed="rId3"/>
          <a:stretch>
            <a:fillRect/>
          </a:stretch>
        </p:blipFill>
        <p:spPr>
          <a:xfrm>
            <a:off x="0" y="948307"/>
            <a:ext cx="9144000" cy="4961386"/>
          </a:xfrm>
          <a:prstGeom prst="rect">
            <a:avLst/>
          </a:prstGeom>
        </p:spPr>
      </p:pic>
    </p:spTree>
    <p:extLst>
      <p:ext uri="{BB962C8B-B14F-4D97-AF65-F5344CB8AC3E}">
        <p14:creationId xmlns:p14="http://schemas.microsoft.com/office/powerpoint/2010/main" val="193452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5C5B6C-C9DB-4D05-9D6B-32FCA5AFEEEE}"/>
              </a:ext>
            </a:extLst>
          </p:cNvPr>
          <p:cNvPicPr>
            <a:picLocks noChangeAspect="1"/>
          </p:cNvPicPr>
          <p:nvPr/>
        </p:nvPicPr>
        <p:blipFill>
          <a:blip r:embed="rId3"/>
          <a:stretch>
            <a:fillRect/>
          </a:stretch>
        </p:blipFill>
        <p:spPr>
          <a:xfrm>
            <a:off x="732773" y="888274"/>
            <a:ext cx="7678454" cy="4075612"/>
          </a:xfrm>
          <a:prstGeom prst="rect">
            <a:avLst/>
          </a:prstGeom>
        </p:spPr>
      </p:pic>
    </p:spTree>
    <p:extLst>
      <p:ext uri="{BB962C8B-B14F-4D97-AF65-F5344CB8AC3E}">
        <p14:creationId xmlns:p14="http://schemas.microsoft.com/office/powerpoint/2010/main" val="3399512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Are You Comparing the Big Three Cloud Providers? - VMware Aria Cost  powered by CloudHealth">
            <a:extLst>
              <a:ext uri="{FF2B5EF4-FFF2-40B4-BE49-F238E27FC236}">
                <a16:creationId xmlns:a16="http://schemas.microsoft.com/office/drawing/2014/main" id="{E3A7937E-3A3D-4D6B-9156-5D6118002B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588" y="1381188"/>
            <a:ext cx="6386824" cy="4577224"/>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0AA98B0F-BCB1-4D0E-BFC2-7BD21A32DA3F}"/>
              </a:ext>
            </a:extLst>
          </p:cNvPr>
          <p:cNvSpPr>
            <a:spLocks noGrp="1"/>
          </p:cNvSpPr>
          <p:nvPr>
            <p:ph type="title"/>
          </p:nvPr>
        </p:nvSpPr>
        <p:spPr>
          <a:xfrm>
            <a:off x="2103488" y="124207"/>
            <a:ext cx="5241208" cy="1325563"/>
          </a:xfrm>
        </p:spPr>
        <p:txBody>
          <a:bodyPr/>
          <a:lstStyle/>
          <a:p>
            <a:r>
              <a:rPr lang="en-AU" b="1" i="0" dirty="0">
                <a:solidFill>
                  <a:srgbClr val="374151"/>
                </a:solidFill>
                <a:effectLst/>
              </a:rPr>
              <a:t>Three main </a:t>
            </a:r>
            <a:r>
              <a:rPr lang="en-AU" sz="3200" b="1" i="0" dirty="0">
                <a:solidFill>
                  <a:srgbClr val="374151"/>
                </a:solidFill>
                <a:effectLst/>
              </a:rPr>
              <a:t>cloud</a:t>
            </a:r>
            <a:r>
              <a:rPr lang="en-AU" b="1" i="0" dirty="0">
                <a:solidFill>
                  <a:srgbClr val="374151"/>
                </a:solidFill>
                <a:effectLst/>
              </a:rPr>
              <a:t> providers</a:t>
            </a:r>
            <a:endParaRPr lang="en-US" b="1" dirty="0"/>
          </a:p>
        </p:txBody>
      </p:sp>
      <p:pic>
        <p:nvPicPr>
          <p:cNvPr id="10" name="Picture 2" descr="How Are You Comparing the Big Three Cloud Providers? - VMware Aria Cost  powered by CloudHealth">
            <a:extLst>
              <a:ext uri="{FF2B5EF4-FFF2-40B4-BE49-F238E27FC236}">
                <a16:creationId xmlns:a16="http://schemas.microsoft.com/office/drawing/2014/main" id="{728F7903-AC98-46D6-A94A-3113EFD48B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588" y="1322195"/>
            <a:ext cx="6386824" cy="4577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185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Are You Comparing the Big Three Cloud Providers? - VMware Aria Cost  powered by CloudHealth">
            <a:extLst>
              <a:ext uri="{FF2B5EF4-FFF2-40B4-BE49-F238E27FC236}">
                <a16:creationId xmlns:a16="http://schemas.microsoft.com/office/drawing/2014/main" id="{E3A7937E-3A3D-4D6B-9156-5D6118002B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588" y="1381188"/>
            <a:ext cx="6386824" cy="457722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How Are You Comparing the Big Three Cloud Providers? - VMware Aria Cost  powered by CloudHealth">
            <a:extLst>
              <a:ext uri="{FF2B5EF4-FFF2-40B4-BE49-F238E27FC236}">
                <a16:creationId xmlns:a16="http://schemas.microsoft.com/office/drawing/2014/main" id="{728F7903-AC98-46D6-A94A-3113EFD48B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588" y="1322195"/>
            <a:ext cx="6386824" cy="4577224"/>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EE8B0537-C98C-4E24-B23E-F1536DAA4273}"/>
              </a:ext>
            </a:extLst>
          </p:cNvPr>
          <p:cNvSpPr/>
          <p:nvPr/>
        </p:nvSpPr>
        <p:spPr>
          <a:xfrm>
            <a:off x="3543300" y="1209788"/>
            <a:ext cx="2057400" cy="722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b="1" dirty="0">
                <a:solidFill>
                  <a:srgbClr val="FF0000"/>
                </a:solidFill>
              </a:rPr>
              <a:t>?</a:t>
            </a:r>
          </a:p>
        </p:txBody>
      </p:sp>
      <p:sp>
        <p:nvSpPr>
          <p:cNvPr id="12" name="Rectangle 11">
            <a:extLst>
              <a:ext uri="{FF2B5EF4-FFF2-40B4-BE49-F238E27FC236}">
                <a16:creationId xmlns:a16="http://schemas.microsoft.com/office/drawing/2014/main" id="{8F78BA30-56F5-426C-AD86-2EE776197FD7}"/>
              </a:ext>
            </a:extLst>
          </p:cNvPr>
          <p:cNvSpPr/>
          <p:nvPr/>
        </p:nvSpPr>
        <p:spPr>
          <a:xfrm>
            <a:off x="1984887" y="5176748"/>
            <a:ext cx="2057400" cy="722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b="1" dirty="0">
                <a:solidFill>
                  <a:srgbClr val="FF0000"/>
                </a:solidFill>
              </a:rPr>
              <a:t>?</a:t>
            </a:r>
          </a:p>
        </p:txBody>
      </p:sp>
      <p:sp>
        <p:nvSpPr>
          <p:cNvPr id="13" name="Rectangle 12">
            <a:extLst>
              <a:ext uri="{FF2B5EF4-FFF2-40B4-BE49-F238E27FC236}">
                <a16:creationId xmlns:a16="http://schemas.microsoft.com/office/drawing/2014/main" id="{2077B6BA-78B0-4F43-B561-BD3500DE887D}"/>
              </a:ext>
            </a:extLst>
          </p:cNvPr>
          <p:cNvSpPr/>
          <p:nvPr/>
        </p:nvSpPr>
        <p:spPr>
          <a:xfrm>
            <a:off x="4875149" y="5176748"/>
            <a:ext cx="2057400" cy="722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b="1" dirty="0">
                <a:solidFill>
                  <a:srgbClr val="FF0000"/>
                </a:solidFill>
              </a:rPr>
              <a:t>?</a:t>
            </a:r>
          </a:p>
        </p:txBody>
      </p:sp>
      <p:sp>
        <p:nvSpPr>
          <p:cNvPr id="14" name="Title 1">
            <a:extLst>
              <a:ext uri="{FF2B5EF4-FFF2-40B4-BE49-F238E27FC236}">
                <a16:creationId xmlns:a16="http://schemas.microsoft.com/office/drawing/2014/main" id="{EDF0BF9D-39B5-498F-94D9-95F6EC4173B8}"/>
              </a:ext>
            </a:extLst>
          </p:cNvPr>
          <p:cNvSpPr>
            <a:spLocks noGrp="1"/>
          </p:cNvSpPr>
          <p:nvPr>
            <p:ph type="title"/>
          </p:nvPr>
        </p:nvSpPr>
        <p:spPr>
          <a:xfrm>
            <a:off x="1007706" y="136525"/>
            <a:ext cx="7707086" cy="1073264"/>
          </a:xfrm>
        </p:spPr>
        <p:txBody>
          <a:bodyPr/>
          <a:lstStyle/>
          <a:p>
            <a:r>
              <a:rPr lang="en-AU" b="1" i="0" dirty="0">
                <a:solidFill>
                  <a:srgbClr val="374151"/>
                </a:solidFill>
                <a:effectLst/>
              </a:rPr>
              <a:t>Three main </a:t>
            </a:r>
            <a:r>
              <a:rPr lang="en-AU" sz="3200" b="1" dirty="0">
                <a:solidFill>
                  <a:srgbClr val="374151"/>
                </a:solidFill>
              </a:rPr>
              <a:t>virtual machine monitors (VMM)</a:t>
            </a:r>
            <a:endParaRPr lang="en-US" b="1" dirty="0"/>
          </a:p>
        </p:txBody>
      </p:sp>
    </p:spTree>
    <p:extLst>
      <p:ext uri="{BB962C8B-B14F-4D97-AF65-F5344CB8AC3E}">
        <p14:creationId xmlns:p14="http://schemas.microsoft.com/office/powerpoint/2010/main" val="772099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Are You Comparing the Big Three Cloud Providers? - VMware Aria Cost  powered by CloudHealth">
            <a:extLst>
              <a:ext uri="{FF2B5EF4-FFF2-40B4-BE49-F238E27FC236}">
                <a16:creationId xmlns:a16="http://schemas.microsoft.com/office/drawing/2014/main" id="{E3A7937E-3A3D-4D6B-9156-5D6118002B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588" y="1322195"/>
            <a:ext cx="6386824" cy="457722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A61CC5B-FF2D-4DB8-8D31-E666649BFCFE}"/>
              </a:ext>
            </a:extLst>
          </p:cNvPr>
          <p:cNvSpPr/>
          <p:nvPr/>
        </p:nvSpPr>
        <p:spPr>
          <a:xfrm>
            <a:off x="3543300" y="1209788"/>
            <a:ext cx="2057400" cy="722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Hyper-V</a:t>
            </a:r>
          </a:p>
        </p:txBody>
      </p:sp>
      <p:sp>
        <p:nvSpPr>
          <p:cNvPr id="6" name="Rectangle 5">
            <a:extLst>
              <a:ext uri="{FF2B5EF4-FFF2-40B4-BE49-F238E27FC236}">
                <a16:creationId xmlns:a16="http://schemas.microsoft.com/office/drawing/2014/main" id="{A4E18829-FA6B-43A9-B2FD-E69B4820CFD9}"/>
              </a:ext>
            </a:extLst>
          </p:cNvPr>
          <p:cNvSpPr/>
          <p:nvPr/>
        </p:nvSpPr>
        <p:spPr>
          <a:xfrm>
            <a:off x="1984887" y="5176748"/>
            <a:ext cx="2057400" cy="722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Xen and KVM</a:t>
            </a:r>
          </a:p>
        </p:txBody>
      </p:sp>
      <p:sp>
        <p:nvSpPr>
          <p:cNvPr id="7" name="Rectangle 6">
            <a:extLst>
              <a:ext uri="{FF2B5EF4-FFF2-40B4-BE49-F238E27FC236}">
                <a16:creationId xmlns:a16="http://schemas.microsoft.com/office/drawing/2014/main" id="{7883793A-E389-44D9-A38A-8A1577FB2A99}"/>
              </a:ext>
            </a:extLst>
          </p:cNvPr>
          <p:cNvSpPr/>
          <p:nvPr/>
        </p:nvSpPr>
        <p:spPr>
          <a:xfrm>
            <a:off x="4875149" y="5176748"/>
            <a:ext cx="2057400" cy="722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KVM</a:t>
            </a:r>
          </a:p>
        </p:txBody>
      </p:sp>
      <p:sp>
        <p:nvSpPr>
          <p:cNvPr id="10" name="Title 1">
            <a:extLst>
              <a:ext uri="{FF2B5EF4-FFF2-40B4-BE49-F238E27FC236}">
                <a16:creationId xmlns:a16="http://schemas.microsoft.com/office/drawing/2014/main" id="{76747A1D-B757-4440-BAE5-2BA9E37A19F2}"/>
              </a:ext>
            </a:extLst>
          </p:cNvPr>
          <p:cNvSpPr>
            <a:spLocks noGrp="1"/>
          </p:cNvSpPr>
          <p:nvPr>
            <p:ph type="title"/>
          </p:nvPr>
        </p:nvSpPr>
        <p:spPr>
          <a:xfrm>
            <a:off x="1007706" y="136525"/>
            <a:ext cx="7707086" cy="1073264"/>
          </a:xfrm>
        </p:spPr>
        <p:txBody>
          <a:bodyPr/>
          <a:lstStyle/>
          <a:p>
            <a:r>
              <a:rPr lang="en-AU" b="1" i="0" dirty="0">
                <a:solidFill>
                  <a:srgbClr val="374151"/>
                </a:solidFill>
                <a:effectLst/>
              </a:rPr>
              <a:t>Three main </a:t>
            </a:r>
            <a:r>
              <a:rPr lang="en-AU" sz="3200" b="1" dirty="0">
                <a:solidFill>
                  <a:srgbClr val="374151"/>
                </a:solidFill>
              </a:rPr>
              <a:t>virtual machine monitors (VMM)</a:t>
            </a:r>
            <a:endParaRPr lang="en-US" b="1" dirty="0"/>
          </a:p>
        </p:txBody>
      </p:sp>
      <p:sp>
        <p:nvSpPr>
          <p:cNvPr id="11" name="Content Placeholder 2">
            <a:extLst>
              <a:ext uri="{FF2B5EF4-FFF2-40B4-BE49-F238E27FC236}">
                <a16:creationId xmlns:a16="http://schemas.microsoft.com/office/drawing/2014/main" id="{59644879-68F3-4A14-BA12-B23CDC42A4E5}"/>
              </a:ext>
            </a:extLst>
          </p:cNvPr>
          <p:cNvSpPr>
            <a:spLocks noGrp="1"/>
          </p:cNvSpPr>
          <p:nvPr>
            <p:ph idx="1"/>
          </p:nvPr>
        </p:nvSpPr>
        <p:spPr>
          <a:xfrm>
            <a:off x="5271402" y="1209788"/>
            <a:ext cx="3322294" cy="722671"/>
          </a:xfrm>
        </p:spPr>
        <p:txBody>
          <a:bodyPr>
            <a:normAutofit lnSpcReduction="10000"/>
          </a:bodyPr>
          <a:lstStyle/>
          <a:p>
            <a:r>
              <a:rPr lang="en-AU" dirty="0">
                <a:cs typeface="Arial" panose="020B0604020202020204" pitchFamily="34" charset="0"/>
              </a:rPr>
              <a:t>Closed-source</a:t>
            </a:r>
          </a:p>
          <a:p>
            <a:r>
              <a:rPr lang="en-AU" dirty="0">
                <a:cs typeface="Arial" panose="020B0604020202020204" pitchFamily="34" charset="0"/>
              </a:rPr>
              <a:t>Windows kernel module</a:t>
            </a:r>
          </a:p>
        </p:txBody>
      </p:sp>
      <p:sp>
        <p:nvSpPr>
          <p:cNvPr id="12" name="Content Placeholder 2">
            <a:extLst>
              <a:ext uri="{FF2B5EF4-FFF2-40B4-BE49-F238E27FC236}">
                <a16:creationId xmlns:a16="http://schemas.microsoft.com/office/drawing/2014/main" id="{D1779E7D-BB31-449E-873C-6CF719FE7A3E}"/>
              </a:ext>
            </a:extLst>
          </p:cNvPr>
          <p:cNvSpPr txBox="1">
            <a:spLocks/>
          </p:cNvSpPr>
          <p:nvPr/>
        </p:nvSpPr>
        <p:spPr>
          <a:xfrm>
            <a:off x="4807608" y="5899419"/>
            <a:ext cx="3322294" cy="722671"/>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dirty="0">
                <a:cs typeface="Arial" panose="020B0604020202020204" pitchFamily="34" charset="0"/>
              </a:rPr>
              <a:t>Open-source</a:t>
            </a:r>
          </a:p>
          <a:p>
            <a:pPr fontAlgn="auto">
              <a:spcAft>
                <a:spcPts val="0"/>
              </a:spcAft>
              <a:buClrTx/>
              <a:buSzTx/>
            </a:pPr>
            <a:r>
              <a:rPr lang="en-AU" dirty="0">
                <a:cs typeface="Arial" panose="020B0604020202020204" pitchFamily="34" charset="0"/>
              </a:rPr>
              <a:t>Linux kernel module</a:t>
            </a:r>
          </a:p>
        </p:txBody>
      </p:sp>
      <p:sp>
        <p:nvSpPr>
          <p:cNvPr id="13" name="Content Placeholder 2">
            <a:extLst>
              <a:ext uri="{FF2B5EF4-FFF2-40B4-BE49-F238E27FC236}">
                <a16:creationId xmlns:a16="http://schemas.microsoft.com/office/drawing/2014/main" id="{DC01BCDF-652B-4682-B4CD-CACE40A6DAA2}"/>
              </a:ext>
            </a:extLst>
          </p:cNvPr>
          <p:cNvSpPr txBox="1">
            <a:spLocks/>
          </p:cNvSpPr>
          <p:nvPr/>
        </p:nvSpPr>
        <p:spPr>
          <a:xfrm>
            <a:off x="932466" y="5787012"/>
            <a:ext cx="3322294" cy="722671"/>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dirty="0">
                <a:cs typeface="Arial" panose="020B0604020202020204" pitchFamily="34" charset="0"/>
              </a:rPr>
              <a:t>Open-source</a:t>
            </a:r>
          </a:p>
          <a:p>
            <a:pPr fontAlgn="auto">
              <a:spcAft>
                <a:spcPts val="0"/>
              </a:spcAft>
              <a:buClrTx/>
              <a:buSzTx/>
            </a:pPr>
            <a:r>
              <a:rPr lang="en-AU" dirty="0">
                <a:cs typeface="Arial" panose="020B0604020202020204" pitchFamily="34" charset="0"/>
              </a:rPr>
              <a:t>Build from scratch</a:t>
            </a:r>
          </a:p>
        </p:txBody>
      </p:sp>
    </p:spTree>
    <p:extLst>
      <p:ext uri="{BB962C8B-B14F-4D97-AF65-F5344CB8AC3E}">
        <p14:creationId xmlns:p14="http://schemas.microsoft.com/office/powerpoint/2010/main" val="3908369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Are You Comparing the Big Three Cloud Providers? - VMware Aria Cost  powered by CloudHealth">
            <a:extLst>
              <a:ext uri="{FF2B5EF4-FFF2-40B4-BE49-F238E27FC236}">
                <a16:creationId xmlns:a16="http://schemas.microsoft.com/office/drawing/2014/main" id="{E3A7937E-3A3D-4D6B-9156-5D6118002B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588" y="1322195"/>
            <a:ext cx="6386824" cy="457722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A61CC5B-FF2D-4DB8-8D31-E666649BFCFE}"/>
              </a:ext>
            </a:extLst>
          </p:cNvPr>
          <p:cNvSpPr/>
          <p:nvPr/>
        </p:nvSpPr>
        <p:spPr>
          <a:xfrm>
            <a:off x="3543300" y="1209788"/>
            <a:ext cx="2057400" cy="722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Hyper-V</a:t>
            </a:r>
          </a:p>
        </p:txBody>
      </p:sp>
      <p:sp>
        <p:nvSpPr>
          <p:cNvPr id="6" name="Rectangle 5">
            <a:extLst>
              <a:ext uri="{FF2B5EF4-FFF2-40B4-BE49-F238E27FC236}">
                <a16:creationId xmlns:a16="http://schemas.microsoft.com/office/drawing/2014/main" id="{A4E18829-FA6B-43A9-B2FD-E69B4820CFD9}"/>
              </a:ext>
            </a:extLst>
          </p:cNvPr>
          <p:cNvSpPr/>
          <p:nvPr/>
        </p:nvSpPr>
        <p:spPr>
          <a:xfrm>
            <a:off x="1984887" y="5176748"/>
            <a:ext cx="2057400" cy="722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Xen and KVM</a:t>
            </a:r>
          </a:p>
        </p:txBody>
      </p:sp>
      <p:sp>
        <p:nvSpPr>
          <p:cNvPr id="7" name="Rectangle 6">
            <a:extLst>
              <a:ext uri="{FF2B5EF4-FFF2-40B4-BE49-F238E27FC236}">
                <a16:creationId xmlns:a16="http://schemas.microsoft.com/office/drawing/2014/main" id="{7883793A-E389-44D9-A38A-8A1577FB2A99}"/>
              </a:ext>
            </a:extLst>
          </p:cNvPr>
          <p:cNvSpPr/>
          <p:nvPr/>
        </p:nvSpPr>
        <p:spPr>
          <a:xfrm>
            <a:off x="4875149" y="5176748"/>
            <a:ext cx="2057400" cy="722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KVM</a:t>
            </a:r>
          </a:p>
        </p:txBody>
      </p:sp>
      <p:sp>
        <p:nvSpPr>
          <p:cNvPr id="10" name="Title 1">
            <a:extLst>
              <a:ext uri="{FF2B5EF4-FFF2-40B4-BE49-F238E27FC236}">
                <a16:creationId xmlns:a16="http://schemas.microsoft.com/office/drawing/2014/main" id="{76747A1D-B757-4440-BAE5-2BA9E37A19F2}"/>
              </a:ext>
            </a:extLst>
          </p:cNvPr>
          <p:cNvSpPr>
            <a:spLocks noGrp="1"/>
          </p:cNvSpPr>
          <p:nvPr>
            <p:ph type="title"/>
          </p:nvPr>
        </p:nvSpPr>
        <p:spPr>
          <a:xfrm>
            <a:off x="1007706" y="136525"/>
            <a:ext cx="7707086" cy="1073264"/>
          </a:xfrm>
        </p:spPr>
        <p:txBody>
          <a:bodyPr/>
          <a:lstStyle/>
          <a:p>
            <a:pPr algn="ctr"/>
            <a:r>
              <a:rPr lang="en-AU" b="1" i="0" dirty="0">
                <a:solidFill>
                  <a:srgbClr val="374151"/>
                </a:solidFill>
                <a:effectLst/>
              </a:rPr>
              <a:t>Three main </a:t>
            </a:r>
            <a:r>
              <a:rPr lang="en-AU" sz="3200" b="1" dirty="0">
                <a:solidFill>
                  <a:srgbClr val="374151"/>
                </a:solidFill>
              </a:rPr>
              <a:t>virtual machine monitors (VMM)</a:t>
            </a:r>
            <a:br>
              <a:rPr lang="en-AU" sz="3200" b="1" dirty="0">
                <a:solidFill>
                  <a:srgbClr val="374151"/>
                </a:solidFill>
              </a:rPr>
            </a:br>
            <a:r>
              <a:rPr lang="en-AU" sz="3200" b="1" dirty="0">
                <a:solidFill>
                  <a:srgbClr val="374151"/>
                </a:solidFill>
              </a:rPr>
              <a:t>	</a:t>
            </a:r>
            <a:r>
              <a:rPr lang="en-AU" sz="2800" b="1" dirty="0">
                <a:solidFill>
                  <a:srgbClr val="374151"/>
                </a:solidFill>
              </a:rPr>
              <a:t>What do they have in common?</a:t>
            </a:r>
            <a:endParaRPr lang="en-US" b="1" dirty="0"/>
          </a:p>
        </p:txBody>
      </p:sp>
    </p:spTree>
    <p:extLst>
      <p:ext uri="{BB962C8B-B14F-4D97-AF65-F5344CB8AC3E}">
        <p14:creationId xmlns:p14="http://schemas.microsoft.com/office/powerpoint/2010/main" val="2302745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AEE56CF1-585E-4B3D-95DA-E29A4F95FD51}"/>
              </a:ext>
            </a:extLst>
          </p:cNvPr>
          <p:cNvSpPr txBox="1">
            <a:spLocks/>
          </p:cNvSpPr>
          <p:nvPr/>
        </p:nvSpPr>
        <p:spPr>
          <a:xfrm>
            <a:off x="268072" y="693222"/>
            <a:ext cx="8765569" cy="225544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US" sz="2400" dirty="0"/>
              <a:t>KVM, Xen, Hyper-V are bare-metal/type 1 VMM</a:t>
            </a:r>
            <a:r>
              <a:rPr lang="en-AU" sz="2400" dirty="0">
                <a:cs typeface="Arial" panose="020B0604020202020204" pitchFamily="34" charset="0"/>
              </a:rPr>
              <a:t>.</a:t>
            </a:r>
          </a:p>
          <a:p>
            <a:pPr fontAlgn="auto">
              <a:spcAft>
                <a:spcPts val="0"/>
              </a:spcAft>
              <a:buClrTx/>
              <a:buSzTx/>
            </a:pPr>
            <a:r>
              <a:rPr lang="en-AU" sz="2400" dirty="0">
                <a:cs typeface="Arial" panose="020B0604020202020204" pitchFamily="34" charset="0"/>
              </a:rPr>
              <a:t>Type-1 VMM: </a:t>
            </a:r>
            <a:r>
              <a:rPr lang="en-US" sz="2400" dirty="0"/>
              <a:t>VMM is installed directly on hardware.</a:t>
            </a:r>
          </a:p>
          <a:p>
            <a:pPr fontAlgn="auto">
              <a:spcAft>
                <a:spcPts val="0"/>
              </a:spcAft>
              <a:buClrTx/>
              <a:buSzTx/>
            </a:pPr>
            <a:endParaRPr lang="en-AU" sz="2400" dirty="0">
              <a:cs typeface="Arial" panose="020B0604020202020204" pitchFamily="34" charset="0"/>
            </a:endParaRPr>
          </a:p>
          <a:p>
            <a:pPr fontAlgn="auto">
              <a:spcAft>
                <a:spcPts val="0"/>
              </a:spcAft>
              <a:buClrTx/>
              <a:buSzTx/>
            </a:pPr>
            <a:endParaRPr lang="en-AU" sz="2400" dirty="0">
              <a:cs typeface="Arial" panose="020B0604020202020204" pitchFamily="34" charset="0"/>
            </a:endParaRPr>
          </a:p>
          <a:p>
            <a:pPr marL="27675" indent="0" fontAlgn="auto">
              <a:spcAft>
                <a:spcPts val="0"/>
              </a:spcAft>
              <a:buClrTx/>
              <a:buSzTx/>
              <a:buFont typeface="Arial" panose="020B0604020202020204" pitchFamily="34" charset="0"/>
              <a:buNone/>
            </a:pPr>
            <a:endParaRPr lang="en-AU" dirty="0">
              <a:latin typeface="Arial" panose="020B0604020202020204" pitchFamily="34" charset="0"/>
              <a:cs typeface="Arial" panose="020B0604020202020204" pitchFamily="34" charset="0"/>
            </a:endParaRPr>
          </a:p>
        </p:txBody>
      </p:sp>
      <p:sp>
        <p:nvSpPr>
          <p:cNvPr id="3" name="Rectangle: Rounded Corners 2">
            <a:extLst>
              <a:ext uri="{FF2B5EF4-FFF2-40B4-BE49-F238E27FC236}">
                <a16:creationId xmlns:a16="http://schemas.microsoft.com/office/drawing/2014/main" id="{DD0AE8EC-87ED-4E9F-BCA8-DC81100F48D0}"/>
              </a:ext>
            </a:extLst>
          </p:cNvPr>
          <p:cNvSpPr/>
          <p:nvPr/>
        </p:nvSpPr>
        <p:spPr>
          <a:xfrm>
            <a:off x="2034885" y="1873712"/>
            <a:ext cx="2098963" cy="1074959"/>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VM</a:t>
            </a:r>
          </a:p>
        </p:txBody>
      </p:sp>
      <p:sp>
        <p:nvSpPr>
          <p:cNvPr id="6" name="Rectangle: Rounded Corners 5">
            <a:extLst>
              <a:ext uri="{FF2B5EF4-FFF2-40B4-BE49-F238E27FC236}">
                <a16:creationId xmlns:a16="http://schemas.microsoft.com/office/drawing/2014/main" id="{CC8BBC9B-7410-48B4-8011-FCF3541B4E85}"/>
              </a:ext>
            </a:extLst>
          </p:cNvPr>
          <p:cNvSpPr/>
          <p:nvPr/>
        </p:nvSpPr>
        <p:spPr>
          <a:xfrm>
            <a:off x="2034884" y="3140301"/>
            <a:ext cx="4417868" cy="10749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Hypervisor</a:t>
            </a:r>
            <a:endParaRPr lang="en-AU" b="1" dirty="0">
              <a:solidFill>
                <a:schemeClr val="tx1"/>
              </a:solidFill>
            </a:endParaRPr>
          </a:p>
        </p:txBody>
      </p:sp>
      <p:sp>
        <p:nvSpPr>
          <p:cNvPr id="7" name="Rectangle: Rounded Corners 6">
            <a:extLst>
              <a:ext uri="{FF2B5EF4-FFF2-40B4-BE49-F238E27FC236}">
                <a16:creationId xmlns:a16="http://schemas.microsoft.com/office/drawing/2014/main" id="{7A8E7AD1-F80B-42D4-A31E-70AC4E8A9B66}"/>
              </a:ext>
            </a:extLst>
          </p:cNvPr>
          <p:cNvSpPr/>
          <p:nvPr/>
        </p:nvSpPr>
        <p:spPr>
          <a:xfrm>
            <a:off x="2034884" y="4406890"/>
            <a:ext cx="4417867" cy="1074959"/>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Hardware</a:t>
            </a:r>
            <a:endParaRPr lang="en-AU" b="1" dirty="0">
              <a:solidFill>
                <a:schemeClr val="tx1"/>
              </a:solidFill>
            </a:endParaRPr>
          </a:p>
        </p:txBody>
      </p:sp>
      <p:sp>
        <p:nvSpPr>
          <p:cNvPr id="8" name="Rectangle: Rounded Corners 7">
            <a:extLst>
              <a:ext uri="{FF2B5EF4-FFF2-40B4-BE49-F238E27FC236}">
                <a16:creationId xmlns:a16="http://schemas.microsoft.com/office/drawing/2014/main" id="{7224C352-0E48-443E-B2AB-E3896B1E99D2}"/>
              </a:ext>
            </a:extLst>
          </p:cNvPr>
          <p:cNvSpPr/>
          <p:nvPr/>
        </p:nvSpPr>
        <p:spPr>
          <a:xfrm>
            <a:off x="4353789" y="1873712"/>
            <a:ext cx="2098963" cy="1074959"/>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VM</a:t>
            </a:r>
          </a:p>
        </p:txBody>
      </p:sp>
      <p:sp>
        <p:nvSpPr>
          <p:cNvPr id="9" name="Content Placeholder 2">
            <a:extLst>
              <a:ext uri="{FF2B5EF4-FFF2-40B4-BE49-F238E27FC236}">
                <a16:creationId xmlns:a16="http://schemas.microsoft.com/office/drawing/2014/main" id="{CBC1E604-5A44-432A-9B2B-B3C3249A3D1C}"/>
              </a:ext>
            </a:extLst>
          </p:cNvPr>
          <p:cNvSpPr txBox="1">
            <a:spLocks/>
          </p:cNvSpPr>
          <p:nvPr/>
        </p:nvSpPr>
        <p:spPr>
          <a:xfrm>
            <a:off x="3304307" y="5673479"/>
            <a:ext cx="2098963" cy="54101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ClrTx/>
              <a:buSzTx/>
              <a:buNone/>
            </a:pPr>
            <a:r>
              <a:rPr lang="en-AU" sz="2400" b="1" dirty="0">
                <a:cs typeface="Arial" panose="020B0604020202020204" pitchFamily="34" charset="0"/>
              </a:rPr>
              <a:t>Type-1 VMM</a:t>
            </a:r>
          </a:p>
          <a:p>
            <a:pPr marL="27675" indent="0" fontAlgn="auto">
              <a:spcAft>
                <a:spcPts val="0"/>
              </a:spcAft>
              <a:buClrTx/>
              <a:buSzTx/>
              <a:buFont typeface="Arial" panose="020B0604020202020204" pitchFamily="34" charset="0"/>
              <a:buNone/>
            </a:pP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8989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Are You Comparing the Big Three Cloud Providers? - VMware Aria Cost  powered by CloudHealth">
            <a:extLst>
              <a:ext uri="{FF2B5EF4-FFF2-40B4-BE49-F238E27FC236}">
                <a16:creationId xmlns:a16="http://schemas.microsoft.com/office/drawing/2014/main" id="{E3A7937E-3A3D-4D6B-9156-5D6118002B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588" y="1322195"/>
            <a:ext cx="6386824" cy="457722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A61CC5B-FF2D-4DB8-8D31-E666649BFCFE}"/>
              </a:ext>
            </a:extLst>
          </p:cNvPr>
          <p:cNvSpPr/>
          <p:nvPr/>
        </p:nvSpPr>
        <p:spPr>
          <a:xfrm>
            <a:off x="3543300" y="1209788"/>
            <a:ext cx="2057400" cy="722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Hyper-V</a:t>
            </a:r>
          </a:p>
        </p:txBody>
      </p:sp>
      <p:sp>
        <p:nvSpPr>
          <p:cNvPr id="6" name="Rectangle 5">
            <a:extLst>
              <a:ext uri="{FF2B5EF4-FFF2-40B4-BE49-F238E27FC236}">
                <a16:creationId xmlns:a16="http://schemas.microsoft.com/office/drawing/2014/main" id="{A4E18829-FA6B-43A9-B2FD-E69B4820CFD9}"/>
              </a:ext>
            </a:extLst>
          </p:cNvPr>
          <p:cNvSpPr/>
          <p:nvPr/>
        </p:nvSpPr>
        <p:spPr>
          <a:xfrm>
            <a:off x="1984887" y="5176748"/>
            <a:ext cx="2057400" cy="722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Xen and KVM</a:t>
            </a:r>
          </a:p>
        </p:txBody>
      </p:sp>
      <p:sp>
        <p:nvSpPr>
          <p:cNvPr id="7" name="Rectangle 6">
            <a:extLst>
              <a:ext uri="{FF2B5EF4-FFF2-40B4-BE49-F238E27FC236}">
                <a16:creationId xmlns:a16="http://schemas.microsoft.com/office/drawing/2014/main" id="{7883793A-E389-44D9-A38A-8A1577FB2A99}"/>
              </a:ext>
            </a:extLst>
          </p:cNvPr>
          <p:cNvSpPr/>
          <p:nvPr/>
        </p:nvSpPr>
        <p:spPr>
          <a:xfrm>
            <a:off x="4875149" y="5176748"/>
            <a:ext cx="2057400" cy="722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400" b="1" dirty="0">
                <a:solidFill>
                  <a:schemeClr val="tx1"/>
                </a:solidFill>
              </a:rPr>
              <a:t>KVM</a:t>
            </a:r>
          </a:p>
        </p:txBody>
      </p:sp>
      <p:sp>
        <p:nvSpPr>
          <p:cNvPr id="10" name="Title 1">
            <a:extLst>
              <a:ext uri="{FF2B5EF4-FFF2-40B4-BE49-F238E27FC236}">
                <a16:creationId xmlns:a16="http://schemas.microsoft.com/office/drawing/2014/main" id="{76747A1D-B757-4440-BAE5-2BA9E37A19F2}"/>
              </a:ext>
            </a:extLst>
          </p:cNvPr>
          <p:cNvSpPr>
            <a:spLocks noGrp="1"/>
          </p:cNvSpPr>
          <p:nvPr>
            <p:ph type="title"/>
          </p:nvPr>
        </p:nvSpPr>
        <p:spPr>
          <a:xfrm>
            <a:off x="1007706" y="136525"/>
            <a:ext cx="7707086" cy="1073264"/>
          </a:xfrm>
        </p:spPr>
        <p:txBody>
          <a:bodyPr/>
          <a:lstStyle/>
          <a:p>
            <a:pPr algn="ctr"/>
            <a:r>
              <a:rPr lang="en-AU" b="1" i="0" dirty="0">
                <a:solidFill>
                  <a:srgbClr val="374151"/>
                </a:solidFill>
                <a:effectLst/>
              </a:rPr>
              <a:t>Three main </a:t>
            </a:r>
            <a:r>
              <a:rPr lang="en-AU" sz="3200" b="1" dirty="0">
                <a:solidFill>
                  <a:srgbClr val="374151"/>
                </a:solidFill>
              </a:rPr>
              <a:t>virtual machine monitors (VMM)</a:t>
            </a:r>
            <a:endParaRPr lang="en-US" b="1" dirty="0"/>
          </a:p>
        </p:txBody>
      </p:sp>
      <p:sp>
        <p:nvSpPr>
          <p:cNvPr id="3" name="Oval 2">
            <a:extLst>
              <a:ext uri="{FF2B5EF4-FFF2-40B4-BE49-F238E27FC236}">
                <a16:creationId xmlns:a16="http://schemas.microsoft.com/office/drawing/2014/main" id="{26C01467-EC60-4055-8A56-A53FCEEA1B9B}"/>
              </a:ext>
            </a:extLst>
          </p:cNvPr>
          <p:cNvSpPr/>
          <p:nvPr/>
        </p:nvSpPr>
        <p:spPr>
          <a:xfrm>
            <a:off x="2926480" y="4868540"/>
            <a:ext cx="1342372" cy="13345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6BBD8B4F-B9DE-48C7-812D-2232B94DF553}"/>
              </a:ext>
            </a:extLst>
          </p:cNvPr>
          <p:cNvSpPr/>
          <p:nvPr/>
        </p:nvSpPr>
        <p:spPr>
          <a:xfrm>
            <a:off x="5335423" y="4868540"/>
            <a:ext cx="1342372" cy="13345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65532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0F29F7D7-CD84-4868-B607-C2E5291A1184}"/>
              </a:ext>
            </a:extLst>
          </p:cNvPr>
          <p:cNvGrpSpPr/>
          <p:nvPr/>
        </p:nvGrpSpPr>
        <p:grpSpPr>
          <a:xfrm>
            <a:off x="509685" y="896110"/>
            <a:ext cx="7066772" cy="3582584"/>
            <a:chOff x="6186563" y="4340716"/>
            <a:chExt cx="5604936" cy="2230748"/>
          </a:xfrm>
        </p:grpSpPr>
        <p:pic>
          <p:nvPicPr>
            <p:cNvPr id="5" name="Picture 22">
              <a:extLst>
                <a:ext uri="{FF2B5EF4-FFF2-40B4-BE49-F238E27FC236}">
                  <a16:creationId xmlns:a16="http://schemas.microsoft.com/office/drawing/2014/main" id="{DC05638E-4AA5-4F19-B4ED-94650AD0CD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86563" y="4340716"/>
              <a:ext cx="5604936" cy="2230748"/>
            </a:xfrm>
            <a:prstGeom prst="rect">
              <a:avLst/>
            </a:prstGeom>
            <a:ln w="19050">
              <a:solidFill>
                <a:schemeClr val="bg1">
                  <a:lumMod val="65000"/>
                </a:schemeClr>
              </a:solidFill>
            </a:ln>
          </p:spPr>
        </p:pic>
        <p:sp>
          <p:nvSpPr>
            <p:cNvPr id="6" name="Rectangle 10">
              <a:extLst>
                <a:ext uri="{FF2B5EF4-FFF2-40B4-BE49-F238E27FC236}">
                  <a16:creationId xmlns:a16="http://schemas.microsoft.com/office/drawing/2014/main" id="{D825D439-560D-43A7-A245-B34B40102D97}"/>
                </a:ext>
              </a:extLst>
            </p:cNvPr>
            <p:cNvSpPr/>
            <p:nvPr/>
          </p:nvSpPr>
          <p:spPr>
            <a:xfrm flipV="1">
              <a:off x="7296995" y="5416028"/>
              <a:ext cx="685800" cy="232977"/>
            </a:xfrm>
            <a:prstGeom prst="rect">
              <a:avLst/>
            </a:prstGeom>
            <a:noFill/>
            <a:ln w="539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6899426D-CE87-4D01-8EDD-B5BEF9EB0087}"/>
              </a:ext>
            </a:extLst>
          </p:cNvPr>
          <p:cNvSpPr txBox="1"/>
          <p:nvPr/>
        </p:nvSpPr>
        <p:spPr>
          <a:xfrm>
            <a:off x="354564" y="242490"/>
            <a:ext cx="5245082" cy="400110"/>
          </a:xfrm>
          <a:prstGeom prst="rect">
            <a:avLst/>
          </a:prstGeom>
          <a:noFill/>
        </p:spPr>
        <p:txBody>
          <a:bodyPr wrap="square">
            <a:spAutoFit/>
          </a:bodyPr>
          <a:lstStyle/>
          <a:p>
            <a:pPr algn="l"/>
            <a:r>
              <a:rPr lang="en-AU" dirty="0"/>
              <a:t>KVM: https://linux-kvm.org</a:t>
            </a:r>
          </a:p>
        </p:txBody>
      </p:sp>
      <p:pic>
        <p:nvPicPr>
          <p:cNvPr id="3" name="Picture 2">
            <a:extLst>
              <a:ext uri="{FF2B5EF4-FFF2-40B4-BE49-F238E27FC236}">
                <a16:creationId xmlns:a16="http://schemas.microsoft.com/office/drawing/2014/main" id="{CF1B8F27-E924-44AC-92E8-5E5E390C6A62}"/>
              </a:ext>
            </a:extLst>
          </p:cNvPr>
          <p:cNvPicPr>
            <a:picLocks noChangeAspect="1"/>
          </p:cNvPicPr>
          <p:nvPr/>
        </p:nvPicPr>
        <p:blipFill>
          <a:blip r:embed="rId4"/>
          <a:stretch>
            <a:fillRect/>
          </a:stretch>
        </p:blipFill>
        <p:spPr>
          <a:xfrm>
            <a:off x="469779" y="4732204"/>
            <a:ext cx="4102221" cy="1883306"/>
          </a:xfrm>
          <a:prstGeom prst="rect">
            <a:avLst/>
          </a:prstGeom>
        </p:spPr>
      </p:pic>
    </p:spTree>
    <p:extLst>
      <p:ext uri="{BB962C8B-B14F-4D97-AF65-F5344CB8AC3E}">
        <p14:creationId xmlns:p14="http://schemas.microsoft.com/office/powerpoint/2010/main" val="4276087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4220" y="398037"/>
            <a:ext cx="7765322" cy="942975"/>
          </a:xfrm>
        </p:spPr>
        <p:txBody>
          <a:bodyPr>
            <a:normAutofit/>
          </a:bodyPr>
          <a:lstStyle/>
          <a:p>
            <a:r>
              <a:rPr lang="en-AU" b="1" dirty="0"/>
              <a:t>To Get Started</a:t>
            </a:r>
          </a:p>
        </p:txBody>
      </p:sp>
      <p:sp>
        <p:nvSpPr>
          <p:cNvPr id="3" name="Content Placeholder 2"/>
          <p:cNvSpPr>
            <a:spLocks noGrp="1"/>
          </p:cNvSpPr>
          <p:nvPr>
            <p:ph idx="1"/>
          </p:nvPr>
        </p:nvSpPr>
        <p:spPr>
          <a:xfrm>
            <a:off x="689339" y="1747520"/>
            <a:ext cx="7765322" cy="2640330"/>
          </a:xfrm>
        </p:spPr>
        <p:txBody>
          <a:bodyPr numCol="2">
            <a:normAutofit fontScale="92500" lnSpcReduction="10000"/>
          </a:bodyPr>
          <a:lstStyle/>
          <a:p>
            <a:endParaRPr lang="en-AU" sz="2800" dirty="0"/>
          </a:p>
          <a:p>
            <a:r>
              <a:rPr lang="en-AU" sz="2800" dirty="0"/>
              <a:t>People</a:t>
            </a:r>
          </a:p>
          <a:p>
            <a:r>
              <a:rPr lang="en-AU" sz="2800" dirty="0"/>
              <a:t>Emergency</a:t>
            </a:r>
          </a:p>
          <a:p>
            <a:r>
              <a:rPr lang="en-AU" sz="2800" dirty="0"/>
              <a:t>Lectures</a:t>
            </a:r>
          </a:p>
          <a:p>
            <a:r>
              <a:rPr lang="en-AU" sz="2800" dirty="0"/>
              <a:t>Items of assessment</a:t>
            </a:r>
          </a:p>
          <a:p>
            <a:r>
              <a:rPr lang="en-AU" sz="2800" dirty="0"/>
              <a:t>Use of AI</a:t>
            </a:r>
          </a:p>
          <a:p>
            <a:endParaRPr lang="en-AU" sz="2800" dirty="0"/>
          </a:p>
          <a:p>
            <a:endParaRPr lang="en-AU" sz="2800" dirty="0"/>
          </a:p>
          <a:p>
            <a:endParaRPr lang="en-AU" sz="2800" dirty="0"/>
          </a:p>
          <a:p>
            <a:r>
              <a:rPr lang="en-US" sz="2800" dirty="0"/>
              <a:t>What is Cloud Computing?</a:t>
            </a:r>
          </a:p>
          <a:p>
            <a:r>
              <a:rPr lang="en-US" sz="2800" dirty="0"/>
              <a:t>Learning outcomes</a:t>
            </a:r>
          </a:p>
          <a:p>
            <a:endParaRPr lang="en-AU" dirty="0"/>
          </a:p>
        </p:txBody>
      </p:sp>
    </p:spTree>
    <p:extLst>
      <p:ext uri="{BB962C8B-B14F-4D97-AF65-F5344CB8AC3E}">
        <p14:creationId xmlns:p14="http://schemas.microsoft.com/office/powerpoint/2010/main" val="1786005080"/>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190482" y="77032"/>
            <a:ext cx="2594281" cy="555070"/>
          </a:xfrm>
        </p:spPr>
        <p:txBody>
          <a:bodyPr/>
          <a:lstStyle/>
          <a:p>
            <a:r>
              <a:rPr lang="en-AU" b="1" dirty="0"/>
              <a:t>People</a:t>
            </a:r>
          </a:p>
        </p:txBody>
      </p:sp>
      <p:sp>
        <p:nvSpPr>
          <p:cNvPr id="6" name="Shape 75">
            <a:extLst>
              <a:ext uri="{FF2B5EF4-FFF2-40B4-BE49-F238E27FC236}">
                <a16:creationId xmlns:a16="http://schemas.microsoft.com/office/drawing/2014/main" id="{823E95F5-393A-43E7-9F14-C47021EF0545}"/>
              </a:ext>
            </a:extLst>
          </p:cNvPr>
          <p:cNvSpPr txBox="1"/>
          <p:nvPr/>
        </p:nvSpPr>
        <p:spPr>
          <a:xfrm>
            <a:off x="1340658" y="718890"/>
            <a:ext cx="3118757" cy="1212897"/>
          </a:xfrm>
          <a:prstGeom prst="rect">
            <a:avLst/>
          </a:prstGeom>
          <a:noFill/>
          <a:ln>
            <a:noFill/>
          </a:ln>
        </p:spPr>
        <p:txBody>
          <a:bodyPr lIns="68569" tIns="68569" rIns="68569" bIns="68569" anchor="t" anchorCtr="0">
            <a:noAutofit/>
          </a:bodyPr>
          <a:lstStyle/>
          <a:p>
            <a:pPr>
              <a:spcBef>
                <a:spcPts val="0"/>
              </a:spcBef>
              <a:buClr>
                <a:schemeClr val="dk1"/>
              </a:buClr>
              <a:buSzPct val="61111"/>
            </a:pPr>
            <a:r>
              <a:rPr lang="en-US" sz="1800" dirty="0" err="1">
                <a:solidFill>
                  <a:srgbClr val="424242"/>
                </a:solidFill>
                <a:latin typeface="+mn-lt"/>
                <a:sym typeface="Times New Roman"/>
              </a:rPr>
              <a:t>Zhi</a:t>
            </a:r>
            <a:r>
              <a:rPr lang="en-US" sz="1800" dirty="0">
                <a:solidFill>
                  <a:srgbClr val="424242"/>
                </a:solidFill>
                <a:latin typeface="+mn-lt"/>
                <a:sym typeface="Times New Roman"/>
              </a:rPr>
              <a:t> Zhang</a:t>
            </a:r>
          </a:p>
          <a:p>
            <a:pPr>
              <a:spcBef>
                <a:spcPts val="0"/>
              </a:spcBef>
              <a:buClr>
                <a:schemeClr val="dk1"/>
              </a:buClr>
              <a:buSzPct val="61111"/>
            </a:pPr>
            <a:r>
              <a:rPr lang="en-US" sz="1800" dirty="0">
                <a:solidFill>
                  <a:srgbClr val="424242"/>
                </a:solidFill>
                <a:latin typeface="+mn-lt"/>
                <a:sym typeface="Times New Roman"/>
              </a:rPr>
              <a:t>Unit coordinator</a:t>
            </a:r>
          </a:p>
          <a:p>
            <a:pPr>
              <a:spcBef>
                <a:spcPts val="0"/>
              </a:spcBef>
              <a:buClr>
                <a:schemeClr val="dk1"/>
              </a:buClr>
              <a:buSzPct val="61111"/>
            </a:pPr>
            <a:r>
              <a:rPr lang="en-US" sz="1800" dirty="0">
                <a:solidFill>
                  <a:srgbClr val="424242"/>
                </a:solidFill>
                <a:latin typeface="+mn-lt"/>
                <a:sym typeface="Times New Roman"/>
              </a:rPr>
              <a:t>Room G.10</a:t>
            </a:r>
          </a:p>
          <a:p>
            <a:pPr>
              <a:spcBef>
                <a:spcPts val="0"/>
              </a:spcBef>
              <a:buClr>
                <a:schemeClr val="dk1"/>
              </a:buClr>
            </a:pPr>
            <a:r>
              <a:rPr lang="en-US" sz="1800" dirty="0">
                <a:solidFill>
                  <a:schemeClr val="accent6"/>
                </a:solidFill>
                <a:latin typeface="+mn-lt"/>
                <a:ea typeface="Times New Roman"/>
                <a:cs typeface="Times New Roman"/>
                <a:sym typeface="Times New Roman"/>
              </a:rPr>
              <a:t>cits5503-pmc@uwa.edu.au</a:t>
            </a:r>
          </a:p>
          <a:p>
            <a:pPr>
              <a:spcBef>
                <a:spcPts val="0"/>
              </a:spcBef>
              <a:buClr>
                <a:schemeClr val="dk1"/>
              </a:buClr>
            </a:pPr>
            <a:endParaRPr lang="en-US" dirty="0">
              <a:solidFill>
                <a:schemeClr val="accent6"/>
              </a:solidFill>
              <a:latin typeface="+mj-lt"/>
              <a:ea typeface="Times New Roman"/>
              <a:cs typeface="Times New Roman"/>
              <a:sym typeface="Times New Roman"/>
            </a:endParaRPr>
          </a:p>
          <a:p>
            <a:pPr>
              <a:spcBef>
                <a:spcPts val="0"/>
              </a:spcBef>
              <a:buClr>
                <a:schemeClr val="dk1"/>
              </a:buClr>
            </a:pPr>
            <a:endParaRPr dirty="0">
              <a:latin typeface="+mj-lt"/>
              <a:ea typeface="Times New Roman"/>
              <a:cs typeface="Times New Roman"/>
              <a:sym typeface="Times New Roman"/>
            </a:endParaRPr>
          </a:p>
          <a:p>
            <a:pPr>
              <a:spcBef>
                <a:spcPts val="0"/>
              </a:spcBef>
              <a:buClr>
                <a:schemeClr val="dk1"/>
              </a:buClr>
              <a:buSzPct val="61111"/>
            </a:pPr>
            <a:endParaRPr lang="en-US" sz="1800" dirty="0">
              <a:latin typeface="+mj-lt"/>
              <a:ea typeface="Times New Roman"/>
              <a:cs typeface="Times New Roman"/>
              <a:sym typeface="Times New Roman"/>
            </a:endParaRPr>
          </a:p>
          <a:p>
            <a:pPr>
              <a:spcBef>
                <a:spcPts val="0"/>
              </a:spcBef>
              <a:buClr>
                <a:schemeClr val="dk1"/>
              </a:buClr>
              <a:buSzPct val="61111"/>
            </a:pPr>
            <a:endParaRPr lang="en-US" dirty="0">
              <a:latin typeface="+mj-lt"/>
              <a:ea typeface="Times New Roman"/>
              <a:cs typeface="Times New Roman"/>
              <a:sym typeface="Times New Roman"/>
            </a:endParaRPr>
          </a:p>
          <a:p>
            <a:pPr>
              <a:spcBef>
                <a:spcPts val="0"/>
              </a:spcBef>
              <a:buClr>
                <a:schemeClr val="dk1"/>
              </a:buClr>
            </a:pPr>
            <a:endParaRPr dirty="0">
              <a:latin typeface="+mj-lt"/>
              <a:ea typeface="Times New Roman"/>
              <a:cs typeface="Times New Roman"/>
              <a:sym typeface="Times New Roman"/>
            </a:endParaRPr>
          </a:p>
          <a:p>
            <a:pPr>
              <a:spcBef>
                <a:spcPts val="0"/>
              </a:spcBef>
            </a:pPr>
            <a:endParaRPr sz="1050" dirty="0"/>
          </a:p>
        </p:txBody>
      </p:sp>
      <p:pic>
        <p:nvPicPr>
          <p:cNvPr id="14" name="Picture 13">
            <a:extLst>
              <a:ext uri="{FF2B5EF4-FFF2-40B4-BE49-F238E27FC236}">
                <a16:creationId xmlns:a16="http://schemas.microsoft.com/office/drawing/2014/main" id="{7F27A32D-012E-487E-9F76-F978F9DC8995}"/>
              </a:ext>
            </a:extLst>
          </p:cNvPr>
          <p:cNvPicPr>
            <a:picLocks noChangeAspect="1"/>
          </p:cNvPicPr>
          <p:nvPr/>
        </p:nvPicPr>
        <p:blipFill>
          <a:blip r:embed="rId3"/>
          <a:stretch>
            <a:fillRect/>
          </a:stretch>
        </p:blipFill>
        <p:spPr>
          <a:xfrm>
            <a:off x="180057" y="718890"/>
            <a:ext cx="1424620" cy="1299686"/>
          </a:xfrm>
          <a:prstGeom prst="rect">
            <a:avLst/>
          </a:prstGeom>
        </p:spPr>
      </p:pic>
      <p:sp>
        <p:nvSpPr>
          <p:cNvPr id="21" name="Shape 75">
            <a:extLst>
              <a:ext uri="{FF2B5EF4-FFF2-40B4-BE49-F238E27FC236}">
                <a16:creationId xmlns:a16="http://schemas.microsoft.com/office/drawing/2014/main" id="{516D40A9-D65A-4AD7-A072-B3C761F645A8}"/>
              </a:ext>
            </a:extLst>
          </p:cNvPr>
          <p:cNvSpPr txBox="1"/>
          <p:nvPr/>
        </p:nvSpPr>
        <p:spPr>
          <a:xfrm>
            <a:off x="5842238" y="5670063"/>
            <a:ext cx="3523172" cy="975177"/>
          </a:xfrm>
          <a:prstGeom prst="rect">
            <a:avLst/>
          </a:prstGeom>
          <a:noFill/>
          <a:ln>
            <a:noFill/>
          </a:ln>
        </p:spPr>
        <p:txBody>
          <a:bodyPr lIns="68569" tIns="68569" rIns="68569" bIns="68569" anchor="t" anchorCtr="0">
            <a:noAutofit/>
          </a:bodyPr>
          <a:lstStyle/>
          <a:p>
            <a:pPr>
              <a:spcBef>
                <a:spcPts val="0"/>
              </a:spcBef>
              <a:buClr>
                <a:schemeClr val="dk1"/>
              </a:buClr>
              <a:buSzPct val="61111"/>
            </a:pPr>
            <a:r>
              <a:rPr lang="en-AU" sz="1800" dirty="0">
                <a:solidFill>
                  <a:srgbClr val="424242"/>
                </a:solidFill>
                <a:latin typeface="+mn-lt"/>
              </a:rPr>
              <a:t>Rodney Paul</a:t>
            </a:r>
          </a:p>
          <a:p>
            <a:pPr>
              <a:spcBef>
                <a:spcPts val="0"/>
              </a:spcBef>
              <a:buClr>
                <a:schemeClr val="dk1"/>
              </a:buClr>
              <a:buSzPct val="61111"/>
            </a:pPr>
            <a:r>
              <a:rPr lang="en-US" sz="1800" dirty="0">
                <a:solidFill>
                  <a:srgbClr val="424242"/>
                </a:solidFill>
                <a:latin typeface="+mn-lt"/>
                <a:sym typeface="Times New Roman"/>
              </a:rPr>
              <a:t>Lab facilitator</a:t>
            </a:r>
            <a:endParaRPr lang="en-AU" dirty="0">
              <a:latin typeface="+mn-lt"/>
              <a:cs typeface="Times New Roman"/>
              <a:sym typeface="Times New Roman"/>
            </a:endParaRPr>
          </a:p>
          <a:p>
            <a:pPr>
              <a:spcBef>
                <a:spcPts val="0"/>
              </a:spcBef>
            </a:pPr>
            <a:endParaRPr sz="1050" dirty="0"/>
          </a:p>
        </p:txBody>
      </p:sp>
      <p:sp>
        <p:nvSpPr>
          <p:cNvPr id="22" name="Shape 75">
            <a:extLst>
              <a:ext uri="{FF2B5EF4-FFF2-40B4-BE49-F238E27FC236}">
                <a16:creationId xmlns:a16="http://schemas.microsoft.com/office/drawing/2014/main" id="{FFE11DEE-2125-473A-A3E5-47875C61326D}"/>
              </a:ext>
            </a:extLst>
          </p:cNvPr>
          <p:cNvSpPr txBox="1"/>
          <p:nvPr/>
        </p:nvSpPr>
        <p:spPr>
          <a:xfrm>
            <a:off x="1289662" y="4004864"/>
            <a:ext cx="3396343" cy="923355"/>
          </a:xfrm>
          <a:prstGeom prst="rect">
            <a:avLst/>
          </a:prstGeom>
          <a:noFill/>
          <a:ln>
            <a:noFill/>
          </a:ln>
        </p:spPr>
        <p:txBody>
          <a:bodyPr lIns="68569" tIns="68569" rIns="68569" bIns="68569" anchor="t" anchorCtr="0">
            <a:noAutofit/>
          </a:bodyPr>
          <a:lstStyle/>
          <a:p>
            <a:pPr>
              <a:spcBef>
                <a:spcPts val="0"/>
              </a:spcBef>
              <a:buClr>
                <a:schemeClr val="dk1"/>
              </a:buClr>
              <a:buSzPct val="61111"/>
            </a:pPr>
            <a:r>
              <a:rPr lang="en-AU" sz="1800" b="0" i="0" dirty="0" err="1">
                <a:solidFill>
                  <a:srgbClr val="424242"/>
                </a:solidFill>
                <a:effectLst/>
                <a:latin typeface="+mn-lt"/>
              </a:rPr>
              <a:t>Jichunyang</a:t>
            </a:r>
            <a:r>
              <a:rPr lang="en-AU" sz="1800" b="0" i="0" dirty="0">
                <a:solidFill>
                  <a:srgbClr val="424242"/>
                </a:solidFill>
                <a:effectLst/>
                <a:latin typeface="+mn-lt"/>
              </a:rPr>
              <a:t> Li</a:t>
            </a:r>
          </a:p>
          <a:p>
            <a:pPr lvl="0">
              <a:spcBef>
                <a:spcPts val="0"/>
              </a:spcBef>
              <a:buClr>
                <a:schemeClr val="dk1"/>
              </a:buClr>
              <a:buSzPct val="61111"/>
              <a:buFont typeface="Arial"/>
              <a:buNone/>
            </a:pPr>
            <a:r>
              <a:rPr lang="en-US" sz="1800" dirty="0">
                <a:solidFill>
                  <a:srgbClr val="424242"/>
                </a:solidFill>
                <a:latin typeface="+mn-lt"/>
                <a:sym typeface="Times New Roman"/>
              </a:rPr>
              <a:t>Assistant Coordinator</a:t>
            </a:r>
          </a:p>
        </p:txBody>
      </p:sp>
      <p:sp>
        <p:nvSpPr>
          <p:cNvPr id="13" name="Shape 75">
            <a:extLst>
              <a:ext uri="{FF2B5EF4-FFF2-40B4-BE49-F238E27FC236}">
                <a16:creationId xmlns:a16="http://schemas.microsoft.com/office/drawing/2014/main" id="{196B923E-C219-4A31-845F-F4264C54651E}"/>
              </a:ext>
            </a:extLst>
          </p:cNvPr>
          <p:cNvSpPr txBox="1"/>
          <p:nvPr/>
        </p:nvSpPr>
        <p:spPr>
          <a:xfrm>
            <a:off x="5836742" y="3207757"/>
            <a:ext cx="3457368" cy="975177"/>
          </a:xfrm>
          <a:prstGeom prst="rect">
            <a:avLst/>
          </a:prstGeom>
          <a:noFill/>
          <a:ln>
            <a:noFill/>
          </a:ln>
        </p:spPr>
        <p:txBody>
          <a:bodyPr lIns="68569" tIns="68569" rIns="68569" bIns="68569" anchor="t" anchorCtr="0">
            <a:noAutofit/>
          </a:bodyPr>
          <a:lstStyle/>
          <a:p>
            <a:pPr>
              <a:spcBef>
                <a:spcPts val="0"/>
              </a:spcBef>
              <a:buClr>
                <a:schemeClr val="dk1"/>
              </a:buClr>
              <a:buSzPct val="61111"/>
            </a:pPr>
            <a:r>
              <a:rPr lang="en-AU" sz="1800" dirty="0">
                <a:solidFill>
                  <a:srgbClr val="424242"/>
                </a:solidFill>
                <a:latin typeface="+mn-lt"/>
              </a:rPr>
              <a:t>Fiona Wei</a:t>
            </a:r>
          </a:p>
          <a:p>
            <a:pPr>
              <a:spcBef>
                <a:spcPts val="0"/>
              </a:spcBef>
              <a:buClr>
                <a:schemeClr val="dk1"/>
              </a:buClr>
              <a:buSzPct val="61111"/>
            </a:pPr>
            <a:r>
              <a:rPr lang="en-US" sz="1800" dirty="0">
                <a:solidFill>
                  <a:srgbClr val="424242"/>
                </a:solidFill>
                <a:latin typeface="+mn-lt"/>
                <a:sym typeface="Times New Roman"/>
              </a:rPr>
              <a:t>Lab facilitator</a:t>
            </a:r>
            <a:endParaRPr lang="en-AU" dirty="0">
              <a:latin typeface="+mn-lt"/>
              <a:cs typeface="Times New Roman"/>
              <a:sym typeface="Times New Roman"/>
            </a:endParaRPr>
          </a:p>
          <a:p>
            <a:pPr>
              <a:spcBef>
                <a:spcPts val="0"/>
              </a:spcBef>
            </a:pPr>
            <a:endParaRPr sz="1050" dirty="0"/>
          </a:p>
        </p:txBody>
      </p:sp>
      <p:sp>
        <p:nvSpPr>
          <p:cNvPr id="16" name="Shape 75">
            <a:extLst>
              <a:ext uri="{FF2B5EF4-FFF2-40B4-BE49-F238E27FC236}">
                <a16:creationId xmlns:a16="http://schemas.microsoft.com/office/drawing/2014/main" id="{D76B5E46-ED37-42F6-B502-1C482CBFC0FF}"/>
              </a:ext>
            </a:extLst>
          </p:cNvPr>
          <p:cNvSpPr txBox="1"/>
          <p:nvPr/>
        </p:nvSpPr>
        <p:spPr>
          <a:xfrm>
            <a:off x="6030717" y="1029379"/>
            <a:ext cx="3069419" cy="866859"/>
          </a:xfrm>
          <a:prstGeom prst="rect">
            <a:avLst/>
          </a:prstGeom>
          <a:noFill/>
          <a:ln>
            <a:noFill/>
          </a:ln>
        </p:spPr>
        <p:txBody>
          <a:bodyPr lIns="68569" tIns="68569" rIns="68569" bIns="68569" anchor="t" anchorCtr="0">
            <a:noAutofit/>
          </a:bodyPr>
          <a:lstStyle/>
          <a:p>
            <a:pPr>
              <a:spcBef>
                <a:spcPts val="0"/>
              </a:spcBef>
              <a:buClr>
                <a:schemeClr val="dk1"/>
              </a:buClr>
              <a:buSzPct val="61111"/>
            </a:pPr>
            <a:r>
              <a:rPr lang="en-AU" sz="1800" b="0" i="0" dirty="0" err="1">
                <a:solidFill>
                  <a:srgbClr val="424242"/>
                </a:solidFill>
                <a:effectLst/>
                <a:latin typeface="+mn-lt"/>
              </a:rPr>
              <a:t>Wenxiao</a:t>
            </a:r>
            <a:r>
              <a:rPr lang="en-AU" sz="1800" b="0" i="0" dirty="0">
                <a:solidFill>
                  <a:srgbClr val="424242"/>
                </a:solidFill>
                <a:effectLst/>
                <a:latin typeface="+mn-lt"/>
              </a:rPr>
              <a:t> Zhang</a:t>
            </a:r>
          </a:p>
          <a:p>
            <a:pPr>
              <a:spcBef>
                <a:spcPts val="0"/>
              </a:spcBef>
              <a:buClr>
                <a:schemeClr val="dk1"/>
              </a:buClr>
              <a:buSzPct val="61111"/>
            </a:pPr>
            <a:r>
              <a:rPr lang="en-US" sz="1800" dirty="0">
                <a:solidFill>
                  <a:srgbClr val="424242"/>
                </a:solidFill>
                <a:latin typeface="+mn-lt"/>
                <a:sym typeface="Times New Roman"/>
              </a:rPr>
              <a:t>Lab facilitator</a:t>
            </a:r>
          </a:p>
          <a:p>
            <a:pPr>
              <a:spcBef>
                <a:spcPts val="0"/>
              </a:spcBef>
            </a:pPr>
            <a:endParaRPr sz="1050" dirty="0"/>
          </a:p>
        </p:txBody>
      </p:sp>
      <p:sp>
        <p:nvSpPr>
          <p:cNvPr id="26" name="Shape 75">
            <a:extLst>
              <a:ext uri="{FF2B5EF4-FFF2-40B4-BE49-F238E27FC236}">
                <a16:creationId xmlns:a16="http://schemas.microsoft.com/office/drawing/2014/main" id="{8E170B14-C4ED-4E62-9313-537B91F2B249}"/>
              </a:ext>
            </a:extLst>
          </p:cNvPr>
          <p:cNvSpPr txBox="1"/>
          <p:nvPr/>
        </p:nvSpPr>
        <p:spPr>
          <a:xfrm>
            <a:off x="1289662" y="5670064"/>
            <a:ext cx="3457368" cy="975177"/>
          </a:xfrm>
          <a:prstGeom prst="rect">
            <a:avLst/>
          </a:prstGeom>
          <a:noFill/>
          <a:ln>
            <a:noFill/>
          </a:ln>
        </p:spPr>
        <p:txBody>
          <a:bodyPr lIns="68569" tIns="68569" rIns="68569" bIns="68569" anchor="t" anchorCtr="0">
            <a:noAutofit/>
          </a:bodyPr>
          <a:lstStyle/>
          <a:p>
            <a:pPr>
              <a:spcBef>
                <a:spcPts val="0"/>
              </a:spcBef>
              <a:buClr>
                <a:schemeClr val="dk1"/>
              </a:buClr>
              <a:buSzPct val="61111"/>
            </a:pPr>
            <a:r>
              <a:rPr lang="en-AU" sz="1800" dirty="0" err="1">
                <a:solidFill>
                  <a:srgbClr val="424242"/>
                </a:solidFill>
                <a:latin typeface="+mn-lt"/>
              </a:rPr>
              <a:t>Sarwesh</a:t>
            </a:r>
            <a:r>
              <a:rPr lang="en-AU" sz="1800" dirty="0">
                <a:solidFill>
                  <a:srgbClr val="424242"/>
                </a:solidFill>
                <a:latin typeface="+mn-lt"/>
              </a:rPr>
              <a:t> </a:t>
            </a:r>
            <a:r>
              <a:rPr lang="en-AU" sz="1800" dirty="0" err="1">
                <a:solidFill>
                  <a:srgbClr val="424242"/>
                </a:solidFill>
                <a:latin typeface="+mn-lt"/>
              </a:rPr>
              <a:t>Kattel</a:t>
            </a:r>
            <a:endParaRPr lang="en-AU" sz="1800" dirty="0">
              <a:solidFill>
                <a:srgbClr val="424242"/>
              </a:solidFill>
              <a:latin typeface="+mn-lt"/>
            </a:endParaRPr>
          </a:p>
          <a:p>
            <a:pPr>
              <a:spcBef>
                <a:spcPts val="0"/>
              </a:spcBef>
              <a:buClr>
                <a:schemeClr val="dk1"/>
              </a:buClr>
              <a:buSzPct val="61111"/>
            </a:pPr>
            <a:r>
              <a:rPr lang="en-US" sz="1800" dirty="0">
                <a:solidFill>
                  <a:srgbClr val="424242"/>
                </a:solidFill>
                <a:latin typeface="+mn-lt"/>
                <a:sym typeface="Times New Roman"/>
              </a:rPr>
              <a:t>Lab facilitator</a:t>
            </a:r>
            <a:endParaRPr lang="en-AU" dirty="0">
              <a:latin typeface="+mn-lt"/>
              <a:cs typeface="Times New Roman"/>
              <a:sym typeface="Times New Roman"/>
            </a:endParaRPr>
          </a:p>
          <a:p>
            <a:pPr>
              <a:spcBef>
                <a:spcPts val="0"/>
              </a:spcBef>
            </a:pPr>
            <a:endParaRPr sz="1050" dirty="0"/>
          </a:p>
        </p:txBody>
      </p:sp>
      <p:sp>
        <p:nvSpPr>
          <p:cNvPr id="20" name="Shape 75">
            <a:extLst>
              <a:ext uri="{FF2B5EF4-FFF2-40B4-BE49-F238E27FC236}">
                <a16:creationId xmlns:a16="http://schemas.microsoft.com/office/drawing/2014/main" id="{FB9722F3-74BF-4614-8C13-01217D49A949}"/>
              </a:ext>
            </a:extLst>
          </p:cNvPr>
          <p:cNvSpPr txBox="1"/>
          <p:nvPr/>
        </p:nvSpPr>
        <p:spPr>
          <a:xfrm>
            <a:off x="1233203" y="2456446"/>
            <a:ext cx="3472902" cy="1097047"/>
          </a:xfrm>
          <a:prstGeom prst="rect">
            <a:avLst/>
          </a:prstGeom>
          <a:noFill/>
          <a:ln>
            <a:noFill/>
          </a:ln>
        </p:spPr>
        <p:txBody>
          <a:bodyPr lIns="91425" tIns="91425" rIns="91425" bIns="91425" anchor="t" anchorCtr="0">
            <a:noAutofit/>
          </a:bodyPr>
          <a:lstStyle/>
          <a:p>
            <a:pPr lvl="0">
              <a:spcBef>
                <a:spcPts val="0"/>
              </a:spcBef>
              <a:buClr>
                <a:schemeClr val="dk1"/>
              </a:buClr>
              <a:buFont typeface="Arial"/>
              <a:buNone/>
            </a:pPr>
            <a:endParaRPr lang="en-US" sz="1400" dirty="0">
              <a:solidFill>
                <a:schemeClr val="dk1"/>
              </a:solidFill>
              <a:latin typeface="Arial" panose="020B0604020202020204" pitchFamily="34" charset="0"/>
              <a:ea typeface="Times New Roman"/>
              <a:cs typeface="Arial" panose="020B0604020202020204" pitchFamily="34" charset="0"/>
              <a:sym typeface="Times New Roman"/>
            </a:endParaRPr>
          </a:p>
          <a:p>
            <a:pPr lvl="0">
              <a:spcBef>
                <a:spcPts val="0"/>
              </a:spcBef>
              <a:buClr>
                <a:schemeClr val="dk1"/>
              </a:buClr>
              <a:buSzPct val="61111"/>
              <a:buFont typeface="Arial"/>
              <a:buNone/>
            </a:pPr>
            <a:r>
              <a:rPr lang="en-US" sz="1800" dirty="0">
                <a:solidFill>
                  <a:srgbClr val="424242"/>
                </a:solidFill>
                <a:latin typeface="+mn-lt"/>
                <a:sym typeface="Times New Roman"/>
              </a:rPr>
              <a:t>Larry Huynh</a:t>
            </a:r>
          </a:p>
          <a:p>
            <a:pPr lvl="0">
              <a:spcBef>
                <a:spcPts val="0"/>
              </a:spcBef>
              <a:buClr>
                <a:schemeClr val="dk1"/>
              </a:buClr>
              <a:buSzPct val="61111"/>
              <a:buFont typeface="Arial"/>
              <a:buNone/>
            </a:pPr>
            <a:r>
              <a:rPr lang="en-US" sz="1800" dirty="0">
                <a:solidFill>
                  <a:srgbClr val="424242"/>
                </a:solidFill>
                <a:latin typeface="+mn-lt"/>
                <a:sym typeface="Times New Roman"/>
              </a:rPr>
              <a:t>Assistant Lecturer</a:t>
            </a:r>
          </a:p>
          <a:p>
            <a:pPr lvl="0">
              <a:spcBef>
                <a:spcPts val="0"/>
              </a:spcBef>
              <a:buClr>
                <a:schemeClr val="dk1"/>
              </a:buClr>
              <a:buSzPct val="61111"/>
              <a:buFont typeface="Arial"/>
              <a:buNone/>
            </a:pPr>
            <a:endParaRPr lang="en-US" sz="1800" dirty="0">
              <a:solidFill>
                <a:srgbClr val="424242"/>
              </a:solidFill>
              <a:latin typeface="+mn-lt"/>
              <a:sym typeface="Times New Roman"/>
            </a:endParaRPr>
          </a:p>
          <a:p>
            <a:pPr lvl="0">
              <a:spcBef>
                <a:spcPts val="0"/>
              </a:spcBef>
              <a:buClr>
                <a:schemeClr val="dk1"/>
              </a:buClr>
              <a:buFont typeface="Arial"/>
              <a:buNone/>
            </a:pPr>
            <a:endParaRPr sz="1400" dirty="0">
              <a:latin typeface="Times New Roman"/>
              <a:ea typeface="Times New Roman"/>
              <a:cs typeface="Times New Roman"/>
              <a:sym typeface="Times New Roman"/>
            </a:endParaRPr>
          </a:p>
          <a:p>
            <a:pPr lvl="0">
              <a:spcBef>
                <a:spcPts val="0"/>
              </a:spcBef>
              <a:buNone/>
            </a:pPr>
            <a:endParaRPr sz="1400" dirty="0"/>
          </a:p>
        </p:txBody>
      </p:sp>
      <p:pic>
        <p:nvPicPr>
          <p:cNvPr id="4" name="Picture 3">
            <a:extLst>
              <a:ext uri="{FF2B5EF4-FFF2-40B4-BE49-F238E27FC236}">
                <a16:creationId xmlns:a16="http://schemas.microsoft.com/office/drawing/2014/main" id="{9AA56FA2-0DD0-44B5-9A13-27EB067173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057" y="2213189"/>
            <a:ext cx="1424620" cy="1299686"/>
          </a:xfrm>
          <a:prstGeom prst="rect">
            <a:avLst/>
          </a:prstGeom>
        </p:spPr>
      </p:pic>
      <p:pic>
        <p:nvPicPr>
          <p:cNvPr id="7" name="Picture 6">
            <a:extLst>
              <a:ext uri="{FF2B5EF4-FFF2-40B4-BE49-F238E27FC236}">
                <a16:creationId xmlns:a16="http://schemas.microsoft.com/office/drawing/2014/main" id="{21D108A7-3958-4824-9C5C-1CECDE131C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0482" y="3756132"/>
            <a:ext cx="1414195" cy="1302141"/>
          </a:xfrm>
          <a:prstGeom prst="rect">
            <a:avLst/>
          </a:prstGeom>
        </p:spPr>
      </p:pic>
      <p:pic>
        <p:nvPicPr>
          <p:cNvPr id="9" name="Picture 8">
            <a:extLst>
              <a:ext uri="{FF2B5EF4-FFF2-40B4-BE49-F238E27FC236}">
                <a16:creationId xmlns:a16="http://schemas.microsoft.com/office/drawing/2014/main" id="{F20816B6-C8E2-48B0-8E15-DFDD6176371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18084" y="4892377"/>
            <a:ext cx="1738501" cy="1752864"/>
          </a:xfrm>
          <a:prstGeom prst="rect">
            <a:avLst/>
          </a:prstGeom>
        </p:spPr>
      </p:pic>
      <p:pic>
        <p:nvPicPr>
          <p:cNvPr id="19" name="Picture 18">
            <a:extLst>
              <a:ext uri="{FF2B5EF4-FFF2-40B4-BE49-F238E27FC236}">
                <a16:creationId xmlns:a16="http://schemas.microsoft.com/office/drawing/2014/main" id="{1E62F430-E3FC-48EC-BC34-E8310F9FFC3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747030" y="479084"/>
            <a:ext cx="1713556" cy="1718192"/>
          </a:xfrm>
          <a:prstGeom prst="rect">
            <a:avLst/>
          </a:prstGeom>
        </p:spPr>
      </p:pic>
      <p:pic>
        <p:nvPicPr>
          <p:cNvPr id="28" name="Picture 27">
            <a:extLst>
              <a:ext uri="{FF2B5EF4-FFF2-40B4-BE49-F238E27FC236}">
                <a16:creationId xmlns:a16="http://schemas.microsoft.com/office/drawing/2014/main" id="{60E6A3B2-60E1-4892-B65B-2DB3785E9EA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718085" y="2593632"/>
            <a:ext cx="1738501" cy="1950385"/>
          </a:xfrm>
          <a:prstGeom prst="rect">
            <a:avLst/>
          </a:prstGeom>
        </p:spPr>
      </p:pic>
      <p:pic>
        <p:nvPicPr>
          <p:cNvPr id="1026" name="Picture 2">
            <a:extLst>
              <a:ext uri="{FF2B5EF4-FFF2-40B4-BE49-F238E27FC236}">
                <a16:creationId xmlns:a16="http://schemas.microsoft.com/office/drawing/2014/main" id="{438336CD-3C54-4DA3-933C-386F714718D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80057" y="5176951"/>
            <a:ext cx="1424620" cy="1545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5697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091" y="419100"/>
            <a:ext cx="3160090" cy="759415"/>
          </a:xfrm>
        </p:spPr>
        <p:txBody>
          <a:bodyPr/>
          <a:lstStyle/>
          <a:p>
            <a:r>
              <a:rPr lang="en-AU" b="1" dirty="0"/>
              <a:t>Emergency</a:t>
            </a:r>
          </a:p>
        </p:txBody>
      </p:sp>
      <p:sp>
        <p:nvSpPr>
          <p:cNvPr id="3" name="Content Placeholder 2"/>
          <p:cNvSpPr>
            <a:spLocks noGrp="1"/>
          </p:cNvSpPr>
          <p:nvPr>
            <p:ph idx="1"/>
          </p:nvPr>
        </p:nvSpPr>
        <p:spPr>
          <a:xfrm>
            <a:off x="126091" y="1178515"/>
            <a:ext cx="8891818" cy="3394472"/>
          </a:xfrm>
        </p:spPr>
        <p:txBody>
          <a:bodyPr>
            <a:normAutofit/>
          </a:bodyPr>
          <a:lstStyle/>
          <a:p>
            <a:r>
              <a:rPr lang="en-AU" dirty="0">
                <a:cs typeface="Arial" panose="020B0604020202020204" pitchFamily="34" charset="0"/>
              </a:rPr>
              <a:t>General emergency: call campus security at 6488 2222</a:t>
            </a:r>
          </a:p>
          <a:p>
            <a:r>
              <a:rPr lang="en-AU" dirty="0">
                <a:cs typeface="Arial" panose="020B0604020202020204" pitchFamily="34" charset="0"/>
              </a:rPr>
              <a:t>In super emergency: call emergency at 000</a:t>
            </a:r>
          </a:p>
        </p:txBody>
      </p:sp>
      <p:sp>
        <p:nvSpPr>
          <p:cNvPr id="5" name="Content Placeholder 2">
            <a:extLst>
              <a:ext uri="{FF2B5EF4-FFF2-40B4-BE49-F238E27FC236}">
                <a16:creationId xmlns:a16="http://schemas.microsoft.com/office/drawing/2014/main" id="{DC504991-ABEB-4542-A4D0-B3BA24540C8D}"/>
              </a:ext>
            </a:extLst>
          </p:cNvPr>
          <p:cNvSpPr txBox="1">
            <a:spLocks/>
          </p:cNvSpPr>
          <p:nvPr/>
        </p:nvSpPr>
        <p:spPr>
          <a:xfrm>
            <a:off x="126091" y="2196743"/>
            <a:ext cx="8639636" cy="169723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dirty="0">
                <a:cs typeface="Arial" panose="020B0604020202020204" pitchFamily="34" charset="0"/>
              </a:rPr>
              <a:t>For other student services:</a:t>
            </a:r>
          </a:p>
          <a:p>
            <a:pPr lvl="1" fontAlgn="auto">
              <a:spcAft>
                <a:spcPts val="0"/>
              </a:spcAft>
              <a:buClrTx/>
              <a:buSzTx/>
            </a:pPr>
            <a:r>
              <a:rPr lang="en-AU" sz="2100" dirty="0">
                <a:effectLst/>
                <a:cs typeface="Arial" panose="020B0604020202020204" pitchFamily="34" charset="0"/>
                <a:hlinkClick r:id="rId3"/>
              </a:rPr>
              <a:t>https://www.uwa.edu.au/students/Support-services</a:t>
            </a:r>
            <a:endParaRPr lang="en-AU" sz="2100" dirty="0">
              <a:cs typeface="Arial" panose="020B0604020202020204" pitchFamily="34" charset="0"/>
            </a:endParaRPr>
          </a:p>
          <a:p>
            <a:pPr lvl="1" fontAlgn="auto">
              <a:spcAft>
                <a:spcPts val="0"/>
              </a:spcAft>
              <a:buClrTx/>
              <a:buSzTx/>
            </a:pPr>
            <a:r>
              <a:rPr lang="en-AU" sz="2100" dirty="0" err="1">
                <a:effectLst/>
                <a:cs typeface="Arial" panose="020B0604020202020204" pitchFamily="34" charset="0"/>
              </a:rPr>
              <a:t>UniAccess</a:t>
            </a:r>
            <a:r>
              <a:rPr lang="en-AU" sz="2100" dirty="0">
                <a:effectLst/>
                <a:cs typeface="Arial" panose="020B0604020202020204" pitchFamily="34" charset="0"/>
              </a:rPr>
              <a:t>: </a:t>
            </a:r>
            <a:r>
              <a:rPr lang="en-AU" sz="2100" dirty="0">
                <a:solidFill>
                  <a:schemeClr val="accent6"/>
                </a:solidFill>
                <a:effectLst/>
                <a:cs typeface="Arial" panose="020B0604020202020204" pitchFamily="34" charset="0"/>
                <a:hlinkClick r:id="rId4"/>
              </a:rPr>
              <a:t>https://www.uwa.edu.au/students/Support-services/Disability-and-accessibility </a:t>
            </a:r>
            <a:r>
              <a:rPr lang="en-AU" sz="2100" dirty="0">
                <a:effectLst/>
                <a:cs typeface="Arial" panose="020B0604020202020204" pitchFamily="34" charset="0"/>
              </a:rPr>
              <a:t>(send me your </a:t>
            </a:r>
            <a:r>
              <a:rPr lang="en-AU" sz="2100" dirty="0" err="1">
                <a:effectLst/>
                <a:cs typeface="Arial" panose="020B0604020202020204" pitchFamily="34" charset="0"/>
              </a:rPr>
              <a:t>Uniaccess</a:t>
            </a:r>
            <a:r>
              <a:rPr lang="en-AU" sz="2100" dirty="0">
                <a:effectLst/>
                <a:cs typeface="Arial" panose="020B0604020202020204" pitchFamily="34" charset="0"/>
              </a:rPr>
              <a:t> letters </a:t>
            </a:r>
            <a:r>
              <a:rPr lang="en-AU" sz="2100" dirty="0">
                <a:effectLst/>
                <a:cs typeface="Arial" panose="020B0604020202020204" pitchFamily="34" charset="0"/>
                <a:sym typeface="Wingdings" panose="05000000000000000000" pitchFamily="2" charset="2"/>
              </a:rPr>
              <a:t></a:t>
            </a:r>
            <a:r>
              <a:rPr lang="en-AU" sz="2100" dirty="0">
                <a:effectLst/>
                <a:cs typeface="Arial" panose="020B0604020202020204" pitchFamily="34" charset="0"/>
              </a:rPr>
              <a:t>)</a:t>
            </a:r>
            <a:endParaRPr lang="en-AU" sz="2100" dirty="0">
              <a:cs typeface="Arial" panose="020B0604020202020204" pitchFamily="34" charset="0"/>
            </a:endParaRPr>
          </a:p>
          <a:p>
            <a:pPr marL="27675" indent="0" fontAlgn="auto">
              <a:spcAft>
                <a:spcPts val="0"/>
              </a:spcAft>
              <a:buClrTx/>
              <a:buSzTx/>
              <a:buFont typeface="Arial" panose="020B0604020202020204" pitchFamily="34" charset="0"/>
              <a:buNone/>
            </a:pPr>
            <a:endParaRPr lang="en-AU" dirty="0">
              <a:cs typeface="Arial" panose="020B0604020202020204" pitchFamily="34" charset="0"/>
            </a:endParaRPr>
          </a:p>
        </p:txBody>
      </p:sp>
    </p:spTree>
    <p:extLst>
      <p:ext uri="{BB962C8B-B14F-4D97-AF65-F5344CB8AC3E}">
        <p14:creationId xmlns:p14="http://schemas.microsoft.com/office/powerpoint/2010/main" val="1481627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0CF5-26BE-4B65-9239-23B6ACA96D5E}"/>
              </a:ext>
            </a:extLst>
          </p:cNvPr>
          <p:cNvSpPr>
            <a:spLocks noGrp="1"/>
          </p:cNvSpPr>
          <p:nvPr>
            <p:ph type="title"/>
          </p:nvPr>
        </p:nvSpPr>
        <p:spPr>
          <a:xfrm>
            <a:off x="350694" y="176463"/>
            <a:ext cx="3678107" cy="714876"/>
          </a:xfrm>
        </p:spPr>
        <p:txBody>
          <a:bodyPr/>
          <a:lstStyle/>
          <a:p>
            <a:r>
              <a:rPr lang="en-AU" b="1" dirty="0"/>
              <a:t>Lectures</a:t>
            </a:r>
          </a:p>
        </p:txBody>
      </p:sp>
      <p:sp>
        <p:nvSpPr>
          <p:cNvPr id="3" name="Content Placeholder 2">
            <a:extLst>
              <a:ext uri="{FF2B5EF4-FFF2-40B4-BE49-F238E27FC236}">
                <a16:creationId xmlns:a16="http://schemas.microsoft.com/office/drawing/2014/main" id="{E7B058CF-1E66-48A8-A8EB-3BE7B8CF9E6A}"/>
              </a:ext>
            </a:extLst>
          </p:cNvPr>
          <p:cNvSpPr>
            <a:spLocks noGrp="1"/>
          </p:cNvSpPr>
          <p:nvPr>
            <p:ph idx="1"/>
          </p:nvPr>
        </p:nvSpPr>
        <p:spPr>
          <a:xfrm>
            <a:off x="350694" y="1078331"/>
            <a:ext cx="8442612" cy="3400424"/>
          </a:xfrm>
        </p:spPr>
        <p:txBody>
          <a:bodyPr/>
          <a:lstStyle/>
          <a:p>
            <a:r>
              <a:rPr lang="en-AU" dirty="0">
                <a:solidFill>
                  <a:schemeClr val="tx1"/>
                </a:solidFill>
                <a:cs typeface="Arial" panose="020B0604020202020204" pitchFamily="34" charset="0"/>
              </a:rPr>
              <a:t>For lectures, they will be recorded and uploaded into LMS. </a:t>
            </a:r>
          </a:p>
          <a:p>
            <a:pPr marL="342900" lvl="1" indent="0">
              <a:buNone/>
            </a:pPr>
            <a:endParaRPr lang="en-AU" sz="2100" dirty="0">
              <a:solidFill>
                <a:schemeClr val="tx1"/>
              </a:solidFill>
              <a:cs typeface="Arial" panose="020B0604020202020204" pitchFamily="34" charset="0"/>
            </a:endParaRPr>
          </a:p>
          <a:p>
            <a:pPr lvl="1"/>
            <a:r>
              <a:rPr lang="en-AU" sz="2100" dirty="0">
                <a:solidFill>
                  <a:schemeClr val="tx1"/>
                </a:solidFill>
                <a:cs typeface="Arial" panose="020B0604020202020204" pitchFamily="34" charset="0"/>
              </a:rPr>
              <a:t>Lectures are about different aspects of cloud computing with exam-style questions included.</a:t>
            </a:r>
          </a:p>
          <a:p>
            <a:pPr marL="342900" lvl="1" indent="0">
              <a:buNone/>
            </a:pPr>
            <a:endParaRPr lang="en-AU" dirty="0">
              <a:solidFill>
                <a:schemeClr val="tx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D8E23D40-E2BD-4C55-9D9C-315442704384}"/>
              </a:ext>
            </a:extLst>
          </p:cNvPr>
          <p:cNvSpPr txBox="1">
            <a:spLocks/>
          </p:cNvSpPr>
          <p:nvPr/>
        </p:nvSpPr>
        <p:spPr>
          <a:xfrm>
            <a:off x="350694" y="3086393"/>
            <a:ext cx="8442612" cy="11976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dirty="0">
                <a:cs typeface="Arial" panose="020B0604020202020204" pitchFamily="34" charset="0"/>
              </a:rPr>
              <a:t>Lectures slides are available:</a:t>
            </a:r>
            <a:endParaRPr lang="en-AU" sz="2100" b="1" dirty="0">
              <a:cs typeface="Arial" panose="020B0604020202020204" pitchFamily="34" charset="0"/>
            </a:endParaRPr>
          </a:p>
          <a:p>
            <a:pPr lvl="1" fontAlgn="auto">
              <a:spcAft>
                <a:spcPts val="0"/>
              </a:spcAft>
              <a:buClrTx/>
              <a:buSzTx/>
            </a:pPr>
            <a:r>
              <a:rPr lang="en-AU" sz="2100" dirty="0">
                <a:hlinkClick r:id="rId3"/>
              </a:rPr>
              <a:t>https://zhangzhics.gitbook.io/cits5503</a:t>
            </a:r>
            <a:endParaRPr lang="en-AU"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FF05390-56A5-48CA-B7C9-90B2BDC5F06C}"/>
              </a:ext>
            </a:extLst>
          </p:cNvPr>
          <p:cNvPicPr>
            <a:picLocks noChangeAspect="1"/>
          </p:cNvPicPr>
          <p:nvPr/>
        </p:nvPicPr>
        <p:blipFill>
          <a:blip r:embed="rId4"/>
          <a:stretch>
            <a:fillRect/>
          </a:stretch>
        </p:blipFill>
        <p:spPr>
          <a:xfrm>
            <a:off x="746980" y="3937529"/>
            <a:ext cx="6563641" cy="2095792"/>
          </a:xfrm>
          <a:prstGeom prst="rect">
            <a:avLst/>
          </a:prstGeom>
        </p:spPr>
      </p:pic>
    </p:spTree>
    <p:extLst>
      <p:ext uri="{BB962C8B-B14F-4D97-AF65-F5344CB8AC3E}">
        <p14:creationId xmlns:p14="http://schemas.microsoft.com/office/powerpoint/2010/main" val="13545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E7FC-13D5-D64F-970D-EE15EF0A474C}"/>
              </a:ext>
            </a:extLst>
          </p:cNvPr>
          <p:cNvSpPr>
            <a:spLocks noGrp="1"/>
          </p:cNvSpPr>
          <p:nvPr>
            <p:ph type="title"/>
          </p:nvPr>
        </p:nvSpPr>
        <p:spPr>
          <a:xfrm>
            <a:off x="300336" y="135355"/>
            <a:ext cx="7765322" cy="942975"/>
          </a:xfrm>
        </p:spPr>
        <p:txBody>
          <a:bodyPr/>
          <a:lstStyle/>
          <a:p>
            <a:r>
              <a:rPr lang="en-AU" b="1" dirty="0"/>
              <a:t>Assessments</a:t>
            </a:r>
          </a:p>
        </p:txBody>
      </p:sp>
      <p:sp>
        <p:nvSpPr>
          <p:cNvPr id="3" name="Content Placeholder 2">
            <a:extLst>
              <a:ext uri="{FF2B5EF4-FFF2-40B4-BE49-F238E27FC236}">
                <a16:creationId xmlns:a16="http://schemas.microsoft.com/office/drawing/2014/main" id="{D414E03A-E6FC-764F-9D80-282B98177B8B}"/>
              </a:ext>
            </a:extLst>
          </p:cNvPr>
          <p:cNvSpPr>
            <a:spLocks noGrp="1"/>
          </p:cNvSpPr>
          <p:nvPr>
            <p:ph idx="1"/>
          </p:nvPr>
        </p:nvSpPr>
        <p:spPr>
          <a:xfrm>
            <a:off x="300336" y="1221242"/>
            <a:ext cx="7765322" cy="2786062"/>
          </a:xfrm>
        </p:spPr>
        <p:txBody>
          <a:bodyPr>
            <a:normAutofit/>
          </a:bodyPr>
          <a:lstStyle/>
          <a:p>
            <a:r>
              <a:rPr lang="en-AU" dirty="0">
                <a:cs typeface="Arial" panose="020B0604020202020204" pitchFamily="34" charset="0"/>
              </a:rPr>
              <a:t>Labs</a:t>
            </a:r>
          </a:p>
          <a:p>
            <a:r>
              <a:rPr lang="en-AU" dirty="0">
                <a:cs typeface="Arial" panose="020B0604020202020204" pitchFamily="34" charset="0"/>
              </a:rPr>
              <a:t>Mid-semester Test</a:t>
            </a:r>
          </a:p>
          <a:p>
            <a:r>
              <a:rPr lang="en-AU" dirty="0">
                <a:cs typeface="Arial" panose="020B0604020202020204" pitchFamily="34" charset="0"/>
              </a:rPr>
              <a:t>Final Exam</a:t>
            </a:r>
          </a:p>
        </p:txBody>
      </p:sp>
    </p:spTree>
    <p:extLst>
      <p:ext uri="{BB962C8B-B14F-4D97-AF65-F5344CB8AC3E}">
        <p14:creationId xmlns:p14="http://schemas.microsoft.com/office/powerpoint/2010/main" val="3788011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0CF5-26BE-4B65-9239-23B6ACA96D5E}"/>
              </a:ext>
            </a:extLst>
          </p:cNvPr>
          <p:cNvSpPr>
            <a:spLocks noGrp="1"/>
          </p:cNvSpPr>
          <p:nvPr>
            <p:ph type="title"/>
          </p:nvPr>
        </p:nvSpPr>
        <p:spPr>
          <a:xfrm>
            <a:off x="2698070" y="315327"/>
            <a:ext cx="5041686" cy="779045"/>
          </a:xfrm>
        </p:spPr>
        <p:txBody>
          <a:bodyPr/>
          <a:lstStyle/>
          <a:p>
            <a:r>
              <a:rPr lang="en-AU" b="1" dirty="0"/>
              <a:t>Labs </a:t>
            </a:r>
            <a:r>
              <a:rPr lang="en-AU" b="1" dirty="0">
                <a:solidFill>
                  <a:srgbClr val="FF0000"/>
                </a:solidFill>
              </a:rPr>
              <a:t>start in week 2 </a:t>
            </a:r>
          </a:p>
        </p:txBody>
      </p:sp>
      <p:sp>
        <p:nvSpPr>
          <p:cNvPr id="3" name="Content Placeholder 2">
            <a:extLst>
              <a:ext uri="{FF2B5EF4-FFF2-40B4-BE49-F238E27FC236}">
                <a16:creationId xmlns:a16="http://schemas.microsoft.com/office/drawing/2014/main" id="{E7B058CF-1E66-48A8-A8EB-3BE7B8CF9E6A}"/>
              </a:ext>
            </a:extLst>
          </p:cNvPr>
          <p:cNvSpPr>
            <a:spLocks noGrp="1"/>
          </p:cNvSpPr>
          <p:nvPr>
            <p:ph idx="1"/>
          </p:nvPr>
        </p:nvSpPr>
        <p:spPr>
          <a:xfrm>
            <a:off x="529028" y="1519674"/>
            <a:ext cx="7765322" cy="3400424"/>
          </a:xfrm>
        </p:spPr>
        <p:txBody>
          <a:bodyPr/>
          <a:lstStyle/>
          <a:p>
            <a:r>
              <a:rPr lang="en-AU" dirty="0">
                <a:solidFill>
                  <a:schemeClr val="tx1"/>
                </a:solidFill>
                <a:cs typeface="Arial" panose="020B0604020202020204" pitchFamily="34" charset="0"/>
              </a:rPr>
              <a:t>Lab materials</a:t>
            </a:r>
          </a:p>
          <a:p>
            <a:r>
              <a:rPr lang="en-AU" dirty="0">
                <a:solidFill>
                  <a:schemeClr val="tx1"/>
                </a:solidFill>
                <a:cs typeface="Arial" panose="020B0604020202020204" pitchFamily="34" charset="0"/>
              </a:rPr>
              <a:t>Lab location</a:t>
            </a:r>
          </a:p>
          <a:p>
            <a:r>
              <a:rPr lang="en-AU" dirty="0">
                <a:solidFill>
                  <a:schemeClr val="tx1"/>
                </a:solidFill>
                <a:cs typeface="Arial" panose="020B0604020202020204" pitchFamily="34" charset="0"/>
              </a:rPr>
              <a:t>Lab computer</a:t>
            </a:r>
          </a:p>
          <a:p>
            <a:r>
              <a:rPr lang="en-AU" dirty="0">
                <a:solidFill>
                  <a:schemeClr val="tx1"/>
                </a:solidFill>
                <a:cs typeface="Arial" panose="020B0604020202020204" pitchFamily="34" charset="0"/>
              </a:rPr>
              <a:t>Lab assessment </a:t>
            </a:r>
          </a:p>
          <a:p>
            <a:r>
              <a:rPr lang="en-AU" dirty="0">
                <a:solidFill>
                  <a:schemeClr val="tx1"/>
                </a:solidFill>
                <a:cs typeface="Arial" panose="020B0604020202020204" pitchFamily="34" charset="0"/>
              </a:rPr>
              <a:t>Lab due dates </a:t>
            </a:r>
          </a:p>
          <a:p>
            <a:r>
              <a:rPr lang="en-AU" dirty="0">
                <a:solidFill>
                  <a:schemeClr val="tx1"/>
                </a:solidFill>
                <a:cs typeface="Arial" panose="020B0604020202020204" pitchFamily="34" charset="0"/>
              </a:rPr>
              <a:t>Lab </a:t>
            </a:r>
            <a:r>
              <a:rPr lang="en-AU" dirty="0">
                <a:cs typeface="Arial" panose="020B0604020202020204" pitchFamily="34" charset="0"/>
              </a:rPr>
              <a:t>help</a:t>
            </a:r>
            <a:endParaRPr lang="en-AU" dirty="0">
              <a:solidFill>
                <a:schemeClr val="tx1"/>
              </a:solidFill>
              <a:cs typeface="Arial" panose="020B0604020202020204" pitchFamily="34" charset="0"/>
            </a:endParaRPr>
          </a:p>
          <a:p>
            <a:r>
              <a:rPr lang="en-AU" dirty="0">
                <a:solidFill>
                  <a:schemeClr val="tx1"/>
                </a:solidFill>
                <a:cs typeface="Arial" panose="020B0604020202020204" pitchFamily="34" charset="0"/>
              </a:rPr>
              <a:t>Lab setup</a:t>
            </a:r>
          </a:p>
        </p:txBody>
      </p:sp>
    </p:spTree>
    <p:extLst>
      <p:ext uri="{BB962C8B-B14F-4D97-AF65-F5344CB8AC3E}">
        <p14:creationId xmlns:p14="http://schemas.microsoft.com/office/powerpoint/2010/main" val="2447042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7BE73EB-E544-436B-BC4C-1A8693FA38FD}"/>
              </a:ext>
            </a:extLst>
          </p:cNvPr>
          <p:cNvSpPr>
            <a:spLocks noGrp="1"/>
          </p:cNvSpPr>
          <p:nvPr>
            <p:ph type="title"/>
          </p:nvPr>
        </p:nvSpPr>
        <p:spPr>
          <a:xfrm>
            <a:off x="389667" y="391188"/>
            <a:ext cx="7612672" cy="643812"/>
          </a:xfrm>
        </p:spPr>
        <p:txBody>
          <a:bodyPr>
            <a:normAutofit/>
          </a:bodyPr>
          <a:lstStyle/>
          <a:p>
            <a:pPr algn="l"/>
            <a:r>
              <a:rPr lang="en-AU" b="1" dirty="0"/>
              <a:t>Lab</a:t>
            </a:r>
            <a:r>
              <a:rPr lang="en-AU" sz="1650" dirty="0"/>
              <a:t> </a:t>
            </a:r>
            <a:r>
              <a:rPr lang="en-AU" b="1" dirty="0"/>
              <a:t>materials</a:t>
            </a:r>
          </a:p>
        </p:txBody>
      </p:sp>
      <p:pic>
        <p:nvPicPr>
          <p:cNvPr id="4" name="Picture 3">
            <a:extLst>
              <a:ext uri="{FF2B5EF4-FFF2-40B4-BE49-F238E27FC236}">
                <a16:creationId xmlns:a16="http://schemas.microsoft.com/office/drawing/2014/main" id="{1E72972D-84B2-45C5-B8C2-961B4C2FE836}"/>
              </a:ext>
            </a:extLst>
          </p:cNvPr>
          <p:cNvPicPr>
            <a:picLocks noChangeAspect="1"/>
          </p:cNvPicPr>
          <p:nvPr/>
        </p:nvPicPr>
        <p:blipFill>
          <a:blip r:embed="rId3"/>
          <a:stretch>
            <a:fillRect/>
          </a:stretch>
        </p:blipFill>
        <p:spPr>
          <a:xfrm>
            <a:off x="389667" y="1145938"/>
            <a:ext cx="3134162" cy="4877481"/>
          </a:xfrm>
          <a:prstGeom prst="rect">
            <a:avLst/>
          </a:prstGeom>
        </p:spPr>
      </p:pic>
      <p:sp>
        <p:nvSpPr>
          <p:cNvPr id="11" name="Content Placeholder 2">
            <a:extLst>
              <a:ext uri="{FF2B5EF4-FFF2-40B4-BE49-F238E27FC236}">
                <a16:creationId xmlns:a16="http://schemas.microsoft.com/office/drawing/2014/main" id="{2ACA1146-82EB-4254-A983-9AEC6EEFFCC3}"/>
              </a:ext>
            </a:extLst>
          </p:cNvPr>
          <p:cNvSpPr>
            <a:spLocks noGrp="1"/>
          </p:cNvSpPr>
          <p:nvPr>
            <p:ph idx="1"/>
          </p:nvPr>
        </p:nvSpPr>
        <p:spPr>
          <a:xfrm>
            <a:off x="2941337" y="1333933"/>
            <a:ext cx="5812996" cy="2095067"/>
          </a:xfrm>
        </p:spPr>
        <p:txBody>
          <a:bodyPr>
            <a:normAutofit/>
          </a:bodyPr>
          <a:lstStyle/>
          <a:p>
            <a:r>
              <a:rPr lang="en-AU" dirty="0">
                <a:cs typeface="Arial" panose="020B0604020202020204" pitchFamily="34" charset="0"/>
                <a:hlinkClick r:id="rId4"/>
              </a:rPr>
              <a:t>https://zhangzhics.gitbook.io/cits5503/labs/lab1introsetup</a:t>
            </a:r>
            <a:endParaRPr lang="en-AU" dirty="0">
              <a:cs typeface="Arial" panose="020B0604020202020204" pitchFamily="34" charset="0"/>
            </a:endParaRPr>
          </a:p>
          <a:p>
            <a:r>
              <a:rPr lang="en-AU" dirty="0">
                <a:cs typeface="Arial" panose="020B0604020202020204" pitchFamily="34" charset="0"/>
              </a:rPr>
              <a:t>Read through each lab before starting it.</a:t>
            </a:r>
            <a:endParaRPr lang="en-AU" dirty="0">
              <a:solidFill>
                <a:schemeClr val="tx1"/>
              </a:solidFill>
              <a:cs typeface="Arial" panose="020B0604020202020204" pitchFamily="34" charset="0"/>
            </a:endParaRPr>
          </a:p>
        </p:txBody>
      </p:sp>
    </p:spTree>
    <p:extLst>
      <p:ext uri="{BB962C8B-B14F-4D97-AF65-F5344CB8AC3E}">
        <p14:creationId xmlns:p14="http://schemas.microsoft.com/office/powerpoint/2010/main" val="3921763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86E9385-3587-4B42-AFEB-907C770F0799}"/>
              </a:ext>
            </a:extLst>
          </p:cNvPr>
          <p:cNvSpPr>
            <a:spLocks noGrp="1"/>
          </p:cNvSpPr>
          <p:nvPr>
            <p:ph type="title"/>
          </p:nvPr>
        </p:nvSpPr>
        <p:spPr>
          <a:xfrm>
            <a:off x="389667" y="391188"/>
            <a:ext cx="7612672" cy="643812"/>
          </a:xfrm>
        </p:spPr>
        <p:txBody>
          <a:bodyPr>
            <a:normAutofit/>
          </a:bodyPr>
          <a:lstStyle/>
          <a:p>
            <a:pPr algn="l"/>
            <a:r>
              <a:rPr lang="en-AU" b="1" dirty="0"/>
              <a:t>AWS</a:t>
            </a:r>
          </a:p>
        </p:txBody>
      </p:sp>
      <p:sp>
        <p:nvSpPr>
          <p:cNvPr id="5" name="Content Placeholder 2">
            <a:extLst>
              <a:ext uri="{FF2B5EF4-FFF2-40B4-BE49-F238E27FC236}">
                <a16:creationId xmlns:a16="http://schemas.microsoft.com/office/drawing/2014/main" id="{7A366177-2DF0-4F44-998D-80F64888DBC2}"/>
              </a:ext>
            </a:extLst>
          </p:cNvPr>
          <p:cNvSpPr>
            <a:spLocks noGrp="1"/>
          </p:cNvSpPr>
          <p:nvPr>
            <p:ph idx="1"/>
          </p:nvPr>
        </p:nvSpPr>
        <p:spPr>
          <a:xfrm>
            <a:off x="389667" y="1283027"/>
            <a:ext cx="8131763" cy="3253539"/>
          </a:xfrm>
        </p:spPr>
        <p:txBody>
          <a:bodyPr>
            <a:normAutofit/>
          </a:bodyPr>
          <a:lstStyle/>
          <a:p>
            <a:r>
              <a:rPr lang="en-AU" dirty="0">
                <a:cs typeface="Arial" panose="020B0604020202020204" pitchFamily="34" charset="0"/>
              </a:rPr>
              <a:t>Labs focus on AWS resources</a:t>
            </a:r>
            <a:endParaRPr lang="en-AU" dirty="0">
              <a:latin typeface="Arial" panose="020B0604020202020204" pitchFamily="34" charset="0"/>
              <a:cs typeface="Arial" panose="020B0604020202020204" pitchFamily="34" charset="0"/>
            </a:endParaRPr>
          </a:p>
          <a:p>
            <a:r>
              <a:rPr lang="en-AU" dirty="0">
                <a:cs typeface="Arial" panose="020B0604020202020204" pitchFamily="34" charset="0"/>
              </a:rPr>
              <a:t>AWS login credentials will be sent by the end of this week.</a:t>
            </a:r>
          </a:p>
          <a:p>
            <a:pPr lvl="1"/>
            <a:r>
              <a:rPr lang="en-AU" sz="2100" dirty="0">
                <a:cs typeface="Arial" panose="020B0604020202020204" pitchFamily="34" charset="0"/>
              </a:rPr>
              <a:t>Each AWS user account sent to you is unprivileged and created by the only root user. </a:t>
            </a:r>
          </a:p>
          <a:p>
            <a:pPr lvl="1"/>
            <a:r>
              <a:rPr lang="en-AU" sz="2100" b="0" i="0" dirty="0">
                <a:solidFill>
                  <a:srgbClr val="1F2328"/>
                </a:solidFill>
                <a:effectLst/>
                <a:cs typeface="Arial" panose="020B0604020202020204" pitchFamily="34" charset="0"/>
              </a:rPr>
              <a:t>The login portal is</a:t>
            </a:r>
            <a:r>
              <a:rPr lang="en-US" sz="2100" b="0" i="0" dirty="0">
                <a:solidFill>
                  <a:srgbClr val="1F2328"/>
                </a:solidFill>
                <a:effectLst/>
              </a:rPr>
              <a:t>: </a:t>
            </a:r>
          </a:p>
          <a:p>
            <a:pPr marL="342900" lvl="1" indent="0">
              <a:buNone/>
            </a:pPr>
            <a:r>
              <a:rPr lang="en-US" sz="2100" dirty="0">
                <a:solidFill>
                  <a:srgbClr val="1F2328"/>
                </a:solidFill>
              </a:rPr>
              <a:t>	</a:t>
            </a:r>
            <a:r>
              <a:rPr lang="en-US" sz="2100" b="0" i="0" dirty="0">
                <a:solidFill>
                  <a:schemeClr val="accent6"/>
                </a:solidFill>
                <a:effectLst/>
              </a:rPr>
              <a:t>https://489389878001.signin.aws.amazon.com/console</a:t>
            </a:r>
          </a:p>
          <a:p>
            <a:pPr lvl="2"/>
            <a:r>
              <a:rPr lang="en-US" sz="2100" dirty="0">
                <a:cs typeface="Arial" panose="020B0604020202020204" pitchFamily="34" charset="0"/>
              </a:rPr>
              <a:t>where </a:t>
            </a:r>
            <a:r>
              <a:rPr lang="en-US" sz="2100" b="1" dirty="0">
                <a:cs typeface="Arial" panose="020B0604020202020204" pitchFamily="34" charset="0"/>
              </a:rPr>
              <a:t>489389878001</a:t>
            </a:r>
            <a:r>
              <a:rPr lang="en-US" sz="2100" dirty="0">
                <a:cs typeface="Arial" panose="020B0604020202020204" pitchFamily="34" charset="0"/>
              </a:rPr>
              <a:t> is an AWS </a:t>
            </a:r>
            <a:r>
              <a:rPr lang="en-AU" sz="2100" dirty="0">
                <a:cs typeface="Arial" panose="020B0604020202020204" pitchFamily="34" charset="0"/>
              </a:rPr>
              <a:t>account’s root user id. </a:t>
            </a:r>
          </a:p>
          <a:p>
            <a:pPr lvl="2"/>
            <a:r>
              <a:rPr lang="en-AU" sz="2100" dirty="0">
                <a:cs typeface="Arial" panose="020B0604020202020204" pitchFamily="34" charset="0"/>
              </a:rPr>
              <a:t>Lab 1 provides the portal.</a:t>
            </a:r>
          </a:p>
          <a:p>
            <a:pPr lvl="2"/>
            <a:r>
              <a:rPr lang="en-AU" sz="2100" dirty="0">
                <a:cs typeface="Arial" panose="020B0604020202020204" pitchFamily="34" charset="0"/>
              </a:rPr>
              <a:t>Lab 4 needs the root user id.</a:t>
            </a:r>
            <a:endParaRPr lang="en-US" sz="2100" dirty="0">
              <a:cs typeface="Arial" panose="020B0604020202020204" pitchFamily="34" charset="0"/>
            </a:endParaRPr>
          </a:p>
        </p:txBody>
      </p:sp>
    </p:spTree>
    <p:extLst>
      <p:ext uri="{BB962C8B-B14F-4D97-AF65-F5344CB8AC3E}">
        <p14:creationId xmlns:p14="http://schemas.microsoft.com/office/powerpoint/2010/main" val="4090685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A0AA7A-42F9-4A05-B47B-93EAC2F94B9A}"/>
              </a:ext>
            </a:extLst>
          </p:cNvPr>
          <p:cNvPicPr>
            <a:picLocks noChangeAspect="1"/>
          </p:cNvPicPr>
          <p:nvPr/>
        </p:nvPicPr>
        <p:blipFill>
          <a:blip r:embed="rId3"/>
          <a:stretch>
            <a:fillRect/>
          </a:stretch>
        </p:blipFill>
        <p:spPr>
          <a:xfrm>
            <a:off x="759069" y="675917"/>
            <a:ext cx="7139792" cy="5908404"/>
          </a:xfrm>
          <a:prstGeom prst="rect">
            <a:avLst/>
          </a:prstGeom>
        </p:spPr>
      </p:pic>
      <p:sp>
        <p:nvSpPr>
          <p:cNvPr id="10" name="TextBox 9">
            <a:extLst>
              <a:ext uri="{FF2B5EF4-FFF2-40B4-BE49-F238E27FC236}">
                <a16:creationId xmlns:a16="http://schemas.microsoft.com/office/drawing/2014/main" id="{F958EAB3-6DE9-4B81-AAF7-F6AEFFA467A2}"/>
              </a:ext>
            </a:extLst>
          </p:cNvPr>
          <p:cNvSpPr txBox="1"/>
          <p:nvPr/>
        </p:nvSpPr>
        <p:spPr>
          <a:xfrm>
            <a:off x="233774" y="273679"/>
            <a:ext cx="6906327" cy="400110"/>
          </a:xfrm>
          <a:prstGeom prst="rect">
            <a:avLst/>
          </a:prstGeom>
          <a:noFill/>
        </p:spPr>
        <p:txBody>
          <a:bodyPr wrap="square">
            <a:spAutoFit/>
          </a:bodyPr>
          <a:lstStyle/>
          <a:p>
            <a:r>
              <a:rPr lang="en-AU" dirty="0">
                <a:hlinkClick r:id="rId4"/>
              </a:rPr>
              <a:t>https://zhangzhics.gitbook.io/cits5503#use-of-aws</a:t>
            </a:r>
            <a:endParaRPr lang="en-AU" dirty="0"/>
          </a:p>
        </p:txBody>
      </p:sp>
    </p:spTree>
    <p:extLst>
      <p:ext uri="{BB962C8B-B14F-4D97-AF65-F5344CB8AC3E}">
        <p14:creationId xmlns:p14="http://schemas.microsoft.com/office/powerpoint/2010/main" val="2926721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630" y="227540"/>
            <a:ext cx="3341223" cy="622692"/>
          </a:xfrm>
        </p:spPr>
        <p:txBody>
          <a:bodyPr/>
          <a:lstStyle/>
          <a:p>
            <a:r>
              <a:rPr lang="en-AU" b="1" dirty="0"/>
              <a:t>Lab Location</a:t>
            </a:r>
          </a:p>
        </p:txBody>
      </p:sp>
      <p:sp>
        <p:nvSpPr>
          <p:cNvPr id="3" name="Content Placeholder 2"/>
          <p:cNvSpPr>
            <a:spLocks noGrp="1"/>
          </p:cNvSpPr>
          <p:nvPr>
            <p:ph idx="1"/>
          </p:nvPr>
        </p:nvSpPr>
        <p:spPr>
          <a:xfrm>
            <a:off x="412630" y="1010652"/>
            <a:ext cx="7765322" cy="3253539"/>
          </a:xfrm>
        </p:spPr>
        <p:txBody>
          <a:bodyPr>
            <a:normAutofit/>
          </a:bodyPr>
          <a:lstStyle/>
          <a:p>
            <a:r>
              <a:rPr lang="en-AU" dirty="0">
                <a:cs typeface="Arial" panose="020B0604020202020204" pitchFamily="34" charset="0"/>
              </a:rPr>
              <a:t>Labs </a:t>
            </a:r>
          </a:p>
          <a:p>
            <a:pPr lvl="1"/>
            <a:r>
              <a:rPr lang="en-AU" sz="2100" dirty="0">
                <a:cs typeface="Arial" panose="020B0604020202020204" pitchFamily="34" charset="0"/>
              </a:rPr>
              <a:t>Check your timetable for your lab allocation</a:t>
            </a:r>
          </a:p>
          <a:p>
            <a:pPr lvl="1"/>
            <a:r>
              <a:rPr lang="en-AU" sz="2100" dirty="0">
                <a:cs typeface="Arial" panose="020B0604020202020204" pitchFamily="34" charset="0"/>
              </a:rPr>
              <a:t>You can go to another scheduled lab.</a:t>
            </a:r>
          </a:p>
          <a:p>
            <a:pPr marL="342900" lvl="1" indent="0">
              <a:buNone/>
            </a:pPr>
            <a:endParaRPr lang="en-AU"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E996E2A-3A9E-47D8-BDF1-5855BC6C8382}"/>
              </a:ext>
            </a:extLst>
          </p:cNvPr>
          <p:cNvPicPr>
            <a:picLocks noChangeAspect="1"/>
          </p:cNvPicPr>
          <p:nvPr/>
        </p:nvPicPr>
        <p:blipFill>
          <a:blip r:embed="rId3"/>
          <a:stretch>
            <a:fillRect/>
          </a:stretch>
        </p:blipFill>
        <p:spPr>
          <a:xfrm>
            <a:off x="700664" y="2140085"/>
            <a:ext cx="7314927" cy="3857898"/>
          </a:xfrm>
          <a:prstGeom prst="rect">
            <a:avLst/>
          </a:prstGeom>
        </p:spPr>
      </p:pic>
      <p:sp>
        <p:nvSpPr>
          <p:cNvPr id="7" name="TextBox 6">
            <a:extLst>
              <a:ext uri="{FF2B5EF4-FFF2-40B4-BE49-F238E27FC236}">
                <a16:creationId xmlns:a16="http://schemas.microsoft.com/office/drawing/2014/main" id="{59919C21-8889-4351-882B-A931BB52CE8E}"/>
              </a:ext>
            </a:extLst>
          </p:cNvPr>
          <p:cNvSpPr txBox="1"/>
          <p:nvPr/>
        </p:nvSpPr>
        <p:spPr>
          <a:xfrm>
            <a:off x="412630" y="6230350"/>
            <a:ext cx="7477288" cy="400110"/>
          </a:xfrm>
          <a:prstGeom prst="rect">
            <a:avLst/>
          </a:prstGeom>
          <a:noFill/>
        </p:spPr>
        <p:txBody>
          <a:bodyPr wrap="square">
            <a:spAutoFit/>
          </a:bodyPr>
          <a:lstStyle/>
          <a:p>
            <a:r>
              <a:rPr lang="en-AU" dirty="0">
                <a:hlinkClick r:id="rId4"/>
              </a:rPr>
              <a:t>https://zhangzhics.gitbook.io/cits5503#live-lab-assessment</a:t>
            </a:r>
            <a:endParaRPr lang="en-AU" dirty="0"/>
          </a:p>
        </p:txBody>
      </p:sp>
    </p:spTree>
    <p:extLst>
      <p:ext uri="{BB962C8B-B14F-4D97-AF65-F5344CB8AC3E}">
        <p14:creationId xmlns:p14="http://schemas.microsoft.com/office/powerpoint/2010/main" val="2700717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1A259-E50D-4EA2-90A3-5321F575131B}"/>
              </a:ext>
            </a:extLst>
          </p:cNvPr>
          <p:cNvSpPr>
            <a:spLocks noGrp="1"/>
          </p:cNvSpPr>
          <p:nvPr>
            <p:ph type="title"/>
          </p:nvPr>
        </p:nvSpPr>
        <p:spPr>
          <a:xfrm>
            <a:off x="407391" y="191498"/>
            <a:ext cx="7765322" cy="643812"/>
          </a:xfrm>
        </p:spPr>
        <p:txBody>
          <a:bodyPr/>
          <a:lstStyle/>
          <a:p>
            <a:r>
              <a:rPr lang="en-AU" b="1" dirty="0"/>
              <a:t>MS Teams</a:t>
            </a:r>
          </a:p>
        </p:txBody>
      </p:sp>
      <p:pic>
        <p:nvPicPr>
          <p:cNvPr id="4" name="Picture 3">
            <a:extLst>
              <a:ext uri="{FF2B5EF4-FFF2-40B4-BE49-F238E27FC236}">
                <a16:creationId xmlns:a16="http://schemas.microsoft.com/office/drawing/2014/main" id="{C7C4817F-64F9-4A61-8380-A182BC12AAFF}"/>
              </a:ext>
            </a:extLst>
          </p:cNvPr>
          <p:cNvPicPr>
            <a:picLocks noChangeAspect="1"/>
          </p:cNvPicPr>
          <p:nvPr/>
        </p:nvPicPr>
        <p:blipFill>
          <a:blip r:embed="rId3"/>
          <a:stretch>
            <a:fillRect/>
          </a:stretch>
        </p:blipFill>
        <p:spPr>
          <a:xfrm>
            <a:off x="407391" y="1270633"/>
            <a:ext cx="8306208" cy="2430510"/>
          </a:xfrm>
          <a:prstGeom prst="rect">
            <a:avLst/>
          </a:prstGeom>
        </p:spPr>
      </p:pic>
    </p:spTree>
    <p:extLst>
      <p:ext uri="{BB962C8B-B14F-4D97-AF65-F5344CB8AC3E}">
        <p14:creationId xmlns:p14="http://schemas.microsoft.com/office/powerpoint/2010/main" val="462365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352833" y="349712"/>
            <a:ext cx="5011647" cy="942975"/>
          </a:xfrm>
        </p:spPr>
        <p:txBody>
          <a:bodyPr/>
          <a:lstStyle/>
          <a:p>
            <a:r>
              <a:rPr lang="en-AU" b="1" dirty="0"/>
              <a:t>Lab Computer</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352833" y="1292687"/>
            <a:ext cx="8624912" cy="3981222"/>
          </a:xfrm>
        </p:spPr>
        <p:txBody>
          <a:bodyPr>
            <a:normAutofit/>
          </a:bodyPr>
          <a:lstStyle/>
          <a:p>
            <a:r>
              <a:rPr lang="en-AU" dirty="0">
                <a:cs typeface="Arial" panose="020B0604020202020204" pitchFamily="34" charset="0"/>
              </a:rPr>
              <a:t>The labs are related to Unix-like </a:t>
            </a:r>
            <a:r>
              <a:rPr lang="en-US" dirty="0">
                <a:cs typeface="Arial" panose="020B0604020202020204" pitchFamily="34" charset="0"/>
              </a:rPr>
              <a:t>OS.</a:t>
            </a:r>
            <a:endParaRPr lang="en-AU" dirty="0">
              <a:cs typeface="Arial" panose="020B0604020202020204" pitchFamily="34" charset="0"/>
            </a:endParaRPr>
          </a:p>
          <a:p>
            <a:r>
              <a:rPr lang="en-AU" dirty="0">
                <a:cs typeface="Arial" panose="020B0604020202020204" pitchFamily="34" charset="0"/>
              </a:rPr>
              <a:t>If you do not have a laptop that is capable of running the labs, you can arrange to borrow one from the university.</a:t>
            </a:r>
            <a:endParaRPr lang="en-AU" dirty="0">
              <a:solidFill>
                <a:schemeClr val="accent6"/>
              </a:solidFill>
              <a:cs typeface="Arial" panose="020B0604020202020204" pitchFamily="34" charset="0"/>
            </a:endParaRPr>
          </a:p>
          <a:p>
            <a:r>
              <a:rPr lang="en-AU" dirty="0">
                <a:cs typeface="Arial" panose="020B0604020202020204" pitchFamily="34" charset="0"/>
              </a:rPr>
              <a:t>Else – invest in a decent laptop.</a:t>
            </a:r>
          </a:p>
          <a:p>
            <a:r>
              <a:rPr lang="en-AU" dirty="0">
                <a:cs typeface="Arial" panose="020B0604020202020204" pitchFamily="34" charset="0"/>
              </a:rPr>
              <a:t>If none of these options are available to you, please come and chat with me.</a:t>
            </a:r>
          </a:p>
        </p:txBody>
      </p:sp>
    </p:spTree>
    <p:extLst>
      <p:ext uri="{BB962C8B-B14F-4D97-AF65-F5344CB8AC3E}">
        <p14:creationId xmlns:p14="http://schemas.microsoft.com/office/powerpoint/2010/main" val="1469224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237477" y="0"/>
            <a:ext cx="4969004" cy="839755"/>
          </a:xfrm>
        </p:spPr>
        <p:txBody>
          <a:bodyPr/>
          <a:lstStyle/>
          <a:p>
            <a:r>
              <a:rPr lang="en-AU" b="1" dirty="0"/>
              <a:t>Lab Assessment</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237477" y="839755"/>
            <a:ext cx="8328025" cy="2137361"/>
          </a:xfrm>
        </p:spPr>
        <p:txBody>
          <a:bodyPr>
            <a:noAutofit/>
          </a:bodyPr>
          <a:lstStyle/>
          <a:p>
            <a:r>
              <a:rPr lang="en-AU" sz="2400" dirty="0">
                <a:cs typeface="Arial" panose="020B0604020202020204" pitchFamily="34" charset="0"/>
              </a:rPr>
              <a:t>Labs are worth 20% of the unit grade (i.e., 20 marks in total).</a:t>
            </a:r>
          </a:p>
          <a:p>
            <a:r>
              <a:rPr lang="en-AU" sz="2400" dirty="0">
                <a:cs typeface="Arial" panose="020B0604020202020204" pitchFamily="34" charset="0"/>
              </a:rPr>
              <a:t>9 labs in total: Each lab in labs 1-7 is worth 2 marks and each lab in labs 8-9 is worth 3 marks. </a:t>
            </a:r>
            <a:endParaRPr lang="en-AU" sz="2400"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endParaRPr>
          </a:p>
          <a:p>
            <a:pPr marL="0" indent="0">
              <a:buNone/>
            </a:pPr>
            <a:endParaRPr lang="en-AU" sz="2400" b="0" i="0" dirty="0">
              <a:solidFill>
                <a:srgbClr val="1F2328"/>
              </a:solidFill>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37980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237477" y="0"/>
            <a:ext cx="4969004" cy="839755"/>
          </a:xfrm>
        </p:spPr>
        <p:txBody>
          <a:bodyPr/>
          <a:lstStyle/>
          <a:p>
            <a:r>
              <a:rPr lang="en-AU" b="1" dirty="0"/>
              <a:t>Lab Assessment</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237476" y="839755"/>
            <a:ext cx="8906523" cy="3301939"/>
          </a:xfrm>
        </p:spPr>
        <p:txBody>
          <a:bodyPr>
            <a:noAutofit/>
          </a:bodyPr>
          <a:lstStyle/>
          <a:p>
            <a:pPr>
              <a:lnSpc>
                <a:spcPct val="100000"/>
              </a:lnSpc>
            </a:pPr>
            <a:r>
              <a:rPr lang="en-US" sz="2400" dirty="0"/>
              <a:t>Lab facilitator will mark each lab in person during a lab session, known as </a:t>
            </a:r>
            <a:r>
              <a:rPr lang="en-US" sz="2400" dirty="0">
                <a:solidFill>
                  <a:srgbClr val="FF0000"/>
                </a:solidFill>
              </a:rPr>
              <a:t>live lab assessment</a:t>
            </a:r>
            <a:r>
              <a:rPr lang="en-US" sz="2400" dirty="0"/>
              <a:t>:</a:t>
            </a:r>
          </a:p>
          <a:p>
            <a:pPr lvl="1">
              <a:lnSpc>
                <a:spcPct val="100000"/>
              </a:lnSpc>
              <a:buFont typeface="Wingdings" panose="05000000000000000000" pitchFamily="2" charset="2"/>
              <a:buChar char="Ø"/>
            </a:pPr>
            <a:r>
              <a:rPr lang="en-US" sz="2400" b="1" i="0" dirty="0">
                <a:solidFill>
                  <a:srgbClr val="1C1D1F"/>
                </a:solidFill>
                <a:effectLst/>
                <a:latin typeface="Inter"/>
              </a:rPr>
              <a:t>Each lab contains a few checkpoints.</a:t>
            </a:r>
            <a:endParaRPr lang="en-US" sz="2200" b="1" i="0" u="none" strike="noStrike" dirty="0">
              <a:solidFill>
                <a:srgbClr val="000000"/>
              </a:solidFill>
              <a:effectLst/>
            </a:endParaRPr>
          </a:p>
          <a:p>
            <a:pPr lvl="1">
              <a:lnSpc>
                <a:spcPct val="100000"/>
              </a:lnSpc>
              <a:buFont typeface="Wingdings" panose="05000000000000000000" pitchFamily="2" charset="2"/>
              <a:buChar char="Ø"/>
            </a:pPr>
            <a:r>
              <a:rPr lang="en-US" sz="2400" b="1" i="0" dirty="0">
                <a:solidFill>
                  <a:srgbClr val="1C1D1F"/>
                </a:solidFill>
                <a:effectLst/>
                <a:latin typeface="Inter"/>
              </a:rPr>
              <a:t>Each checkpoint has an assigned value and is assessed on a binary basis</a:t>
            </a:r>
            <a:r>
              <a:rPr lang="en-US" sz="2200" b="1" i="0" u="none" strike="noStrike" dirty="0">
                <a:solidFill>
                  <a:srgbClr val="000000"/>
                </a:solidFill>
                <a:effectLst/>
              </a:rPr>
              <a:t>.</a:t>
            </a:r>
          </a:p>
          <a:p>
            <a:pPr>
              <a:lnSpc>
                <a:spcPct val="100000"/>
              </a:lnSpc>
            </a:pPr>
            <a:endParaRPr lang="en-US" sz="2200" dirty="0"/>
          </a:p>
          <a:p>
            <a:pPr marL="342900" lvl="1" indent="0">
              <a:lnSpc>
                <a:spcPct val="100000"/>
              </a:lnSpc>
              <a:buNone/>
            </a:pPr>
            <a:endParaRPr lang="en-US" sz="2200" b="0" i="0" u="none" strike="noStrike" dirty="0">
              <a:solidFill>
                <a:srgbClr val="000000"/>
              </a:solidFill>
              <a:effectLst/>
            </a:endParaRPr>
          </a:p>
        </p:txBody>
      </p:sp>
    </p:spTree>
    <p:extLst>
      <p:ext uri="{BB962C8B-B14F-4D97-AF65-F5344CB8AC3E}">
        <p14:creationId xmlns:p14="http://schemas.microsoft.com/office/powerpoint/2010/main" val="1764816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237477" y="0"/>
            <a:ext cx="4969004" cy="839755"/>
          </a:xfrm>
        </p:spPr>
        <p:txBody>
          <a:bodyPr/>
          <a:lstStyle/>
          <a:p>
            <a:r>
              <a:rPr lang="en-AU" b="1" dirty="0"/>
              <a:t>Lab Assessment</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237476" y="839755"/>
            <a:ext cx="8906523" cy="3301939"/>
          </a:xfrm>
        </p:spPr>
        <p:txBody>
          <a:bodyPr>
            <a:noAutofit/>
          </a:bodyPr>
          <a:lstStyle/>
          <a:p>
            <a:pPr>
              <a:lnSpc>
                <a:spcPct val="100000"/>
              </a:lnSpc>
            </a:pPr>
            <a:r>
              <a:rPr lang="en-US" sz="2400" dirty="0"/>
              <a:t>Lab facilitator will mark each lab in person during a lab session, known as </a:t>
            </a:r>
            <a:r>
              <a:rPr lang="en-US" sz="2400" dirty="0">
                <a:solidFill>
                  <a:srgbClr val="FF0000"/>
                </a:solidFill>
              </a:rPr>
              <a:t>live lab assessment</a:t>
            </a:r>
            <a:r>
              <a:rPr lang="en-US" sz="2400" dirty="0"/>
              <a:t>:</a:t>
            </a:r>
          </a:p>
          <a:p>
            <a:pPr lvl="1">
              <a:lnSpc>
                <a:spcPct val="100000"/>
              </a:lnSpc>
              <a:buFont typeface="Wingdings" panose="05000000000000000000" pitchFamily="2" charset="2"/>
              <a:buChar char="Ø"/>
            </a:pPr>
            <a:r>
              <a:rPr lang="en-US" sz="2400" b="0" i="0" dirty="0">
                <a:solidFill>
                  <a:srgbClr val="1C1D1F"/>
                </a:solidFill>
                <a:effectLst/>
                <a:latin typeface="Inter"/>
              </a:rPr>
              <a:t>Each lab contains a few checkpoints.</a:t>
            </a:r>
            <a:endParaRPr lang="en-US" sz="2200" b="0" i="0" u="none" strike="noStrike" dirty="0">
              <a:solidFill>
                <a:srgbClr val="000000"/>
              </a:solidFill>
              <a:effectLst/>
            </a:endParaRPr>
          </a:p>
          <a:p>
            <a:pPr lvl="1">
              <a:lnSpc>
                <a:spcPct val="100000"/>
              </a:lnSpc>
              <a:buFont typeface="Wingdings" panose="05000000000000000000" pitchFamily="2" charset="2"/>
              <a:buChar char="Ø"/>
            </a:pPr>
            <a:r>
              <a:rPr lang="en-US" sz="2400" b="0" i="0" dirty="0">
                <a:solidFill>
                  <a:srgbClr val="1C1D1F"/>
                </a:solidFill>
                <a:effectLst/>
                <a:latin typeface="Inter"/>
              </a:rPr>
              <a:t>Each checkpoint has an assigned value and is assessed on a binary basis</a:t>
            </a:r>
            <a:r>
              <a:rPr lang="en-US" sz="2200" b="0" i="0" u="none" strike="noStrike" dirty="0">
                <a:solidFill>
                  <a:srgbClr val="000000"/>
                </a:solidFill>
                <a:effectLst/>
              </a:rPr>
              <a:t>.</a:t>
            </a:r>
          </a:p>
          <a:p>
            <a:pPr lvl="1">
              <a:lnSpc>
                <a:spcPct val="100000"/>
              </a:lnSpc>
              <a:buFont typeface="Wingdings" panose="05000000000000000000" pitchFamily="2" charset="2"/>
              <a:buChar char="Ø"/>
            </a:pPr>
            <a:r>
              <a:rPr lang="en-US" sz="2400" b="1" dirty="0">
                <a:solidFill>
                  <a:srgbClr val="1C1D1F"/>
                </a:solidFill>
                <a:latin typeface="Inter"/>
              </a:rPr>
              <a:t>Demonstrate each checkpoint of a lab live to a lab facilitator.</a:t>
            </a:r>
          </a:p>
          <a:p>
            <a:pPr lvl="1">
              <a:lnSpc>
                <a:spcPct val="100000"/>
              </a:lnSpc>
              <a:buFont typeface="Wingdings" panose="05000000000000000000" pitchFamily="2" charset="2"/>
              <a:buChar char="Ø"/>
            </a:pPr>
            <a:r>
              <a:rPr lang="en-US" sz="2400" b="1" dirty="0">
                <a:solidFill>
                  <a:srgbClr val="1C1D1F"/>
                </a:solidFill>
                <a:latin typeface="Inter"/>
              </a:rPr>
              <a:t>For each demonstration, one student covers the checkpoints for one lab ONLY. So this should take no more than a few minutes.</a:t>
            </a:r>
          </a:p>
          <a:p>
            <a:pPr>
              <a:lnSpc>
                <a:spcPct val="100000"/>
              </a:lnSpc>
            </a:pPr>
            <a:endParaRPr lang="en-US" sz="2200" dirty="0"/>
          </a:p>
          <a:p>
            <a:pPr>
              <a:lnSpc>
                <a:spcPct val="100000"/>
              </a:lnSpc>
            </a:pPr>
            <a:r>
              <a:rPr lang="en-US" sz="2400" dirty="0"/>
              <a:t>More details about </a:t>
            </a:r>
            <a:r>
              <a:rPr lang="en-US" sz="2400" dirty="0">
                <a:solidFill>
                  <a:srgbClr val="FF0000"/>
                </a:solidFill>
              </a:rPr>
              <a:t>lab due dates </a:t>
            </a:r>
            <a:r>
              <a:rPr lang="en-US" sz="2400" dirty="0"/>
              <a:t>and</a:t>
            </a:r>
            <a:r>
              <a:rPr lang="en-US" sz="2400" dirty="0">
                <a:solidFill>
                  <a:srgbClr val="FF0000"/>
                </a:solidFill>
              </a:rPr>
              <a:t> live lab assessment </a:t>
            </a:r>
            <a:r>
              <a:rPr lang="en-US" sz="2400" dirty="0"/>
              <a:t>will come in </a:t>
            </a:r>
            <a:r>
              <a:rPr lang="en-US" sz="2400" dirty="0">
                <a:solidFill>
                  <a:srgbClr val="FF0000"/>
                </a:solidFill>
              </a:rPr>
              <a:t>Week 2.</a:t>
            </a:r>
            <a:r>
              <a:rPr lang="en-US" sz="2400" dirty="0"/>
              <a:t> </a:t>
            </a:r>
          </a:p>
          <a:p>
            <a:pPr marL="342900" lvl="1" indent="0">
              <a:lnSpc>
                <a:spcPct val="100000"/>
              </a:lnSpc>
              <a:buNone/>
            </a:pPr>
            <a:endParaRPr lang="en-US" sz="2200" b="0" i="0" u="none" strike="noStrike" dirty="0">
              <a:solidFill>
                <a:srgbClr val="000000"/>
              </a:solidFill>
              <a:effectLst/>
            </a:endParaRPr>
          </a:p>
        </p:txBody>
      </p:sp>
    </p:spTree>
    <p:extLst>
      <p:ext uri="{BB962C8B-B14F-4D97-AF65-F5344CB8AC3E}">
        <p14:creationId xmlns:p14="http://schemas.microsoft.com/office/powerpoint/2010/main" val="3249992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E7FC-13D5-D64F-970D-EE15EF0A474C}"/>
              </a:ext>
            </a:extLst>
          </p:cNvPr>
          <p:cNvSpPr>
            <a:spLocks noGrp="1"/>
          </p:cNvSpPr>
          <p:nvPr>
            <p:ph type="title"/>
          </p:nvPr>
        </p:nvSpPr>
        <p:spPr>
          <a:xfrm>
            <a:off x="377190" y="223520"/>
            <a:ext cx="7886700" cy="915034"/>
          </a:xfrm>
        </p:spPr>
        <p:txBody>
          <a:bodyPr/>
          <a:lstStyle/>
          <a:p>
            <a:r>
              <a:rPr lang="en-AU" b="1" dirty="0"/>
              <a:t>Other Assessments</a:t>
            </a:r>
          </a:p>
        </p:txBody>
      </p:sp>
      <p:sp>
        <p:nvSpPr>
          <p:cNvPr id="3" name="Content Placeholder 2">
            <a:extLst>
              <a:ext uri="{FF2B5EF4-FFF2-40B4-BE49-F238E27FC236}">
                <a16:creationId xmlns:a16="http://schemas.microsoft.com/office/drawing/2014/main" id="{D414E03A-E6FC-764F-9D80-282B98177B8B}"/>
              </a:ext>
            </a:extLst>
          </p:cNvPr>
          <p:cNvSpPr>
            <a:spLocks noGrp="1"/>
          </p:cNvSpPr>
          <p:nvPr>
            <p:ph idx="1"/>
          </p:nvPr>
        </p:nvSpPr>
        <p:spPr>
          <a:xfrm>
            <a:off x="377189" y="1253331"/>
            <a:ext cx="8444081" cy="4351338"/>
          </a:xfrm>
        </p:spPr>
        <p:txBody>
          <a:bodyPr>
            <a:normAutofit/>
          </a:bodyPr>
          <a:lstStyle/>
          <a:p>
            <a:r>
              <a:rPr lang="en-AU" sz="2000" dirty="0">
                <a:cs typeface="Arial" panose="020B0604020202020204" pitchFamily="34" charset="0"/>
              </a:rPr>
              <a:t>Mid-semester test is scheduled in </a:t>
            </a:r>
            <a:r>
              <a:rPr lang="en-AU" sz="2000" dirty="0">
                <a:solidFill>
                  <a:srgbClr val="FF0000"/>
                </a:solidFill>
                <a:cs typeface="Arial" panose="020B0604020202020204" pitchFamily="34" charset="0"/>
              </a:rPr>
              <a:t>Week 6</a:t>
            </a:r>
            <a:r>
              <a:rPr lang="en-AU" sz="2000" dirty="0">
                <a:cs typeface="Arial" panose="020B0604020202020204" pitchFamily="34" charset="0"/>
              </a:rPr>
              <a:t>. </a:t>
            </a:r>
          </a:p>
          <a:p>
            <a:pPr lvl="1"/>
            <a:r>
              <a:rPr lang="en-AU" sz="2000" dirty="0">
                <a:cs typeface="Arial" panose="020B0604020202020204" pitchFamily="34" charset="0"/>
              </a:rPr>
              <a:t>Mid-semester test is worth 20% of the unit grade (more details later)</a:t>
            </a:r>
          </a:p>
          <a:p>
            <a:r>
              <a:rPr lang="en-AU" sz="2000" dirty="0">
                <a:cs typeface="Arial" panose="020B0604020202020204" pitchFamily="34" charset="0"/>
              </a:rPr>
              <a:t>Final Exam</a:t>
            </a:r>
            <a:r>
              <a:rPr lang="en-AU" sz="2000">
                <a:cs typeface="Arial" panose="020B0604020202020204" pitchFamily="34" charset="0"/>
              </a:rPr>
              <a:t>: 60</a:t>
            </a:r>
            <a:r>
              <a:rPr lang="en-AU" sz="2000" dirty="0">
                <a:cs typeface="Arial" panose="020B0604020202020204" pitchFamily="34" charset="0"/>
              </a:rPr>
              <a:t>% of the unit grade.</a:t>
            </a:r>
          </a:p>
          <a:p>
            <a:pPr lvl="1"/>
            <a:r>
              <a:rPr lang="en-AU" sz="2000" dirty="0">
                <a:cs typeface="Arial" panose="020B0604020202020204" pitchFamily="34" charset="0"/>
              </a:rPr>
              <a:t>Exam overview will be done in </a:t>
            </a:r>
            <a:r>
              <a:rPr lang="en-AU" sz="2000" dirty="0">
                <a:solidFill>
                  <a:srgbClr val="FF0000"/>
                </a:solidFill>
                <a:cs typeface="Arial" panose="020B0604020202020204" pitchFamily="34" charset="0"/>
              </a:rPr>
              <a:t>Week 11 or 12</a:t>
            </a:r>
            <a:r>
              <a:rPr lang="en-AU" sz="2000" dirty="0">
                <a:cs typeface="Arial" panose="020B0604020202020204" pitchFamily="34" charset="0"/>
              </a:rPr>
              <a:t>.</a:t>
            </a:r>
          </a:p>
          <a:p>
            <a:pPr marL="342900" lvl="1" indent="0">
              <a:buNone/>
            </a:pPr>
            <a:endParaRPr lang="en-AU" sz="2000" dirty="0">
              <a:cs typeface="Arial" panose="020B0604020202020204" pitchFamily="34" charset="0"/>
            </a:endParaRPr>
          </a:p>
          <a:p>
            <a:pPr marL="342900" lvl="1" indent="0">
              <a:buNone/>
            </a:pPr>
            <a:endParaRPr lang="en-AU" dirty="0">
              <a:cs typeface="Arial" panose="020B0604020202020204" pitchFamily="34" charset="0"/>
            </a:endParaRPr>
          </a:p>
        </p:txBody>
      </p:sp>
    </p:spTree>
    <p:extLst>
      <p:ext uri="{BB962C8B-B14F-4D97-AF65-F5344CB8AC3E}">
        <p14:creationId xmlns:p14="http://schemas.microsoft.com/office/powerpoint/2010/main" val="1892611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315C7D-E5E2-4025-98AD-B4A66ECC32C4}"/>
              </a:ext>
            </a:extLst>
          </p:cNvPr>
          <p:cNvSpPr>
            <a:spLocks noGrp="1"/>
          </p:cNvSpPr>
          <p:nvPr>
            <p:ph idx="1"/>
          </p:nvPr>
        </p:nvSpPr>
        <p:spPr>
          <a:xfrm>
            <a:off x="228373" y="1154406"/>
            <a:ext cx="8687254" cy="3661434"/>
          </a:xfrm>
        </p:spPr>
        <p:txBody>
          <a:bodyPr>
            <a:normAutofit/>
          </a:bodyPr>
          <a:lstStyle/>
          <a:p>
            <a:r>
              <a:rPr lang="en-US" dirty="0">
                <a:latin typeface="Arial" panose="020B0604020202020204" pitchFamily="34" charset="0"/>
                <a:cs typeface="Arial" panose="020B0604020202020204" pitchFamily="34" charset="0"/>
              </a:rPr>
              <a:t>AI tools are allowed in a limited way (UWA Tier 2: AI assistance) </a:t>
            </a:r>
          </a:p>
          <a:p>
            <a:pPr lvl="1"/>
            <a:r>
              <a:rPr lang="en-AU" b="0" i="0" u="none" strike="noStrike" dirty="0">
                <a:solidFill>
                  <a:srgbClr val="92D050"/>
                </a:solidFill>
                <a:effectLst/>
                <a:latin typeface="Roboto" panose="02000000000000000000" pitchFamily="2" charset="0"/>
              </a:rPr>
              <a:t>https://www.uwa.edu.au/students/-/media/project/uwa/uwa/students/academic-support/using-artificial-intelligence-tools-at-uwa---a-guide-for-students-%282026%29.pdf</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Do not use AI tools during live lab assessment, mid-semester test and final exam. </a:t>
            </a:r>
          </a:p>
          <a:p>
            <a:r>
              <a:rPr lang="en-US" dirty="0">
                <a:latin typeface="Arial" panose="020B0604020202020204" pitchFamily="34" charset="0"/>
                <a:cs typeface="Arial" panose="020B0604020202020204" pitchFamily="34" charset="0"/>
              </a:rPr>
              <a:t>Do not enter your personal data into AI tools. </a:t>
            </a:r>
          </a:p>
          <a:p>
            <a:r>
              <a:rPr lang="en-US" dirty="0">
                <a:latin typeface="Arial" panose="020B0604020202020204" pitchFamily="34" charset="0"/>
                <a:cs typeface="Arial" panose="020B0604020202020204" pitchFamily="34" charset="0"/>
              </a:rPr>
              <a:t>Do not upload copyrighted materials (e.g., lecture slides) into AI tools.</a:t>
            </a:r>
          </a:p>
          <a:p>
            <a:r>
              <a:rPr lang="en-US" dirty="0">
                <a:latin typeface="Arial" panose="020B0604020202020204" pitchFamily="34" charset="0"/>
                <a:cs typeface="Arial" panose="020B0604020202020204" pitchFamily="34" charset="0"/>
              </a:rPr>
              <a:t>Do not use </a:t>
            </a:r>
            <a:r>
              <a:rPr lang="en-US" dirty="0" err="1">
                <a:latin typeface="Arial" panose="020B0604020202020204" pitchFamily="34" charset="0"/>
                <a:cs typeface="Arial" panose="020B0604020202020204" pitchFamily="34" charset="0"/>
              </a:rPr>
              <a:t>DeepSeek</a:t>
            </a:r>
            <a:r>
              <a:rPr lang="en-US" dirty="0">
                <a:latin typeface="Arial" panose="020B0604020202020204" pitchFamily="34" charset="0"/>
                <a:cs typeface="Arial" panose="020B0604020202020204" pitchFamily="34" charset="0"/>
              </a:rPr>
              <a:t>, which has been banned by The Department of Home Affairs.</a:t>
            </a:r>
            <a:endParaRPr lang="en-AU"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32ABBB1F-3637-4C35-9CC5-3FAE37D5D5B7}"/>
              </a:ext>
            </a:extLst>
          </p:cNvPr>
          <p:cNvSpPr txBox="1">
            <a:spLocks/>
          </p:cNvSpPr>
          <p:nvPr/>
        </p:nvSpPr>
        <p:spPr>
          <a:xfrm>
            <a:off x="456746" y="104062"/>
            <a:ext cx="2543629" cy="78311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buClrTx/>
              <a:buSzTx/>
              <a:buFontTx/>
            </a:pPr>
            <a:r>
              <a:rPr lang="en-AU" b="1" dirty="0"/>
              <a:t>Use of AI</a:t>
            </a:r>
          </a:p>
        </p:txBody>
      </p:sp>
    </p:spTree>
    <p:extLst>
      <p:ext uri="{BB962C8B-B14F-4D97-AF65-F5344CB8AC3E}">
        <p14:creationId xmlns:p14="http://schemas.microsoft.com/office/powerpoint/2010/main" val="2590195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746" y="104062"/>
            <a:ext cx="2543629" cy="783112"/>
          </a:xfrm>
        </p:spPr>
        <p:txBody>
          <a:bodyPr/>
          <a:lstStyle/>
          <a:p>
            <a:r>
              <a:rPr lang="en-AU" b="1" dirty="0"/>
              <a:t>Enquiries</a:t>
            </a:r>
          </a:p>
        </p:txBody>
      </p:sp>
      <p:sp>
        <p:nvSpPr>
          <p:cNvPr id="3" name="Content Placeholder 2"/>
          <p:cNvSpPr>
            <a:spLocks noGrp="1"/>
          </p:cNvSpPr>
          <p:nvPr>
            <p:ph idx="1"/>
          </p:nvPr>
        </p:nvSpPr>
        <p:spPr>
          <a:xfrm>
            <a:off x="456746" y="887174"/>
            <a:ext cx="8230508" cy="3871160"/>
          </a:xfrm>
        </p:spPr>
        <p:txBody>
          <a:bodyPr>
            <a:normAutofit/>
          </a:bodyPr>
          <a:lstStyle/>
          <a:p>
            <a:pPr lvl="1"/>
            <a:endParaRPr lang="en-AU" dirty="0">
              <a:latin typeface="Arial" panose="020B0604020202020204" pitchFamily="34" charset="0"/>
              <a:cs typeface="Arial" panose="020B0604020202020204" pitchFamily="34" charset="0"/>
            </a:endParaRPr>
          </a:p>
          <a:p>
            <a:r>
              <a:rPr lang="en-AU" sz="2000" dirty="0">
                <a:cs typeface="Arial" panose="020B0604020202020204" pitchFamily="34" charset="0"/>
              </a:rPr>
              <a:t>Office hours</a:t>
            </a:r>
          </a:p>
          <a:p>
            <a:pPr lvl="1"/>
            <a:r>
              <a:rPr lang="en-AU" sz="2000" dirty="0">
                <a:cs typeface="Arial" panose="020B0604020202020204" pitchFamily="34" charset="0"/>
              </a:rPr>
              <a:t>Maybe Friday 12 – 2pm (F2F and virtual) -&gt; this is just an arbitrary slot</a:t>
            </a:r>
          </a:p>
          <a:p>
            <a:pPr lvl="1"/>
            <a:r>
              <a:rPr lang="en-AU" sz="2000" dirty="0">
                <a:cs typeface="Arial" panose="020B0604020202020204" pitchFamily="34" charset="0"/>
              </a:rPr>
              <a:t>Other times can be arranged too (email </a:t>
            </a:r>
            <a:r>
              <a:rPr lang="en-AU" sz="2000" dirty="0">
                <a:solidFill>
                  <a:schemeClr val="accent6"/>
                </a:solidFill>
                <a:cs typeface="Arial" panose="020B0604020202020204" pitchFamily="34" charset="0"/>
              </a:rPr>
              <a:t>cits5503-pmc@uwa.edu.au</a:t>
            </a:r>
            <a:r>
              <a:rPr lang="en-AU" sz="2000" dirty="0">
                <a:cs typeface="Arial" panose="020B0604020202020204" pitchFamily="34" charset="0"/>
              </a:rPr>
              <a:t>) </a:t>
            </a:r>
          </a:p>
          <a:p>
            <a:pPr lvl="1"/>
            <a:endParaRPr lang="en-AU" sz="2000" dirty="0">
              <a:cs typeface="Arial" panose="020B0604020202020204" pitchFamily="34" charset="0"/>
            </a:endParaRPr>
          </a:p>
          <a:p>
            <a:r>
              <a:rPr lang="en-AU" sz="2000" dirty="0">
                <a:cs typeface="Arial" panose="020B0604020202020204" pitchFamily="34" charset="0"/>
              </a:rPr>
              <a:t>Lab Enquiries</a:t>
            </a:r>
          </a:p>
          <a:p>
            <a:pPr lvl="2"/>
            <a:r>
              <a:rPr lang="en-US" sz="2000" dirty="0">
                <a:cs typeface="Arial" panose="020B0604020202020204" pitchFamily="34" charset="0"/>
              </a:rPr>
              <a:t>Ask on Teams (but remember not to share code/commands/answers)</a:t>
            </a:r>
            <a:endParaRPr lang="en-AU" sz="2000" dirty="0">
              <a:cs typeface="Arial" panose="020B0604020202020204" pitchFamily="34" charset="0"/>
            </a:endParaRPr>
          </a:p>
          <a:p>
            <a:pPr lvl="2"/>
            <a:r>
              <a:rPr lang="en-AU" sz="2000" dirty="0">
                <a:cs typeface="Arial" panose="020B0604020202020204" pitchFamily="34" charset="0"/>
              </a:rPr>
              <a:t>Ask during the lab session</a:t>
            </a:r>
          </a:p>
          <a:p>
            <a:pPr lvl="2"/>
            <a:r>
              <a:rPr lang="en-AU" sz="2000" dirty="0">
                <a:cs typeface="Arial" panose="020B0604020202020204" pitchFamily="34" charset="0"/>
              </a:rPr>
              <a:t>If all fails, email us</a:t>
            </a:r>
          </a:p>
          <a:p>
            <a:pPr lvl="2"/>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5377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Title 1"/>
          <p:cNvSpPr txBox="1">
            <a:spLocks noGrp="1"/>
          </p:cNvSpPr>
          <p:nvPr>
            <p:ph type="title"/>
          </p:nvPr>
        </p:nvSpPr>
        <p:spPr>
          <a:xfrm>
            <a:off x="329800" y="134422"/>
            <a:ext cx="4636524" cy="994172"/>
          </a:xfrm>
          <a:prstGeom prst="rect">
            <a:avLst/>
          </a:prstGeom>
        </p:spPr>
        <p:txBody>
          <a:bodyPr/>
          <a:lstStyle/>
          <a:p>
            <a:r>
              <a:rPr b="1" dirty="0"/>
              <a:t>What is cloud computing?</a:t>
            </a:r>
          </a:p>
        </p:txBody>
      </p:sp>
      <p:pic>
        <p:nvPicPr>
          <p:cNvPr id="408" name="Content Placeholder 5" descr="Content Placeholder 5"/>
          <p:cNvPicPr>
            <a:picLocks noChangeAspect="1"/>
          </p:cNvPicPr>
          <p:nvPr/>
        </p:nvPicPr>
        <p:blipFill>
          <a:blip r:embed="rId3"/>
          <a:stretch>
            <a:fillRect/>
          </a:stretch>
        </p:blipFill>
        <p:spPr>
          <a:xfrm>
            <a:off x="750610" y="1754515"/>
            <a:ext cx="7642780" cy="2374722"/>
          </a:xfrm>
          <a:prstGeom prst="rect">
            <a:avLst/>
          </a:prstGeom>
          <a:ln w="12700">
            <a:miter lim="400000"/>
          </a:ln>
        </p:spPr>
      </p:pic>
      <p:sp>
        <p:nvSpPr>
          <p:cNvPr id="410" name="TextBox 6"/>
          <p:cNvSpPr txBox="1"/>
          <p:nvPr/>
        </p:nvSpPr>
        <p:spPr>
          <a:xfrm>
            <a:off x="167568" y="6538912"/>
            <a:ext cx="1467066"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lvl1pPr>
              <a:spcBef>
                <a:spcPts val="100"/>
              </a:spcBef>
              <a:defRPr sz="800">
                <a:latin typeface="Tahoma"/>
                <a:ea typeface="Tahoma"/>
                <a:cs typeface="Tahoma"/>
                <a:sym typeface="Tahoma"/>
              </a:defRPr>
            </a:lvl1pPr>
          </a:lstStyle>
          <a:p>
            <a:r>
              <a:rPr sz="600"/>
              <a:t>http://www.dilbert.com/fast/2013-06-29/</a:t>
            </a:r>
          </a:p>
        </p:txBody>
      </p:sp>
    </p:spTree>
    <p:extLst>
      <p:ext uri="{BB962C8B-B14F-4D97-AF65-F5344CB8AC3E}">
        <p14:creationId xmlns:p14="http://schemas.microsoft.com/office/powerpoint/2010/main" val="27253298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1F22B7-546E-4A9B-9D8B-0B01990D33CA}"/>
              </a:ext>
            </a:extLst>
          </p:cNvPr>
          <p:cNvPicPr>
            <a:picLocks noChangeAspect="1"/>
          </p:cNvPicPr>
          <p:nvPr/>
        </p:nvPicPr>
        <p:blipFill>
          <a:blip r:embed="rId3"/>
          <a:stretch>
            <a:fillRect/>
          </a:stretch>
        </p:blipFill>
        <p:spPr>
          <a:xfrm>
            <a:off x="1404599" y="1498597"/>
            <a:ext cx="6016460" cy="4128478"/>
          </a:xfrm>
          <a:prstGeom prst="rect">
            <a:avLst/>
          </a:prstGeom>
        </p:spPr>
      </p:pic>
      <p:pic>
        <p:nvPicPr>
          <p:cNvPr id="8" name="Picture 7">
            <a:extLst>
              <a:ext uri="{FF2B5EF4-FFF2-40B4-BE49-F238E27FC236}">
                <a16:creationId xmlns:a16="http://schemas.microsoft.com/office/drawing/2014/main" id="{17882529-B2A3-4E73-BA56-A90E29A4CA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7423" y="1364761"/>
            <a:ext cx="6330812" cy="4262314"/>
          </a:xfrm>
          <a:prstGeom prst="rect">
            <a:avLst/>
          </a:prstGeom>
        </p:spPr>
      </p:pic>
      <p:sp>
        <p:nvSpPr>
          <p:cNvPr id="2" name="Title 1"/>
          <p:cNvSpPr>
            <a:spLocks noGrp="1"/>
          </p:cNvSpPr>
          <p:nvPr>
            <p:ph type="title"/>
          </p:nvPr>
        </p:nvSpPr>
        <p:spPr>
          <a:xfrm>
            <a:off x="259373" y="289599"/>
            <a:ext cx="7886700" cy="781999"/>
          </a:xfrm>
        </p:spPr>
        <p:txBody>
          <a:bodyPr/>
          <a:lstStyle/>
          <a:p>
            <a:r>
              <a:rPr lang="en-US" b="1" dirty="0"/>
              <a:t>Cloud Services</a:t>
            </a:r>
          </a:p>
        </p:txBody>
      </p:sp>
      <p:pic>
        <p:nvPicPr>
          <p:cNvPr id="7" name="Picture 6">
            <a:extLst>
              <a:ext uri="{FF2B5EF4-FFF2-40B4-BE49-F238E27FC236}">
                <a16:creationId xmlns:a16="http://schemas.microsoft.com/office/drawing/2014/main" id="{96EB42F0-A539-C547-AED4-93805EC78C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7422" y="1230926"/>
            <a:ext cx="6339941" cy="4767538"/>
          </a:xfrm>
          <a:prstGeom prst="rect">
            <a:avLst/>
          </a:prstGeom>
        </p:spPr>
      </p:pic>
      <p:sp>
        <p:nvSpPr>
          <p:cNvPr id="3" name="AutoShape 2" descr="Google Home Air Conditioning Control - AirTouch">
            <a:extLst>
              <a:ext uri="{FF2B5EF4-FFF2-40B4-BE49-F238E27FC236}">
                <a16:creationId xmlns:a16="http://schemas.microsoft.com/office/drawing/2014/main" id="{2B3787E9-BBE0-44A8-9B40-AC03058BBABD}"/>
              </a:ext>
            </a:extLst>
          </p:cNvPr>
          <p:cNvSpPr>
            <a:spLocks noChangeAspect="1" noChangeArrowheads="1"/>
          </p:cNvSpPr>
          <p:nvPr/>
        </p:nvSpPr>
        <p:spPr bwMode="auto">
          <a:xfrm>
            <a:off x="4331677"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Tree>
    <p:extLst>
      <p:ext uri="{BB962C8B-B14F-4D97-AF65-F5344CB8AC3E}">
        <p14:creationId xmlns:p14="http://schemas.microsoft.com/office/powerpoint/2010/main" val="440253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Title 1"/>
          <p:cNvSpPr txBox="1">
            <a:spLocks noGrp="1"/>
          </p:cNvSpPr>
          <p:nvPr>
            <p:ph type="title"/>
          </p:nvPr>
        </p:nvSpPr>
        <p:spPr>
          <a:xfrm>
            <a:off x="304186" y="200693"/>
            <a:ext cx="3958098" cy="994172"/>
          </a:xfrm>
          <a:prstGeom prst="rect">
            <a:avLst/>
          </a:prstGeom>
        </p:spPr>
        <p:txBody>
          <a:bodyPr/>
          <a:lstStyle/>
          <a:p>
            <a:r>
              <a:rPr lang="en-AU" b="1" dirty="0"/>
              <a:t>Formal definition</a:t>
            </a:r>
            <a:endParaRPr b="1" dirty="0"/>
          </a:p>
        </p:txBody>
      </p:sp>
      <p:sp>
        <p:nvSpPr>
          <p:cNvPr id="418" name="Content Placeholder 2"/>
          <p:cNvSpPr txBox="1">
            <a:spLocks noGrp="1"/>
          </p:cNvSpPr>
          <p:nvPr>
            <p:ph type="body" idx="1"/>
          </p:nvPr>
        </p:nvSpPr>
        <p:spPr>
          <a:xfrm>
            <a:off x="529097" y="1381546"/>
            <a:ext cx="8344372" cy="5022745"/>
          </a:xfrm>
          <a:prstGeom prst="rect">
            <a:avLst/>
          </a:prstGeom>
        </p:spPr>
        <p:txBody>
          <a:bodyPr>
            <a:normAutofit/>
          </a:bodyPr>
          <a:lstStyle/>
          <a:p>
            <a:pPr>
              <a:lnSpc>
                <a:spcPct val="81000"/>
              </a:lnSpc>
              <a:defRPr sz="2500"/>
            </a:pPr>
            <a:r>
              <a:rPr sz="2000" dirty="0"/>
              <a:t>According to NIST</a:t>
            </a:r>
            <a:r>
              <a:rPr lang="en-AU" sz="2000" dirty="0"/>
              <a:t> (USA’s </a:t>
            </a:r>
            <a:r>
              <a:rPr lang="en-US" sz="2000" dirty="0"/>
              <a:t>National Institute of Standards and Technology</a:t>
            </a:r>
            <a:r>
              <a:rPr lang="en-AU" sz="2000" dirty="0"/>
              <a:t>)</a:t>
            </a:r>
            <a:r>
              <a:rPr sz="2000" dirty="0"/>
              <a:t>:</a:t>
            </a:r>
          </a:p>
          <a:p>
            <a:pPr>
              <a:lnSpc>
                <a:spcPct val="81000"/>
              </a:lnSpc>
              <a:defRPr sz="2500"/>
            </a:pPr>
            <a:endParaRPr dirty="0"/>
          </a:p>
          <a:p>
            <a:pPr>
              <a:lnSpc>
                <a:spcPct val="81000"/>
              </a:lnSpc>
              <a:defRPr sz="2500"/>
            </a:pPr>
            <a:endParaRPr dirty="0"/>
          </a:p>
          <a:p>
            <a:pPr>
              <a:lnSpc>
                <a:spcPct val="81000"/>
              </a:lnSpc>
              <a:defRPr sz="2500"/>
            </a:pPr>
            <a:endParaRPr dirty="0"/>
          </a:p>
          <a:p>
            <a:pPr marL="0" indent="0">
              <a:lnSpc>
                <a:spcPct val="81000"/>
              </a:lnSpc>
              <a:buNone/>
              <a:defRPr sz="2500"/>
            </a:pPr>
            <a:endParaRPr dirty="0"/>
          </a:p>
        </p:txBody>
      </p:sp>
      <p:sp>
        <p:nvSpPr>
          <p:cNvPr id="420" name="TextBox 5"/>
          <p:cNvSpPr txBox="1"/>
          <p:nvPr/>
        </p:nvSpPr>
        <p:spPr>
          <a:xfrm>
            <a:off x="852410" y="1818650"/>
            <a:ext cx="7439180" cy="12003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289" rIns="34289">
            <a:spAutoFit/>
          </a:bodyPr>
          <a:lstStyle/>
          <a:p>
            <a:pPr algn="l">
              <a:defRPr sz="1800">
                <a:latin typeface="Tahoma"/>
                <a:ea typeface="Tahoma"/>
                <a:cs typeface="Tahoma"/>
                <a:sym typeface="Tahoma"/>
              </a:defRPr>
            </a:pPr>
            <a:r>
              <a:rPr dirty="0">
                <a:latin typeface="+mn-lt"/>
              </a:rPr>
              <a:t>Cloud computing is a model for enabling convenient, on-demand network access to a shared pool of configurable computing resources (e.g., </a:t>
            </a:r>
            <a:r>
              <a:rPr lang="en-AU" dirty="0">
                <a:latin typeface="+mn-lt"/>
              </a:rPr>
              <a:t>processors, </a:t>
            </a:r>
            <a:r>
              <a:rPr dirty="0">
                <a:latin typeface="+mn-lt"/>
              </a:rPr>
              <a:t>network</a:t>
            </a:r>
            <a:r>
              <a:rPr lang="en-AU" dirty="0">
                <a:latin typeface="+mn-lt"/>
              </a:rPr>
              <a:t>s</a:t>
            </a:r>
            <a:r>
              <a:rPr dirty="0">
                <a:latin typeface="+mn-lt"/>
              </a:rPr>
              <a:t>, storage) that can be rapidly provisioned </a:t>
            </a:r>
            <a:r>
              <a:rPr lang="en-AU" dirty="0">
                <a:latin typeface="+mn-lt"/>
              </a:rPr>
              <a:t>a</a:t>
            </a:r>
            <a:r>
              <a:rPr dirty="0" err="1">
                <a:latin typeface="+mn-lt"/>
              </a:rPr>
              <a:t>nd</a:t>
            </a:r>
            <a:r>
              <a:rPr dirty="0">
                <a:latin typeface="+mn-lt"/>
              </a:rPr>
              <a:t> released with minimal management effort or service provider interaction. </a:t>
            </a:r>
          </a:p>
        </p:txBody>
      </p:sp>
    </p:spTree>
    <p:extLst>
      <p:ext uri="{BB962C8B-B14F-4D97-AF65-F5344CB8AC3E}">
        <p14:creationId xmlns:p14="http://schemas.microsoft.com/office/powerpoint/2010/main" val="231961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Title 1"/>
          <p:cNvSpPr txBox="1">
            <a:spLocks noGrp="1"/>
          </p:cNvSpPr>
          <p:nvPr>
            <p:ph type="title"/>
          </p:nvPr>
        </p:nvSpPr>
        <p:spPr>
          <a:xfrm>
            <a:off x="304186" y="200693"/>
            <a:ext cx="3958098" cy="994172"/>
          </a:xfrm>
          <a:prstGeom prst="rect">
            <a:avLst/>
          </a:prstGeom>
        </p:spPr>
        <p:txBody>
          <a:bodyPr/>
          <a:lstStyle/>
          <a:p>
            <a:r>
              <a:rPr lang="en-AU" b="1" dirty="0"/>
              <a:t>Formal definition</a:t>
            </a:r>
            <a:endParaRPr b="1" dirty="0"/>
          </a:p>
        </p:txBody>
      </p:sp>
      <p:sp>
        <p:nvSpPr>
          <p:cNvPr id="418" name="Content Placeholder 2"/>
          <p:cNvSpPr txBox="1">
            <a:spLocks noGrp="1"/>
          </p:cNvSpPr>
          <p:nvPr>
            <p:ph type="body" idx="1"/>
          </p:nvPr>
        </p:nvSpPr>
        <p:spPr>
          <a:xfrm>
            <a:off x="529097" y="1381546"/>
            <a:ext cx="8344372" cy="5022745"/>
          </a:xfrm>
          <a:prstGeom prst="rect">
            <a:avLst/>
          </a:prstGeom>
        </p:spPr>
        <p:txBody>
          <a:bodyPr>
            <a:normAutofit/>
          </a:bodyPr>
          <a:lstStyle/>
          <a:p>
            <a:pPr>
              <a:lnSpc>
                <a:spcPct val="81000"/>
              </a:lnSpc>
              <a:defRPr sz="2500"/>
            </a:pPr>
            <a:r>
              <a:rPr sz="2000" dirty="0"/>
              <a:t>According to NIST</a:t>
            </a:r>
            <a:r>
              <a:rPr lang="en-AU" sz="2000" dirty="0"/>
              <a:t> (USA’s </a:t>
            </a:r>
            <a:r>
              <a:rPr lang="en-US" sz="2000" dirty="0"/>
              <a:t>National Institute of Standards and Technology</a:t>
            </a:r>
            <a:r>
              <a:rPr lang="en-AU" sz="2000" dirty="0"/>
              <a:t>)</a:t>
            </a:r>
            <a:r>
              <a:rPr sz="2000" dirty="0"/>
              <a:t>:</a:t>
            </a:r>
          </a:p>
          <a:p>
            <a:pPr>
              <a:lnSpc>
                <a:spcPct val="81000"/>
              </a:lnSpc>
              <a:defRPr sz="2500"/>
            </a:pPr>
            <a:endParaRPr dirty="0"/>
          </a:p>
          <a:p>
            <a:pPr>
              <a:lnSpc>
                <a:spcPct val="81000"/>
              </a:lnSpc>
              <a:defRPr sz="2500"/>
            </a:pPr>
            <a:endParaRPr dirty="0"/>
          </a:p>
          <a:p>
            <a:pPr>
              <a:lnSpc>
                <a:spcPct val="81000"/>
              </a:lnSpc>
              <a:defRPr sz="2500"/>
            </a:pPr>
            <a:endParaRPr dirty="0"/>
          </a:p>
          <a:p>
            <a:pPr>
              <a:lnSpc>
                <a:spcPct val="81000"/>
              </a:lnSpc>
              <a:defRPr sz="2500"/>
            </a:pPr>
            <a:endParaRPr dirty="0"/>
          </a:p>
          <a:p>
            <a:pPr marL="0" indent="0">
              <a:lnSpc>
                <a:spcPct val="81000"/>
              </a:lnSpc>
              <a:buNone/>
              <a:defRPr sz="2500"/>
            </a:pPr>
            <a:endParaRPr lang="en-AU" dirty="0"/>
          </a:p>
          <a:p>
            <a:pPr>
              <a:lnSpc>
                <a:spcPct val="81000"/>
              </a:lnSpc>
              <a:defRPr sz="2500"/>
            </a:pPr>
            <a:r>
              <a:rPr sz="2000" dirty="0"/>
              <a:t>Essential characteristics</a:t>
            </a:r>
            <a:r>
              <a:rPr lang="en-AU" sz="2000" dirty="0"/>
              <a:t>/benefits</a:t>
            </a:r>
            <a:r>
              <a:rPr sz="2000" dirty="0"/>
              <a:t>:</a:t>
            </a:r>
          </a:p>
          <a:p>
            <a:pPr lvl="1">
              <a:lnSpc>
                <a:spcPct val="81000"/>
              </a:lnSpc>
              <a:defRPr sz="2200"/>
            </a:pPr>
            <a:r>
              <a:rPr sz="2000" b="1" dirty="0"/>
              <a:t>On-demand self service</a:t>
            </a:r>
            <a:endParaRPr lang="en-AU" sz="2000" b="1" dirty="0"/>
          </a:p>
          <a:p>
            <a:pPr lvl="2">
              <a:lnSpc>
                <a:spcPct val="81000"/>
              </a:lnSpc>
              <a:defRPr sz="2200"/>
            </a:pPr>
            <a:r>
              <a:rPr lang="en-US" sz="2000" dirty="0"/>
              <a:t>Cloud providers allow us to provision computing resources, such as virtual machines, without interacting with them. </a:t>
            </a:r>
            <a:endParaRPr sz="2000" dirty="0"/>
          </a:p>
          <a:p>
            <a:pPr lvl="1">
              <a:lnSpc>
                <a:spcPct val="81000"/>
              </a:lnSpc>
              <a:defRPr sz="2200"/>
            </a:pPr>
            <a:r>
              <a:rPr sz="2000" b="1" dirty="0"/>
              <a:t>Broad network access</a:t>
            </a:r>
            <a:endParaRPr lang="en-AU" sz="2000" b="1" dirty="0"/>
          </a:p>
          <a:p>
            <a:pPr lvl="2">
              <a:lnSpc>
                <a:spcPct val="81000"/>
              </a:lnSpc>
              <a:defRPr sz="2200"/>
            </a:pPr>
            <a:r>
              <a:rPr lang="en-US" sz="2000" dirty="0"/>
              <a:t>cloud services are accessible over a network in various ways.</a:t>
            </a:r>
            <a:endParaRPr sz="2000" dirty="0"/>
          </a:p>
          <a:p>
            <a:pPr lvl="1">
              <a:lnSpc>
                <a:spcPct val="81000"/>
              </a:lnSpc>
              <a:defRPr sz="2200"/>
            </a:pPr>
            <a:endParaRPr lang="en-AU" dirty="0"/>
          </a:p>
        </p:txBody>
      </p:sp>
      <p:sp>
        <p:nvSpPr>
          <p:cNvPr id="420" name="TextBox 5"/>
          <p:cNvSpPr txBox="1"/>
          <p:nvPr/>
        </p:nvSpPr>
        <p:spPr>
          <a:xfrm>
            <a:off x="852410" y="1818650"/>
            <a:ext cx="7439180" cy="12003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289" rIns="34289">
            <a:spAutoFit/>
          </a:bodyPr>
          <a:lstStyle/>
          <a:p>
            <a:pPr algn="l">
              <a:defRPr sz="1800">
                <a:latin typeface="Tahoma"/>
                <a:ea typeface="Tahoma"/>
                <a:cs typeface="Tahoma"/>
                <a:sym typeface="Tahoma"/>
              </a:defRPr>
            </a:pPr>
            <a:r>
              <a:rPr dirty="0">
                <a:latin typeface="+mn-lt"/>
              </a:rPr>
              <a:t>Cloud computing is a model for enabling convenient, on-demand network access to a shared pool of configurable computing resources (e.g., </a:t>
            </a:r>
            <a:r>
              <a:rPr lang="en-AU" dirty="0">
                <a:latin typeface="+mn-lt"/>
              </a:rPr>
              <a:t>processors, </a:t>
            </a:r>
            <a:r>
              <a:rPr dirty="0">
                <a:latin typeface="+mn-lt"/>
              </a:rPr>
              <a:t>network</a:t>
            </a:r>
            <a:r>
              <a:rPr lang="en-AU" dirty="0">
                <a:latin typeface="+mn-lt"/>
              </a:rPr>
              <a:t>s</a:t>
            </a:r>
            <a:r>
              <a:rPr dirty="0">
                <a:latin typeface="+mn-lt"/>
              </a:rPr>
              <a:t>, storage) that can be rapidly provisioned </a:t>
            </a:r>
            <a:r>
              <a:rPr lang="en-AU" dirty="0">
                <a:latin typeface="+mn-lt"/>
              </a:rPr>
              <a:t>a</a:t>
            </a:r>
            <a:r>
              <a:rPr dirty="0" err="1">
                <a:latin typeface="+mn-lt"/>
              </a:rPr>
              <a:t>nd</a:t>
            </a:r>
            <a:r>
              <a:rPr dirty="0">
                <a:latin typeface="+mn-lt"/>
              </a:rPr>
              <a:t> released with minimal management effort or service provider interaction. </a:t>
            </a:r>
          </a:p>
        </p:txBody>
      </p:sp>
    </p:spTree>
    <p:extLst>
      <p:ext uri="{BB962C8B-B14F-4D97-AF65-F5344CB8AC3E}">
        <p14:creationId xmlns:p14="http://schemas.microsoft.com/office/powerpoint/2010/main" val="14855124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Title 1"/>
          <p:cNvSpPr txBox="1">
            <a:spLocks noGrp="1"/>
          </p:cNvSpPr>
          <p:nvPr>
            <p:ph type="title"/>
          </p:nvPr>
        </p:nvSpPr>
        <p:spPr>
          <a:xfrm>
            <a:off x="304186" y="200693"/>
            <a:ext cx="3958098" cy="994172"/>
          </a:xfrm>
          <a:prstGeom prst="rect">
            <a:avLst/>
          </a:prstGeom>
        </p:spPr>
        <p:txBody>
          <a:bodyPr/>
          <a:lstStyle/>
          <a:p>
            <a:r>
              <a:rPr lang="en-AU" b="1" dirty="0"/>
              <a:t>Formal definition</a:t>
            </a:r>
            <a:endParaRPr b="1" dirty="0"/>
          </a:p>
        </p:txBody>
      </p:sp>
      <p:sp>
        <p:nvSpPr>
          <p:cNvPr id="418" name="Content Placeholder 2"/>
          <p:cNvSpPr txBox="1">
            <a:spLocks noGrp="1"/>
          </p:cNvSpPr>
          <p:nvPr>
            <p:ph type="body" idx="1"/>
          </p:nvPr>
        </p:nvSpPr>
        <p:spPr>
          <a:xfrm>
            <a:off x="529097" y="1381546"/>
            <a:ext cx="8344372" cy="5022745"/>
          </a:xfrm>
          <a:prstGeom prst="rect">
            <a:avLst/>
          </a:prstGeom>
        </p:spPr>
        <p:txBody>
          <a:bodyPr>
            <a:normAutofit lnSpcReduction="10000"/>
          </a:bodyPr>
          <a:lstStyle/>
          <a:p>
            <a:pPr>
              <a:lnSpc>
                <a:spcPct val="81000"/>
              </a:lnSpc>
              <a:defRPr sz="2500"/>
            </a:pPr>
            <a:r>
              <a:rPr sz="2000" dirty="0"/>
              <a:t>According to NIST</a:t>
            </a:r>
            <a:r>
              <a:rPr lang="en-AU" sz="2000" dirty="0"/>
              <a:t> (USA’s </a:t>
            </a:r>
            <a:r>
              <a:rPr lang="en-US" sz="2000" dirty="0"/>
              <a:t>National Institute of Standards and Technology</a:t>
            </a:r>
            <a:r>
              <a:rPr lang="en-AU" sz="2000" dirty="0"/>
              <a:t>)</a:t>
            </a:r>
            <a:r>
              <a:rPr sz="2000" dirty="0"/>
              <a:t>:</a:t>
            </a:r>
          </a:p>
          <a:p>
            <a:pPr>
              <a:lnSpc>
                <a:spcPct val="81000"/>
              </a:lnSpc>
              <a:defRPr sz="2500"/>
            </a:pPr>
            <a:endParaRPr dirty="0"/>
          </a:p>
          <a:p>
            <a:pPr>
              <a:lnSpc>
                <a:spcPct val="81000"/>
              </a:lnSpc>
              <a:defRPr sz="2500"/>
            </a:pPr>
            <a:endParaRPr dirty="0"/>
          </a:p>
          <a:p>
            <a:pPr>
              <a:lnSpc>
                <a:spcPct val="81000"/>
              </a:lnSpc>
              <a:defRPr sz="2500"/>
            </a:pPr>
            <a:endParaRPr dirty="0"/>
          </a:p>
          <a:p>
            <a:pPr>
              <a:lnSpc>
                <a:spcPct val="81000"/>
              </a:lnSpc>
              <a:defRPr sz="2500"/>
            </a:pPr>
            <a:endParaRPr dirty="0"/>
          </a:p>
          <a:p>
            <a:pPr marL="0" indent="0">
              <a:lnSpc>
                <a:spcPct val="81000"/>
              </a:lnSpc>
              <a:buNone/>
              <a:defRPr sz="2500"/>
            </a:pPr>
            <a:endParaRPr lang="en-AU" dirty="0"/>
          </a:p>
          <a:p>
            <a:pPr>
              <a:lnSpc>
                <a:spcPct val="81000"/>
              </a:lnSpc>
              <a:defRPr sz="2500"/>
            </a:pPr>
            <a:r>
              <a:rPr sz="2000" dirty="0"/>
              <a:t>Essential characteristics</a:t>
            </a:r>
            <a:r>
              <a:rPr lang="en-AU" sz="2000" dirty="0"/>
              <a:t>/benefits</a:t>
            </a:r>
            <a:r>
              <a:rPr sz="2000" dirty="0"/>
              <a:t>:</a:t>
            </a:r>
          </a:p>
          <a:p>
            <a:pPr lvl="1">
              <a:lnSpc>
                <a:spcPct val="81000"/>
              </a:lnSpc>
              <a:defRPr sz="2200"/>
            </a:pPr>
            <a:r>
              <a:rPr sz="2000" dirty="0"/>
              <a:t>On-demand self service</a:t>
            </a:r>
          </a:p>
          <a:p>
            <a:pPr lvl="1">
              <a:lnSpc>
                <a:spcPct val="81000"/>
              </a:lnSpc>
              <a:defRPr sz="2200"/>
            </a:pPr>
            <a:r>
              <a:rPr sz="2000" dirty="0"/>
              <a:t>Broad network access</a:t>
            </a:r>
          </a:p>
          <a:p>
            <a:pPr lvl="1">
              <a:lnSpc>
                <a:spcPct val="81000"/>
              </a:lnSpc>
              <a:defRPr sz="2200"/>
            </a:pPr>
            <a:r>
              <a:rPr sz="2000" b="1" dirty="0"/>
              <a:t>Resource pooling</a:t>
            </a:r>
            <a:endParaRPr lang="en-AU" sz="2000" b="1" dirty="0"/>
          </a:p>
          <a:p>
            <a:pPr lvl="2">
              <a:lnSpc>
                <a:spcPct val="81000"/>
              </a:lnSpc>
              <a:defRPr sz="2200"/>
            </a:pPr>
            <a:r>
              <a:rPr lang="en-US" sz="2000" dirty="0"/>
              <a:t>Cloud providers consolidate and share computing resources among many users. </a:t>
            </a:r>
            <a:endParaRPr sz="2000" dirty="0"/>
          </a:p>
          <a:p>
            <a:pPr lvl="1">
              <a:lnSpc>
                <a:spcPct val="81000"/>
              </a:lnSpc>
              <a:defRPr sz="2200"/>
            </a:pPr>
            <a:r>
              <a:rPr sz="2000" b="1" dirty="0"/>
              <a:t>Rapid elasticity</a:t>
            </a:r>
          </a:p>
          <a:p>
            <a:pPr lvl="2">
              <a:lnSpc>
                <a:spcPct val="81000"/>
              </a:lnSpc>
              <a:defRPr sz="2200"/>
            </a:pPr>
            <a:r>
              <a:rPr lang="en-US" sz="2000" dirty="0"/>
              <a:t>Cloud providers enables the quick and automatic scaling of underlying hardware resources based on workload demands</a:t>
            </a:r>
            <a:endParaRPr lang="en-AU" sz="2000" dirty="0"/>
          </a:p>
        </p:txBody>
      </p:sp>
      <p:sp>
        <p:nvSpPr>
          <p:cNvPr id="420" name="TextBox 5"/>
          <p:cNvSpPr txBox="1"/>
          <p:nvPr/>
        </p:nvSpPr>
        <p:spPr>
          <a:xfrm>
            <a:off x="852410" y="1818650"/>
            <a:ext cx="7439180" cy="12003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289" rIns="34289">
            <a:spAutoFit/>
          </a:bodyPr>
          <a:lstStyle/>
          <a:p>
            <a:pPr algn="l">
              <a:defRPr sz="1800">
                <a:latin typeface="Tahoma"/>
                <a:ea typeface="Tahoma"/>
                <a:cs typeface="Tahoma"/>
                <a:sym typeface="Tahoma"/>
              </a:defRPr>
            </a:pPr>
            <a:r>
              <a:rPr dirty="0">
                <a:latin typeface="+mn-lt"/>
              </a:rPr>
              <a:t>Cloud computing is a model for enabling convenient, on-demand network access to a shared pool of configurable computing resources (e.g., </a:t>
            </a:r>
            <a:r>
              <a:rPr lang="en-AU" dirty="0">
                <a:latin typeface="+mn-lt"/>
              </a:rPr>
              <a:t>processors, </a:t>
            </a:r>
            <a:r>
              <a:rPr dirty="0">
                <a:latin typeface="+mn-lt"/>
              </a:rPr>
              <a:t>network</a:t>
            </a:r>
            <a:r>
              <a:rPr lang="en-AU" dirty="0">
                <a:latin typeface="+mn-lt"/>
              </a:rPr>
              <a:t>s</a:t>
            </a:r>
            <a:r>
              <a:rPr dirty="0">
                <a:latin typeface="+mn-lt"/>
              </a:rPr>
              <a:t>, storage) that can be rapidly provisioned </a:t>
            </a:r>
            <a:r>
              <a:rPr lang="en-AU" dirty="0">
                <a:latin typeface="+mn-lt"/>
              </a:rPr>
              <a:t>a</a:t>
            </a:r>
            <a:r>
              <a:rPr dirty="0" err="1">
                <a:latin typeface="+mn-lt"/>
              </a:rPr>
              <a:t>nd</a:t>
            </a:r>
            <a:r>
              <a:rPr dirty="0">
                <a:latin typeface="+mn-lt"/>
              </a:rPr>
              <a:t> released with minimal management effort or service provider interaction.</a:t>
            </a:r>
            <a:endParaRPr lang="en-AU" dirty="0">
              <a:latin typeface="+mn-lt"/>
            </a:endParaRPr>
          </a:p>
        </p:txBody>
      </p:sp>
    </p:spTree>
    <p:extLst>
      <p:ext uri="{BB962C8B-B14F-4D97-AF65-F5344CB8AC3E}">
        <p14:creationId xmlns:p14="http://schemas.microsoft.com/office/powerpoint/2010/main" val="25764676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Title 1"/>
          <p:cNvSpPr txBox="1">
            <a:spLocks noGrp="1"/>
          </p:cNvSpPr>
          <p:nvPr>
            <p:ph type="title"/>
          </p:nvPr>
        </p:nvSpPr>
        <p:spPr>
          <a:xfrm>
            <a:off x="304186" y="200693"/>
            <a:ext cx="3958098" cy="994172"/>
          </a:xfrm>
          <a:prstGeom prst="rect">
            <a:avLst/>
          </a:prstGeom>
        </p:spPr>
        <p:txBody>
          <a:bodyPr/>
          <a:lstStyle/>
          <a:p>
            <a:r>
              <a:rPr lang="en-AU" b="1" dirty="0"/>
              <a:t>Formal definition</a:t>
            </a:r>
            <a:endParaRPr b="1" dirty="0"/>
          </a:p>
        </p:txBody>
      </p:sp>
      <p:sp>
        <p:nvSpPr>
          <p:cNvPr id="418" name="Content Placeholder 2"/>
          <p:cNvSpPr txBox="1">
            <a:spLocks noGrp="1"/>
          </p:cNvSpPr>
          <p:nvPr>
            <p:ph type="body" idx="1"/>
          </p:nvPr>
        </p:nvSpPr>
        <p:spPr>
          <a:xfrm>
            <a:off x="529097" y="1381546"/>
            <a:ext cx="8344372" cy="5022745"/>
          </a:xfrm>
          <a:prstGeom prst="rect">
            <a:avLst/>
          </a:prstGeom>
        </p:spPr>
        <p:txBody>
          <a:bodyPr>
            <a:normAutofit/>
          </a:bodyPr>
          <a:lstStyle/>
          <a:p>
            <a:pPr>
              <a:lnSpc>
                <a:spcPct val="81000"/>
              </a:lnSpc>
              <a:defRPr sz="2500"/>
            </a:pPr>
            <a:r>
              <a:rPr sz="2000" dirty="0"/>
              <a:t>According to NIST</a:t>
            </a:r>
            <a:r>
              <a:rPr lang="en-AU" sz="2000" dirty="0"/>
              <a:t> (USA’s </a:t>
            </a:r>
            <a:r>
              <a:rPr lang="en-US" sz="2000" dirty="0"/>
              <a:t>National Institute of Standards and Technology</a:t>
            </a:r>
            <a:r>
              <a:rPr lang="en-AU" sz="2000" dirty="0"/>
              <a:t>)</a:t>
            </a:r>
            <a:r>
              <a:rPr sz="2000" dirty="0"/>
              <a:t>:</a:t>
            </a:r>
          </a:p>
          <a:p>
            <a:pPr>
              <a:lnSpc>
                <a:spcPct val="81000"/>
              </a:lnSpc>
              <a:defRPr sz="2500"/>
            </a:pPr>
            <a:endParaRPr dirty="0"/>
          </a:p>
          <a:p>
            <a:pPr>
              <a:lnSpc>
                <a:spcPct val="81000"/>
              </a:lnSpc>
              <a:defRPr sz="2500"/>
            </a:pPr>
            <a:endParaRPr dirty="0"/>
          </a:p>
          <a:p>
            <a:pPr>
              <a:lnSpc>
                <a:spcPct val="81000"/>
              </a:lnSpc>
              <a:defRPr sz="2500"/>
            </a:pPr>
            <a:endParaRPr dirty="0"/>
          </a:p>
          <a:p>
            <a:pPr>
              <a:lnSpc>
                <a:spcPct val="81000"/>
              </a:lnSpc>
              <a:defRPr sz="2500"/>
            </a:pPr>
            <a:endParaRPr dirty="0"/>
          </a:p>
          <a:p>
            <a:pPr marL="0" indent="0">
              <a:lnSpc>
                <a:spcPct val="81000"/>
              </a:lnSpc>
              <a:buNone/>
              <a:defRPr sz="2500"/>
            </a:pPr>
            <a:endParaRPr lang="en-AU" dirty="0"/>
          </a:p>
          <a:p>
            <a:pPr>
              <a:lnSpc>
                <a:spcPct val="81000"/>
              </a:lnSpc>
              <a:defRPr sz="2500"/>
            </a:pPr>
            <a:r>
              <a:rPr sz="2000" dirty="0"/>
              <a:t>Essential characteristics</a:t>
            </a:r>
            <a:r>
              <a:rPr lang="en-AU" sz="2000" dirty="0"/>
              <a:t>/benefits</a:t>
            </a:r>
            <a:r>
              <a:rPr sz="2000" dirty="0"/>
              <a:t>:</a:t>
            </a:r>
          </a:p>
          <a:p>
            <a:pPr lvl="1">
              <a:lnSpc>
                <a:spcPct val="81000"/>
              </a:lnSpc>
              <a:defRPr sz="2200"/>
            </a:pPr>
            <a:r>
              <a:rPr sz="2000" dirty="0"/>
              <a:t>On-demand self service</a:t>
            </a:r>
          </a:p>
          <a:p>
            <a:pPr lvl="1">
              <a:lnSpc>
                <a:spcPct val="81000"/>
              </a:lnSpc>
              <a:defRPr sz="2200"/>
            </a:pPr>
            <a:r>
              <a:rPr sz="2000" dirty="0"/>
              <a:t>Broad network access</a:t>
            </a:r>
          </a:p>
          <a:p>
            <a:pPr lvl="1">
              <a:lnSpc>
                <a:spcPct val="81000"/>
              </a:lnSpc>
              <a:defRPr sz="2200"/>
            </a:pPr>
            <a:r>
              <a:rPr sz="2000" dirty="0"/>
              <a:t>Resource pooling</a:t>
            </a:r>
          </a:p>
          <a:p>
            <a:pPr lvl="1">
              <a:lnSpc>
                <a:spcPct val="81000"/>
              </a:lnSpc>
              <a:defRPr sz="2200"/>
            </a:pPr>
            <a:r>
              <a:rPr sz="2000" dirty="0"/>
              <a:t>Rapid elasticity</a:t>
            </a:r>
          </a:p>
          <a:p>
            <a:pPr lvl="1">
              <a:lnSpc>
                <a:spcPct val="81000"/>
              </a:lnSpc>
              <a:defRPr sz="2200"/>
            </a:pPr>
            <a:r>
              <a:rPr sz="2000" b="1" dirty="0"/>
              <a:t>Measured service</a:t>
            </a:r>
            <a:endParaRPr lang="en-AU" sz="2000" b="1" dirty="0"/>
          </a:p>
          <a:p>
            <a:pPr lvl="2">
              <a:lnSpc>
                <a:spcPct val="81000"/>
              </a:lnSpc>
              <a:defRPr sz="2200"/>
            </a:pPr>
            <a:r>
              <a:rPr lang="en-US" sz="2000" dirty="0"/>
              <a:t>Cloud providers allow users to pay as they go</a:t>
            </a:r>
            <a:endParaRPr lang="en-AU" sz="2000" dirty="0"/>
          </a:p>
          <a:p>
            <a:pPr lvl="1">
              <a:lnSpc>
                <a:spcPct val="81000"/>
              </a:lnSpc>
              <a:defRPr sz="2200"/>
            </a:pPr>
            <a:endParaRPr lang="en-AU" dirty="0"/>
          </a:p>
        </p:txBody>
      </p:sp>
      <p:sp>
        <p:nvSpPr>
          <p:cNvPr id="420" name="TextBox 5"/>
          <p:cNvSpPr txBox="1"/>
          <p:nvPr/>
        </p:nvSpPr>
        <p:spPr>
          <a:xfrm>
            <a:off x="852410" y="1818650"/>
            <a:ext cx="7439180" cy="12003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289" rIns="34289">
            <a:spAutoFit/>
          </a:bodyPr>
          <a:lstStyle/>
          <a:p>
            <a:pPr algn="l">
              <a:defRPr sz="1800">
                <a:latin typeface="Tahoma"/>
                <a:ea typeface="Tahoma"/>
                <a:cs typeface="Tahoma"/>
                <a:sym typeface="Tahoma"/>
              </a:defRPr>
            </a:pPr>
            <a:r>
              <a:rPr dirty="0">
                <a:latin typeface="+mn-lt"/>
              </a:rPr>
              <a:t>Cloud computing is a model for enabling convenient, on-demand network access to a shared pool of configurable computing resources (e.g., </a:t>
            </a:r>
            <a:r>
              <a:rPr lang="en-AU" dirty="0">
                <a:latin typeface="+mn-lt"/>
              </a:rPr>
              <a:t>processors, </a:t>
            </a:r>
            <a:r>
              <a:rPr dirty="0">
                <a:latin typeface="+mn-lt"/>
              </a:rPr>
              <a:t>network</a:t>
            </a:r>
            <a:r>
              <a:rPr lang="en-AU" dirty="0">
                <a:latin typeface="+mn-lt"/>
              </a:rPr>
              <a:t>s</a:t>
            </a:r>
            <a:r>
              <a:rPr dirty="0">
                <a:latin typeface="+mn-lt"/>
              </a:rPr>
              <a:t>, storage) that can be rapidly provisioned </a:t>
            </a:r>
            <a:r>
              <a:rPr lang="en-AU" dirty="0">
                <a:latin typeface="+mn-lt"/>
              </a:rPr>
              <a:t>a</a:t>
            </a:r>
            <a:r>
              <a:rPr dirty="0" err="1">
                <a:latin typeface="+mn-lt"/>
              </a:rPr>
              <a:t>nd</a:t>
            </a:r>
            <a:r>
              <a:rPr dirty="0">
                <a:latin typeface="+mn-lt"/>
              </a:rPr>
              <a:t> released with minimal management effort or service provider interaction. </a:t>
            </a:r>
          </a:p>
        </p:txBody>
      </p:sp>
    </p:spTree>
    <p:extLst>
      <p:ext uri="{BB962C8B-B14F-4D97-AF65-F5344CB8AC3E}">
        <p14:creationId xmlns:p14="http://schemas.microsoft.com/office/powerpoint/2010/main" val="6006968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Title 1"/>
          <p:cNvSpPr txBox="1">
            <a:spLocks noGrp="1"/>
          </p:cNvSpPr>
          <p:nvPr>
            <p:ph type="title"/>
          </p:nvPr>
        </p:nvSpPr>
        <p:spPr>
          <a:xfrm>
            <a:off x="291382" y="107120"/>
            <a:ext cx="5479497" cy="994172"/>
          </a:xfrm>
          <a:prstGeom prst="rect">
            <a:avLst/>
          </a:prstGeom>
        </p:spPr>
        <p:txBody>
          <a:bodyPr>
            <a:normAutofit/>
          </a:bodyPr>
          <a:lstStyle/>
          <a:p>
            <a:r>
              <a:rPr lang="en-AU" altLang="zh-CN" b="1" dirty="0">
                <a:latin typeface="+mn-lt"/>
              </a:rPr>
              <a:t>Motivating Cloud</a:t>
            </a:r>
            <a:r>
              <a:rPr lang="zh-CN" altLang="en-US" b="1" dirty="0">
                <a:latin typeface="+mn-lt"/>
              </a:rPr>
              <a:t> </a:t>
            </a:r>
            <a:r>
              <a:rPr lang="en-AU" altLang="zh-CN" b="1" dirty="0">
                <a:latin typeface="+mn-lt"/>
              </a:rPr>
              <a:t>Computing</a:t>
            </a:r>
            <a:endParaRPr b="1" dirty="0">
              <a:latin typeface="+mn-lt"/>
            </a:endParaRPr>
          </a:p>
        </p:txBody>
      </p:sp>
      <p:sp>
        <p:nvSpPr>
          <p:cNvPr id="189" name="Content Placeholder 2"/>
          <p:cNvSpPr txBox="1">
            <a:spLocks noGrp="1"/>
          </p:cNvSpPr>
          <p:nvPr>
            <p:ph type="body" sz="quarter" idx="1"/>
          </p:nvPr>
        </p:nvSpPr>
        <p:spPr>
          <a:xfrm>
            <a:off x="2148119" y="4077586"/>
            <a:ext cx="6214968" cy="2075516"/>
          </a:xfrm>
          <a:prstGeom prst="rect">
            <a:avLst/>
          </a:prstGeom>
        </p:spPr>
        <p:txBody>
          <a:bodyPr>
            <a:noAutofit/>
          </a:bodyPr>
          <a:lstStyle/>
          <a:p>
            <a:pPr marL="164591" indent="-164591" defTabSz="658367">
              <a:lnSpc>
                <a:spcPct val="81000"/>
              </a:lnSpc>
              <a:spcBef>
                <a:spcPts val="675"/>
              </a:spcBef>
              <a:defRPr sz="2400"/>
            </a:pPr>
            <a:r>
              <a:rPr sz="2000" dirty="0"/>
              <a:t>What if one computer is not enough?</a:t>
            </a:r>
          </a:p>
          <a:p>
            <a:pPr marL="493776" lvl="1" indent="-164591" defTabSz="658367">
              <a:lnSpc>
                <a:spcPct val="81000"/>
              </a:lnSpc>
              <a:spcBef>
                <a:spcPts val="300"/>
              </a:spcBef>
              <a:defRPr sz="2112"/>
            </a:pPr>
            <a:r>
              <a:rPr sz="2000" dirty="0"/>
              <a:t>Buy a b</a:t>
            </a:r>
            <a:r>
              <a:rPr lang="en-AU" sz="2000" dirty="0" err="1"/>
              <a:t>etter</a:t>
            </a:r>
            <a:r>
              <a:rPr sz="2000" dirty="0"/>
              <a:t> (server-class) computer</a:t>
            </a:r>
            <a:br>
              <a:rPr sz="2000" dirty="0"/>
            </a:br>
            <a:endParaRPr sz="2000" dirty="0"/>
          </a:p>
          <a:p>
            <a:pPr marL="164591" indent="-164591" defTabSz="658367">
              <a:lnSpc>
                <a:spcPct val="81000"/>
              </a:lnSpc>
              <a:spcBef>
                <a:spcPts val="675"/>
              </a:spcBef>
              <a:defRPr sz="2400"/>
            </a:pPr>
            <a:r>
              <a:rPr sz="2000" dirty="0"/>
              <a:t>What if the b</a:t>
            </a:r>
            <a:r>
              <a:rPr lang="en-AU" sz="2000" dirty="0" err="1"/>
              <a:t>est</a:t>
            </a:r>
            <a:r>
              <a:rPr lang="en-AU" sz="2000" dirty="0"/>
              <a:t> server</a:t>
            </a:r>
            <a:r>
              <a:rPr sz="2000" dirty="0"/>
              <a:t> is not enough?</a:t>
            </a:r>
          </a:p>
          <a:p>
            <a:pPr marL="493776" lvl="1" indent="-164591" defTabSz="658367">
              <a:lnSpc>
                <a:spcPct val="81000"/>
              </a:lnSpc>
              <a:spcBef>
                <a:spcPts val="300"/>
              </a:spcBef>
              <a:defRPr sz="2112"/>
            </a:pPr>
            <a:r>
              <a:rPr sz="2000" dirty="0"/>
              <a:t>Buy many </a:t>
            </a:r>
            <a:r>
              <a:rPr lang="en-AU" sz="2000" dirty="0"/>
              <a:t>servers</a:t>
            </a:r>
            <a:endParaRPr sz="2000" dirty="0"/>
          </a:p>
        </p:txBody>
      </p:sp>
      <p:pic>
        <p:nvPicPr>
          <p:cNvPr id="191" name="Picture 5" descr="Picture 5"/>
          <p:cNvPicPr>
            <a:picLocks noChangeAspect="1"/>
          </p:cNvPicPr>
          <p:nvPr/>
        </p:nvPicPr>
        <p:blipFill>
          <a:blip r:embed="rId3"/>
          <a:stretch>
            <a:fillRect/>
          </a:stretch>
        </p:blipFill>
        <p:spPr>
          <a:xfrm>
            <a:off x="2198078" y="2622067"/>
            <a:ext cx="640121" cy="757476"/>
          </a:xfrm>
          <a:prstGeom prst="rect">
            <a:avLst/>
          </a:prstGeom>
          <a:ln w="12700">
            <a:miter lim="400000"/>
          </a:ln>
        </p:spPr>
      </p:pic>
      <p:pic>
        <p:nvPicPr>
          <p:cNvPr id="192" name="Picture 6" descr="Picture 6"/>
          <p:cNvPicPr>
            <a:picLocks noChangeAspect="1"/>
          </p:cNvPicPr>
          <p:nvPr/>
        </p:nvPicPr>
        <p:blipFill>
          <a:blip r:embed="rId4"/>
          <a:stretch>
            <a:fillRect/>
          </a:stretch>
        </p:blipFill>
        <p:spPr>
          <a:xfrm flipH="1">
            <a:off x="3467818" y="2385349"/>
            <a:ext cx="937679" cy="1026139"/>
          </a:xfrm>
          <a:prstGeom prst="rect">
            <a:avLst/>
          </a:prstGeom>
          <a:ln w="12700">
            <a:miter lim="400000"/>
          </a:ln>
        </p:spPr>
      </p:pic>
      <p:pic>
        <p:nvPicPr>
          <p:cNvPr id="193" name="Picture 7" descr="Picture 7"/>
          <p:cNvPicPr>
            <a:picLocks noChangeAspect="1"/>
          </p:cNvPicPr>
          <p:nvPr/>
        </p:nvPicPr>
        <p:blipFill>
          <a:blip r:embed="rId5"/>
          <a:stretch>
            <a:fillRect/>
          </a:stretch>
        </p:blipFill>
        <p:spPr>
          <a:xfrm flipH="1">
            <a:off x="4862419" y="1271052"/>
            <a:ext cx="1521896" cy="2117128"/>
          </a:xfrm>
          <a:prstGeom prst="rect">
            <a:avLst/>
          </a:prstGeom>
          <a:ln w="12700">
            <a:miter lim="400000"/>
          </a:ln>
        </p:spPr>
      </p:pic>
      <p:sp>
        <p:nvSpPr>
          <p:cNvPr id="194" name="TextBox 12"/>
          <p:cNvSpPr txBox="1"/>
          <p:nvPr/>
        </p:nvSpPr>
        <p:spPr>
          <a:xfrm>
            <a:off x="2162357" y="3479556"/>
            <a:ext cx="664370" cy="253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spcBef>
                <a:spcPts val="300"/>
              </a:spcBef>
              <a:defRPr sz="1400">
                <a:latin typeface="Tahoma"/>
                <a:ea typeface="Tahoma"/>
                <a:cs typeface="Tahoma"/>
                <a:sym typeface="Tahoma"/>
              </a:defRPr>
            </a:lvl1pPr>
          </a:lstStyle>
          <a:p>
            <a:r>
              <a:rPr sz="1050"/>
              <a:t>PC</a:t>
            </a:r>
          </a:p>
        </p:txBody>
      </p:sp>
      <p:sp>
        <p:nvSpPr>
          <p:cNvPr id="195" name="TextBox 13"/>
          <p:cNvSpPr txBox="1"/>
          <p:nvPr/>
        </p:nvSpPr>
        <p:spPr>
          <a:xfrm>
            <a:off x="3498241" y="3465268"/>
            <a:ext cx="850106" cy="253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spcBef>
                <a:spcPts val="300"/>
              </a:spcBef>
              <a:defRPr sz="1400">
                <a:latin typeface="Tahoma"/>
                <a:ea typeface="Tahoma"/>
                <a:cs typeface="Tahoma"/>
                <a:sym typeface="Tahoma"/>
              </a:defRPr>
            </a:lvl1pPr>
          </a:lstStyle>
          <a:p>
            <a:r>
              <a:rPr sz="1050"/>
              <a:t>Server</a:t>
            </a:r>
          </a:p>
        </p:txBody>
      </p:sp>
      <p:sp>
        <p:nvSpPr>
          <p:cNvPr id="196" name="TextBox 14"/>
          <p:cNvSpPr txBox="1"/>
          <p:nvPr/>
        </p:nvSpPr>
        <p:spPr>
          <a:xfrm>
            <a:off x="5255603" y="3472412"/>
            <a:ext cx="764381" cy="253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spcBef>
                <a:spcPts val="300"/>
              </a:spcBef>
              <a:defRPr sz="1400">
                <a:latin typeface="Tahoma"/>
                <a:ea typeface="Tahoma"/>
                <a:cs typeface="Tahoma"/>
                <a:sym typeface="Tahoma"/>
              </a:defRPr>
            </a:lvl1pPr>
          </a:lstStyle>
          <a:p>
            <a:r>
              <a:rPr sz="1050" dirty="0"/>
              <a:t>Cluster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Title 1"/>
          <p:cNvSpPr txBox="1">
            <a:spLocks noGrp="1"/>
          </p:cNvSpPr>
          <p:nvPr>
            <p:ph type="title"/>
          </p:nvPr>
        </p:nvSpPr>
        <p:spPr>
          <a:xfrm>
            <a:off x="389849" y="142430"/>
            <a:ext cx="4182152" cy="994172"/>
          </a:xfrm>
          <a:prstGeom prst="rect">
            <a:avLst/>
          </a:prstGeom>
        </p:spPr>
        <p:txBody>
          <a:bodyPr>
            <a:normAutofit/>
          </a:bodyPr>
          <a:lstStyle/>
          <a:p>
            <a:r>
              <a:rPr lang="en-AU" b="1" dirty="0"/>
              <a:t>C</a:t>
            </a:r>
            <a:r>
              <a:rPr b="1" dirty="0"/>
              <a:t>luster</a:t>
            </a:r>
          </a:p>
        </p:txBody>
      </p:sp>
      <p:sp>
        <p:nvSpPr>
          <p:cNvPr id="199" name="Content Placeholder 2"/>
          <p:cNvSpPr txBox="1">
            <a:spLocks noGrp="1"/>
          </p:cNvSpPr>
          <p:nvPr>
            <p:ph type="body" sz="quarter" idx="1"/>
          </p:nvPr>
        </p:nvSpPr>
        <p:spPr>
          <a:xfrm>
            <a:off x="1388700" y="4154731"/>
            <a:ext cx="6609574" cy="1659058"/>
          </a:xfrm>
          <a:prstGeom prst="rect">
            <a:avLst/>
          </a:prstGeom>
        </p:spPr>
        <p:txBody>
          <a:bodyPr>
            <a:noAutofit/>
          </a:bodyPr>
          <a:lstStyle/>
          <a:p>
            <a:pPr>
              <a:defRPr sz="2500"/>
            </a:pPr>
            <a:r>
              <a:rPr sz="2000" dirty="0"/>
              <a:t>Characteristics of a cluster:</a:t>
            </a:r>
          </a:p>
          <a:p>
            <a:pPr lvl="1">
              <a:defRPr sz="2200"/>
            </a:pPr>
            <a:r>
              <a:rPr sz="2000" dirty="0"/>
              <a:t>Many similar machines</a:t>
            </a:r>
            <a:r>
              <a:rPr lang="en-AU" sz="2000" dirty="0"/>
              <a:t> with </a:t>
            </a:r>
            <a:r>
              <a:rPr sz="2000" dirty="0"/>
              <a:t>close interconnection</a:t>
            </a:r>
          </a:p>
          <a:p>
            <a:pPr lvl="1">
              <a:defRPr sz="2200"/>
            </a:pPr>
            <a:r>
              <a:rPr lang="en-AU" sz="2000" dirty="0"/>
              <a:t>S</a:t>
            </a:r>
            <a:r>
              <a:rPr sz="2000" dirty="0" err="1"/>
              <a:t>pecial</a:t>
            </a:r>
            <a:r>
              <a:rPr lang="en-AU" sz="2000" dirty="0"/>
              <a:t> and</a:t>
            </a:r>
            <a:r>
              <a:rPr sz="2000" dirty="0"/>
              <a:t> standardized hardware (racks, blades</a:t>
            </a:r>
            <a:r>
              <a:rPr lang="en-AU" sz="2000" dirty="0"/>
              <a:t>, etc</a:t>
            </a:r>
            <a:r>
              <a:rPr sz="2000" dirty="0"/>
              <a:t>)</a:t>
            </a:r>
          </a:p>
        </p:txBody>
      </p:sp>
      <p:pic>
        <p:nvPicPr>
          <p:cNvPr id="201" name="Picture 5" descr="Picture 5"/>
          <p:cNvPicPr>
            <a:picLocks noChangeAspect="1"/>
          </p:cNvPicPr>
          <p:nvPr/>
        </p:nvPicPr>
        <p:blipFill>
          <a:blip r:embed="rId3"/>
          <a:stretch>
            <a:fillRect/>
          </a:stretch>
        </p:blipFill>
        <p:spPr>
          <a:xfrm>
            <a:off x="2097788" y="1482030"/>
            <a:ext cx="1755777" cy="2442480"/>
          </a:xfrm>
          <a:prstGeom prst="rect">
            <a:avLst/>
          </a:prstGeom>
          <a:ln w="12700">
            <a:miter lim="400000"/>
          </a:ln>
        </p:spPr>
      </p:pic>
      <p:pic>
        <p:nvPicPr>
          <p:cNvPr id="202" name="Picture 52" descr="Picture 52"/>
          <p:cNvPicPr>
            <a:picLocks noChangeAspect="1"/>
          </p:cNvPicPr>
          <p:nvPr/>
        </p:nvPicPr>
        <p:blipFill>
          <a:blip r:embed="rId4"/>
          <a:stretch>
            <a:fillRect/>
          </a:stretch>
        </p:blipFill>
        <p:spPr>
          <a:xfrm>
            <a:off x="4326915" y="2497559"/>
            <a:ext cx="1525191" cy="621788"/>
          </a:xfrm>
          <a:prstGeom prst="rect">
            <a:avLst/>
          </a:prstGeom>
          <a:ln w="12700">
            <a:miter lim="400000"/>
          </a:ln>
        </p:spPr>
      </p:pic>
      <p:pic>
        <p:nvPicPr>
          <p:cNvPr id="203" name="Picture 53" descr="Picture 53"/>
          <p:cNvPicPr>
            <a:picLocks noChangeAspect="1"/>
          </p:cNvPicPr>
          <p:nvPr/>
        </p:nvPicPr>
        <p:blipFill>
          <a:blip r:embed="rId5"/>
          <a:stretch>
            <a:fillRect/>
          </a:stretch>
        </p:blipFill>
        <p:spPr>
          <a:xfrm>
            <a:off x="4500746" y="1479855"/>
            <a:ext cx="1162050" cy="871538"/>
          </a:xfrm>
          <a:prstGeom prst="rect">
            <a:avLst/>
          </a:prstGeom>
          <a:ln w="12700">
            <a:miter lim="400000"/>
          </a:ln>
        </p:spPr>
      </p:pic>
      <p:pic>
        <p:nvPicPr>
          <p:cNvPr id="204" name="Picture 54" descr="Picture 54"/>
          <p:cNvPicPr>
            <a:picLocks noChangeAspect="1"/>
          </p:cNvPicPr>
          <p:nvPr/>
        </p:nvPicPr>
        <p:blipFill>
          <a:blip r:embed="rId6"/>
          <a:stretch>
            <a:fillRect/>
          </a:stretch>
        </p:blipFill>
        <p:spPr>
          <a:xfrm>
            <a:off x="4555515" y="3289502"/>
            <a:ext cx="1132285" cy="583509"/>
          </a:xfrm>
          <a:prstGeom prst="rect">
            <a:avLst/>
          </a:prstGeom>
          <a:ln w="12700">
            <a:miter lim="400000"/>
          </a:ln>
        </p:spPr>
      </p:pic>
      <p:sp>
        <p:nvSpPr>
          <p:cNvPr id="205" name="Straight Arrow Connector 56"/>
          <p:cNvSpPr/>
          <p:nvPr/>
        </p:nvSpPr>
        <p:spPr>
          <a:xfrm flipH="1" flipV="1">
            <a:off x="2762434" y="1815610"/>
            <a:ext cx="1738313" cy="100014"/>
          </a:xfrm>
          <a:prstGeom prst="line">
            <a:avLst/>
          </a:prstGeom>
          <a:ln w="28575">
            <a:solidFill>
              <a:srgbClr val="FF0000"/>
            </a:solidFill>
            <a:tailEnd type="triangle"/>
          </a:ln>
        </p:spPr>
        <p:txBody>
          <a:bodyPr lIns="34289" rIns="34289"/>
          <a:lstStyle/>
          <a:p>
            <a:endParaRPr sz="1500"/>
          </a:p>
        </p:txBody>
      </p:sp>
      <p:sp>
        <p:nvSpPr>
          <p:cNvPr id="206" name="Straight Arrow Connector 58"/>
          <p:cNvSpPr/>
          <p:nvPr/>
        </p:nvSpPr>
        <p:spPr>
          <a:xfrm flipH="1" flipV="1">
            <a:off x="2776721" y="2101361"/>
            <a:ext cx="1545434" cy="700088"/>
          </a:xfrm>
          <a:prstGeom prst="line">
            <a:avLst/>
          </a:prstGeom>
          <a:ln w="28575">
            <a:solidFill>
              <a:srgbClr val="FF0000"/>
            </a:solidFill>
            <a:tailEnd type="triangle"/>
          </a:ln>
        </p:spPr>
        <p:txBody>
          <a:bodyPr lIns="34289" rIns="34289"/>
          <a:lstStyle/>
          <a:p>
            <a:endParaRPr sz="1500"/>
          </a:p>
        </p:txBody>
      </p:sp>
      <p:sp>
        <p:nvSpPr>
          <p:cNvPr id="207" name="Straight Arrow Connector 60"/>
          <p:cNvSpPr/>
          <p:nvPr/>
        </p:nvSpPr>
        <p:spPr>
          <a:xfrm flipH="1">
            <a:off x="2783864" y="2808452"/>
            <a:ext cx="1543051" cy="357329"/>
          </a:xfrm>
          <a:prstGeom prst="line">
            <a:avLst/>
          </a:prstGeom>
          <a:ln w="28575">
            <a:solidFill>
              <a:srgbClr val="FF0000"/>
            </a:solidFill>
            <a:tailEnd type="triangle"/>
          </a:ln>
        </p:spPr>
        <p:txBody>
          <a:bodyPr lIns="34289" rIns="34289"/>
          <a:lstStyle/>
          <a:p>
            <a:endParaRPr sz="1500"/>
          </a:p>
        </p:txBody>
      </p:sp>
      <p:sp>
        <p:nvSpPr>
          <p:cNvPr id="208" name="Straight Arrow Connector 63"/>
          <p:cNvSpPr/>
          <p:nvPr/>
        </p:nvSpPr>
        <p:spPr>
          <a:xfrm flipH="1">
            <a:off x="2769576" y="2808452"/>
            <a:ext cx="1557339" cy="35859"/>
          </a:xfrm>
          <a:prstGeom prst="line">
            <a:avLst/>
          </a:prstGeom>
          <a:ln w="28575">
            <a:solidFill>
              <a:srgbClr val="FF0000"/>
            </a:solidFill>
            <a:tailEnd type="triangle"/>
          </a:ln>
        </p:spPr>
        <p:txBody>
          <a:bodyPr lIns="34289" rIns="34289"/>
          <a:lstStyle/>
          <a:p>
            <a:endParaRPr sz="1500"/>
          </a:p>
        </p:txBody>
      </p:sp>
      <p:sp>
        <p:nvSpPr>
          <p:cNvPr id="209" name="Straight Arrow Connector 65"/>
          <p:cNvSpPr/>
          <p:nvPr/>
        </p:nvSpPr>
        <p:spPr>
          <a:xfrm flipH="1" flipV="1">
            <a:off x="2776721" y="2615711"/>
            <a:ext cx="1550195" cy="192742"/>
          </a:xfrm>
          <a:prstGeom prst="line">
            <a:avLst/>
          </a:prstGeom>
          <a:ln w="28575">
            <a:solidFill>
              <a:srgbClr val="FF0000"/>
            </a:solidFill>
            <a:tailEnd type="triangle"/>
          </a:ln>
        </p:spPr>
        <p:txBody>
          <a:bodyPr lIns="34289" rIns="34289"/>
          <a:lstStyle/>
          <a:p>
            <a:endParaRPr sz="1500"/>
          </a:p>
        </p:txBody>
      </p:sp>
      <p:sp>
        <p:nvSpPr>
          <p:cNvPr id="210" name="Straight Arrow Connector 68"/>
          <p:cNvSpPr/>
          <p:nvPr/>
        </p:nvSpPr>
        <p:spPr>
          <a:xfrm flipH="1" flipV="1">
            <a:off x="2769577" y="2365681"/>
            <a:ext cx="1557338" cy="442773"/>
          </a:xfrm>
          <a:prstGeom prst="line">
            <a:avLst/>
          </a:prstGeom>
          <a:ln w="28575">
            <a:solidFill>
              <a:srgbClr val="FF0000"/>
            </a:solidFill>
            <a:tailEnd type="triangle"/>
          </a:ln>
        </p:spPr>
        <p:txBody>
          <a:bodyPr lIns="34289" rIns="34289"/>
          <a:lstStyle/>
          <a:p>
            <a:endParaRPr sz="1500"/>
          </a:p>
        </p:txBody>
      </p:sp>
      <p:sp>
        <p:nvSpPr>
          <p:cNvPr id="211" name="TextBox 76"/>
          <p:cNvSpPr txBox="1"/>
          <p:nvPr/>
        </p:nvSpPr>
        <p:spPr>
          <a:xfrm>
            <a:off x="6042624" y="2587136"/>
            <a:ext cx="1379158"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p>
            <a:pPr>
              <a:spcBef>
                <a:spcPts val="225"/>
              </a:spcBef>
              <a:defRPr sz="1600">
                <a:latin typeface="Tahoma"/>
                <a:ea typeface="Tahoma"/>
                <a:cs typeface="Tahoma"/>
                <a:sym typeface="Tahoma"/>
              </a:defRPr>
            </a:pPr>
            <a:r>
              <a:rPr sz="1200" dirty="0"/>
              <a:t>Many </a:t>
            </a:r>
            <a:r>
              <a:rPr sz="1200" dirty="0">
                <a:solidFill>
                  <a:srgbClr val="FF9900"/>
                </a:solidFill>
              </a:rPr>
              <a:t>nodes/blades</a:t>
            </a:r>
            <a:br>
              <a:rPr sz="1200" dirty="0">
                <a:solidFill>
                  <a:srgbClr val="FF9900"/>
                </a:solidFill>
              </a:rPr>
            </a:br>
            <a:r>
              <a:rPr sz="1200" dirty="0"/>
              <a:t>(often identical)</a:t>
            </a:r>
          </a:p>
        </p:txBody>
      </p:sp>
      <p:sp>
        <p:nvSpPr>
          <p:cNvPr id="212" name="TextBox 77"/>
          <p:cNvSpPr txBox="1"/>
          <p:nvPr/>
        </p:nvSpPr>
        <p:spPr>
          <a:xfrm>
            <a:off x="5973664" y="1508430"/>
            <a:ext cx="1517080" cy="830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p>
            <a:pPr>
              <a:spcBef>
                <a:spcPts val="225"/>
              </a:spcBef>
              <a:defRPr sz="1600">
                <a:latin typeface="Tahoma"/>
                <a:ea typeface="Tahoma"/>
                <a:cs typeface="Tahoma"/>
                <a:sym typeface="Tahoma"/>
              </a:defRPr>
            </a:pPr>
            <a:r>
              <a:rPr sz="1200" dirty="0"/>
              <a:t>Network </a:t>
            </a:r>
            <a:r>
              <a:rPr sz="1200" dirty="0">
                <a:solidFill>
                  <a:srgbClr val="FF9900"/>
                </a:solidFill>
              </a:rPr>
              <a:t>switch</a:t>
            </a:r>
            <a:br>
              <a:rPr sz="1200" dirty="0">
                <a:solidFill>
                  <a:srgbClr val="FF9900"/>
                </a:solidFill>
              </a:rPr>
            </a:br>
            <a:r>
              <a:rPr sz="1200" dirty="0"/>
              <a:t>(connects nodes with</a:t>
            </a:r>
            <a:br>
              <a:rPr sz="1200" dirty="0"/>
            </a:br>
            <a:r>
              <a:rPr sz="1200" dirty="0"/>
              <a:t>each other and </a:t>
            </a:r>
            <a:br>
              <a:rPr sz="1200" dirty="0"/>
            </a:br>
            <a:r>
              <a:rPr sz="1200" dirty="0"/>
              <a:t>with other racks)</a:t>
            </a:r>
          </a:p>
        </p:txBody>
      </p:sp>
      <p:sp>
        <p:nvSpPr>
          <p:cNvPr id="213" name="TextBox 78"/>
          <p:cNvSpPr txBox="1"/>
          <p:nvPr/>
        </p:nvSpPr>
        <p:spPr>
          <a:xfrm>
            <a:off x="6154185" y="3458674"/>
            <a:ext cx="1256047"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lvl1pPr>
              <a:spcBef>
                <a:spcPts val="300"/>
              </a:spcBef>
              <a:defRPr sz="1600">
                <a:latin typeface="Tahoma"/>
                <a:ea typeface="Tahoma"/>
                <a:cs typeface="Tahoma"/>
                <a:sym typeface="Tahoma"/>
              </a:defRPr>
            </a:lvl1pPr>
          </a:lstStyle>
          <a:p>
            <a:r>
              <a:rPr sz="1200" dirty="0">
                <a:solidFill>
                  <a:srgbClr val="FF9900"/>
                </a:solidFill>
              </a:rPr>
              <a:t>Storage</a:t>
            </a:r>
            <a:r>
              <a:rPr sz="1200" dirty="0"/>
              <a:t> device(s)</a:t>
            </a:r>
          </a:p>
        </p:txBody>
      </p:sp>
      <p:sp>
        <p:nvSpPr>
          <p:cNvPr id="214" name="Straight Arrow Connector 79"/>
          <p:cNvSpPr/>
          <p:nvPr/>
        </p:nvSpPr>
        <p:spPr>
          <a:xfrm flipH="1" flipV="1">
            <a:off x="2805296" y="3522966"/>
            <a:ext cx="1750220" cy="58291"/>
          </a:xfrm>
          <a:prstGeom prst="line">
            <a:avLst/>
          </a:prstGeom>
          <a:ln w="28575">
            <a:solidFill>
              <a:srgbClr val="FF0000"/>
            </a:solidFill>
            <a:tailEnd type="triangle"/>
          </a:ln>
        </p:spPr>
        <p:txBody>
          <a:bodyPr lIns="34289" rIns="34289"/>
          <a:lstStyle/>
          <a:p>
            <a:endParaRPr sz="1500"/>
          </a:p>
        </p:txBody>
      </p:sp>
      <p:sp>
        <p:nvSpPr>
          <p:cNvPr id="215" name="TextBox 81"/>
          <p:cNvSpPr txBox="1"/>
          <p:nvPr/>
        </p:nvSpPr>
        <p:spPr>
          <a:xfrm>
            <a:off x="1371418" y="2551418"/>
            <a:ext cx="391708"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lvl1pPr>
              <a:spcBef>
                <a:spcPts val="300"/>
              </a:spcBef>
              <a:defRPr sz="1600">
                <a:latin typeface="Tahoma"/>
                <a:ea typeface="Tahoma"/>
                <a:cs typeface="Tahoma"/>
                <a:sym typeface="Tahoma"/>
              </a:defRPr>
            </a:lvl1pPr>
          </a:lstStyle>
          <a:p>
            <a:r>
              <a:rPr sz="1200"/>
              <a:t>Rack</a:t>
            </a:r>
          </a:p>
        </p:txBody>
      </p:sp>
      <p:sp>
        <p:nvSpPr>
          <p:cNvPr id="216" name="Straight Arrow Connector 82"/>
          <p:cNvSpPr/>
          <p:nvPr/>
        </p:nvSpPr>
        <p:spPr>
          <a:xfrm flipV="1">
            <a:off x="1797550" y="2672861"/>
            <a:ext cx="486253" cy="5515"/>
          </a:xfrm>
          <a:prstGeom prst="line">
            <a:avLst/>
          </a:prstGeom>
          <a:ln w="28575">
            <a:solidFill>
              <a:srgbClr val="FF0000"/>
            </a:solidFill>
            <a:tailEnd type="triangle"/>
          </a:ln>
        </p:spPr>
        <p:txBody>
          <a:bodyPr lIns="34289" rIns="34289"/>
          <a:lstStyle/>
          <a:p>
            <a:endParaRPr sz="15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itle 1"/>
          <p:cNvSpPr txBox="1">
            <a:spLocks noGrp="1"/>
          </p:cNvSpPr>
          <p:nvPr>
            <p:ph type="title"/>
          </p:nvPr>
        </p:nvSpPr>
        <p:spPr>
          <a:xfrm>
            <a:off x="425450" y="162233"/>
            <a:ext cx="3963670" cy="994172"/>
          </a:xfrm>
          <a:prstGeom prst="rect">
            <a:avLst/>
          </a:prstGeom>
        </p:spPr>
        <p:txBody>
          <a:bodyPr/>
          <a:lstStyle/>
          <a:p>
            <a:r>
              <a:rPr b="1" dirty="0"/>
              <a:t>Power and cooling</a:t>
            </a:r>
          </a:p>
        </p:txBody>
      </p:sp>
      <p:sp>
        <p:nvSpPr>
          <p:cNvPr id="219" name="Content Placeholder 2"/>
          <p:cNvSpPr txBox="1">
            <a:spLocks noGrp="1"/>
          </p:cNvSpPr>
          <p:nvPr>
            <p:ph type="body" idx="1"/>
          </p:nvPr>
        </p:nvSpPr>
        <p:spPr>
          <a:xfrm>
            <a:off x="466090" y="1388397"/>
            <a:ext cx="7886700" cy="1390491"/>
          </a:xfrm>
          <a:prstGeom prst="rect">
            <a:avLst/>
          </a:prstGeom>
        </p:spPr>
        <p:txBody>
          <a:bodyPr>
            <a:normAutofit/>
          </a:bodyPr>
          <a:lstStyle/>
          <a:p>
            <a:r>
              <a:rPr sz="2400" dirty="0"/>
              <a:t>Clusters need lots of power</a:t>
            </a:r>
          </a:p>
          <a:p>
            <a:pPr lvl="1">
              <a:defRPr sz="2400"/>
            </a:pPr>
            <a:r>
              <a:rPr sz="2400" dirty="0"/>
              <a:t>Most of power is converted into heat</a:t>
            </a:r>
          </a:p>
          <a:p>
            <a:r>
              <a:rPr sz="2400" dirty="0"/>
              <a:t>Large clusters need massive cooling</a:t>
            </a:r>
          </a:p>
        </p:txBody>
      </p:sp>
      <p:grpSp>
        <p:nvGrpSpPr>
          <p:cNvPr id="223" name="Group 7"/>
          <p:cNvGrpSpPr/>
          <p:nvPr/>
        </p:nvGrpSpPr>
        <p:grpSpPr>
          <a:xfrm>
            <a:off x="1089826" y="2778888"/>
            <a:ext cx="1505723" cy="735807"/>
            <a:chOff x="0" y="0"/>
            <a:chExt cx="2007630" cy="981075"/>
          </a:xfrm>
        </p:grpSpPr>
        <p:pic>
          <p:nvPicPr>
            <p:cNvPr id="221" name="Picture 5" descr="Picture 5"/>
            <p:cNvPicPr>
              <a:picLocks noChangeAspect="1"/>
            </p:cNvPicPr>
            <p:nvPr/>
          </p:nvPicPr>
          <p:blipFill>
            <a:blip r:embed="rId3"/>
            <a:stretch>
              <a:fillRect/>
            </a:stretch>
          </p:blipFill>
          <p:spPr>
            <a:xfrm>
              <a:off x="-1" y="-1"/>
              <a:ext cx="974579" cy="974579"/>
            </a:xfrm>
            <a:prstGeom prst="rect">
              <a:avLst/>
            </a:prstGeom>
            <a:ln w="12700" cap="flat">
              <a:noFill/>
              <a:miter lim="400000"/>
            </a:ln>
            <a:effectLst/>
          </p:spPr>
        </p:pic>
        <p:pic>
          <p:nvPicPr>
            <p:cNvPr id="222" name="Picture 6" descr="Picture 6"/>
            <p:cNvPicPr>
              <a:picLocks noChangeAspect="1"/>
            </p:cNvPicPr>
            <p:nvPr/>
          </p:nvPicPr>
          <p:blipFill>
            <a:blip r:embed="rId3"/>
            <a:stretch>
              <a:fillRect/>
            </a:stretch>
          </p:blipFill>
          <p:spPr>
            <a:xfrm>
              <a:off x="1033052" y="6497"/>
              <a:ext cx="974579" cy="974579"/>
            </a:xfrm>
            <a:prstGeom prst="rect">
              <a:avLst/>
            </a:prstGeom>
            <a:ln w="12700" cap="flat">
              <a:noFill/>
              <a:miter lim="400000"/>
            </a:ln>
            <a:effectLst/>
          </p:spPr>
        </p:pic>
      </p:grpSp>
      <p:pic>
        <p:nvPicPr>
          <p:cNvPr id="224" name="Picture 10" descr="Picture 10"/>
          <p:cNvPicPr>
            <a:picLocks noChangeAspect="1"/>
          </p:cNvPicPr>
          <p:nvPr/>
        </p:nvPicPr>
        <p:blipFill>
          <a:blip r:embed="rId3"/>
          <a:stretch>
            <a:fillRect/>
          </a:stretch>
        </p:blipFill>
        <p:spPr>
          <a:xfrm>
            <a:off x="2657572" y="2790904"/>
            <a:ext cx="730934" cy="730934"/>
          </a:xfrm>
          <a:prstGeom prst="rect">
            <a:avLst/>
          </a:prstGeom>
          <a:ln w="12700">
            <a:miter lim="400000"/>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itle 1"/>
          <p:cNvSpPr txBox="1">
            <a:spLocks noGrp="1"/>
          </p:cNvSpPr>
          <p:nvPr>
            <p:ph type="title"/>
          </p:nvPr>
        </p:nvSpPr>
        <p:spPr>
          <a:xfrm>
            <a:off x="371476" y="175178"/>
            <a:ext cx="2493168" cy="994172"/>
          </a:xfrm>
          <a:prstGeom prst="rect">
            <a:avLst/>
          </a:prstGeom>
        </p:spPr>
        <p:txBody>
          <a:bodyPr/>
          <a:lstStyle/>
          <a:p>
            <a:r>
              <a:rPr b="1" dirty="0"/>
              <a:t>Scaling up</a:t>
            </a:r>
          </a:p>
        </p:txBody>
      </p:sp>
      <p:sp>
        <p:nvSpPr>
          <p:cNvPr id="227" name="Content Placeholder 2"/>
          <p:cNvSpPr txBox="1">
            <a:spLocks noGrp="1"/>
          </p:cNvSpPr>
          <p:nvPr>
            <p:ph type="body" sz="quarter" idx="1"/>
          </p:nvPr>
        </p:nvSpPr>
        <p:spPr>
          <a:xfrm>
            <a:off x="1259047" y="3791312"/>
            <a:ext cx="7477760" cy="2182251"/>
          </a:xfrm>
          <a:prstGeom prst="rect">
            <a:avLst/>
          </a:prstGeom>
        </p:spPr>
        <p:txBody>
          <a:bodyPr>
            <a:normAutofit/>
          </a:bodyPr>
          <a:lstStyle/>
          <a:p>
            <a:pPr marL="164591" indent="-164591" defTabSz="658367">
              <a:lnSpc>
                <a:spcPct val="81000"/>
              </a:lnSpc>
              <a:spcBef>
                <a:spcPts val="675"/>
              </a:spcBef>
              <a:defRPr sz="2400"/>
            </a:pPr>
            <a:r>
              <a:rPr sz="2400" dirty="0"/>
              <a:t>What if </a:t>
            </a:r>
            <a:r>
              <a:rPr lang="en-AU" sz="2400" dirty="0"/>
              <a:t>a</a:t>
            </a:r>
            <a:r>
              <a:rPr sz="2400" dirty="0"/>
              <a:t> cluster is </a:t>
            </a:r>
            <a:r>
              <a:rPr lang="en-AU" sz="2400" dirty="0"/>
              <a:t>not enough</a:t>
            </a:r>
            <a:r>
              <a:rPr sz="2400" dirty="0"/>
              <a:t>?</a:t>
            </a:r>
          </a:p>
          <a:p>
            <a:pPr marL="493776" lvl="1" indent="-164591" defTabSz="658367">
              <a:lnSpc>
                <a:spcPct val="81000"/>
              </a:lnSpc>
              <a:spcBef>
                <a:spcPts val="300"/>
              </a:spcBef>
              <a:defRPr sz="2112"/>
            </a:pPr>
            <a:r>
              <a:rPr lang="en-AU" sz="2400" dirty="0"/>
              <a:t>Buy many clusters</a:t>
            </a:r>
            <a:endParaRPr sz="2400" dirty="0"/>
          </a:p>
        </p:txBody>
      </p:sp>
      <p:pic>
        <p:nvPicPr>
          <p:cNvPr id="229" name="Picture 5" descr="Picture 5"/>
          <p:cNvPicPr>
            <a:picLocks noChangeAspect="1"/>
          </p:cNvPicPr>
          <p:nvPr/>
        </p:nvPicPr>
        <p:blipFill>
          <a:blip r:embed="rId3"/>
          <a:stretch>
            <a:fillRect/>
          </a:stretch>
        </p:blipFill>
        <p:spPr>
          <a:xfrm>
            <a:off x="1980089" y="2342557"/>
            <a:ext cx="542291" cy="641711"/>
          </a:xfrm>
          <a:prstGeom prst="rect">
            <a:avLst/>
          </a:prstGeom>
          <a:ln w="12700">
            <a:miter lim="400000"/>
          </a:ln>
        </p:spPr>
      </p:pic>
      <p:pic>
        <p:nvPicPr>
          <p:cNvPr id="230" name="Picture 6" descr="Picture 6"/>
          <p:cNvPicPr>
            <a:picLocks noChangeAspect="1"/>
          </p:cNvPicPr>
          <p:nvPr/>
        </p:nvPicPr>
        <p:blipFill>
          <a:blip r:embed="rId4"/>
          <a:stretch>
            <a:fillRect/>
          </a:stretch>
        </p:blipFill>
        <p:spPr>
          <a:xfrm flipH="1">
            <a:off x="2779788" y="2057786"/>
            <a:ext cx="859727" cy="940833"/>
          </a:xfrm>
          <a:prstGeom prst="rect">
            <a:avLst/>
          </a:prstGeom>
          <a:ln w="12700">
            <a:miter lim="400000"/>
          </a:ln>
        </p:spPr>
      </p:pic>
      <p:pic>
        <p:nvPicPr>
          <p:cNvPr id="231" name="Picture 7" descr="Picture 7"/>
          <p:cNvPicPr>
            <a:picLocks noChangeAspect="1"/>
          </p:cNvPicPr>
          <p:nvPr/>
        </p:nvPicPr>
        <p:blipFill>
          <a:blip r:embed="rId5"/>
          <a:stretch>
            <a:fillRect/>
          </a:stretch>
        </p:blipFill>
        <p:spPr>
          <a:xfrm flipH="1">
            <a:off x="3939948" y="1716452"/>
            <a:ext cx="919844" cy="1279606"/>
          </a:xfrm>
          <a:prstGeom prst="rect">
            <a:avLst/>
          </a:prstGeom>
          <a:ln w="12700">
            <a:miter lim="400000"/>
          </a:ln>
        </p:spPr>
      </p:pic>
      <p:sp>
        <p:nvSpPr>
          <p:cNvPr id="232" name="TextBox 12"/>
          <p:cNvSpPr txBox="1"/>
          <p:nvPr/>
        </p:nvSpPr>
        <p:spPr>
          <a:xfrm>
            <a:off x="1915794" y="3088120"/>
            <a:ext cx="664370" cy="253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spcBef>
                <a:spcPts val="300"/>
              </a:spcBef>
              <a:defRPr sz="1400">
                <a:latin typeface="Tahoma"/>
                <a:ea typeface="Tahoma"/>
                <a:cs typeface="Tahoma"/>
                <a:sym typeface="Tahoma"/>
              </a:defRPr>
            </a:lvl1pPr>
          </a:lstStyle>
          <a:p>
            <a:r>
              <a:rPr sz="1050"/>
              <a:t>PC</a:t>
            </a:r>
          </a:p>
        </p:txBody>
      </p:sp>
      <p:sp>
        <p:nvSpPr>
          <p:cNvPr id="233" name="TextBox 13"/>
          <p:cNvSpPr txBox="1"/>
          <p:nvPr/>
        </p:nvSpPr>
        <p:spPr>
          <a:xfrm>
            <a:off x="2780190" y="3073832"/>
            <a:ext cx="850106" cy="253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spcBef>
                <a:spcPts val="300"/>
              </a:spcBef>
              <a:defRPr sz="1400">
                <a:latin typeface="Tahoma"/>
                <a:ea typeface="Tahoma"/>
                <a:cs typeface="Tahoma"/>
                <a:sym typeface="Tahoma"/>
              </a:defRPr>
            </a:lvl1pPr>
          </a:lstStyle>
          <a:p>
            <a:r>
              <a:rPr sz="1050"/>
              <a:t>Server</a:t>
            </a:r>
          </a:p>
        </p:txBody>
      </p:sp>
      <p:sp>
        <p:nvSpPr>
          <p:cNvPr id="234" name="TextBox 14"/>
          <p:cNvSpPr txBox="1"/>
          <p:nvPr/>
        </p:nvSpPr>
        <p:spPr>
          <a:xfrm>
            <a:off x="4030346" y="3080976"/>
            <a:ext cx="764381" cy="253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spcBef>
                <a:spcPts val="300"/>
              </a:spcBef>
              <a:defRPr sz="1400">
                <a:latin typeface="Tahoma"/>
                <a:ea typeface="Tahoma"/>
                <a:cs typeface="Tahoma"/>
                <a:sym typeface="Tahoma"/>
              </a:defRPr>
            </a:lvl1pPr>
          </a:lstStyle>
          <a:p>
            <a:r>
              <a:rPr sz="1050"/>
              <a:t>Cluster</a:t>
            </a:r>
          </a:p>
        </p:txBody>
      </p:sp>
      <p:sp>
        <p:nvSpPr>
          <p:cNvPr id="235" name="TextBox 15"/>
          <p:cNvSpPr txBox="1"/>
          <p:nvPr/>
        </p:nvSpPr>
        <p:spPr>
          <a:xfrm>
            <a:off x="5709126" y="3080976"/>
            <a:ext cx="892970" cy="253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spcBef>
                <a:spcPts val="300"/>
              </a:spcBef>
              <a:defRPr sz="1400">
                <a:latin typeface="Tahoma"/>
                <a:ea typeface="Tahoma"/>
                <a:cs typeface="Tahoma"/>
                <a:sym typeface="Tahoma"/>
              </a:defRPr>
            </a:lvl1pPr>
          </a:lstStyle>
          <a:p>
            <a:r>
              <a:rPr sz="1050"/>
              <a:t>Data center</a:t>
            </a:r>
          </a:p>
        </p:txBody>
      </p:sp>
      <p:pic>
        <p:nvPicPr>
          <p:cNvPr id="236" name="Picture 17" descr="Picture 17"/>
          <p:cNvPicPr>
            <a:picLocks noChangeAspect="1"/>
          </p:cNvPicPr>
          <p:nvPr/>
        </p:nvPicPr>
        <p:blipFill>
          <a:blip r:embed="rId6"/>
          <a:stretch>
            <a:fillRect/>
          </a:stretch>
        </p:blipFill>
        <p:spPr>
          <a:xfrm>
            <a:off x="5262642" y="1395050"/>
            <a:ext cx="1707357" cy="1671638"/>
          </a:xfrm>
          <a:prstGeom prst="rect">
            <a:avLst/>
          </a:prstGeom>
          <a:ln w="12700">
            <a:miter lim="400000"/>
          </a:ln>
        </p:spPr>
      </p:pic>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7">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235"/>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build="p" bldLvl="5" animBg="1" advAuto="0"/>
      <p:bldP spid="235" grpId="0" animBg="1" advAuto="0"/>
      <p:bldP spid="236" grpId="0" animBg="1" advAuto="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itle 1"/>
          <p:cNvSpPr txBox="1">
            <a:spLocks noGrp="1"/>
          </p:cNvSpPr>
          <p:nvPr>
            <p:ph type="title"/>
          </p:nvPr>
        </p:nvSpPr>
        <p:spPr>
          <a:xfrm>
            <a:off x="371476" y="72660"/>
            <a:ext cx="2737484" cy="994172"/>
          </a:xfrm>
          <a:prstGeom prst="rect">
            <a:avLst/>
          </a:prstGeom>
        </p:spPr>
        <p:txBody>
          <a:bodyPr/>
          <a:lstStyle/>
          <a:p>
            <a:r>
              <a:rPr lang="en-AU" b="1" dirty="0"/>
              <a:t>D</a:t>
            </a:r>
            <a:r>
              <a:rPr b="1" dirty="0" err="1"/>
              <a:t>ata</a:t>
            </a:r>
            <a:r>
              <a:rPr b="1" dirty="0"/>
              <a:t> </a:t>
            </a:r>
            <a:r>
              <a:rPr b="1" dirty="0" err="1"/>
              <a:t>cente</a:t>
            </a:r>
            <a:r>
              <a:rPr lang="en-AU" b="1" dirty="0"/>
              <a:t>r</a:t>
            </a:r>
            <a:endParaRPr b="1" dirty="0"/>
          </a:p>
        </p:txBody>
      </p:sp>
      <p:sp>
        <p:nvSpPr>
          <p:cNvPr id="241" name="TextBox 6"/>
          <p:cNvSpPr txBox="1"/>
          <p:nvPr/>
        </p:nvSpPr>
        <p:spPr>
          <a:xfrm>
            <a:off x="4671848" y="4036220"/>
            <a:ext cx="2182006"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lvl1pPr>
              <a:spcBef>
                <a:spcPts val="200"/>
              </a:spcBef>
              <a:defRPr sz="1200">
                <a:latin typeface="Tahoma"/>
                <a:ea typeface="Tahoma"/>
                <a:cs typeface="Tahoma"/>
                <a:sym typeface="Tahoma"/>
              </a:defRPr>
            </a:lvl1pPr>
          </a:lstStyle>
          <a:p>
            <a:r>
              <a:rPr sz="900" dirty="0"/>
              <a:t>Google data center in The Dalles, Oregon</a:t>
            </a:r>
          </a:p>
        </p:txBody>
      </p:sp>
      <p:pic>
        <p:nvPicPr>
          <p:cNvPr id="242" name="Picture 7" descr="Picture 7"/>
          <p:cNvPicPr>
            <a:picLocks noChangeAspect="1"/>
          </p:cNvPicPr>
          <p:nvPr/>
        </p:nvPicPr>
        <p:blipFill>
          <a:blip r:embed="rId3"/>
          <a:stretch>
            <a:fillRect/>
          </a:stretch>
        </p:blipFill>
        <p:spPr>
          <a:xfrm>
            <a:off x="2600325" y="2371725"/>
            <a:ext cx="4286250" cy="1685925"/>
          </a:xfrm>
          <a:prstGeom prst="rect">
            <a:avLst/>
          </a:prstGeom>
          <a:ln w="12700">
            <a:miter lim="400000"/>
          </a:ln>
        </p:spPr>
      </p:pic>
      <p:sp>
        <p:nvSpPr>
          <p:cNvPr id="243" name="TextBox 8"/>
          <p:cNvSpPr txBox="1"/>
          <p:nvPr/>
        </p:nvSpPr>
        <p:spPr>
          <a:xfrm>
            <a:off x="687098" y="2586484"/>
            <a:ext cx="1813864"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4289" rIns="34289">
            <a:spAutoFit/>
          </a:bodyPr>
          <a:lstStyle/>
          <a:p>
            <a:pPr>
              <a:spcBef>
                <a:spcPts val="225"/>
              </a:spcBef>
              <a:defRPr sz="1600">
                <a:latin typeface="Tahoma"/>
                <a:ea typeface="Tahoma"/>
                <a:cs typeface="Tahoma"/>
                <a:sym typeface="Tahoma"/>
              </a:defRPr>
            </a:pPr>
            <a:r>
              <a:rPr sz="1200" dirty="0"/>
              <a:t>Data centers</a:t>
            </a:r>
            <a:br>
              <a:rPr sz="1200" dirty="0"/>
            </a:br>
            <a:r>
              <a:rPr sz="1200" dirty="0"/>
              <a:t>(size of a football field)</a:t>
            </a:r>
          </a:p>
        </p:txBody>
      </p:sp>
      <p:sp>
        <p:nvSpPr>
          <p:cNvPr id="244" name="TextBox 9"/>
          <p:cNvSpPr txBox="1"/>
          <p:nvPr/>
        </p:nvSpPr>
        <p:spPr>
          <a:xfrm>
            <a:off x="5048662" y="1864519"/>
            <a:ext cx="571116" cy="4616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p>
            <a:pPr>
              <a:spcBef>
                <a:spcPts val="225"/>
              </a:spcBef>
              <a:defRPr sz="1600">
                <a:latin typeface="Tahoma"/>
                <a:ea typeface="Tahoma"/>
                <a:cs typeface="Tahoma"/>
                <a:sym typeface="Tahoma"/>
              </a:defRPr>
            </a:pPr>
            <a:r>
              <a:rPr sz="1200"/>
              <a:t>Cooling</a:t>
            </a:r>
            <a:br>
              <a:rPr sz="1200"/>
            </a:br>
            <a:r>
              <a:rPr sz="1200"/>
              <a:t>plant</a:t>
            </a:r>
          </a:p>
        </p:txBody>
      </p:sp>
      <p:sp>
        <p:nvSpPr>
          <p:cNvPr id="245" name="Straight Arrow Connector 11"/>
          <p:cNvSpPr/>
          <p:nvPr/>
        </p:nvSpPr>
        <p:spPr>
          <a:xfrm>
            <a:off x="2500962" y="2790506"/>
            <a:ext cx="1813864" cy="309883"/>
          </a:xfrm>
          <a:prstGeom prst="line">
            <a:avLst/>
          </a:prstGeom>
          <a:ln w="19050">
            <a:solidFill>
              <a:srgbClr val="FF0000"/>
            </a:solidFill>
            <a:tailEnd type="triangle"/>
          </a:ln>
        </p:spPr>
        <p:txBody>
          <a:bodyPr lIns="34289" rIns="34289"/>
          <a:lstStyle/>
          <a:p>
            <a:endParaRPr sz="1500"/>
          </a:p>
        </p:txBody>
      </p:sp>
      <p:sp>
        <p:nvSpPr>
          <p:cNvPr id="246" name="Straight Arrow Connector 13"/>
          <p:cNvSpPr/>
          <p:nvPr/>
        </p:nvSpPr>
        <p:spPr>
          <a:xfrm>
            <a:off x="2478881" y="2900363"/>
            <a:ext cx="842964" cy="628651"/>
          </a:xfrm>
          <a:prstGeom prst="line">
            <a:avLst/>
          </a:prstGeom>
          <a:ln w="19050">
            <a:solidFill>
              <a:srgbClr val="FF0000"/>
            </a:solidFill>
            <a:tailEnd type="triangle"/>
          </a:ln>
        </p:spPr>
        <p:txBody>
          <a:bodyPr lIns="34289" rIns="34289"/>
          <a:lstStyle/>
          <a:p>
            <a:endParaRPr sz="1500"/>
          </a:p>
        </p:txBody>
      </p:sp>
      <p:sp>
        <p:nvSpPr>
          <p:cNvPr id="247" name="Straight Arrow Connector 15"/>
          <p:cNvSpPr/>
          <p:nvPr/>
        </p:nvSpPr>
        <p:spPr>
          <a:xfrm flipH="1">
            <a:off x="5079208" y="2300287"/>
            <a:ext cx="128588" cy="678657"/>
          </a:xfrm>
          <a:prstGeom prst="line">
            <a:avLst/>
          </a:prstGeom>
          <a:ln w="19050">
            <a:solidFill>
              <a:srgbClr val="FF0000"/>
            </a:solidFill>
            <a:tailEnd type="triangle"/>
          </a:ln>
        </p:spPr>
        <p:txBody>
          <a:bodyPr lIns="34289" rIns="34289"/>
          <a:lstStyle/>
          <a:p>
            <a:endParaRPr sz="1500"/>
          </a:p>
        </p:txBody>
      </p:sp>
      <p:pic>
        <p:nvPicPr>
          <p:cNvPr id="248" name="Picture 12" descr="Picture 12"/>
          <p:cNvPicPr>
            <a:picLocks noChangeAspect="1"/>
          </p:cNvPicPr>
          <p:nvPr/>
        </p:nvPicPr>
        <p:blipFill>
          <a:blip r:embed="rId4"/>
          <a:stretch>
            <a:fillRect/>
          </a:stretch>
        </p:blipFill>
        <p:spPr>
          <a:xfrm>
            <a:off x="6035042" y="679400"/>
            <a:ext cx="1973077" cy="1482923"/>
          </a:xfrm>
          <a:prstGeom prst="rect">
            <a:avLst/>
          </a:prstGeom>
          <a:ln w="12700">
            <a:miter lim="400000"/>
          </a:ln>
        </p:spPr>
      </p:pic>
      <p:sp>
        <p:nvSpPr>
          <p:cNvPr id="13" name="Straight Arrow Connector 15">
            <a:extLst>
              <a:ext uri="{FF2B5EF4-FFF2-40B4-BE49-F238E27FC236}">
                <a16:creationId xmlns:a16="http://schemas.microsoft.com/office/drawing/2014/main" id="{7EF3743E-FBE9-4A51-80DD-5B450A10F2B5}"/>
              </a:ext>
            </a:extLst>
          </p:cNvPr>
          <p:cNvSpPr/>
          <p:nvPr/>
        </p:nvSpPr>
        <p:spPr>
          <a:xfrm flipV="1">
            <a:off x="5619778" y="1655116"/>
            <a:ext cx="1266798" cy="411660"/>
          </a:xfrm>
          <a:prstGeom prst="line">
            <a:avLst/>
          </a:prstGeom>
          <a:ln w="19050">
            <a:solidFill>
              <a:srgbClr val="FF0000"/>
            </a:solidFill>
            <a:tailEnd type="triangle"/>
          </a:ln>
        </p:spPr>
        <p:txBody>
          <a:bodyPr lIns="34289" rIns="34289"/>
          <a:lstStyle/>
          <a:p>
            <a:endParaRPr sz="15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Title 1"/>
          <p:cNvSpPr txBox="1">
            <a:spLocks noGrp="1"/>
          </p:cNvSpPr>
          <p:nvPr>
            <p:ph type="title"/>
          </p:nvPr>
        </p:nvSpPr>
        <p:spPr>
          <a:xfrm>
            <a:off x="285750" y="221306"/>
            <a:ext cx="5615608" cy="994172"/>
          </a:xfrm>
          <a:prstGeom prst="rect">
            <a:avLst/>
          </a:prstGeom>
        </p:spPr>
        <p:txBody>
          <a:bodyPr/>
          <a:lstStyle/>
          <a:p>
            <a:r>
              <a:rPr b="1" dirty="0"/>
              <a:t>What's in</a:t>
            </a:r>
            <a:r>
              <a:rPr lang="en-AU" b="1" dirty="0"/>
              <a:t>side</a:t>
            </a:r>
            <a:r>
              <a:rPr b="1" dirty="0"/>
              <a:t> a data center?</a:t>
            </a:r>
          </a:p>
        </p:txBody>
      </p:sp>
      <p:sp>
        <p:nvSpPr>
          <p:cNvPr id="251" name="Content Placeholder 24"/>
          <p:cNvSpPr txBox="1">
            <a:spLocks noGrp="1"/>
          </p:cNvSpPr>
          <p:nvPr>
            <p:ph type="body" sz="quarter" idx="1"/>
          </p:nvPr>
        </p:nvSpPr>
        <p:spPr>
          <a:xfrm>
            <a:off x="1885950" y="4872038"/>
            <a:ext cx="5829300" cy="628650"/>
          </a:xfrm>
          <a:prstGeom prst="rect">
            <a:avLst/>
          </a:prstGeom>
        </p:spPr>
        <p:txBody>
          <a:bodyPr/>
          <a:lstStyle/>
          <a:p>
            <a:r>
              <a:rPr dirty="0"/>
              <a:t>Hundreds or thousands of racks</a:t>
            </a:r>
          </a:p>
        </p:txBody>
      </p:sp>
      <p:pic>
        <p:nvPicPr>
          <p:cNvPr id="253" name="Picture 27" descr="Picture 27"/>
          <p:cNvPicPr>
            <a:picLocks noChangeAspect="1"/>
          </p:cNvPicPr>
          <p:nvPr/>
        </p:nvPicPr>
        <p:blipFill>
          <a:blip r:embed="rId3"/>
          <a:stretch>
            <a:fillRect/>
          </a:stretch>
        </p:blipFill>
        <p:spPr>
          <a:xfrm>
            <a:off x="1985963" y="2025361"/>
            <a:ext cx="3636169" cy="2418053"/>
          </a:xfrm>
          <a:prstGeom prst="rect">
            <a:avLst/>
          </a:prstGeom>
          <a:ln w="12700">
            <a:miter lim="400000"/>
          </a:ln>
        </p:spPr>
      </p:pic>
      <p:pic>
        <p:nvPicPr>
          <p:cNvPr id="254" name="Picture 30" descr="Picture 30"/>
          <p:cNvPicPr>
            <a:picLocks noChangeAspect="1"/>
          </p:cNvPicPr>
          <p:nvPr/>
        </p:nvPicPr>
        <p:blipFill>
          <a:blip r:embed="rId4"/>
          <a:stretch>
            <a:fillRect/>
          </a:stretch>
        </p:blipFill>
        <p:spPr>
          <a:xfrm>
            <a:off x="5901358" y="2014538"/>
            <a:ext cx="1552991" cy="2428876"/>
          </a:xfrm>
          <a:prstGeom prst="rect">
            <a:avLst/>
          </a:prstGeom>
          <a:ln w="12700">
            <a:miter lim="400000"/>
          </a:ln>
        </p:spPr>
      </p:pic>
      <p:sp>
        <p:nvSpPr>
          <p:cNvPr id="255" name="TextBox 32"/>
          <p:cNvSpPr txBox="1"/>
          <p:nvPr/>
        </p:nvSpPr>
        <p:spPr>
          <a:xfrm>
            <a:off x="6757859" y="4429126"/>
            <a:ext cx="696022"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lvl1pPr>
              <a:spcBef>
                <a:spcPts val="200"/>
              </a:spcBef>
              <a:defRPr sz="1200">
                <a:latin typeface="Tahoma"/>
                <a:ea typeface="Tahoma"/>
                <a:cs typeface="Tahoma"/>
                <a:sym typeface="Tahoma"/>
              </a:defRPr>
            </a:lvl1pPr>
          </a:lstStyle>
          <a:p>
            <a:r>
              <a:rPr sz="900"/>
              <a:t>Source: 1&amp;1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Content Placeholder 24"/>
          <p:cNvSpPr txBox="1">
            <a:spLocks noGrp="1"/>
          </p:cNvSpPr>
          <p:nvPr>
            <p:ph type="body" sz="quarter" idx="1"/>
          </p:nvPr>
        </p:nvSpPr>
        <p:spPr>
          <a:xfrm>
            <a:off x="1885950" y="4800600"/>
            <a:ext cx="5829300" cy="700088"/>
          </a:xfrm>
          <a:prstGeom prst="rect">
            <a:avLst/>
          </a:prstGeom>
        </p:spPr>
        <p:txBody>
          <a:bodyPr/>
          <a:lstStyle/>
          <a:p>
            <a:r>
              <a:rPr dirty="0"/>
              <a:t>Massive networking</a:t>
            </a:r>
          </a:p>
        </p:txBody>
      </p:sp>
      <p:sp>
        <p:nvSpPr>
          <p:cNvPr id="260" name="TextBox 32"/>
          <p:cNvSpPr txBox="1"/>
          <p:nvPr/>
        </p:nvSpPr>
        <p:spPr>
          <a:xfrm>
            <a:off x="6350665" y="4157663"/>
            <a:ext cx="696022"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lvl1pPr>
              <a:spcBef>
                <a:spcPts val="200"/>
              </a:spcBef>
              <a:defRPr sz="1200">
                <a:latin typeface="Tahoma"/>
                <a:ea typeface="Tahoma"/>
                <a:cs typeface="Tahoma"/>
                <a:sym typeface="Tahoma"/>
              </a:defRPr>
            </a:lvl1pPr>
          </a:lstStyle>
          <a:p>
            <a:r>
              <a:rPr sz="900"/>
              <a:t>Source: 1&amp;1</a:t>
            </a:r>
          </a:p>
        </p:txBody>
      </p:sp>
      <p:pic>
        <p:nvPicPr>
          <p:cNvPr id="261" name="Picture 8" descr="Picture 8"/>
          <p:cNvPicPr>
            <a:picLocks noChangeAspect="1"/>
          </p:cNvPicPr>
          <p:nvPr/>
        </p:nvPicPr>
        <p:blipFill>
          <a:blip r:embed="rId3"/>
          <a:stretch>
            <a:fillRect/>
          </a:stretch>
        </p:blipFill>
        <p:spPr>
          <a:xfrm>
            <a:off x="2778920" y="2207418"/>
            <a:ext cx="2578893" cy="1934171"/>
          </a:xfrm>
          <a:prstGeom prst="rect">
            <a:avLst/>
          </a:prstGeom>
          <a:ln w="12700">
            <a:miter lim="400000"/>
          </a:ln>
        </p:spPr>
      </p:pic>
      <p:pic>
        <p:nvPicPr>
          <p:cNvPr id="262" name="Picture 11" descr="Picture 11"/>
          <p:cNvPicPr>
            <a:picLocks noChangeAspect="1"/>
          </p:cNvPicPr>
          <p:nvPr/>
        </p:nvPicPr>
        <p:blipFill>
          <a:blip r:embed="rId4"/>
          <a:stretch>
            <a:fillRect/>
          </a:stretch>
        </p:blipFill>
        <p:spPr>
          <a:xfrm>
            <a:off x="5604117" y="2193131"/>
            <a:ext cx="1475340" cy="1968104"/>
          </a:xfrm>
          <a:prstGeom prst="rect">
            <a:avLst/>
          </a:prstGeom>
          <a:ln w="12700">
            <a:miter lim="400000"/>
          </a:ln>
        </p:spPr>
      </p:pic>
      <p:sp>
        <p:nvSpPr>
          <p:cNvPr id="10" name="Title 1">
            <a:extLst>
              <a:ext uri="{FF2B5EF4-FFF2-40B4-BE49-F238E27FC236}">
                <a16:creationId xmlns:a16="http://schemas.microsoft.com/office/drawing/2014/main" id="{E0E15410-F758-4449-AE72-3360BD435F05}"/>
              </a:ext>
            </a:extLst>
          </p:cNvPr>
          <p:cNvSpPr txBox="1">
            <a:spLocks noGrp="1"/>
          </p:cNvSpPr>
          <p:nvPr>
            <p:ph type="title"/>
          </p:nvPr>
        </p:nvSpPr>
        <p:spPr>
          <a:xfrm>
            <a:off x="285750" y="221306"/>
            <a:ext cx="5615608" cy="994172"/>
          </a:xfrm>
          <a:prstGeom prst="rect">
            <a:avLst/>
          </a:prstGeom>
        </p:spPr>
        <p:txBody>
          <a:bodyPr/>
          <a:lstStyle/>
          <a:p>
            <a:r>
              <a:rPr b="1" dirty="0"/>
              <a:t>What's in</a:t>
            </a:r>
            <a:r>
              <a:rPr lang="en-AU" b="1" dirty="0"/>
              <a:t>side</a:t>
            </a:r>
            <a:r>
              <a:rPr b="1" dirty="0"/>
              <a:t> a data center?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Content Placeholder 24"/>
          <p:cNvSpPr txBox="1">
            <a:spLocks noGrp="1"/>
          </p:cNvSpPr>
          <p:nvPr>
            <p:ph type="body" sz="quarter" idx="1"/>
          </p:nvPr>
        </p:nvSpPr>
        <p:spPr>
          <a:xfrm>
            <a:off x="1885950" y="4800600"/>
            <a:ext cx="5829300" cy="700088"/>
          </a:xfrm>
          <a:prstGeom prst="rect">
            <a:avLst/>
          </a:prstGeom>
        </p:spPr>
        <p:txBody>
          <a:bodyPr/>
          <a:lstStyle/>
          <a:p>
            <a:r>
              <a:rPr lang="en-US" dirty="0"/>
              <a:t>Redundant and scalable power supplies </a:t>
            </a:r>
            <a:endParaRPr dirty="0"/>
          </a:p>
        </p:txBody>
      </p:sp>
      <p:sp>
        <p:nvSpPr>
          <p:cNvPr id="267" name="TextBox 32"/>
          <p:cNvSpPr txBox="1"/>
          <p:nvPr/>
        </p:nvSpPr>
        <p:spPr>
          <a:xfrm>
            <a:off x="7107902" y="4236245"/>
            <a:ext cx="696022"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lvl1pPr>
              <a:spcBef>
                <a:spcPts val="200"/>
              </a:spcBef>
              <a:defRPr sz="1200">
                <a:latin typeface="Tahoma"/>
                <a:ea typeface="Tahoma"/>
                <a:cs typeface="Tahoma"/>
                <a:sym typeface="Tahoma"/>
              </a:defRPr>
            </a:lvl1pPr>
          </a:lstStyle>
          <a:p>
            <a:r>
              <a:rPr sz="900"/>
              <a:t>Source: 1&amp;1</a:t>
            </a:r>
          </a:p>
        </p:txBody>
      </p:sp>
      <p:pic>
        <p:nvPicPr>
          <p:cNvPr id="268" name="Picture 10" descr="Picture 10"/>
          <p:cNvPicPr>
            <a:picLocks noChangeAspect="1"/>
          </p:cNvPicPr>
          <p:nvPr/>
        </p:nvPicPr>
        <p:blipFill>
          <a:blip r:embed="rId3"/>
          <a:stretch>
            <a:fillRect/>
          </a:stretch>
        </p:blipFill>
        <p:spPr>
          <a:xfrm>
            <a:off x="1900238" y="2223493"/>
            <a:ext cx="2707481" cy="2030612"/>
          </a:xfrm>
          <a:prstGeom prst="rect">
            <a:avLst/>
          </a:prstGeom>
          <a:ln w="12700">
            <a:miter lim="400000"/>
          </a:ln>
        </p:spPr>
      </p:pic>
      <p:pic>
        <p:nvPicPr>
          <p:cNvPr id="269" name="Picture 12" descr="Picture 12"/>
          <p:cNvPicPr>
            <a:picLocks noChangeAspect="1"/>
          </p:cNvPicPr>
          <p:nvPr/>
        </p:nvPicPr>
        <p:blipFill>
          <a:blip r:embed="rId4"/>
          <a:stretch>
            <a:fillRect/>
          </a:stretch>
        </p:blipFill>
        <p:spPr>
          <a:xfrm>
            <a:off x="4670181" y="2221706"/>
            <a:ext cx="1531570" cy="2043113"/>
          </a:xfrm>
          <a:prstGeom prst="rect">
            <a:avLst/>
          </a:prstGeom>
          <a:ln w="12700">
            <a:miter lim="400000"/>
          </a:ln>
        </p:spPr>
      </p:pic>
      <p:pic>
        <p:nvPicPr>
          <p:cNvPr id="270" name="Picture 13" descr="Picture 13"/>
          <p:cNvPicPr>
            <a:picLocks noChangeAspect="1"/>
          </p:cNvPicPr>
          <p:nvPr/>
        </p:nvPicPr>
        <p:blipFill>
          <a:blip r:embed="rId5"/>
          <a:stretch>
            <a:fillRect/>
          </a:stretch>
        </p:blipFill>
        <p:spPr>
          <a:xfrm>
            <a:off x="6306904" y="2228851"/>
            <a:ext cx="1515504" cy="2021681"/>
          </a:xfrm>
          <a:prstGeom prst="rect">
            <a:avLst/>
          </a:prstGeom>
          <a:ln w="12700">
            <a:miter lim="400000"/>
          </a:ln>
        </p:spPr>
      </p:pic>
      <p:sp>
        <p:nvSpPr>
          <p:cNvPr id="11" name="Title 1">
            <a:extLst>
              <a:ext uri="{FF2B5EF4-FFF2-40B4-BE49-F238E27FC236}">
                <a16:creationId xmlns:a16="http://schemas.microsoft.com/office/drawing/2014/main" id="{25EF1D31-8ECD-46AD-8C1D-FCC732A09E51}"/>
              </a:ext>
            </a:extLst>
          </p:cNvPr>
          <p:cNvSpPr txBox="1">
            <a:spLocks noGrp="1"/>
          </p:cNvSpPr>
          <p:nvPr>
            <p:ph type="title"/>
          </p:nvPr>
        </p:nvSpPr>
        <p:spPr>
          <a:xfrm>
            <a:off x="285750" y="221306"/>
            <a:ext cx="5615608" cy="994172"/>
          </a:xfrm>
          <a:prstGeom prst="rect">
            <a:avLst/>
          </a:prstGeom>
        </p:spPr>
        <p:txBody>
          <a:bodyPr/>
          <a:lstStyle/>
          <a:p>
            <a:r>
              <a:rPr b="1" dirty="0"/>
              <a:t>What's in</a:t>
            </a:r>
            <a:r>
              <a:rPr lang="en-AU" b="1" dirty="0"/>
              <a:t>side</a:t>
            </a:r>
            <a:r>
              <a:rPr b="1" dirty="0"/>
              <a:t> a data center?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Content Placeholder 24"/>
          <p:cNvSpPr txBox="1">
            <a:spLocks noGrp="1"/>
          </p:cNvSpPr>
          <p:nvPr>
            <p:ph type="body" sz="quarter" idx="1"/>
          </p:nvPr>
        </p:nvSpPr>
        <p:spPr>
          <a:xfrm>
            <a:off x="1885950" y="4800600"/>
            <a:ext cx="5829300" cy="700088"/>
          </a:xfrm>
          <a:prstGeom prst="rect">
            <a:avLst/>
          </a:prstGeom>
        </p:spPr>
        <p:txBody>
          <a:bodyPr/>
          <a:lstStyle/>
          <a:p>
            <a:r>
              <a:t>Massive cooling</a:t>
            </a:r>
          </a:p>
        </p:txBody>
      </p:sp>
      <p:sp>
        <p:nvSpPr>
          <p:cNvPr id="275" name="TextBox 32"/>
          <p:cNvSpPr txBox="1"/>
          <p:nvPr/>
        </p:nvSpPr>
        <p:spPr>
          <a:xfrm>
            <a:off x="6757859" y="4100513"/>
            <a:ext cx="696022"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lvl1pPr>
              <a:spcBef>
                <a:spcPts val="200"/>
              </a:spcBef>
              <a:defRPr sz="1200">
                <a:latin typeface="Tahoma"/>
                <a:ea typeface="Tahoma"/>
                <a:cs typeface="Tahoma"/>
                <a:sym typeface="Tahoma"/>
              </a:defRPr>
            </a:lvl1pPr>
          </a:lstStyle>
          <a:p>
            <a:r>
              <a:rPr sz="900"/>
              <a:t>Source: 1&amp;1</a:t>
            </a:r>
          </a:p>
        </p:txBody>
      </p:sp>
      <p:grpSp>
        <p:nvGrpSpPr>
          <p:cNvPr id="278" name="Group 10"/>
          <p:cNvGrpSpPr/>
          <p:nvPr/>
        </p:nvGrpSpPr>
        <p:grpSpPr>
          <a:xfrm>
            <a:off x="2264569" y="2164558"/>
            <a:ext cx="5257964" cy="1907381"/>
            <a:chOff x="0" y="0"/>
            <a:chExt cx="7010617" cy="2543174"/>
          </a:xfrm>
        </p:grpSpPr>
        <p:pic>
          <p:nvPicPr>
            <p:cNvPr id="276" name="Picture 8" descr="Picture 8"/>
            <p:cNvPicPr>
              <a:picLocks noChangeAspect="1"/>
            </p:cNvPicPr>
            <p:nvPr/>
          </p:nvPicPr>
          <p:blipFill>
            <a:blip r:embed="rId3"/>
            <a:stretch>
              <a:fillRect/>
            </a:stretch>
          </p:blipFill>
          <p:spPr>
            <a:xfrm>
              <a:off x="0" y="6202"/>
              <a:ext cx="3382631" cy="2536973"/>
            </a:xfrm>
            <a:prstGeom prst="rect">
              <a:avLst/>
            </a:prstGeom>
            <a:ln w="12700" cap="flat">
              <a:noFill/>
              <a:miter lim="400000"/>
            </a:ln>
            <a:effectLst/>
          </p:spPr>
        </p:pic>
        <p:pic>
          <p:nvPicPr>
            <p:cNvPr id="277" name="Picture 9" descr="Picture 9"/>
            <p:cNvPicPr>
              <a:picLocks noChangeAspect="1"/>
            </p:cNvPicPr>
            <p:nvPr/>
          </p:nvPicPr>
          <p:blipFill>
            <a:blip r:embed="rId4"/>
            <a:stretch>
              <a:fillRect/>
            </a:stretch>
          </p:blipFill>
          <p:spPr>
            <a:xfrm>
              <a:off x="3636258" y="0"/>
              <a:ext cx="3374360" cy="2530770"/>
            </a:xfrm>
            <a:prstGeom prst="rect">
              <a:avLst/>
            </a:prstGeom>
            <a:ln w="12700" cap="flat">
              <a:noFill/>
              <a:miter lim="400000"/>
            </a:ln>
            <a:effectLst/>
          </p:spPr>
        </p:pic>
      </p:grpSp>
      <p:sp>
        <p:nvSpPr>
          <p:cNvPr id="11" name="Title 1">
            <a:extLst>
              <a:ext uri="{FF2B5EF4-FFF2-40B4-BE49-F238E27FC236}">
                <a16:creationId xmlns:a16="http://schemas.microsoft.com/office/drawing/2014/main" id="{89EAEC35-E864-4011-8864-61B6736536FD}"/>
              </a:ext>
            </a:extLst>
          </p:cNvPr>
          <p:cNvSpPr txBox="1">
            <a:spLocks noGrp="1"/>
          </p:cNvSpPr>
          <p:nvPr>
            <p:ph type="title"/>
          </p:nvPr>
        </p:nvSpPr>
        <p:spPr>
          <a:xfrm>
            <a:off x="285750" y="221306"/>
            <a:ext cx="5615608" cy="994172"/>
          </a:xfrm>
          <a:prstGeom prst="rect">
            <a:avLst/>
          </a:prstGeom>
        </p:spPr>
        <p:txBody>
          <a:bodyPr/>
          <a:lstStyle/>
          <a:p>
            <a:r>
              <a:rPr b="1" dirty="0"/>
              <a:t>What's in</a:t>
            </a:r>
            <a:r>
              <a:rPr lang="en-AU" b="1" dirty="0"/>
              <a:t>side</a:t>
            </a:r>
            <a:r>
              <a:rPr b="1" dirty="0"/>
              <a:t> a data center?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Title 1"/>
          <p:cNvSpPr txBox="1">
            <a:spLocks noGrp="1"/>
          </p:cNvSpPr>
          <p:nvPr>
            <p:ph type="title"/>
          </p:nvPr>
        </p:nvSpPr>
        <p:spPr>
          <a:xfrm>
            <a:off x="304186" y="200693"/>
            <a:ext cx="3958098" cy="994172"/>
          </a:xfrm>
          <a:prstGeom prst="rect">
            <a:avLst/>
          </a:prstGeom>
        </p:spPr>
        <p:txBody>
          <a:bodyPr/>
          <a:lstStyle/>
          <a:p>
            <a:r>
              <a:rPr lang="en-AU" b="1" dirty="0"/>
              <a:t>Data </a:t>
            </a:r>
            <a:r>
              <a:rPr lang="en-AU" b="1" dirty="0" err="1"/>
              <a:t>Center</a:t>
            </a:r>
            <a:endParaRPr b="1" dirty="0"/>
          </a:p>
        </p:txBody>
      </p:sp>
      <p:sp>
        <p:nvSpPr>
          <p:cNvPr id="418" name="Content Placeholder 2"/>
          <p:cNvSpPr txBox="1">
            <a:spLocks noGrp="1"/>
          </p:cNvSpPr>
          <p:nvPr>
            <p:ph type="body" idx="1"/>
          </p:nvPr>
        </p:nvSpPr>
        <p:spPr>
          <a:xfrm>
            <a:off x="529097" y="1381547"/>
            <a:ext cx="8344372" cy="2047454"/>
          </a:xfrm>
          <a:prstGeom prst="rect">
            <a:avLst/>
          </a:prstGeom>
        </p:spPr>
        <p:txBody>
          <a:bodyPr>
            <a:normAutofit/>
          </a:bodyPr>
          <a:lstStyle/>
          <a:p>
            <a:pPr>
              <a:lnSpc>
                <a:spcPct val="81000"/>
              </a:lnSpc>
              <a:defRPr sz="2500"/>
            </a:pPr>
            <a:r>
              <a:rPr lang="en-US" sz="2000" dirty="0"/>
              <a:t>Hundreds or thousands of racks</a:t>
            </a:r>
            <a:endParaRPr lang="en-AU" sz="2000" dirty="0"/>
          </a:p>
          <a:p>
            <a:r>
              <a:rPr lang="en-US" sz="2000" dirty="0"/>
              <a:t>High-capacity networking infrastructure</a:t>
            </a:r>
          </a:p>
          <a:p>
            <a:pPr>
              <a:lnSpc>
                <a:spcPct val="81000"/>
              </a:lnSpc>
              <a:defRPr sz="2500"/>
            </a:pPr>
            <a:r>
              <a:rPr lang="en-US" sz="2000" dirty="0"/>
              <a:t>Redundant and scalable power supplies</a:t>
            </a:r>
          </a:p>
          <a:p>
            <a:pPr>
              <a:lnSpc>
                <a:spcPct val="81000"/>
              </a:lnSpc>
              <a:defRPr sz="2500"/>
            </a:pPr>
            <a:r>
              <a:rPr lang="en-AU" sz="2000" dirty="0"/>
              <a:t>Large-scale cooling infrastructure</a:t>
            </a:r>
            <a:endParaRPr sz="2000" dirty="0"/>
          </a:p>
        </p:txBody>
      </p:sp>
    </p:spTree>
    <p:extLst>
      <p:ext uri="{BB962C8B-B14F-4D97-AF65-F5344CB8AC3E}">
        <p14:creationId xmlns:p14="http://schemas.microsoft.com/office/powerpoint/2010/main" val="6881729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Title 1"/>
          <p:cNvSpPr txBox="1">
            <a:spLocks noGrp="1"/>
          </p:cNvSpPr>
          <p:nvPr>
            <p:ph type="title"/>
          </p:nvPr>
        </p:nvSpPr>
        <p:spPr>
          <a:xfrm>
            <a:off x="434765" y="234137"/>
            <a:ext cx="3459583" cy="994172"/>
          </a:xfrm>
          <a:prstGeom prst="rect">
            <a:avLst/>
          </a:prstGeom>
        </p:spPr>
        <p:txBody>
          <a:bodyPr/>
          <a:lstStyle/>
          <a:p>
            <a:r>
              <a:rPr b="1" dirty="0"/>
              <a:t>Scaling up</a:t>
            </a:r>
          </a:p>
        </p:txBody>
      </p:sp>
      <p:sp>
        <p:nvSpPr>
          <p:cNvPr id="294" name="Content Placeholder 2"/>
          <p:cNvSpPr txBox="1">
            <a:spLocks noGrp="1"/>
          </p:cNvSpPr>
          <p:nvPr>
            <p:ph type="body" sz="quarter" idx="1"/>
          </p:nvPr>
        </p:nvSpPr>
        <p:spPr>
          <a:xfrm>
            <a:off x="1633469" y="4327448"/>
            <a:ext cx="5953194" cy="1207295"/>
          </a:xfrm>
          <a:prstGeom prst="rect">
            <a:avLst/>
          </a:prstGeom>
        </p:spPr>
        <p:txBody>
          <a:bodyPr>
            <a:normAutofit/>
          </a:bodyPr>
          <a:lstStyle/>
          <a:p>
            <a:r>
              <a:rPr sz="2400" dirty="0"/>
              <a:t>What if a data center is not big enough?</a:t>
            </a:r>
          </a:p>
          <a:p>
            <a:pPr lvl="1">
              <a:defRPr sz="2400"/>
            </a:pPr>
            <a:r>
              <a:rPr sz="2400" dirty="0"/>
              <a:t>Build </a:t>
            </a:r>
            <a:r>
              <a:rPr lang="en-AU" sz="2400" dirty="0"/>
              <a:t>many</a:t>
            </a:r>
            <a:r>
              <a:rPr sz="2400" dirty="0"/>
              <a:t> data centers</a:t>
            </a:r>
          </a:p>
        </p:txBody>
      </p:sp>
      <p:pic>
        <p:nvPicPr>
          <p:cNvPr id="296" name="Picture 5" descr="Picture 5"/>
          <p:cNvPicPr>
            <a:picLocks noChangeAspect="1"/>
          </p:cNvPicPr>
          <p:nvPr/>
        </p:nvPicPr>
        <p:blipFill>
          <a:blip r:embed="rId3"/>
          <a:stretch>
            <a:fillRect/>
          </a:stretch>
        </p:blipFill>
        <p:spPr>
          <a:xfrm>
            <a:off x="1578769" y="2944653"/>
            <a:ext cx="397233" cy="470060"/>
          </a:xfrm>
          <a:prstGeom prst="rect">
            <a:avLst/>
          </a:prstGeom>
          <a:ln w="12700">
            <a:miter lim="400000"/>
          </a:ln>
        </p:spPr>
      </p:pic>
      <p:pic>
        <p:nvPicPr>
          <p:cNvPr id="297" name="Picture 6" descr="Picture 6"/>
          <p:cNvPicPr>
            <a:picLocks noChangeAspect="1"/>
          </p:cNvPicPr>
          <p:nvPr/>
        </p:nvPicPr>
        <p:blipFill>
          <a:blip r:embed="rId4"/>
          <a:stretch>
            <a:fillRect/>
          </a:stretch>
        </p:blipFill>
        <p:spPr>
          <a:xfrm flipH="1">
            <a:off x="2164557" y="2736056"/>
            <a:ext cx="629759" cy="689171"/>
          </a:xfrm>
          <a:prstGeom prst="rect">
            <a:avLst/>
          </a:prstGeom>
          <a:ln w="12700">
            <a:miter lim="400000"/>
          </a:ln>
        </p:spPr>
      </p:pic>
      <p:pic>
        <p:nvPicPr>
          <p:cNvPr id="298" name="Picture 7" descr="Picture 7"/>
          <p:cNvPicPr>
            <a:picLocks noChangeAspect="1"/>
          </p:cNvPicPr>
          <p:nvPr/>
        </p:nvPicPr>
        <p:blipFill>
          <a:blip r:embed="rId5"/>
          <a:stretch>
            <a:fillRect/>
          </a:stretch>
        </p:blipFill>
        <p:spPr>
          <a:xfrm flipH="1">
            <a:off x="3014386" y="2486025"/>
            <a:ext cx="673796" cy="937324"/>
          </a:xfrm>
          <a:prstGeom prst="rect">
            <a:avLst/>
          </a:prstGeom>
          <a:ln w="12700">
            <a:miter lim="400000"/>
          </a:ln>
        </p:spPr>
      </p:pic>
      <p:sp>
        <p:nvSpPr>
          <p:cNvPr id="299" name="TextBox 12"/>
          <p:cNvSpPr txBox="1"/>
          <p:nvPr/>
        </p:nvSpPr>
        <p:spPr>
          <a:xfrm>
            <a:off x="1421605" y="3514726"/>
            <a:ext cx="664370" cy="253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spcBef>
                <a:spcPts val="300"/>
              </a:spcBef>
              <a:defRPr sz="1400">
                <a:latin typeface="Tahoma"/>
                <a:ea typeface="Tahoma"/>
                <a:cs typeface="Tahoma"/>
                <a:sym typeface="Tahoma"/>
              </a:defRPr>
            </a:lvl1pPr>
          </a:lstStyle>
          <a:p>
            <a:r>
              <a:rPr sz="1050"/>
              <a:t>PC</a:t>
            </a:r>
          </a:p>
        </p:txBody>
      </p:sp>
      <p:sp>
        <p:nvSpPr>
          <p:cNvPr id="300" name="TextBox 13"/>
          <p:cNvSpPr txBox="1"/>
          <p:nvPr/>
        </p:nvSpPr>
        <p:spPr>
          <a:xfrm>
            <a:off x="2035969" y="3500438"/>
            <a:ext cx="850106" cy="253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spcBef>
                <a:spcPts val="300"/>
              </a:spcBef>
              <a:defRPr sz="1400">
                <a:latin typeface="Tahoma"/>
                <a:ea typeface="Tahoma"/>
                <a:cs typeface="Tahoma"/>
                <a:sym typeface="Tahoma"/>
              </a:defRPr>
            </a:lvl1pPr>
          </a:lstStyle>
          <a:p>
            <a:r>
              <a:rPr sz="1050"/>
              <a:t>Server</a:t>
            </a:r>
          </a:p>
        </p:txBody>
      </p:sp>
      <p:sp>
        <p:nvSpPr>
          <p:cNvPr id="301" name="TextBox 14"/>
          <p:cNvSpPr txBox="1"/>
          <p:nvPr/>
        </p:nvSpPr>
        <p:spPr>
          <a:xfrm>
            <a:off x="2950369" y="3507582"/>
            <a:ext cx="764381" cy="253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spcBef>
                <a:spcPts val="300"/>
              </a:spcBef>
              <a:defRPr sz="1400">
                <a:latin typeface="Tahoma"/>
                <a:ea typeface="Tahoma"/>
                <a:cs typeface="Tahoma"/>
                <a:sym typeface="Tahoma"/>
              </a:defRPr>
            </a:lvl1pPr>
          </a:lstStyle>
          <a:p>
            <a:r>
              <a:rPr sz="1050"/>
              <a:t>Cluster</a:t>
            </a:r>
          </a:p>
        </p:txBody>
      </p:sp>
      <p:sp>
        <p:nvSpPr>
          <p:cNvPr id="302" name="TextBox 15"/>
          <p:cNvSpPr txBox="1"/>
          <p:nvPr/>
        </p:nvSpPr>
        <p:spPr>
          <a:xfrm>
            <a:off x="4171949" y="3507582"/>
            <a:ext cx="892970" cy="253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spcBef>
                <a:spcPts val="300"/>
              </a:spcBef>
              <a:defRPr sz="1400">
                <a:latin typeface="Tahoma"/>
                <a:ea typeface="Tahoma"/>
                <a:cs typeface="Tahoma"/>
                <a:sym typeface="Tahoma"/>
              </a:defRPr>
            </a:lvl1pPr>
          </a:lstStyle>
          <a:p>
            <a:r>
              <a:rPr sz="1050"/>
              <a:t>Data center</a:t>
            </a:r>
          </a:p>
        </p:txBody>
      </p:sp>
      <p:sp>
        <p:nvSpPr>
          <p:cNvPr id="303" name="TextBox 16"/>
          <p:cNvSpPr txBox="1"/>
          <p:nvPr/>
        </p:nvSpPr>
        <p:spPr>
          <a:xfrm>
            <a:off x="5800724" y="3500438"/>
            <a:ext cx="1785939" cy="2539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lvl1pPr>
              <a:spcBef>
                <a:spcPts val="300"/>
              </a:spcBef>
              <a:defRPr sz="1400">
                <a:latin typeface="Tahoma"/>
                <a:ea typeface="Tahoma"/>
                <a:cs typeface="Tahoma"/>
                <a:sym typeface="Tahoma"/>
              </a:defRPr>
            </a:lvl1pPr>
          </a:lstStyle>
          <a:p>
            <a:r>
              <a:rPr sz="1050"/>
              <a:t>Network of data centers</a:t>
            </a:r>
          </a:p>
        </p:txBody>
      </p:sp>
      <p:pic>
        <p:nvPicPr>
          <p:cNvPr id="304" name="Picture 17" descr="Picture 17"/>
          <p:cNvPicPr>
            <a:picLocks noChangeAspect="1"/>
          </p:cNvPicPr>
          <p:nvPr/>
        </p:nvPicPr>
        <p:blipFill>
          <a:blip r:embed="rId6"/>
          <a:stretch>
            <a:fillRect/>
          </a:stretch>
        </p:blipFill>
        <p:spPr>
          <a:xfrm>
            <a:off x="4014788" y="2166828"/>
            <a:ext cx="1303734" cy="1276460"/>
          </a:xfrm>
          <a:prstGeom prst="rect">
            <a:avLst/>
          </a:prstGeom>
          <a:ln w="12700">
            <a:miter lim="400000"/>
          </a:ln>
        </p:spPr>
      </p:pic>
      <p:pic>
        <p:nvPicPr>
          <p:cNvPr id="305" name="Picture 18" descr="Picture 18"/>
          <p:cNvPicPr>
            <a:picLocks noChangeAspect="1"/>
          </p:cNvPicPr>
          <p:nvPr/>
        </p:nvPicPr>
        <p:blipFill>
          <a:blip r:embed="rId6"/>
          <a:stretch>
            <a:fillRect/>
          </a:stretch>
        </p:blipFill>
        <p:spPr>
          <a:xfrm>
            <a:off x="5850731" y="1759634"/>
            <a:ext cx="528638" cy="517579"/>
          </a:xfrm>
          <a:prstGeom prst="rect">
            <a:avLst/>
          </a:prstGeom>
          <a:ln w="12700">
            <a:miter lim="400000"/>
          </a:ln>
        </p:spPr>
      </p:pic>
      <p:pic>
        <p:nvPicPr>
          <p:cNvPr id="306" name="Picture 19" descr="Picture 19"/>
          <p:cNvPicPr>
            <a:picLocks noChangeAspect="1"/>
          </p:cNvPicPr>
          <p:nvPr/>
        </p:nvPicPr>
        <p:blipFill>
          <a:blip r:embed="rId6"/>
          <a:stretch>
            <a:fillRect/>
          </a:stretch>
        </p:blipFill>
        <p:spPr>
          <a:xfrm>
            <a:off x="6429375" y="1759634"/>
            <a:ext cx="528638" cy="517579"/>
          </a:xfrm>
          <a:prstGeom prst="rect">
            <a:avLst/>
          </a:prstGeom>
          <a:ln w="12700">
            <a:miter lim="400000"/>
          </a:ln>
        </p:spPr>
      </p:pic>
      <p:pic>
        <p:nvPicPr>
          <p:cNvPr id="307" name="Picture 20" descr="Picture 20"/>
          <p:cNvPicPr>
            <a:picLocks noChangeAspect="1"/>
          </p:cNvPicPr>
          <p:nvPr/>
        </p:nvPicPr>
        <p:blipFill>
          <a:blip r:embed="rId6"/>
          <a:stretch>
            <a:fillRect/>
          </a:stretch>
        </p:blipFill>
        <p:spPr>
          <a:xfrm>
            <a:off x="7008019" y="1759634"/>
            <a:ext cx="528638" cy="517579"/>
          </a:xfrm>
          <a:prstGeom prst="rect">
            <a:avLst/>
          </a:prstGeom>
          <a:ln w="12700">
            <a:miter lim="400000"/>
          </a:ln>
        </p:spPr>
      </p:pic>
      <p:pic>
        <p:nvPicPr>
          <p:cNvPr id="308" name="Picture 21" descr="Picture 21"/>
          <p:cNvPicPr>
            <a:picLocks noChangeAspect="1"/>
          </p:cNvPicPr>
          <p:nvPr/>
        </p:nvPicPr>
        <p:blipFill>
          <a:blip r:embed="rId6"/>
          <a:stretch>
            <a:fillRect/>
          </a:stretch>
        </p:blipFill>
        <p:spPr>
          <a:xfrm>
            <a:off x="5843587" y="2338278"/>
            <a:ext cx="528638" cy="517579"/>
          </a:xfrm>
          <a:prstGeom prst="rect">
            <a:avLst/>
          </a:prstGeom>
          <a:ln w="12700">
            <a:miter lim="400000"/>
          </a:ln>
        </p:spPr>
      </p:pic>
      <p:pic>
        <p:nvPicPr>
          <p:cNvPr id="309" name="Picture 22" descr="Picture 22"/>
          <p:cNvPicPr>
            <a:picLocks noChangeAspect="1"/>
          </p:cNvPicPr>
          <p:nvPr/>
        </p:nvPicPr>
        <p:blipFill>
          <a:blip r:embed="rId6"/>
          <a:stretch>
            <a:fillRect/>
          </a:stretch>
        </p:blipFill>
        <p:spPr>
          <a:xfrm>
            <a:off x="6422231" y="2338278"/>
            <a:ext cx="528638" cy="517579"/>
          </a:xfrm>
          <a:prstGeom prst="rect">
            <a:avLst/>
          </a:prstGeom>
          <a:ln w="12700">
            <a:miter lim="400000"/>
          </a:ln>
        </p:spPr>
      </p:pic>
      <p:pic>
        <p:nvPicPr>
          <p:cNvPr id="310" name="Picture 23" descr="Picture 23"/>
          <p:cNvPicPr>
            <a:picLocks noChangeAspect="1"/>
          </p:cNvPicPr>
          <p:nvPr/>
        </p:nvPicPr>
        <p:blipFill>
          <a:blip r:embed="rId6"/>
          <a:stretch>
            <a:fillRect/>
          </a:stretch>
        </p:blipFill>
        <p:spPr>
          <a:xfrm>
            <a:off x="7000875" y="2338278"/>
            <a:ext cx="528638" cy="517579"/>
          </a:xfrm>
          <a:prstGeom prst="rect">
            <a:avLst/>
          </a:prstGeom>
          <a:ln w="12700">
            <a:miter lim="400000"/>
          </a:ln>
        </p:spPr>
      </p:pic>
      <p:pic>
        <p:nvPicPr>
          <p:cNvPr id="311" name="Picture 24" descr="Picture 24"/>
          <p:cNvPicPr>
            <a:picLocks noChangeAspect="1"/>
          </p:cNvPicPr>
          <p:nvPr/>
        </p:nvPicPr>
        <p:blipFill>
          <a:blip r:embed="rId6"/>
          <a:stretch>
            <a:fillRect/>
          </a:stretch>
        </p:blipFill>
        <p:spPr>
          <a:xfrm>
            <a:off x="5843587" y="2916922"/>
            <a:ext cx="528638" cy="517579"/>
          </a:xfrm>
          <a:prstGeom prst="rect">
            <a:avLst/>
          </a:prstGeom>
          <a:ln w="12700">
            <a:miter lim="400000"/>
          </a:ln>
        </p:spPr>
      </p:pic>
      <p:pic>
        <p:nvPicPr>
          <p:cNvPr id="312" name="Picture 25" descr="Picture 25"/>
          <p:cNvPicPr>
            <a:picLocks noChangeAspect="1"/>
          </p:cNvPicPr>
          <p:nvPr/>
        </p:nvPicPr>
        <p:blipFill>
          <a:blip r:embed="rId6"/>
          <a:stretch>
            <a:fillRect/>
          </a:stretch>
        </p:blipFill>
        <p:spPr>
          <a:xfrm>
            <a:off x="6422231" y="2916922"/>
            <a:ext cx="528638" cy="517579"/>
          </a:xfrm>
          <a:prstGeom prst="rect">
            <a:avLst/>
          </a:prstGeom>
          <a:ln w="12700">
            <a:miter lim="400000"/>
          </a:ln>
        </p:spPr>
      </p:pic>
      <p:pic>
        <p:nvPicPr>
          <p:cNvPr id="313" name="Picture 26" descr="Picture 26"/>
          <p:cNvPicPr>
            <a:picLocks noChangeAspect="1"/>
          </p:cNvPicPr>
          <p:nvPr/>
        </p:nvPicPr>
        <p:blipFill>
          <a:blip r:embed="rId6"/>
          <a:stretch>
            <a:fillRect/>
          </a:stretch>
        </p:blipFill>
        <p:spPr>
          <a:xfrm>
            <a:off x="7000875" y="2916922"/>
            <a:ext cx="528638" cy="517579"/>
          </a:xfrm>
          <a:prstGeom prst="rect">
            <a:avLst/>
          </a:prstGeom>
          <a:ln w="12700">
            <a:miter lim="400000"/>
          </a:ln>
        </p:spPr>
      </p:pic>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0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0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307"/>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308"/>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309"/>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iterate>
                                    <p:tmAbs val="0"/>
                                  </p:iterate>
                                  <p:childTnLst>
                                    <p:set>
                                      <p:cBhvr>
                                        <p:cTn id="21" fill="hold"/>
                                        <p:tgtEl>
                                          <p:spTgt spid="310"/>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iterate>
                                    <p:tmAbs val="0"/>
                                  </p:iterate>
                                  <p:childTnLst>
                                    <p:set>
                                      <p:cBhvr>
                                        <p:cTn id="24" fill="hold"/>
                                        <p:tgtEl>
                                          <p:spTgt spid="311"/>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iterate>
                                    <p:tmAbs val="0"/>
                                  </p:iterate>
                                  <p:childTnLst>
                                    <p:set>
                                      <p:cBhvr>
                                        <p:cTn id="27" fill="hold"/>
                                        <p:tgtEl>
                                          <p:spTgt spid="312"/>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iterate>
                                    <p:tmAbs val="0"/>
                                  </p:iterate>
                                  <p:childTnLst>
                                    <p:set>
                                      <p:cBhvr>
                                        <p:cTn id="30" fill="hold"/>
                                        <p:tgtEl>
                                          <p:spTgt spid="313"/>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iterate>
                                    <p:tmAbs val="0"/>
                                  </p:iterate>
                                  <p:childTnLst>
                                    <p:set>
                                      <p:cBhvr>
                                        <p:cTn id="33" fill="hold"/>
                                        <p:tgtEl>
                                          <p:spTgt spid="303"/>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iterate>
                                    <p:tmAbs val="0"/>
                                  </p:iterate>
                                  <p:childTnLst>
                                    <p:set>
                                      <p:cBhvr>
                                        <p:cTn id="36" fill="hold"/>
                                        <p:tgtEl>
                                          <p:spTgt spid="29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 grpId="0" build="p" bldLvl="5" animBg="1" advAuto="0"/>
      <p:bldP spid="303" grpId="0" animBg="1" advAuto="0"/>
      <p:bldP spid="305" grpId="0" animBg="1" advAuto="0"/>
      <p:bldP spid="306" grpId="0" animBg="1" advAuto="0"/>
      <p:bldP spid="307" grpId="0" animBg="1" advAuto="0"/>
      <p:bldP spid="308" grpId="0" animBg="1" advAuto="0"/>
      <p:bldP spid="309" grpId="0" animBg="1" advAuto="0"/>
      <p:bldP spid="310" grpId="0" animBg="1" advAuto="0"/>
      <p:bldP spid="311" grpId="0" animBg="1" advAuto="0"/>
      <p:bldP spid="312" grpId="0" animBg="1" advAuto="0"/>
      <p:bldP spid="313" grpId="0" animBg="1" advAuto="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itle 1"/>
          <p:cNvSpPr txBox="1">
            <a:spLocks noGrp="1"/>
          </p:cNvSpPr>
          <p:nvPr>
            <p:ph type="title"/>
          </p:nvPr>
        </p:nvSpPr>
        <p:spPr>
          <a:xfrm>
            <a:off x="469624" y="255983"/>
            <a:ext cx="4316516" cy="994172"/>
          </a:xfrm>
          <a:prstGeom prst="rect">
            <a:avLst/>
          </a:prstGeom>
        </p:spPr>
        <p:txBody>
          <a:bodyPr/>
          <a:lstStyle/>
          <a:p>
            <a:r>
              <a:rPr b="1" dirty="0"/>
              <a:t>Global distribution</a:t>
            </a:r>
          </a:p>
        </p:txBody>
      </p:sp>
      <p:sp>
        <p:nvSpPr>
          <p:cNvPr id="316" name="Content Placeholder 2"/>
          <p:cNvSpPr txBox="1">
            <a:spLocks noGrp="1"/>
          </p:cNvSpPr>
          <p:nvPr>
            <p:ph type="body" sz="half" idx="1"/>
          </p:nvPr>
        </p:nvSpPr>
        <p:spPr>
          <a:xfrm>
            <a:off x="1910207" y="3674379"/>
            <a:ext cx="6693466" cy="1850232"/>
          </a:xfrm>
          <a:prstGeom prst="rect">
            <a:avLst/>
          </a:prstGeom>
        </p:spPr>
        <p:txBody>
          <a:bodyPr>
            <a:normAutofit/>
          </a:bodyPr>
          <a:lstStyle/>
          <a:p>
            <a:pPr>
              <a:lnSpc>
                <a:spcPct val="81000"/>
              </a:lnSpc>
            </a:pPr>
            <a:r>
              <a:rPr dirty="0"/>
              <a:t>Data centers are globally distributed</a:t>
            </a:r>
            <a:r>
              <a:rPr lang="en-AU" dirty="0"/>
              <a:t> and networked</a:t>
            </a:r>
            <a:endParaRPr dirty="0"/>
          </a:p>
          <a:p>
            <a:pPr>
              <a:lnSpc>
                <a:spcPct val="81000"/>
              </a:lnSpc>
            </a:pPr>
            <a:r>
              <a:rPr dirty="0"/>
              <a:t>Why</a:t>
            </a:r>
            <a:r>
              <a:rPr lang="en-AU" dirty="0"/>
              <a:t> do we need to distribute the data </a:t>
            </a:r>
            <a:r>
              <a:rPr lang="en-AU" dirty="0" err="1"/>
              <a:t>centers</a:t>
            </a:r>
            <a:r>
              <a:rPr lang="en-AU" dirty="0"/>
              <a:t> globally</a:t>
            </a:r>
            <a:r>
              <a:rPr dirty="0"/>
              <a:t>?</a:t>
            </a:r>
          </a:p>
          <a:p>
            <a:pPr marL="342900" lvl="1" indent="0">
              <a:lnSpc>
                <a:spcPct val="81000"/>
              </a:lnSpc>
              <a:buNone/>
              <a:defRPr sz="2400"/>
            </a:pPr>
            <a:endParaRPr dirty="0"/>
          </a:p>
        </p:txBody>
      </p:sp>
      <p:pic>
        <p:nvPicPr>
          <p:cNvPr id="318" name="Content Placeholder 5" descr="Content Placeholder 5"/>
          <p:cNvPicPr>
            <a:picLocks noChangeAspect="1"/>
          </p:cNvPicPr>
          <p:nvPr/>
        </p:nvPicPr>
        <p:blipFill>
          <a:blip r:embed="rId3"/>
          <a:stretch>
            <a:fillRect/>
          </a:stretch>
        </p:blipFill>
        <p:spPr>
          <a:xfrm>
            <a:off x="4560366" y="1850228"/>
            <a:ext cx="2953367" cy="1371601"/>
          </a:xfrm>
          <a:prstGeom prst="rect">
            <a:avLst/>
          </a:prstGeom>
          <a:ln w="12700">
            <a:miter lim="400000"/>
          </a:ln>
        </p:spPr>
      </p:pic>
      <p:pic>
        <p:nvPicPr>
          <p:cNvPr id="319" name="Picture 6" descr="Picture 6"/>
          <p:cNvPicPr>
            <a:picLocks noChangeAspect="1"/>
          </p:cNvPicPr>
          <p:nvPr/>
        </p:nvPicPr>
        <p:blipFill>
          <a:blip r:embed="rId4"/>
          <a:stretch>
            <a:fillRect/>
          </a:stretch>
        </p:blipFill>
        <p:spPr>
          <a:xfrm>
            <a:off x="1910207" y="1850228"/>
            <a:ext cx="2566221" cy="1371600"/>
          </a:xfrm>
          <a:prstGeom prst="rect">
            <a:avLst/>
          </a:prstGeom>
          <a:ln w="12700">
            <a:miter lim="400000"/>
          </a:ln>
        </p:spPr>
      </p:pic>
      <p:sp>
        <p:nvSpPr>
          <p:cNvPr id="7" name="TextBox 6">
            <a:extLst>
              <a:ext uri="{FF2B5EF4-FFF2-40B4-BE49-F238E27FC236}">
                <a16:creationId xmlns:a16="http://schemas.microsoft.com/office/drawing/2014/main" id="{EB5B7D89-3596-45A9-976D-7F445E1A5274}"/>
              </a:ext>
            </a:extLst>
          </p:cNvPr>
          <p:cNvSpPr txBox="1"/>
          <p:nvPr/>
        </p:nvSpPr>
        <p:spPr>
          <a:xfrm>
            <a:off x="6423372" y="1508537"/>
            <a:ext cx="1090361"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lvl1pPr>
              <a:spcBef>
                <a:spcPts val="200"/>
              </a:spcBef>
              <a:defRPr sz="1200">
                <a:latin typeface="Tahoma"/>
                <a:ea typeface="Tahoma"/>
                <a:cs typeface="Tahoma"/>
                <a:sym typeface="Tahoma"/>
              </a:defRPr>
            </a:lvl1pPr>
          </a:lstStyle>
          <a:p>
            <a:r>
              <a:rPr sz="900" dirty="0"/>
              <a:t>Google data center</a:t>
            </a:r>
            <a:r>
              <a:rPr lang="en-AU" sz="900" dirty="0"/>
              <a:t>s</a:t>
            </a:r>
            <a:endParaRPr sz="900" dirty="0"/>
          </a:p>
        </p:txBody>
      </p:sp>
    </p:spTree>
    <p:extLst>
      <p:ext uri="{BB962C8B-B14F-4D97-AF65-F5344CB8AC3E}">
        <p14:creationId xmlns:p14="http://schemas.microsoft.com/office/powerpoint/2010/main" val="15448108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itle 1"/>
          <p:cNvSpPr txBox="1">
            <a:spLocks noGrp="1"/>
          </p:cNvSpPr>
          <p:nvPr>
            <p:ph type="title"/>
          </p:nvPr>
        </p:nvSpPr>
        <p:spPr>
          <a:xfrm>
            <a:off x="469624" y="255983"/>
            <a:ext cx="4316516" cy="994172"/>
          </a:xfrm>
          <a:prstGeom prst="rect">
            <a:avLst/>
          </a:prstGeom>
        </p:spPr>
        <p:txBody>
          <a:bodyPr/>
          <a:lstStyle/>
          <a:p>
            <a:r>
              <a:rPr b="1" dirty="0"/>
              <a:t>Global distribution</a:t>
            </a:r>
          </a:p>
        </p:txBody>
      </p:sp>
      <p:sp>
        <p:nvSpPr>
          <p:cNvPr id="316" name="Content Placeholder 2"/>
          <p:cNvSpPr txBox="1">
            <a:spLocks noGrp="1"/>
          </p:cNvSpPr>
          <p:nvPr>
            <p:ph type="body" sz="half" idx="1"/>
          </p:nvPr>
        </p:nvSpPr>
        <p:spPr>
          <a:xfrm>
            <a:off x="757922" y="3206954"/>
            <a:ext cx="7866533" cy="2371111"/>
          </a:xfrm>
          <a:prstGeom prst="rect">
            <a:avLst/>
          </a:prstGeom>
        </p:spPr>
        <p:txBody>
          <a:bodyPr>
            <a:noAutofit/>
          </a:bodyPr>
          <a:lstStyle/>
          <a:p>
            <a:pPr>
              <a:lnSpc>
                <a:spcPct val="81000"/>
              </a:lnSpc>
            </a:pPr>
            <a:r>
              <a:rPr sz="2000" dirty="0"/>
              <a:t>Data centers are often globally distributed</a:t>
            </a:r>
            <a:r>
              <a:rPr lang="en-AU" sz="2000" dirty="0"/>
              <a:t> and networked</a:t>
            </a:r>
            <a:endParaRPr sz="2000" dirty="0"/>
          </a:p>
          <a:p>
            <a:pPr>
              <a:lnSpc>
                <a:spcPct val="81000"/>
              </a:lnSpc>
            </a:pPr>
            <a:r>
              <a:rPr lang="en-US" sz="2000" dirty="0"/>
              <a:t>Why do we need to distribute the data centers globally</a:t>
            </a:r>
            <a:r>
              <a:rPr sz="2000" dirty="0"/>
              <a:t>?</a:t>
            </a:r>
          </a:p>
          <a:p>
            <a:pPr lvl="1">
              <a:lnSpc>
                <a:spcPct val="81000"/>
              </a:lnSpc>
              <a:defRPr sz="2400"/>
            </a:pPr>
            <a:r>
              <a:rPr lang="en-AU" sz="2000" b="1" dirty="0"/>
              <a:t>Reduced Latency</a:t>
            </a:r>
          </a:p>
          <a:p>
            <a:pPr lvl="2">
              <a:lnSpc>
                <a:spcPct val="81000"/>
              </a:lnSpc>
              <a:defRPr sz="2400"/>
            </a:pPr>
            <a:r>
              <a:rPr lang="en-US" sz="2000" dirty="0"/>
              <a:t>We can bring our cloud services closer to users. </a:t>
            </a:r>
          </a:p>
          <a:p>
            <a:pPr lvl="1">
              <a:lnSpc>
                <a:spcPct val="81000"/>
              </a:lnSpc>
              <a:defRPr sz="2400"/>
            </a:pPr>
            <a:r>
              <a:rPr lang="en-US" sz="2000" b="1" dirty="0"/>
              <a:t>Regional Markets</a:t>
            </a:r>
          </a:p>
          <a:p>
            <a:pPr lvl="2">
              <a:lnSpc>
                <a:spcPct val="81000"/>
              </a:lnSpc>
              <a:defRPr sz="2400"/>
            </a:pPr>
            <a:r>
              <a:rPr lang="en-US" sz="2000" dirty="0"/>
              <a:t>We can deliver our cloud services that are optimized for specific regional markets.</a:t>
            </a:r>
          </a:p>
          <a:p>
            <a:pPr lvl="1">
              <a:lnSpc>
                <a:spcPct val="81000"/>
              </a:lnSpc>
              <a:defRPr sz="2400"/>
            </a:pPr>
            <a:r>
              <a:rPr lang="en-US" sz="2000" b="1" dirty="0"/>
              <a:t>Disaster Recovery</a:t>
            </a:r>
          </a:p>
          <a:p>
            <a:pPr lvl="2">
              <a:lnSpc>
                <a:spcPct val="81000"/>
              </a:lnSpc>
              <a:defRPr sz="2400"/>
            </a:pPr>
            <a:r>
              <a:rPr lang="en-US" sz="2000" dirty="0"/>
              <a:t>When a data center goes down, other data centers can replicate the data.</a:t>
            </a:r>
          </a:p>
        </p:txBody>
      </p:sp>
      <p:pic>
        <p:nvPicPr>
          <p:cNvPr id="318" name="Content Placeholder 5" descr="Content Placeholder 5"/>
          <p:cNvPicPr>
            <a:picLocks noChangeAspect="1"/>
          </p:cNvPicPr>
          <p:nvPr/>
        </p:nvPicPr>
        <p:blipFill>
          <a:blip r:embed="rId3"/>
          <a:stretch>
            <a:fillRect/>
          </a:stretch>
        </p:blipFill>
        <p:spPr>
          <a:xfrm>
            <a:off x="4560366" y="1621626"/>
            <a:ext cx="2953367" cy="1371601"/>
          </a:xfrm>
          <a:prstGeom prst="rect">
            <a:avLst/>
          </a:prstGeom>
          <a:ln w="12700">
            <a:miter lim="400000"/>
          </a:ln>
        </p:spPr>
      </p:pic>
      <p:pic>
        <p:nvPicPr>
          <p:cNvPr id="319" name="Picture 6" descr="Picture 6"/>
          <p:cNvPicPr>
            <a:picLocks noChangeAspect="1"/>
          </p:cNvPicPr>
          <p:nvPr/>
        </p:nvPicPr>
        <p:blipFill>
          <a:blip r:embed="rId4"/>
          <a:stretch>
            <a:fillRect/>
          </a:stretch>
        </p:blipFill>
        <p:spPr>
          <a:xfrm>
            <a:off x="1910207" y="1621626"/>
            <a:ext cx="2566221" cy="1371600"/>
          </a:xfrm>
          <a:prstGeom prst="rect">
            <a:avLst/>
          </a:prstGeom>
          <a:ln w="12700">
            <a:miter lim="400000"/>
          </a:ln>
        </p:spPr>
      </p:pic>
      <p:sp>
        <p:nvSpPr>
          <p:cNvPr id="7" name="TextBox 6">
            <a:extLst>
              <a:ext uri="{FF2B5EF4-FFF2-40B4-BE49-F238E27FC236}">
                <a16:creationId xmlns:a16="http://schemas.microsoft.com/office/drawing/2014/main" id="{EB5B7D89-3596-45A9-976D-7F445E1A5274}"/>
              </a:ext>
            </a:extLst>
          </p:cNvPr>
          <p:cNvSpPr txBox="1"/>
          <p:nvPr/>
        </p:nvSpPr>
        <p:spPr>
          <a:xfrm>
            <a:off x="5331727" y="1279935"/>
            <a:ext cx="2182006" cy="230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4289" rIns="34289">
            <a:spAutoFit/>
          </a:bodyPr>
          <a:lstStyle>
            <a:lvl1pPr>
              <a:spcBef>
                <a:spcPts val="200"/>
              </a:spcBef>
              <a:defRPr sz="1200">
                <a:latin typeface="Tahoma"/>
                <a:ea typeface="Tahoma"/>
                <a:cs typeface="Tahoma"/>
                <a:sym typeface="Tahoma"/>
              </a:defRPr>
            </a:lvl1pPr>
          </a:lstStyle>
          <a:p>
            <a:r>
              <a:rPr sz="900" dirty="0"/>
              <a:t>Google data center in The Dalles, Oregon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Title 1"/>
          <p:cNvSpPr txBox="1">
            <a:spLocks noGrp="1"/>
          </p:cNvSpPr>
          <p:nvPr>
            <p:ph type="title"/>
          </p:nvPr>
        </p:nvSpPr>
        <p:spPr>
          <a:xfrm>
            <a:off x="364454" y="46846"/>
            <a:ext cx="6761475" cy="994172"/>
          </a:xfrm>
          <a:prstGeom prst="rect">
            <a:avLst/>
          </a:prstGeom>
        </p:spPr>
        <p:txBody>
          <a:bodyPr>
            <a:normAutofit fontScale="90000"/>
          </a:bodyPr>
          <a:lstStyle/>
          <a:p>
            <a:r>
              <a:rPr lang="en-AU" b="1" dirty="0"/>
              <a:t>Data </a:t>
            </a:r>
            <a:r>
              <a:rPr lang="en-AU" b="1" dirty="0" err="1"/>
              <a:t>center</a:t>
            </a:r>
            <a:r>
              <a:rPr lang="en-AU" b="1" dirty="0"/>
              <a:t> has enabled cloud computing</a:t>
            </a:r>
            <a:endParaRPr b="1" dirty="0"/>
          </a:p>
        </p:txBody>
      </p:sp>
      <p:sp>
        <p:nvSpPr>
          <p:cNvPr id="396" name="Content Placeholder 2"/>
          <p:cNvSpPr txBox="1">
            <a:spLocks noGrp="1"/>
          </p:cNvSpPr>
          <p:nvPr>
            <p:ph type="body" idx="1"/>
          </p:nvPr>
        </p:nvSpPr>
        <p:spPr>
          <a:xfrm>
            <a:off x="853480" y="2395503"/>
            <a:ext cx="7911057" cy="3019460"/>
          </a:xfrm>
          <a:prstGeom prst="rect">
            <a:avLst/>
          </a:prstGeom>
        </p:spPr>
        <p:txBody>
          <a:bodyPr>
            <a:noAutofit/>
          </a:bodyPr>
          <a:lstStyle/>
          <a:p>
            <a:pPr>
              <a:lnSpc>
                <a:spcPct val="81000"/>
              </a:lnSpc>
            </a:pPr>
            <a:r>
              <a:rPr sz="2000" dirty="0"/>
              <a:t>Economies of scale</a:t>
            </a:r>
          </a:p>
          <a:p>
            <a:pPr lvl="1">
              <a:lnSpc>
                <a:spcPct val="81000"/>
              </a:lnSpc>
              <a:defRPr sz="2400"/>
            </a:pPr>
            <a:r>
              <a:rPr sz="2000" dirty="0"/>
              <a:t>Cheaper to run </a:t>
            </a:r>
            <a:r>
              <a:rPr lang="en-AU" sz="2000" dirty="0"/>
              <a:t>big data </a:t>
            </a:r>
            <a:r>
              <a:rPr lang="en-AU" sz="2000" dirty="0" err="1"/>
              <a:t>centers</a:t>
            </a:r>
            <a:r>
              <a:rPr lang="en-AU" sz="2000" dirty="0"/>
              <a:t> </a:t>
            </a:r>
            <a:r>
              <a:rPr sz="2000" dirty="0"/>
              <a:t>than many small ones</a:t>
            </a:r>
          </a:p>
          <a:p>
            <a:pPr>
              <a:lnSpc>
                <a:spcPct val="81000"/>
              </a:lnSpc>
            </a:pPr>
            <a:r>
              <a:rPr sz="2000" dirty="0"/>
              <a:t>Statistical </a:t>
            </a:r>
            <a:r>
              <a:rPr lang="en-AU" sz="2000" dirty="0"/>
              <a:t>resource </a:t>
            </a:r>
            <a:r>
              <a:rPr sz="2000" dirty="0"/>
              <a:t>multiplexing</a:t>
            </a:r>
          </a:p>
          <a:p>
            <a:pPr lvl="1">
              <a:lnSpc>
                <a:spcPct val="81000"/>
              </a:lnSpc>
              <a:defRPr sz="2400"/>
            </a:pPr>
            <a:r>
              <a:rPr sz="2000" dirty="0"/>
              <a:t>High utilization</a:t>
            </a:r>
            <a:r>
              <a:rPr lang="en-AU" sz="2000" dirty="0"/>
              <a:t> of hardware resources</a:t>
            </a:r>
            <a:endParaRPr sz="2000" dirty="0"/>
          </a:p>
          <a:p>
            <a:pPr>
              <a:lnSpc>
                <a:spcPct val="81000"/>
              </a:lnSpc>
            </a:pPr>
            <a:r>
              <a:rPr sz="2000" dirty="0"/>
              <a:t>Scalability</a:t>
            </a:r>
          </a:p>
          <a:p>
            <a:pPr lvl="1">
              <a:lnSpc>
                <a:spcPct val="81000"/>
              </a:lnSpc>
              <a:defRPr sz="2400"/>
            </a:pPr>
            <a:r>
              <a:rPr sz="2000" dirty="0"/>
              <a:t>Thousands of </a:t>
            </a:r>
            <a:r>
              <a:rPr lang="en-AU" sz="2000" dirty="0"/>
              <a:t>servers </a:t>
            </a:r>
            <a:r>
              <a:rPr sz="2000" dirty="0"/>
              <a:t>available on demand</a:t>
            </a:r>
            <a:endParaRPr lang="en-AU" sz="2000" dirty="0"/>
          </a:p>
          <a:p>
            <a:pPr lvl="1">
              <a:lnSpc>
                <a:spcPct val="81000"/>
              </a:lnSpc>
              <a:defRPr sz="2400"/>
            </a:pPr>
            <a:r>
              <a:rPr lang="en-AU" sz="2000" dirty="0"/>
              <a:t>A</a:t>
            </a:r>
            <a:r>
              <a:rPr sz="2000" dirty="0"/>
              <a:t>dd</a:t>
            </a:r>
            <a:r>
              <a:rPr lang="en-AU" sz="2000" dirty="0"/>
              <a:t> </a:t>
            </a:r>
            <a:r>
              <a:rPr sz="2000" dirty="0"/>
              <a:t>more within seconds</a:t>
            </a:r>
            <a:endParaRPr lang="en-AU" sz="2000" dirty="0"/>
          </a:p>
          <a:p>
            <a:pPr>
              <a:lnSpc>
                <a:spcPct val="81000"/>
              </a:lnSpc>
            </a:pPr>
            <a:r>
              <a:rPr lang="en-US" sz="2000" dirty="0"/>
              <a:t>No up-front commitment</a:t>
            </a:r>
          </a:p>
          <a:p>
            <a:pPr lvl="1">
              <a:lnSpc>
                <a:spcPct val="81000"/>
              </a:lnSpc>
              <a:defRPr sz="2400"/>
            </a:pPr>
            <a:r>
              <a:rPr lang="en-US" sz="2000" dirty="0"/>
              <a:t>No investment in data centers, enabling pay-as-you-go</a:t>
            </a:r>
          </a:p>
        </p:txBody>
      </p:sp>
      <p:grpSp>
        <p:nvGrpSpPr>
          <p:cNvPr id="405" name="Group 39"/>
          <p:cNvGrpSpPr/>
          <p:nvPr/>
        </p:nvGrpSpPr>
        <p:grpSpPr>
          <a:xfrm>
            <a:off x="6887633" y="291443"/>
            <a:ext cx="710069" cy="504979"/>
            <a:chOff x="0" y="0"/>
            <a:chExt cx="946758" cy="673304"/>
          </a:xfrm>
        </p:grpSpPr>
        <p:sp>
          <p:nvSpPr>
            <p:cNvPr id="401" name="Cloud"/>
            <p:cNvSpPr/>
            <p:nvPr/>
          </p:nvSpPr>
          <p:spPr>
            <a:xfrm rot="268469">
              <a:off x="22214" y="34276"/>
              <a:ext cx="902330" cy="604753"/>
            </a:xfrm>
            <a:custGeom>
              <a:avLst/>
              <a:gdLst/>
              <a:ahLst/>
              <a:cxnLst>
                <a:cxn ang="0">
                  <a:pos x="wd2" y="hd2"/>
                </a:cxn>
                <a:cxn ang="5400000">
                  <a:pos x="wd2" y="hd2"/>
                </a:cxn>
                <a:cxn ang="10800000">
                  <a:pos x="wd2" y="hd2"/>
                </a:cxn>
                <a:cxn ang="16200000">
                  <a:pos x="wd2" y="hd2"/>
                </a:cxn>
              </a:cxnLst>
              <a:rect l="0" t="0" r="r" b="b"/>
              <a:pathLst>
                <a:path w="21599" h="21599" extrusionOk="0">
                  <a:moveTo>
                    <a:pt x="1949" y="7181"/>
                  </a:moveTo>
                  <a:cubicBezTo>
                    <a:pt x="841" y="7337"/>
                    <a:pt x="0" y="8614"/>
                    <a:pt x="0" y="10138"/>
                  </a:cubicBezTo>
                  <a:cubicBezTo>
                    <a:pt x="-1" y="11193"/>
                    <a:pt x="409" y="12170"/>
                    <a:pt x="1074" y="12703"/>
                  </a:cubicBezTo>
                  <a:lnTo>
                    <a:pt x="1063" y="12669"/>
                  </a:lnTo>
                  <a:cubicBezTo>
                    <a:pt x="685" y="13218"/>
                    <a:pt x="475" y="13941"/>
                    <a:pt x="475" y="14691"/>
                  </a:cubicBezTo>
                  <a:cubicBezTo>
                    <a:pt x="475" y="16327"/>
                    <a:pt x="1451" y="17652"/>
                    <a:pt x="2655" y="17652"/>
                  </a:cubicBezTo>
                  <a:cubicBezTo>
                    <a:pt x="2739" y="17652"/>
                    <a:pt x="2824" y="17645"/>
                    <a:pt x="2909" y="17631"/>
                  </a:cubicBezTo>
                  <a:lnTo>
                    <a:pt x="2897" y="17651"/>
                  </a:lnTo>
                  <a:cubicBezTo>
                    <a:pt x="3585" y="19290"/>
                    <a:pt x="4863" y="20302"/>
                    <a:pt x="6248" y="20302"/>
                  </a:cubicBezTo>
                  <a:cubicBezTo>
                    <a:pt x="6948" y="20301"/>
                    <a:pt x="7636" y="20041"/>
                    <a:pt x="8236" y="19548"/>
                  </a:cubicBezTo>
                  <a:lnTo>
                    <a:pt x="8230" y="19552"/>
                  </a:lnTo>
                  <a:cubicBezTo>
                    <a:pt x="8856" y="20831"/>
                    <a:pt x="9909" y="21599"/>
                    <a:pt x="11037" y="21599"/>
                  </a:cubicBezTo>
                  <a:cubicBezTo>
                    <a:pt x="12524" y="21598"/>
                    <a:pt x="13837" y="20269"/>
                    <a:pt x="14268" y="18326"/>
                  </a:cubicBezTo>
                  <a:lnTo>
                    <a:pt x="14271" y="18352"/>
                  </a:lnTo>
                  <a:cubicBezTo>
                    <a:pt x="14731" y="18742"/>
                    <a:pt x="15261" y="18949"/>
                    <a:pt x="15803" y="18949"/>
                  </a:cubicBezTo>
                  <a:cubicBezTo>
                    <a:pt x="17392" y="18948"/>
                    <a:pt x="18684" y="17207"/>
                    <a:pt x="18696" y="15046"/>
                  </a:cubicBezTo>
                  <a:lnTo>
                    <a:pt x="18691" y="15036"/>
                  </a:lnTo>
                  <a:cubicBezTo>
                    <a:pt x="20359" y="14711"/>
                    <a:pt x="21599" y="12766"/>
                    <a:pt x="21599" y="10473"/>
                  </a:cubicBezTo>
                  <a:cubicBezTo>
                    <a:pt x="21599" y="9457"/>
                    <a:pt x="21352" y="8470"/>
                    <a:pt x="20898" y="7664"/>
                  </a:cubicBezTo>
                  <a:lnTo>
                    <a:pt x="20891" y="7662"/>
                  </a:lnTo>
                  <a:cubicBezTo>
                    <a:pt x="21033" y="7209"/>
                    <a:pt x="21107" y="6722"/>
                    <a:pt x="21107" y="6229"/>
                  </a:cubicBezTo>
                  <a:cubicBezTo>
                    <a:pt x="21107" y="4588"/>
                    <a:pt x="20301" y="3150"/>
                    <a:pt x="19141" y="2719"/>
                  </a:cubicBezTo>
                  <a:lnTo>
                    <a:pt x="19150" y="2712"/>
                  </a:lnTo>
                  <a:cubicBezTo>
                    <a:pt x="18942" y="1142"/>
                    <a:pt x="17935" y="0"/>
                    <a:pt x="16760" y="0"/>
                  </a:cubicBezTo>
                  <a:cubicBezTo>
                    <a:pt x="16045" y="-1"/>
                    <a:pt x="15368" y="426"/>
                    <a:pt x="14906" y="1165"/>
                  </a:cubicBezTo>
                  <a:lnTo>
                    <a:pt x="14910" y="1170"/>
                  </a:lnTo>
                  <a:cubicBezTo>
                    <a:pt x="14498" y="432"/>
                    <a:pt x="13856" y="0"/>
                    <a:pt x="13175" y="0"/>
                  </a:cubicBezTo>
                  <a:cubicBezTo>
                    <a:pt x="12348" y="-1"/>
                    <a:pt x="11591" y="637"/>
                    <a:pt x="11222" y="1645"/>
                  </a:cubicBezTo>
                  <a:lnTo>
                    <a:pt x="11230" y="1694"/>
                  </a:lnTo>
                  <a:cubicBezTo>
                    <a:pt x="10731" y="1024"/>
                    <a:pt x="10059" y="650"/>
                    <a:pt x="9359" y="650"/>
                  </a:cubicBezTo>
                  <a:cubicBezTo>
                    <a:pt x="8373" y="649"/>
                    <a:pt x="7467" y="1391"/>
                    <a:pt x="7004" y="2578"/>
                  </a:cubicBezTo>
                  <a:lnTo>
                    <a:pt x="6996" y="2602"/>
                  </a:lnTo>
                  <a:cubicBezTo>
                    <a:pt x="6478" y="2189"/>
                    <a:pt x="5889" y="1972"/>
                    <a:pt x="5288" y="1972"/>
                  </a:cubicBezTo>
                  <a:cubicBezTo>
                    <a:pt x="3423" y="1972"/>
                    <a:pt x="1912" y="4029"/>
                    <a:pt x="1912" y="6568"/>
                  </a:cubicBezTo>
                  <a:cubicBezTo>
                    <a:pt x="1911" y="6775"/>
                    <a:pt x="1922" y="6982"/>
                    <a:pt x="1942" y="7187"/>
                  </a:cubicBezTo>
                  <a:close/>
                </a:path>
              </a:pathLst>
            </a:custGeom>
            <a:solidFill>
              <a:srgbClr val="FFBE7D"/>
            </a:solidFill>
            <a:ln w="12700" cap="flat">
              <a:noFill/>
              <a:miter lim="400000"/>
            </a:ln>
            <a:effectLst>
              <a:outerShdw blurRad="50800" dist="50800" dir="2700000" rotWithShape="0">
                <a:srgbClr val="000000">
                  <a:alpha val="40000"/>
                </a:srgbClr>
              </a:outerShdw>
            </a:effectLst>
          </p:spPr>
          <p:txBody>
            <a:bodyPr wrap="square" lIns="34289" tIns="34289" rIns="34289" bIns="34289" numCol="1" anchor="t">
              <a:noAutofit/>
            </a:bodyPr>
            <a:lstStyle/>
            <a:p>
              <a:pPr>
                <a:defRPr>
                  <a:latin typeface="Tahoma"/>
                  <a:ea typeface="Tahoma"/>
                  <a:cs typeface="Tahoma"/>
                  <a:sym typeface="Tahoma"/>
                </a:defRPr>
              </a:pPr>
              <a:endParaRPr sz="1500"/>
            </a:p>
          </p:txBody>
        </p:sp>
        <p:pic>
          <p:nvPicPr>
            <p:cNvPr id="402" name="Picture 51" descr="Picture 51"/>
            <p:cNvPicPr>
              <a:picLocks noChangeAspect="1"/>
            </p:cNvPicPr>
            <p:nvPr/>
          </p:nvPicPr>
          <p:blipFill>
            <a:blip r:embed="rId3"/>
            <a:stretch>
              <a:fillRect/>
            </a:stretch>
          </p:blipFill>
          <p:spPr>
            <a:xfrm>
              <a:off x="491948" y="150225"/>
              <a:ext cx="342630" cy="342668"/>
            </a:xfrm>
            <a:prstGeom prst="rect">
              <a:avLst/>
            </a:prstGeom>
            <a:ln w="12700" cap="flat">
              <a:noFill/>
              <a:miter lim="400000"/>
            </a:ln>
            <a:effectLst/>
          </p:spPr>
        </p:pic>
        <p:pic>
          <p:nvPicPr>
            <p:cNvPr id="403" name="Picture 51" descr="Picture 51"/>
            <p:cNvPicPr>
              <a:picLocks noChangeAspect="1"/>
            </p:cNvPicPr>
            <p:nvPr/>
          </p:nvPicPr>
          <p:blipFill>
            <a:blip r:embed="rId3"/>
            <a:stretch>
              <a:fillRect/>
            </a:stretch>
          </p:blipFill>
          <p:spPr>
            <a:xfrm>
              <a:off x="310296" y="154656"/>
              <a:ext cx="342630" cy="342668"/>
            </a:xfrm>
            <a:prstGeom prst="rect">
              <a:avLst/>
            </a:prstGeom>
            <a:ln w="12700" cap="flat">
              <a:noFill/>
              <a:miter lim="400000"/>
            </a:ln>
            <a:effectLst/>
          </p:spPr>
        </p:pic>
        <p:pic>
          <p:nvPicPr>
            <p:cNvPr id="404" name="Picture 51" descr="Picture 51"/>
            <p:cNvPicPr>
              <a:picLocks noChangeAspect="1"/>
            </p:cNvPicPr>
            <p:nvPr/>
          </p:nvPicPr>
          <p:blipFill>
            <a:blip r:embed="rId3"/>
            <a:stretch>
              <a:fillRect/>
            </a:stretch>
          </p:blipFill>
          <p:spPr>
            <a:xfrm>
              <a:off x="128643" y="159087"/>
              <a:ext cx="342630" cy="342668"/>
            </a:xfrm>
            <a:prstGeom prst="rect">
              <a:avLst/>
            </a:prstGeom>
            <a:ln w="12700" cap="flat">
              <a:noFill/>
              <a:miter lim="400000"/>
            </a:ln>
            <a:effectLst/>
          </p:spPr>
        </p:pic>
      </p:grpSp>
      <p:sp>
        <p:nvSpPr>
          <p:cNvPr id="9" name="Content Placeholder 2">
            <a:extLst>
              <a:ext uri="{FF2B5EF4-FFF2-40B4-BE49-F238E27FC236}">
                <a16:creationId xmlns:a16="http://schemas.microsoft.com/office/drawing/2014/main" id="{4F1FE7BB-7AD6-439A-8F07-0EA0B903398E}"/>
              </a:ext>
            </a:extLst>
          </p:cNvPr>
          <p:cNvSpPr txBox="1">
            <a:spLocks/>
          </p:cNvSpPr>
          <p:nvPr/>
        </p:nvSpPr>
        <p:spPr>
          <a:xfrm>
            <a:off x="379463" y="1041018"/>
            <a:ext cx="8400082" cy="137174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US" dirty="0"/>
              <a:t>Big tech companies use existing data centers to provide cloud computing</a:t>
            </a:r>
          </a:p>
          <a:p>
            <a:pPr fontAlgn="auto">
              <a:spcAft>
                <a:spcPts val="0"/>
              </a:spcAft>
              <a:buClrTx/>
              <a:buSzTx/>
            </a:pPr>
            <a:endParaRPr lang="en-US" dirty="0"/>
          </a:p>
          <a:p>
            <a:pPr fontAlgn="auto">
              <a:spcAft>
                <a:spcPts val="0"/>
              </a:spcAft>
              <a:buClrTx/>
              <a:buSzTx/>
            </a:pPr>
            <a:r>
              <a:rPr lang="en-US" dirty="0"/>
              <a:t>Benefits: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 name="Title 1"/>
          <p:cNvSpPr txBox="1">
            <a:spLocks noGrp="1"/>
          </p:cNvSpPr>
          <p:nvPr>
            <p:ph type="title"/>
          </p:nvPr>
        </p:nvSpPr>
        <p:spPr>
          <a:xfrm>
            <a:off x="138584" y="263449"/>
            <a:ext cx="5612525" cy="580325"/>
          </a:xfrm>
          <a:prstGeom prst="rect">
            <a:avLst/>
          </a:prstGeom>
        </p:spPr>
        <p:txBody>
          <a:bodyPr>
            <a:normAutofit fontScale="90000"/>
          </a:bodyPr>
          <a:lstStyle>
            <a:lvl1pPr>
              <a:defRPr sz="3200"/>
            </a:lvl1pPr>
          </a:lstStyle>
          <a:p>
            <a:r>
              <a:rPr sz="3600" b="1" dirty="0"/>
              <a:t>Other terms</a:t>
            </a:r>
          </a:p>
        </p:txBody>
      </p:sp>
      <p:sp>
        <p:nvSpPr>
          <p:cNvPr id="423" name="Content Placeholder 2"/>
          <p:cNvSpPr txBox="1">
            <a:spLocks noGrp="1"/>
          </p:cNvSpPr>
          <p:nvPr>
            <p:ph type="body" idx="1"/>
          </p:nvPr>
        </p:nvSpPr>
        <p:spPr>
          <a:xfrm>
            <a:off x="422030" y="1217327"/>
            <a:ext cx="7702062" cy="3586163"/>
          </a:xfrm>
          <a:prstGeom prst="rect">
            <a:avLst/>
          </a:prstGeom>
        </p:spPr>
        <p:txBody>
          <a:bodyPr>
            <a:noAutofit/>
          </a:bodyPr>
          <a:lstStyle/>
          <a:p>
            <a:pPr>
              <a:defRPr sz="2500"/>
            </a:pPr>
            <a:r>
              <a:rPr sz="2000" dirty="0"/>
              <a:t>Utility computing</a:t>
            </a:r>
          </a:p>
          <a:p>
            <a:pPr lvl="1">
              <a:defRPr sz="2200"/>
            </a:pPr>
            <a:r>
              <a:rPr lang="en-AU" sz="2000" dirty="0"/>
              <a:t>S</a:t>
            </a:r>
            <a:r>
              <a:rPr sz="2000" dirty="0" err="1"/>
              <a:t>ervice</a:t>
            </a:r>
            <a:r>
              <a:rPr lang="en-AU" sz="2000" dirty="0"/>
              <a:t>s</a:t>
            </a:r>
            <a:r>
              <a:rPr sz="2000" dirty="0"/>
              <a:t> being </a:t>
            </a:r>
            <a:r>
              <a:rPr lang="en-AU" sz="2000" dirty="0"/>
              <a:t>provided</a:t>
            </a:r>
            <a:r>
              <a:rPr sz="2000" dirty="0"/>
              <a:t> by a cloud</a:t>
            </a:r>
          </a:p>
          <a:p>
            <a:pPr lvl="1">
              <a:defRPr sz="2200"/>
            </a:pPr>
            <a:r>
              <a:rPr sz="2000" dirty="0"/>
              <a:t>Focuses on the business model (pay-as-you-go), similar to classical utility companies</a:t>
            </a:r>
          </a:p>
          <a:p>
            <a:pPr lvl="1">
              <a:defRPr sz="2200"/>
            </a:pPr>
            <a:endParaRPr sz="2000" dirty="0"/>
          </a:p>
          <a:p>
            <a:pPr>
              <a:defRPr sz="2500"/>
            </a:pPr>
            <a:r>
              <a:rPr sz="2000" dirty="0"/>
              <a:t>The Web</a:t>
            </a:r>
          </a:p>
          <a:p>
            <a:pPr lvl="1">
              <a:defRPr sz="2200"/>
            </a:pPr>
            <a:r>
              <a:rPr sz="2000" dirty="0"/>
              <a:t>The Internet's information sharing model</a:t>
            </a:r>
          </a:p>
          <a:p>
            <a:pPr lvl="1">
              <a:defRPr sz="2200"/>
            </a:pPr>
            <a:r>
              <a:rPr lang="en-AU" sz="2000" dirty="0"/>
              <a:t>Most</a:t>
            </a:r>
            <a:r>
              <a:rPr sz="2000" dirty="0"/>
              <a:t> web services run on clouds</a:t>
            </a:r>
            <a:endParaRPr lang="en-AU" sz="2000" dirty="0"/>
          </a:p>
          <a:p>
            <a:pPr marL="342900" lvl="1" indent="0">
              <a:buNone/>
              <a:defRPr sz="2200"/>
            </a:pPr>
            <a:endParaRPr sz="2000" dirty="0"/>
          </a:p>
          <a:p>
            <a:pPr>
              <a:defRPr sz="2500"/>
            </a:pPr>
            <a:r>
              <a:rPr sz="2000" dirty="0"/>
              <a:t>The Internet</a:t>
            </a:r>
          </a:p>
          <a:p>
            <a:pPr lvl="1">
              <a:defRPr sz="2200"/>
            </a:pPr>
            <a:r>
              <a:rPr sz="2000" dirty="0"/>
              <a:t>A network of networks.</a:t>
            </a:r>
          </a:p>
          <a:p>
            <a:pPr lvl="1">
              <a:defRPr sz="2200"/>
            </a:pPr>
            <a:r>
              <a:rPr sz="2000" dirty="0"/>
              <a:t>Used by the web; connects (most) clouds to their customers</a:t>
            </a:r>
          </a:p>
        </p:txBody>
      </p:sp>
    </p:spTree>
    <p:extLst>
      <p:ext uri="{BB962C8B-B14F-4D97-AF65-F5344CB8AC3E}">
        <p14:creationId xmlns:p14="http://schemas.microsoft.com/office/powerpoint/2010/main" val="15803967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 name="Title 1"/>
          <p:cNvSpPr txBox="1">
            <a:spLocks noGrp="1"/>
          </p:cNvSpPr>
          <p:nvPr>
            <p:ph type="title"/>
          </p:nvPr>
        </p:nvSpPr>
        <p:spPr>
          <a:xfrm>
            <a:off x="433754" y="25736"/>
            <a:ext cx="7886700" cy="994172"/>
          </a:xfrm>
          <a:prstGeom prst="rect">
            <a:avLst/>
          </a:prstGeom>
        </p:spPr>
        <p:txBody>
          <a:bodyPr/>
          <a:lstStyle/>
          <a:p>
            <a:r>
              <a:rPr lang="en-AU" b="1" dirty="0"/>
              <a:t>C</a:t>
            </a:r>
            <a:r>
              <a:rPr b="1" dirty="0"/>
              <a:t>loud applications</a:t>
            </a:r>
          </a:p>
        </p:txBody>
      </p:sp>
      <p:sp>
        <p:nvSpPr>
          <p:cNvPr id="624" name="Content Placeholder 2"/>
          <p:cNvSpPr txBox="1">
            <a:spLocks noGrp="1"/>
          </p:cNvSpPr>
          <p:nvPr>
            <p:ph type="body" idx="1"/>
          </p:nvPr>
        </p:nvSpPr>
        <p:spPr>
          <a:xfrm>
            <a:off x="628650" y="1351770"/>
            <a:ext cx="7886700" cy="4486322"/>
          </a:xfrm>
          <a:prstGeom prst="rect">
            <a:avLst/>
          </a:prstGeom>
        </p:spPr>
        <p:txBody>
          <a:bodyPr>
            <a:normAutofit/>
          </a:bodyPr>
          <a:lstStyle/>
          <a:p>
            <a:pPr marL="169735" indent="-169735" defTabSz="678941">
              <a:lnSpc>
                <a:spcPct val="81000"/>
              </a:lnSpc>
              <a:spcBef>
                <a:spcPts val="675"/>
              </a:spcBef>
              <a:defRPr sz="2772"/>
            </a:pPr>
            <a:r>
              <a:rPr sz="2800" dirty="0"/>
              <a:t>Application hosting</a:t>
            </a:r>
          </a:p>
          <a:p>
            <a:pPr marL="169735" indent="-169735" defTabSz="678941">
              <a:lnSpc>
                <a:spcPct val="81000"/>
              </a:lnSpc>
              <a:spcBef>
                <a:spcPts val="675"/>
              </a:spcBef>
              <a:defRPr sz="2772"/>
            </a:pPr>
            <a:r>
              <a:rPr sz="2800" dirty="0"/>
              <a:t>Backup and Storage</a:t>
            </a:r>
          </a:p>
          <a:p>
            <a:pPr marL="169735" indent="-169735" defTabSz="678941">
              <a:lnSpc>
                <a:spcPct val="81000"/>
              </a:lnSpc>
              <a:spcBef>
                <a:spcPts val="675"/>
              </a:spcBef>
              <a:defRPr sz="2772"/>
            </a:pPr>
            <a:r>
              <a:rPr sz="2800" dirty="0"/>
              <a:t>Content delivery</a:t>
            </a:r>
          </a:p>
          <a:p>
            <a:pPr marL="169735" indent="-169735" defTabSz="678941">
              <a:lnSpc>
                <a:spcPct val="81000"/>
              </a:lnSpc>
              <a:spcBef>
                <a:spcPts val="675"/>
              </a:spcBef>
              <a:defRPr sz="2772"/>
            </a:pPr>
            <a:r>
              <a:rPr sz="2800" dirty="0"/>
              <a:t>E-commerce</a:t>
            </a:r>
          </a:p>
          <a:p>
            <a:pPr marL="169735" indent="-169735" defTabSz="678941">
              <a:lnSpc>
                <a:spcPct val="81000"/>
              </a:lnSpc>
              <a:spcBef>
                <a:spcPts val="675"/>
              </a:spcBef>
              <a:defRPr sz="2772"/>
            </a:pPr>
            <a:r>
              <a:rPr sz="2800" dirty="0"/>
              <a:t>High-performance computing</a:t>
            </a:r>
          </a:p>
          <a:p>
            <a:pPr marL="169735" indent="-169735" defTabSz="678941">
              <a:lnSpc>
                <a:spcPct val="81000"/>
              </a:lnSpc>
              <a:spcBef>
                <a:spcPts val="675"/>
              </a:spcBef>
              <a:defRPr sz="2772"/>
            </a:pPr>
            <a:r>
              <a:rPr sz="2800" dirty="0"/>
              <a:t>Media hosting</a:t>
            </a:r>
          </a:p>
          <a:p>
            <a:pPr marL="169735" indent="-169735" defTabSz="678941">
              <a:lnSpc>
                <a:spcPct val="81000"/>
              </a:lnSpc>
              <a:spcBef>
                <a:spcPts val="675"/>
              </a:spcBef>
              <a:defRPr sz="2772"/>
            </a:pPr>
            <a:r>
              <a:rPr sz="2800" dirty="0"/>
              <a:t>On-demand workforce</a:t>
            </a:r>
          </a:p>
          <a:p>
            <a:pPr marL="169735" indent="-169735" defTabSz="678941">
              <a:lnSpc>
                <a:spcPct val="81000"/>
              </a:lnSpc>
              <a:spcBef>
                <a:spcPts val="675"/>
              </a:spcBef>
              <a:defRPr sz="2772"/>
            </a:pPr>
            <a:r>
              <a:rPr sz="2800" dirty="0"/>
              <a:t>Search engines</a:t>
            </a:r>
          </a:p>
          <a:p>
            <a:pPr marL="169735" indent="-169735" defTabSz="678941">
              <a:lnSpc>
                <a:spcPct val="81000"/>
              </a:lnSpc>
              <a:spcBef>
                <a:spcPts val="675"/>
              </a:spcBef>
              <a:defRPr sz="2772"/>
            </a:pPr>
            <a:r>
              <a:rPr sz="2800" dirty="0"/>
              <a:t>Web hosting</a:t>
            </a:r>
            <a:endParaRPr lang="en-AU" sz="2800" dirty="0"/>
          </a:p>
          <a:p>
            <a:pPr marL="169735" indent="-169735" defTabSz="678941">
              <a:lnSpc>
                <a:spcPct val="81000"/>
              </a:lnSpc>
              <a:spcBef>
                <a:spcPts val="675"/>
              </a:spcBef>
              <a:defRPr sz="2772"/>
            </a:pPr>
            <a:r>
              <a:rPr lang="en-AU" sz="2800" dirty="0"/>
              <a:t>…</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Title 1"/>
          <p:cNvSpPr txBox="1">
            <a:spLocks noGrp="1"/>
          </p:cNvSpPr>
          <p:nvPr>
            <p:ph type="title"/>
          </p:nvPr>
        </p:nvSpPr>
        <p:spPr>
          <a:xfrm>
            <a:off x="400050" y="355713"/>
            <a:ext cx="4800600" cy="994172"/>
          </a:xfrm>
          <a:prstGeom prst="rect">
            <a:avLst/>
          </a:prstGeom>
        </p:spPr>
        <p:txBody>
          <a:bodyPr>
            <a:normAutofit/>
          </a:bodyPr>
          <a:lstStyle/>
          <a:p>
            <a:r>
              <a:rPr lang="en-AU" b="1" dirty="0"/>
              <a:t>Some E</a:t>
            </a:r>
            <a:r>
              <a:rPr b="1" dirty="0" err="1"/>
              <a:t>xamples</a:t>
            </a:r>
            <a:endParaRPr b="1" dirty="0"/>
          </a:p>
        </p:txBody>
      </p:sp>
      <p:sp>
        <p:nvSpPr>
          <p:cNvPr id="642" name="Content Placeholder 2"/>
          <p:cNvSpPr txBox="1">
            <a:spLocks noGrp="1"/>
          </p:cNvSpPr>
          <p:nvPr>
            <p:ph type="body" idx="1"/>
          </p:nvPr>
        </p:nvSpPr>
        <p:spPr>
          <a:xfrm>
            <a:off x="400050" y="1553476"/>
            <a:ext cx="7886700" cy="3263504"/>
          </a:xfrm>
          <a:prstGeom prst="rect">
            <a:avLst/>
          </a:prstGeom>
        </p:spPr>
        <p:txBody>
          <a:bodyPr>
            <a:normAutofit/>
          </a:bodyPr>
          <a:lstStyle/>
          <a:p>
            <a:pPr>
              <a:lnSpc>
                <a:spcPct val="81000"/>
              </a:lnSpc>
              <a:defRPr sz="2500"/>
            </a:pPr>
            <a:r>
              <a:rPr lang="en-US" dirty="0"/>
              <a:t>Woolworths hosts Woolworths Online on Microsoft Azure</a:t>
            </a:r>
            <a:endParaRPr i="1" dirty="0"/>
          </a:p>
        </p:txBody>
      </p:sp>
      <p:sp>
        <p:nvSpPr>
          <p:cNvPr id="643" name="Slide Number Placeholder 3"/>
          <p:cNvSpPr txBox="1">
            <a:spLocks noGrp="1"/>
          </p:cNvSpPr>
          <p:nvPr>
            <p:ph type="sldNum" sz="quarter" idx="2"/>
          </p:nvPr>
        </p:nvSpPr>
        <p:spPr>
          <a:xfrm>
            <a:off x="11083270" y="6404292"/>
            <a:ext cx="270531" cy="269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200"/>
              </a:spcBef>
              <a:spcAft>
                <a:spcPts val="0"/>
              </a:spcAft>
              <a:buClrTx/>
              <a:buSzTx/>
              <a:buFontTx/>
              <a:buNone/>
              <a:tabLst/>
              <a:defRPr kumimoji="0" sz="1200" b="0" i="0" u="none" strike="noStrike" cap="none" spc="0" normalizeH="0" baseline="0">
                <a:ln>
                  <a:noFill/>
                </a:ln>
                <a:solidFill>
                  <a:srgbClr val="888888"/>
                </a:solidFill>
                <a:effectLst/>
                <a:uFillTx/>
                <a:latin typeface="Tahoma"/>
                <a:ea typeface="Tahoma"/>
                <a:cs typeface="Tahoma"/>
                <a:sym typeface="Tahoma"/>
              </a:defRPr>
            </a:lvl1pPr>
            <a:lvl2pPr marL="0" marR="0" indent="457200" algn="ctr" defTabSz="914400" rtl="0" fontAlgn="auto" latinLnBrk="0" hangingPunct="0">
              <a:lnSpc>
                <a:spcPct val="100000"/>
              </a:lnSpc>
              <a:spcBef>
                <a:spcPts val="400"/>
              </a:spcBef>
              <a:spcAft>
                <a:spcPts val="0"/>
              </a:spcAft>
              <a:buClrTx/>
              <a:buSzTx/>
              <a:buFontTx/>
              <a:buNone/>
              <a:tabLst/>
              <a:defRPr kumimoji="0" sz="20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ctr" defTabSz="914400" rtl="0" fontAlgn="auto" latinLnBrk="0" hangingPunct="0">
              <a:lnSpc>
                <a:spcPct val="100000"/>
              </a:lnSpc>
              <a:spcBef>
                <a:spcPts val="400"/>
              </a:spcBef>
              <a:spcAft>
                <a:spcPts val="0"/>
              </a:spcAft>
              <a:buClrTx/>
              <a:buSzTx/>
              <a:buFontTx/>
              <a:buNone/>
              <a:tabLst/>
              <a:defRPr kumimoji="0" sz="20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ctr" defTabSz="914400" rtl="0" fontAlgn="auto" latinLnBrk="0" hangingPunct="0">
              <a:lnSpc>
                <a:spcPct val="100000"/>
              </a:lnSpc>
              <a:spcBef>
                <a:spcPts val="400"/>
              </a:spcBef>
              <a:spcAft>
                <a:spcPts val="0"/>
              </a:spcAft>
              <a:buClrTx/>
              <a:buSzTx/>
              <a:buFontTx/>
              <a:buNone/>
              <a:tabLst/>
              <a:defRPr kumimoji="0" sz="20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ctr" defTabSz="914400" rtl="0" fontAlgn="auto" latinLnBrk="0" hangingPunct="0">
              <a:lnSpc>
                <a:spcPct val="100000"/>
              </a:lnSpc>
              <a:spcBef>
                <a:spcPts val="400"/>
              </a:spcBef>
              <a:spcAft>
                <a:spcPts val="0"/>
              </a:spcAft>
              <a:buClrTx/>
              <a:buSzTx/>
              <a:buFontTx/>
              <a:buNone/>
              <a:tabLst/>
              <a:defRPr kumimoji="0" sz="20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ctr" defTabSz="914400" rtl="0" fontAlgn="auto" latinLnBrk="0" hangingPunct="0">
              <a:lnSpc>
                <a:spcPct val="100000"/>
              </a:lnSpc>
              <a:spcBef>
                <a:spcPts val="400"/>
              </a:spcBef>
              <a:spcAft>
                <a:spcPts val="0"/>
              </a:spcAft>
              <a:buClrTx/>
              <a:buSzTx/>
              <a:buFontTx/>
              <a:buNone/>
              <a:tabLst/>
              <a:defRPr kumimoji="0" sz="20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ctr" defTabSz="914400" rtl="0" fontAlgn="auto" latinLnBrk="0" hangingPunct="0">
              <a:lnSpc>
                <a:spcPct val="100000"/>
              </a:lnSpc>
              <a:spcBef>
                <a:spcPts val="400"/>
              </a:spcBef>
              <a:spcAft>
                <a:spcPts val="0"/>
              </a:spcAft>
              <a:buClrTx/>
              <a:buSzTx/>
              <a:buFontTx/>
              <a:buNone/>
              <a:tabLst/>
              <a:defRPr kumimoji="0" sz="20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ctr" defTabSz="914400" rtl="0" fontAlgn="auto" latinLnBrk="0" hangingPunct="0">
              <a:lnSpc>
                <a:spcPct val="100000"/>
              </a:lnSpc>
              <a:spcBef>
                <a:spcPts val="400"/>
              </a:spcBef>
              <a:spcAft>
                <a:spcPts val="0"/>
              </a:spcAft>
              <a:buClrTx/>
              <a:buSzTx/>
              <a:buFontTx/>
              <a:buNone/>
              <a:tabLst/>
              <a:defRPr kumimoji="0" sz="20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ctr" defTabSz="914400" rtl="0" fontAlgn="auto" latinLnBrk="0" hangingPunct="0">
              <a:lnSpc>
                <a:spcPct val="100000"/>
              </a:lnSpc>
              <a:spcBef>
                <a:spcPts val="400"/>
              </a:spcBef>
              <a:spcAft>
                <a:spcPts val="0"/>
              </a:spcAft>
              <a:buClrTx/>
              <a:buSzTx/>
              <a:buFontTx/>
              <a:buNone/>
              <a:tabLst/>
              <a:defRPr kumimoji="0" sz="2000" b="0" i="0" u="none" strike="noStrike" cap="none" spc="0" normalizeH="0" baseline="0">
                <a:ln>
                  <a:noFill/>
                </a:ln>
                <a:solidFill>
                  <a:srgbClr val="000000"/>
                </a:solidFill>
                <a:effectLst/>
                <a:uFillTx/>
                <a:latin typeface="Calibri"/>
                <a:ea typeface="Calibri"/>
                <a:cs typeface="Calibri"/>
                <a:sym typeface="Calibri"/>
              </a:defRPr>
            </a:lvl9pPr>
          </a:lstStyle>
          <a:p>
            <a:fld id="{86CB4B4D-7CA3-9044-876B-883B54F8677D}" type="slidenum">
              <a:rPr lang="en-AU" smtClean="0"/>
              <a:pPr/>
              <a:t>52</a:t>
            </a:fld>
            <a:endParaRPr/>
          </a:p>
        </p:txBody>
      </p:sp>
      <p:sp>
        <p:nvSpPr>
          <p:cNvPr id="8" name="Content Placeholder 2">
            <a:extLst>
              <a:ext uri="{FF2B5EF4-FFF2-40B4-BE49-F238E27FC236}">
                <a16:creationId xmlns:a16="http://schemas.microsoft.com/office/drawing/2014/main" id="{A2BCC87D-F1A6-4645-A0FC-883AF66DB8DE}"/>
              </a:ext>
            </a:extLst>
          </p:cNvPr>
          <p:cNvSpPr txBox="1">
            <a:spLocks/>
          </p:cNvSpPr>
          <p:nvPr/>
        </p:nvSpPr>
        <p:spPr>
          <a:xfrm>
            <a:off x="400048" y="2230408"/>
            <a:ext cx="7886700" cy="158238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81000"/>
              </a:lnSpc>
              <a:spcAft>
                <a:spcPts val="0"/>
              </a:spcAft>
              <a:buClrTx/>
              <a:buSzTx/>
              <a:buNone/>
              <a:defRPr sz="2200" i="1"/>
            </a:pPr>
            <a:endParaRPr lang="en-US" sz="2200" i="1" dirty="0"/>
          </a:p>
          <a:p>
            <a:pPr fontAlgn="auto">
              <a:lnSpc>
                <a:spcPct val="81000"/>
              </a:lnSpc>
              <a:spcAft>
                <a:spcPts val="0"/>
              </a:spcAft>
              <a:buClrTx/>
              <a:buSzTx/>
              <a:defRPr sz="2500"/>
            </a:pPr>
            <a:r>
              <a:rPr lang="en-US" dirty="0"/>
              <a:t>UniSuper hosts core systems on Google Cloud</a:t>
            </a:r>
            <a:endParaRPr lang="en-US" sz="2500" dirty="0"/>
          </a:p>
        </p:txBody>
      </p:sp>
      <p:sp>
        <p:nvSpPr>
          <p:cNvPr id="9" name="Content Placeholder 2">
            <a:extLst>
              <a:ext uri="{FF2B5EF4-FFF2-40B4-BE49-F238E27FC236}">
                <a16:creationId xmlns:a16="http://schemas.microsoft.com/office/drawing/2014/main" id="{543B23C3-A786-4650-A96C-920CC55A91BB}"/>
              </a:ext>
            </a:extLst>
          </p:cNvPr>
          <p:cNvSpPr txBox="1">
            <a:spLocks/>
          </p:cNvSpPr>
          <p:nvPr/>
        </p:nvSpPr>
        <p:spPr>
          <a:xfrm>
            <a:off x="400046" y="3259900"/>
            <a:ext cx="7886700" cy="122982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81000"/>
              </a:lnSpc>
              <a:spcAft>
                <a:spcPts val="0"/>
              </a:spcAft>
              <a:buClrTx/>
              <a:buSzTx/>
              <a:buFont typeface="Arial" panose="020B0604020202020204" pitchFamily="34" charset="0"/>
              <a:buNone/>
              <a:defRPr sz="2500"/>
            </a:pPr>
            <a:endParaRPr lang="en-US" sz="2500" dirty="0"/>
          </a:p>
          <a:p>
            <a:pPr fontAlgn="auto">
              <a:lnSpc>
                <a:spcPct val="81000"/>
              </a:lnSpc>
              <a:spcAft>
                <a:spcPts val="0"/>
              </a:spcAft>
              <a:buClrTx/>
              <a:buSzTx/>
              <a:defRPr sz="2500"/>
            </a:pPr>
            <a:r>
              <a:rPr lang="en-US" sz="2500" dirty="0"/>
              <a:t>Virgin </a:t>
            </a:r>
            <a:r>
              <a:rPr lang="en-US" sz="2500" dirty="0" err="1"/>
              <a:t>atlantic</a:t>
            </a:r>
            <a:r>
              <a:rPr lang="en-US" sz="2500" dirty="0"/>
              <a:t> hosts their travel portal on Amazon AWS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3840" y="1284129"/>
            <a:ext cx="8696960" cy="2144871"/>
          </a:xfrm>
        </p:spPr>
        <p:txBody>
          <a:bodyPr>
            <a:normAutofit/>
          </a:bodyPr>
          <a:lstStyle/>
          <a:p>
            <a:r>
              <a:rPr lang="en-AU" sz="2200" dirty="0"/>
              <a:t>Some questions in mid-semester test will be picked from the link below:</a:t>
            </a:r>
          </a:p>
          <a:p>
            <a:pPr lvl="1"/>
            <a:r>
              <a:rPr lang="en-AU" sz="2000" dirty="0">
                <a:latin typeface="+mn-lt"/>
                <a:hlinkClick r:id="rId3"/>
              </a:rPr>
              <a:t>https://zhangzhics.gitbook.io/cits5503/weekly_questions</a:t>
            </a:r>
            <a:endParaRPr lang="en-AU" dirty="0"/>
          </a:p>
          <a:p>
            <a:r>
              <a:rPr lang="en-AU" sz="2200" dirty="0"/>
              <a:t>Some practice questions will also be picked from the link. </a:t>
            </a:r>
          </a:p>
          <a:p>
            <a:pPr lvl="1"/>
            <a:r>
              <a:rPr lang="en-AU" sz="2000" dirty="0"/>
              <a:t>Answers to practice questions will be discussed in the live lecture.</a:t>
            </a:r>
          </a:p>
          <a:p>
            <a:pPr lvl="1"/>
            <a:r>
              <a:rPr lang="en-AU" sz="2000" dirty="0"/>
              <a:t>Answers to other questions in the link need your own work. </a:t>
            </a:r>
          </a:p>
          <a:p>
            <a:endParaRPr lang="en-AU" dirty="0"/>
          </a:p>
        </p:txBody>
      </p:sp>
      <p:sp>
        <p:nvSpPr>
          <p:cNvPr id="4" name="Title 3"/>
          <p:cNvSpPr>
            <a:spLocks noGrp="1"/>
          </p:cNvSpPr>
          <p:nvPr>
            <p:ph type="title"/>
          </p:nvPr>
        </p:nvSpPr>
        <p:spPr>
          <a:xfrm>
            <a:off x="243840" y="157639"/>
            <a:ext cx="3062068" cy="942975"/>
          </a:xfrm>
        </p:spPr>
        <p:txBody>
          <a:bodyPr>
            <a:normAutofit fontScale="90000"/>
          </a:bodyPr>
          <a:lstStyle/>
          <a:p>
            <a:r>
              <a:rPr lang="en-AU" b="1" dirty="0"/>
              <a:t>Practice Questions</a:t>
            </a:r>
          </a:p>
        </p:txBody>
      </p:sp>
    </p:spTree>
    <p:extLst>
      <p:ext uri="{BB962C8B-B14F-4D97-AF65-F5344CB8AC3E}">
        <p14:creationId xmlns:p14="http://schemas.microsoft.com/office/powerpoint/2010/main" val="1239153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3840" y="157639"/>
            <a:ext cx="3062068" cy="942975"/>
          </a:xfrm>
        </p:spPr>
        <p:txBody>
          <a:bodyPr>
            <a:normAutofit fontScale="90000"/>
          </a:bodyPr>
          <a:lstStyle/>
          <a:p>
            <a:r>
              <a:rPr lang="en-AU" b="1" dirty="0"/>
              <a:t>Practice Questions</a:t>
            </a:r>
          </a:p>
        </p:txBody>
      </p:sp>
      <p:sp>
        <p:nvSpPr>
          <p:cNvPr id="7" name="Content Placeholder 1">
            <a:extLst>
              <a:ext uri="{FF2B5EF4-FFF2-40B4-BE49-F238E27FC236}">
                <a16:creationId xmlns:a16="http://schemas.microsoft.com/office/drawing/2014/main" id="{85F180D1-C7EF-4A34-96CA-73A86A26F467}"/>
              </a:ext>
            </a:extLst>
          </p:cNvPr>
          <p:cNvSpPr txBox="1">
            <a:spLocks/>
          </p:cNvSpPr>
          <p:nvPr/>
        </p:nvSpPr>
        <p:spPr>
          <a:xfrm>
            <a:off x="243840" y="1100614"/>
            <a:ext cx="8696960" cy="517318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[6 marks] Q1: </a:t>
            </a:r>
            <a:r>
              <a:rPr lang="en-US" sz="2200" dirty="0"/>
              <a:t>The evolution of Cloud Computing has been compared to the evolution of electricity supply as a utility. Describe 3 specific problems that </a:t>
            </a:r>
            <a:r>
              <a:rPr lang="en-US" sz="2200" b="0" i="0" dirty="0">
                <a:solidFill>
                  <a:srgbClr val="1F2328"/>
                </a:solidFill>
                <a:effectLst/>
              </a:rPr>
              <a:t>cloud computing </a:t>
            </a:r>
            <a:r>
              <a:rPr lang="en-US" sz="2200" dirty="0"/>
              <a:t>solves as compared to businesses running their local data centers.</a:t>
            </a:r>
          </a:p>
        </p:txBody>
      </p:sp>
    </p:spTree>
    <p:extLst>
      <p:ext uri="{BB962C8B-B14F-4D97-AF65-F5344CB8AC3E}">
        <p14:creationId xmlns:p14="http://schemas.microsoft.com/office/powerpoint/2010/main" val="29832606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3840" y="124397"/>
            <a:ext cx="3062068" cy="942975"/>
          </a:xfrm>
        </p:spPr>
        <p:txBody>
          <a:bodyPr>
            <a:normAutofit fontScale="90000"/>
          </a:bodyPr>
          <a:lstStyle/>
          <a:p>
            <a:r>
              <a:rPr lang="en-AU" b="1" dirty="0"/>
              <a:t>Practice Questions</a:t>
            </a:r>
          </a:p>
        </p:txBody>
      </p:sp>
      <p:sp>
        <p:nvSpPr>
          <p:cNvPr id="7" name="Content Placeholder 1">
            <a:extLst>
              <a:ext uri="{FF2B5EF4-FFF2-40B4-BE49-F238E27FC236}">
                <a16:creationId xmlns:a16="http://schemas.microsoft.com/office/drawing/2014/main" id="{85F180D1-C7EF-4A34-96CA-73A86A26F467}"/>
              </a:ext>
            </a:extLst>
          </p:cNvPr>
          <p:cNvSpPr txBox="1">
            <a:spLocks/>
          </p:cNvSpPr>
          <p:nvPr/>
        </p:nvSpPr>
        <p:spPr>
          <a:xfrm>
            <a:off x="243840" y="842406"/>
            <a:ext cx="8696960" cy="5539343"/>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[6 marks] Q1: </a:t>
            </a:r>
            <a:r>
              <a:rPr lang="en-US" sz="2200" dirty="0"/>
              <a:t>The evolution of Cloud Computing has been compared to the evolution of electricity supply as a utility. Describe 3 specific problems that </a:t>
            </a:r>
            <a:r>
              <a:rPr lang="en-US" sz="2200" b="0" i="0" dirty="0">
                <a:solidFill>
                  <a:srgbClr val="1F2328"/>
                </a:solidFill>
                <a:effectLst/>
              </a:rPr>
              <a:t>cloud computing </a:t>
            </a:r>
            <a:r>
              <a:rPr lang="en-US" sz="2200" dirty="0"/>
              <a:t>solves as compared to businesses running their local data centers.</a:t>
            </a:r>
          </a:p>
          <a:p>
            <a:pPr marL="0" indent="0" fontAlgn="auto">
              <a:spcAft>
                <a:spcPts val="0"/>
              </a:spcAft>
              <a:buClrTx/>
              <a:buSzTx/>
              <a:buNone/>
            </a:pPr>
            <a:endParaRPr lang="en-AU" sz="2200" dirty="0"/>
          </a:p>
          <a:p>
            <a:pPr fontAlgn="auto">
              <a:spcAft>
                <a:spcPts val="0"/>
              </a:spcAft>
              <a:buClrTx/>
              <a:buSzTx/>
            </a:pPr>
            <a:r>
              <a:rPr lang="en-US" b="0" i="0" dirty="0">
                <a:solidFill>
                  <a:srgbClr val="374151"/>
                </a:solidFill>
                <a:effectLst/>
                <a:latin typeface="Söhne"/>
              </a:rPr>
              <a:t>[</a:t>
            </a:r>
            <a:r>
              <a:rPr lang="en-US" sz="2200" dirty="0"/>
              <a:t>2 marks] </a:t>
            </a:r>
            <a:r>
              <a:rPr lang="en-AU" sz="2200" b="1" dirty="0"/>
              <a:t>Operational expenses:</a:t>
            </a:r>
            <a:r>
              <a:rPr lang="en-AU" sz="2200" dirty="0"/>
              <a:t> </a:t>
            </a:r>
            <a:r>
              <a:rPr lang="en-US" sz="2200" dirty="0"/>
              <a:t>Cloud computing enables businesses to apply a subscription policy without investing in building and maintaining their data centers.</a:t>
            </a:r>
          </a:p>
        </p:txBody>
      </p:sp>
    </p:spTree>
    <p:extLst>
      <p:ext uri="{BB962C8B-B14F-4D97-AF65-F5344CB8AC3E}">
        <p14:creationId xmlns:p14="http://schemas.microsoft.com/office/powerpoint/2010/main" val="29333242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3840" y="124397"/>
            <a:ext cx="3062068" cy="942975"/>
          </a:xfrm>
        </p:spPr>
        <p:txBody>
          <a:bodyPr>
            <a:normAutofit fontScale="90000"/>
          </a:bodyPr>
          <a:lstStyle/>
          <a:p>
            <a:r>
              <a:rPr lang="en-AU" b="1" dirty="0"/>
              <a:t>Practice Questions</a:t>
            </a:r>
          </a:p>
        </p:txBody>
      </p:sp>
      <p:sp>
        <p:nvSpPr>
          <p:cNvPr id="7" name="Content Placeholder 1">
            <a:extLst>
              <a:ext uri="{FF2B5EF4-FFF2-40B4-BE49-F238E27FC236}">
                <a16:creationId xmlns:a16="http://schemas.microsoft.com/office/drawing/2014/main" id="{85F180D1-C7EF-4A34-96CA-73A86A26F467}"/>
              </a:ext>
            </a:extLst>
          </p:cNvPr>
          <p:cNvSpPr txBox="1">
            <a:spLocks/>
          </p:cNvSpPr>
          <p:nvPr/>
        </p:nvSpPr>
        <p:spPr>
          <a:xfrm>
            <a:off x="243840" y="842406"/>
            <a:ext cx="8696960" cy="5539343"/>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[6 marks] Q1: </a:t>
            </a:r>
            <a:r>
              <a:rPr lang="en-US" sz="2200" dirty="0"/>
              <a:t>The evolution of Cloud Computing has been compared to the evolution of electricity supply as a utility. Describe 3 specific problems that </a:t>
            </a:r>
            <a:r>
              <a:rPr lang="en-US" sz="2200" b="0" i="0" dirty="0">
                <a:solidFill>
                  <a:srgbClr val="1F2328"/>
                </a:solidFill>
                <a:effectLst/>
              </a:rPr>
              <a:t>cloud computing </a:t>
            </a:r>
            <a:r>
              <a:rPr lang="en-US" sz="2200" dirty="0"/>
              <a:t>solves as compared to businesses running their local data centers.</a:t>
            </a:r>
          </a:p>
          <a:p>
            <a:pPr marL="0" indent="0" fontAlgn="auto">
              <a:spcAft>
                <a:spcPts val="0"/>
              </a:spcAft>
              <a:buClrTx/>
              <a:buSzTx/>
              <a:buNone/>
            </a:pPr>
            <a:endParaRPr lang="en-AU" sz="2200" dirty="0"/>
          </a:p>
          <a:p>
            <a:pPr fontAlgn="auto">
              <a:spcAft>
                <a:spcPts val="0"/>
              </a:spcAft>
              <a:buClrTx/>
              <a:buSzTx/>
            </a:pPr>
            <a:r>
              <a:rPr lang="en-US" b="0" i="0" dirty="0">
                <a:solidFill>
                  <a:srgbClr val="374151"/>
                </a:solidFill>
                <a:effectLst/>
                <a:latin typeface="Söhne"/>
              </a:rPr>
              <a:t>[</a:t>
            </a:r>
            <a:r>
              <a:rPr lang="en-US" sz="2200" dirty="0"/>
              <a:t>2 marks] </a:t>
            </a:r>
            <a:r>
              <a:rPr lang="en-AU" sz="2200" b="1" dirty="0"/>
              <a:t>Operational expenses: </a:t>
            </a:r>
            <a:r>
              <a:rPr lang="en-US" sz="2200" dirty="0"/>
              <a:t>Cloud computing enables businesses to apply a subscription policy without investing in building and maintaining their data centers.</a:t>
            </a:r>
          </a:p>
          <a:p>
            <a:pPr fontAlgn="auto">
              <a:spcAft>
                <a:spcPts val="0"/>
              </a:spcAft>
              <a:buClrTx/>
              <a:buSzTx/>
            </a:pPr>
            <a:r>
              <a:rPr lang="en-US" sz="2200" dirty="0"/>
              <a:t>[2 marks] </a:t>
            </a:r>
            <a:r>
              <a:rPr lang="en-US" sz="2200" b="1" dirty="0"/>
              <a:t>Scalability: </a:t>
            </a:r>
            <a:r>
              <a:rPr lang="en-US" sz="2200" dirty="0"/>
              <a:t>Cloud computing enables on-demand computing resources by providing virtual machines as instances. </a:t>
            </a:r>
          </a:p>
        </p:txBody>
      </p:sp>
    </p:spTree>
    <p:extLst>
      <p:ext uri="{BB962C8B-B14F-4D97-AF65-F5344CB8AC3E}">
        <p14:creationId xmlns:p14="http://schemas.microsoft.com/office/powerpoint/2010/main" val="6252795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3840" y="124397"/>
            <a:ext cx="3062068" cy="942975"/>
          </a:xfrm>
        </p:spPr>
        <p:txBody>
          <a:bodyPr>
            <a:normAutofit fontScale="90000"/>
          </a:bodyPr>
          <a:lstStyle/>
          <a:p>
            <a:r>
              <a:rPr lang="en-AU" b="1" dirty="0"/>
              <a:t>Practice Questions</a:t>
            </a:r>
          </a:p>
        </p:txBody>
      </p:sp>
      <p:sp>
        <p:nvSpPr>
          <p:cNvPr id="7" name="Content Placeholder 1">
            <a:extLst>
              <a:ext uri="{FF2B5EF4-FFF2-40B4-BE49-F238E27FC236}">
                <a16:creationId xmlns:a16="http://schemas.microsoft.com/office/drawing/2014/main" id="{85F180D1-C7EF-4A34-96CA-73A86A26F467}"/>
              </a:ext>
            </a:extLst>
          </p:cNvPr>
          <p:cNvSpPr txBox="1">
            <a:spLocks/>
          </p:cNvSpPr>
          <p:nvPr/>
        </p:nvSpPr>
        <p:spPr>
          <a:xfrm>
            <a:off x="243840" y="842406"/>
            <a:ext cx="8696960" cy="5539343"/>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[6 marks] Q1: </a:t>
            </a:r>
            <a:r>
              <a:rPr lang="en-US" sz="2200" dirty="0"/>
              <a:t>The evolution of Cloud Computing has been compared to the evolution of electricity supply as a utility. Describe 3 specific problems that </a:t>
            </a:r>
            <a:r>
              <a:rPr lang="en-US" sz="2200" b="0" i="0" dirty="0">
                <a:solidFill>
                  <a:srgbClr val="1F2328"/>
                </a:solidFill>
                <a:effectLst/>
              </a:rPr>
              <a:t>cloud computing </a:t>
            </a:r>
            <a:r>
              <a:rPr lang="en-US" sz="2200" dirty="0"/>
              <a:t>solves as compared to businesses running their local data centers.</a:t>
            </a:r>
          </a:p>
          <a:p>
            <a:pPr marL="0" indent="0" fontAlgn="auto">
              <a:spcAft>
                <a:spcPts val="0"/>
              </a:spcAft>
              <a:buClrTx/>
              <a:buSzTx/>
              <a:buNone/>
            </a:pPr>
            <a:endParaRPr lang="en-AU" sz="2200" dirty="0"/>
          </a:p>
          <a:p>
            <a:pPr fontAlgn="auto">
              <a:spcAft>
                <a:spcPts val="0"/>
              </a:spcAft>
              <a:buClrTx/>
              <a:buSzTx/>
            </a:pPr>
            <a:r>
              <a:rPr lang="en-US" b="0" i="0" dirty="0">
                <a:solidFill>
                  <a:srgbClr val="374151"/>
                </a:solidFill>
                <a:effectLst/>
                <a:latin typeface="Söhne"/>
              </a:rPr>
              <a:t>[</a:t>
            </a:r>
            <a:r>
              <a:rPr lang="en-US" sz="2200" dirty="0"/>
              <a:t>2 marks] </a:t>
            </a:r>
            <a:r>
              <a:rPr lang="en-AU" sz="2200" b="1" dirty="0"/>
              <a:t>Operational expenses: </a:t>
            </a:r>
            <a:r>
              <a:rPr lang="en-US" sz="2200" dirty="0"/>
              <a:t>Cloud computing enables businesses to apply a subscription policy without investing in building and maintaining their data centers.</a:t>
            </a:r>
          </a:p>
          <a:p>
            <a:pPr fontAlgn="auto">
              <a:spcAft>
                <a:spcPts val="0"/>
              </a:spcAft>
              <a:buClrTx/>
              <a:buSzTx/>
            </a:pPr>
            <a:r>
              <a:rPr lang="en-US" sz="2200" dirty="0"/>
              <a:t>[2 marks] </a:t>
            </a:r>
            <a:r>
              <a:rPr lang="en-US" sz="2200" b="1" dirty="0"/>
              <a:t>Scalability: </a:t>
            </a:r>
            <a:r>
              <a:rPr lang="en-US" sz="2200" dirty="0"/>
              <a:t>Cloud computing enables on-demand computing resources by providing virtual machines as instances. </a:t>
            </a:r>
          </a:p>
          <a:p>
            <a:pPr fontAlgn="auto">
              <a:spcAft>
                <a:spcPts val="0"/>
              </a:spcAft>
              <a:buClrTx/>
              <a:buSzTx/>
            </a:pPr>
            <a:r>
              <a:rPr lang="en-US" sz="2200" dirty="0"/>
              <a:t>[2 marks] </a:t>
            </a:r>
            <a:r>
              <a:rPr lang="en-US" sz="2200" b="1" dirty="0"/>
              <a:t>Resource utilization: </a:t>
            </a:r>
            <a:r>
              <a:rPr lang="en-US" sz="2200" dirty="0"/>
              <a:t>Cloud computing provides multi-tenant environments by allocating resources efficiently for different users, e.g., some tasks are computing intensive while some others are memory intensive.</a:t>
            </a:r>
            <a:endParaRPr lang="en-AU" sz="2200" dirty="0"/>
          </a:p>
        </p:txBody>
      </p:sp>
    </p:spTree>
    <p:extLst>
      <p:ext uri="{BB962C8B-B14F-4D97-AF65-F5344CB8AC3E}">
        <p14:creationId xmlns:p14="http://schemas.microsoft.com/office/powerpoint/2010/main" val="8920667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3840" y="157639"/>
            <a:ext cx="3062068" cy="942975"/>
          </a:xfrm>
        </p:spPr>
        <p:txBody>
          <a:bodyPr>
            <a:normAutofit fontScale="90000"/>
          </a:bodyPr>
          <a:lstStyle/>
          <a:p>
            <a:r>
              <a:rPr lang="en-AU" b="1" dirty="0"/>
              <a:t>Practice Questions</a:t>
            </a:r>
          </a:p>
        </p:txBody>
      </p:sp>
      <p:sp>
        <p:nvSpPr>
          <p:cNvPr id="8" name="Content Placeholder 1">
            <a:extLst>
              <a:ext uri="{FF2B5EF4-FFF2-40B4-BE49-F238E27FC236}">
                <a16:creationId xmlns:a16="http://schemas.microsoft.com/office/drawing/2014/main" id="{7793FE86-13DC-485F-B66A-E099BF96026E}"/>
              </a:ext>
            </a:extLst>
          </p:cNvPr>
          <p:cNvSpPr txBox="1">
            <a:spLocks/>
          </p:cNvSpPr>
          <p:nvPr/>
        </p:nvSpPr>
        <p:spPr>
          <a:xfrm>
            <a:off x="243840" y="1100614"/>
            <a:ext cx="8696960" cy="517318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[6 marks] Q2: </a:t>
            </a:r>
            <a:r>
              <a:rPr lang="en-US" sz="2200" b="0" i="0" dirty="0">
                <a:solidFill>
                  <a:srgbClr val="1F2328"/>
                </a:solidFill>
                <a:effectLst/>
              </a:rPr>
              <a:t>An established financial company is about to launch their new banking application. Give 3 reasons why the company should use their own data center rather than cloud computing.</a:t>
            </a:r>
            <a:endParaRPr lang="en-US" sz="2200" dirty="0"/>
          </a:p>
          <a:p>
            <a:pPr fontAlgn="auto">
              <a:spcAft>
                <a:spcPts val="0"/>
              </a:spcAft>
              <a:buClrTx/>
              <a:buSzTx/>
            </a:pPr>
            <a:endParaRPr lang="en-AU" sz="2200" dirty="0"/>
          </a:p>
        </p:txBody>
      </p:sp>
    </p:spTree>
    <p:extLst>
      <p:ext uri="{BB962C8B-B14F-4D97-AF65-F5344CB8AC3E}">
        <p14:creationId xmlns:p14="http://schemas.microsoft.com/office/powerpoint/2010/main" val="39688898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3840" y="157639"/>
            <a:ext cx="3062068" cy="942975"/>
          </a:xfrm>
        </p:spPr>
        <p:txBody>
          <a:bodyPr>
            <a:normAutofit fontScale="90000"/>
          </a:bodyPr>
          <a:lstStyle/>
          <a:p>
            <a:r>
              <a:rPr lang="en-AU" b="1" dirty="0"/>
              <a:t>Practice Questions</a:t>
            </a:r>
          </a:p>
        </p:txBody>
      </p:sp>
      <p:sp>
        <p:nvSpPr>
          <p:cNvPr id="7" name="Content Placeholder 1">
            <a:extLst>
              <a:ext uri="{FF2B5EF4-FFF2-40B4-BE49-F238E27FC236}">
                <a16:creationId xmlns:a16="http://schemas.microsoft.com/office/drawing/2014/main" id="{85F180D1-C7EF-4A34-96CA-73A86A26F467}"/>
              </a:ext>
            </a:extLst>
          </p:cNvPr>
          <p:cNvSpPr txBox="1">
            <a:spLocks/>
          </p:cNvSpPr>
          <p:nvPr/>
        </p:nvSpPr>
        <p:spPr>
          <a:xfrm>
            <a:off x="243840" y="1100614"/>
            <a:ext cx="8696960" cy="517318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[6 marks] Q2: </a:t>
            </a:r>
            <a:r>
              <a:rPr lang="en-US" sz="2200" b="0" i="0" dirty="0">
                <a:solidFill>
                  <a:srgbClr val="1F2328"/>
                </a:solidFill>
                <a:effectLst/>
              </a:rPr>
              <a:t>An established financial company is about to launch their new banking application. Give 3 reasons why the company should use their own data center rather than cloud computing.</a:t>
            </a:r>
            <a:endParaRPr lang="en-US" sz="2200" dirty="0"/>
          </a:p>
          <a:p>
            <a:pPr fontAlgn="auto">
              <a:spcAft>
                <a:spcPts val="0"/>
              </a:spcAft>
              <a:buClrTx/>
              <a:buSzTx/>
            </a:pPr>
            <a:endParaRPr lang="en-AU" sz="2200" dirty="0"/>
          </a:p>
          <a:p>
            <a:pPr fontAlgn="auto">
              <a:spcAft>
                <a:spcPts val="0"/>
              </a:spcAft>
              <a:buClrTx/>
              <a:buSzTx/>
            </a:pPr>
            <a:r>
              <a:rPr lang="en-US" sz="2200" dirty="0">
                <a:solidFill>
                  <a:srgbClr val="1F2328"/>
                </a:solidFill>
              </a:rPr>
              <a:t>[2 marks] </a:t>
            </a:r>
            <a:r>
              <a:rPr lang="en-US" sz="2200" b="1" dirty="0">
                <a:solidFill>
                  <a:srgbClr val="1F2328"/>
                </a:solidFill>
              </a:rPr>
              <a:t>Data </a:t>
            </a:r>
            <a:r>
              <a:rPr lang="en-AU" sz="2200" b="1" dirty="0">
                <a:solidFill>
                  <a:srgbClr val="1F2328"/>
                </a:solidFill>
              </a:rPr>
              <a:t>Security</a:t>
            </a:r>
            <a:r>
              <a:rPr lang="en-AU" sz="2200" dirty="0">
                <a:solidFill>
                  <a:srgbClr val="1F2328"/>
                </a:solidFill>
              </a:rPr>
              <a:t>: </a:t>
            </a:r>
            <a:r>
              <a:rPr lang="en-US" sz="2200" dirty="0">
                <a:solidFill>
                  <a:srgbClr val="1F2328"/>
                </a:solidFill>
              </a:rPr>
              <a:t>Financial institutions must ensure user data security. By hosting their application in their own data center, the company can better protect their data security.</a:t>
            </a:r>
          </a:p>
        </p:txBody>
      </p:sp>
    </p:spTree>
    <p:extLst>
      <p:ext uri="{BB962C8B-B14F-4D97-AF65-F5344CB8AC3E}">
        <p14:creationId xmlns:p14="http://schemas.microsoft.com/office/powerpoint/2010/main" val="3237922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3840" y="157639"/>
            <a:ext cx="3062068" cy="942975"/>
          </a:xfrm>
        </p:spPr>
        <p:txBody>
          <a:bodyPr>
            <a:normAutofit fontScale="90000"/>
          </a:bodyPr>
          <a:lstStyle/>
          <a:p>
            <a:r>
              <a:rPr lang="en-AU" b="1" dirty="0"/>
              <a:t>Practice Questions</a:t>
            </a:r>
          </a:p>
        </p:txBody>
      </p:sp>
      <p:sp>
        <p:nvSpPr>
          <p:cNvPr id="7" name="Content Placeholder 1">
            <a:extLst>
              <a:ext uri="{FF2B5EF4-FFF2-40B4-BE49-F238E27FC236}">
                <a16:creationId xmlns:a16="http://schemas.microsoft.com/office/drawing/2014/main" id="{85F180D1-C7EF-4A34-96CA-73A86A26F467}"/>
              </a:ext>
            </a:extLst>
          </p:cNvPr>
          <p:cNvSpPr txBox="1">
            <a:spLocks/>
          </p:cNvSpPr>
          <p:nvPr/>
        </p:nvSpPr>
        <p:spPr>
          <a:xfrm>
            <a:off x="243840" y="1100614"/>
            <a:ext cx="8696960" cy="517318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[6 marks] Q2: </a:t>
            </a:r>
            <a:r>
              <a:rPr lang="en-US" sz="2200" b="0" i="0" dirty="0">
                <a:solidFill>
                  <a:srgbClr val="1F2328"/>
                </a:solidFill>
                <a:effectLst/>
              </a:rPr>
              <a:t>An established financial company is about to launch their new banking application. Give 3 reasons why the company should use their own data center rather than cloud computing.</a:t>
            </a:r>
            <a:endParaRPr lang="en-US" sz="2200" dirty="0"/>
          </a:p>
          <a:p>
            <a:pPr fontAlgn="auto">
              <a:spcAft>
                <a:spcPts val="0"/>
              </a:spcAft>
              <a:buClrTx/>
              <a:buSzTx/>
            </a:pPr>
            <a:endParaRPr lang="en-AU" sz="2200" dirty="0"/>
          </a:p>
          <a:p>
            <a:pPr fontAlgn="auto">
              <a:spcAft>
                <a:spcPts val="0"/>
              </a:spcAft>
              <a:buClrTx/>
              <a:buSzTx/>
            </a:pPr>
            <a:r>
              <a:rPr lang="en-US" sz="2200" dirty="0">
                <a:solidFill>
                  <a:srgbClr val="1F2328"/>
                </a:solidFill>
              </a:rPr>
              <a:t>[2 marks] </a:t>
            </a:r>
            <a:r>
              <a:rPr lang="en-US" sz="2200" b="1" dirty="0">
                <a:solidFill>
                  <a:srgbClr val="1F2328"/>
                </a:solidFill>
              </a:rPr>
              <a:t>Data </a:t>
            </a:r>
            <a:r>
              <a:rPr lang="en-AU" sz="2200" b="1" dirty="0">
                <a:solidFill>
                  <a:srgbClr val="1F2328"/>
                </a:solidFill>
              </a:rPr>
              <a:t>Security</a:t>
            </a:r>
            <a:r>
              <a:rPr lang="en-AU" sz="2200" dirty="0">
                <a:solidFill>
                  <a:srgbClr val="1F2328"/>
                </a:solidFill>
              </a:rPr>
              <a:t>: </a:t>
            </a:r>
            <a:r>
              <a:rPr lang="en-US" sz="2200" dirty="0">
                <a:solidFill>
                  <a:srgbClr val="1F2328"/>
                </a:solidFill>
              </a:rPr>
              <a:t>Financial institutions must ensure user data security. By hosting their application in their own data center, the company can better protect their data security.</a:t>
            </a:r>
          </a:p>
          <a:p>
            <a:pPr fontAlgn="auto">
              <a:spcAft>
                <a:spcPts val="0"/>
              </a:spcAft>
              <a:buClrTx/>
              <a:buSzTx/>
            </a:pPr>
            <a:r>
              <a:rPr lang="en-US" sz="2200" dirty="0">
                <a:solidFill>
                  <a:srgbClr val="1F2328"/>
                </a:solidFill>
              </a:rPr>
              <a:t>[2 marks] </a:t>
            </a:r>
            <a:r>
              <a:rPr lang="en-US" sz="2200" b="1" dirty="0">
                <a:solidFill>
                  <a:srgbClr val="1F2328"/>
                </a:solidFill>
              </a:rPr>
              <a:t>Data </a:t>
            </a:r>
            <a:r>
              <a:rPr lang="en-AU" sz="2200" b="1" dirty="0">
                <a:solidFill>
                  <a:srgbClr val="1F2328"/>
                </a:solidFill>
              </a:rPr>
              <a:t>Sovereignty</a:t>
            </a:r>
            <a:r>
              <a:rPr lang="en-AU" sz="2000" b="1" i="0" dirty="0">
                <a:effectLst/>
                <a:latin typeface="Söhne"/>
              </a:rPr>
              <a:t>: </a:t>
            </a:r>
            <a:r>
              <a:rPr lang="en-US" sz="2200" dirty="0">
                <a:solidFill>
                  <a:srgbClr val="1F2328"/>
                </a:solidFill>
              </a:rPr>
              <a:t>For financial institutions, data sovereignty is critical because user data will be stored and processed in compliance with local laws and regulations. </a:t>
            </a:r>
          </a:p>
        </p:txBody>
      </p:sp>
    </p:spTree>
    <p:extLst>
      <p:ext uri="{BB962C8B-B14F-4D97-AF65-F5344CB8AC3E}">
        <p14:creationId xmlns:p14="http://schemas.microsoft.com/office/powerpoint/2010/main" val="35404874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3840" y="157639"/>
            <a:ext cx="3062068" cy="942975"/>
          </a:xfrm>
        </p:spPr>
        <p:txBody>
          <a:bodyPr>
            <a:normAutofit fontScale="90000"/>
          </a:bodyPr>
          <a:lstStyle/>
          <a:p>
            <a:r>
              <a:rPr lang="en-AU" b="1" dirty="0"/>
              <a:t>Practice Questions</a:t>
            </a:r>
          </a:p>
        </p:txBody>
      </p:sp>
      <p:sp>
        <p:nvSpPr>
          <p:cNvPr id="7" name="Content Placeholder 1">
            <a:extLst>
              <a:ext uri="{FF2B5EF4-FFF2-40B4-BE49-F238E27FC236}">
                <a16:creationId xmlns:a16="http://schemas.microsoft.com/office/drawing/2014/main" id="{85F180D1-C7EF-4A34-96CA-73A86A26F467}"/>
              </a:ext>
            </a:extLst>
          </p:cNvPr>
          <p:cNvSpPr txBox="1">
            <a:spLocks/>
          </p:cNvSpPr>
          <p:nvPr/>
        </p:nvSpPr>
        <p:spPr>
          <a:xfrm>
            <a:off x="243840" y="1100614"/>
            <a:ext cx="8696960" cy="517318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[6 marks] Q2: </a:t>
            </a:r>
            <a:r>
              <a:rPr lang="en-US" sz="2200" b="0" i="0" dirty="0">
                <a:solidFill>
                  <a:srgbClr val="1F2328"/>
                </a:solidFill>
                <a:effectLst/>
              </a:rPr>
              <a:t>An established financial company is about to launch their new banking application. Give 3 reasons why the company should use their own data center rather than cloud computing.</a:t>
            </a:r>
            <a:endParaRPr lang="en-US" sz="2200" dirty="0"/>
          </a:p>
          <a:p>
            <a:pPr fontAlgn="auto">
              <a:spcAft>
                <a:spcPts val="0"/>
              </a:spcAft>
              <a:buClrTx/>
              <a:buSzTx/>
            </a:pPr>
            <a:endParaRPr lang="en-AU" sz="2200" dirty="0"/>
          </a:p>
          <a:p>
            <a:pPr fontAlgn="auto">
              <a:spcAft>
                <a:spcPts val="0"/>
              </a:spcAft>
              <a:buClrTx/>
              <a:buSzTx/>
            </a:pPr>
            <a:r>
              <a:rPr lang="en-US" sz="2200" dirty="0">
                <a:solidFill>
                  <a:srgbClr val="1F2328"/>
                </a:solidFill>
              </a:rPr>
              <a:t>[2 marks] </a:t>
            </a:r>
            <a:r>
              <a:rPr lang="en-US" sz="2200" b="1" dirty="0">
                <a:solidFill>
                  <a:srgbClr val="1F2328"/>
                </a:solidFill>
              </a:rPr>
              <a:t>Data </a:t>
            </a:r>
            <a:r>
              <a:rPr lang="en-AU" sz="2200" b="1" dirty="0">
                <a:solidFill>
                  <a:srgbClr val="1F2328"/>
                </a:solidFill>
              </a:rPr>
              <a:t>Security</a:t>
            </a:r>
            <a:r>
              <a:rPr lang="en-AU" sz="2200" dirty="0">
                <a:solidFill>
                  <a:srgbClr val="1F2328"/>
                </a:solidFill>
              </a:rPr>
              <a:t>: </a:t>
            </a:r>
            <a:r>
              <a:rPr lang="en-US" sz="2200" dirty="0">
                <a:solidFill>
                  <a:srgbClr val="1F2328"/>
                </a:solidFill>
              </a:rPr>
              <a:t>Financial institutions must ensure user data security. By hosting their application in their own data center, the company can better protect their data security.</a:t>
            </a:r>
          </a:p>
          <a:p>
            <a:pPr fontAlgn="auto">
              <a:spcAft>
                <a:spcPts val="0"/>
              </a:spcAft>
              <a:buClrTx/>
              <a:buSzTx/>
            </a:pPr>
            <a:r>
              <a:rPr lang="en-US" sz="2200" dirty="0">
                <a:solidFill>
                  <a:srgbClr val="1F2328"/>
                </a:solidFill>
              </a:rPr>
              <a:t>[2 marks] </a:t>
            </a:r>
            <a:r>
              <a:rPr lang="en-US" sz="2200" b="1" dirty="0">
                <a:solidFill>
                  <a:srgbClr val="1F2328"/>
                </a:solidFill>
              </a:rPr>
              <a:t>Data</a:t>
            </a:r>
            <a:r>
              <a:rPr lang="en-US" sz="2200" dirty="0">
                <a:solidFill>
                  <a:srgbClr val="1F2328"/>
                </a:solidFill>
              </a:rPr>
              <a:t> </a:t>
            </a:r>
            <a:r>
              <a:rPr lang="en-AU" sz="2200" b="1" dirty="0">
                <a:solidFill>
                  <a:srgbClr val="1F2328"/>
                </a:solidFill>
              </a:rPr>
              <a:t>Sovereignty: </a:t>
            </a:r>
            <a:r>
              <a:rPr lang="en-US" sz="2200" dirty="0">
                <a:solidFill>
                  <a:srgbClr val="1F2328"/>
                </a:solidFill>
              </a:rPr>
              <a:t>For financial institutions, data sovereignty is critical because user data will be stored and processed in compliance with local laws and regulations. </a:t>
            </a:r>
          </a:p>
          <a:p>
            <a:pPr fontAlgn="auto">
              <a:spcAft>
                <a:spcPts val="0"/>
              </a:spcAft>
              <a:buClrTx/>
              <a:buSzTx/>
            </a:pPr>
            <a:r>
              <a:rPr lang="en-US" sz="2200" dirty="0">
                <a:solidFill>
                  <a:srgbClr val="1F2328"/>
                </a:solidFill>
              </a:rPr>
              <a:t>[2 marks] </a:t>
            </a:r>
            <a:r>
              <a:rPr lang="en-US" sz="2200" b="1" dirty="0">
                <a:solidFill>
                  <a:srgbClr val="1F2328"/>
                </a:solidFill>
              </a:rPr>
              <a:t>Optimized</a:t>
            </a:r>
            <a:r>
              <a:rPr lang="en-AU" sz="2200" b="1" dirty="0">
                <a:solidFill>
                  <a:srgbClr val="1F2328"/>
                </a:solidFill>
              </a:rPr>
              <a:t> Performance: </a:t>
            </a:r>
            <a:r>
              <a:rPr lang="en-AU" sz="2200" dirty="0">
                <a:solidFill>
                  <a:srgbClr val="1F2328"/>
                </a:solidFill>
              </a:rPr>
              <a:t>With their own data </a:t>
            </a:r>
            <a:r>
              <a:rPr lang="en-AU" sz="2200" dirty="0" err="1">
                <a:solidFill>
                  <a:srgbClr val="1F2328"/>
                </a:solidFill>
              </a:rPr>
              <a:t>center</a:t>
            </a:r>
            <a:r>
              <a:rPr lang="en-AU" sz="2200" dirty="0">
                <a:solidFill>
                  <a:srgbClr val="1F2328"/>
                </a:solidFill>
              </a:rPr>
              <a:t>, </a:t>
            </a:r>
            <a:r>
              <a:rPr lang="en-US" sz="2200" dirty="0">
                <a:solidFill>
                  <a:srgbClr val="1F2328"/>
                </a:solidFill>
              </a:rPr>
              <a:t>the company can have consistent performance for their application. Besides, they can fine-tune the infrastructure to optimize the application’s performance.</a:t>
            </a:r>
          </a:p>
        </p:txBody>
      </p:sp>
    </p:spTree>
    <p:extLst>
      <p:ext uri="{BB962C8B-B14F-4D97-AF65-F5344CB8AC3E}">
        <p14:creationId xmlns:p14="http://schemas.microsoft.com/office/powerpoint/2010/main" val="36508111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302078" y="136524"/>
            <a:ext cx="5140779" cy="941160"/>
          </a:xfrm>
        </p:spPr>
        <p:txBody>
          <a:bodyPr/>
          <a:lstStyle/>
          <a:p>
            <a:r>
              <a:rPr lang="en-AU" b="1" dirty="0"/>
              <a:t>Learning Outcomes</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348343" y="1077684"/>
            <a:ext cx="8493579" cy="4339997"/>
          </a:xfrm>
        </p:spPr>
        <p:txBody>
          <a:bodyPr>
            <a:noAutofit/>
          </a:bodyPr>
          <a:lstStyle/>
          <a:p>
            <a:pPr marL="0" indent="0" algn="l">
              <a:buNone/>
            </a:pPr>
            <a:r>
              <a:rPr lang="en-US" sz="2400" dirty="0">
                <a:solidFill>
                  <a:srgbClr val="FF0000"/>
                </a:solidFill>
              </a:rPr>
              <a:t>U</a:t>
            </a:r>
            <a:r>
              <a:rPr lang="en-US" sz="2400" b="0" i="0" dirty="0">
                <a:solidFill>
                  <a:srgbClr val="FF0000"/>
                </a:solidFill>
                <a:effectLst/>
              </a:rPr>
              <a:t>nderstandings</a:t>
            </a:r>
          </a:p>
          <a:p>
            <a:pPr lvl="1">
              <a:spcBef>
                <a:spcPts val="600"/>
              </a:spcBef>
              <a:spcAft>
                <a:spcPts val="600"/>
              </a:spcAft>
              <a:buFont typeface="Wingdings" panose="05000000000000000000" pitchFamily="2" charset="2"/>
              <a:buChar char="Ø"/>
            </a:pPr>
            <a:r>
              <a:rPr lang="en-US" sz="2000" b="0" i="0" dirty="0">
                <a:solidFill>
                  <a:srgbClr val="1F2328"/>
                </a:solidFill>
                <a:effectLst/>
              </a:rPr>
              <a:t>Understand cloud services, their motivation, design and implementation</a:t>
            </a:r>
          </a:p>
          <a:p>
            <a:pPr lvl="1">
              <a:spcBef>
                <a:spcPts val="600"/>
              </a:spcBef>
              <a:spcAft>
                <a:spcPts val="600"/>
              </a:spcAft>
              <a:buFont typeface="Wingdings" panose="05000000000000000000" pitchFamily="2" charset="2"/>
              <a:buChar char="Ø"/>
            </a:pPr>
            <a:r>
              <a:rPr lang="en-US" sz="2000" b="0" i="0" dirty="0">
                <a:solidFill>
                  <a:srgbClr val="1F2328"/>
                </a:solidFill>
                <a:effectLst/>
              </a:rPr>
              <a:t>Understand the basics of virtualization of hardware, networks and security</a:t>
            </a:r>
          </a:p>
          <a:p>
            <a:pPr lvl="1">
              <a:spcBef>
                <a:spcPts val="600"/>
              </a:spcBef>
              <a:spcAft>
                <a:spcPts val="600"/>
              </a:spcAft>
              <a:buFont typeface="Wingdings" panose="05000000000000000000" pitchFamily="2" charset="2"/>
              <a:buChar char="Ø"/>
            </a:pPr>
            <a:r>
              <a:rPr lang="en-US" sz="2000" b="0" i="0" dirty="0">
                <a:solidFill>
                  <a:srgbClr val="1F2328"/>
                </a:solidFill>
                <a:effectLst/>
              </a:rPr>
              <a:t>Understand cloud-based web architectures and their applications</a:t>
            </a:r>
          </a:p>
          <a:p>
            <a:pPr lvl="1">
              <a:spcBef>
                <a:spcPts val="600"/>
              </a:spcBef>
              <a:spcAft>
                <a:spcPts val="600"/>
              </a:spcAft>
              <a:buFont typeface="Wingdings" panose="05000000000000000000" pitchFamily="2" charset="2"/>
              <a:buChar char="Ø"/>
            </a:pPr>
            <a:r>
              <a:rPr lang="en-US" sz="2000" b="0" i="0" dirty="0">
                <a:solidFill>
                  <a:srgbClr val="1F2328"/>
                </a:solidFill>
                <a:effectLst/>
              </a:rPr>
              <a:t>Understand how to achieve scalability and security in a cloud</a:t>
            </a:r>
          </a:p>
          <a:p>
            <a:pPr marL="0" indent="0" algn="l">
              <a:buNone/>
            </a:pPr>
            <a:r>
              <a:rPr lang="en-US" sz="2400" dirty="0">
                <a:solidFill>
                  <a:srgbClr val="FF0000"/>
                </a:solidFill>
              </a:rPr>
              <a:t>Hands-on skills</a:t>
            </a:r>
            <a:endParaRPr lang="en-US" sz="2400" b="0" i="0" dirty="0">
              <a:solidFill>
                <a:srgbClr val="FF0000"/>
              </a:solidFill>
              <a:effectLst/>
            </a:endParaRPr>
          </a:p>
          <a:p>
            <a:pPr lvl="1">
              <a:spcBef>
                <a:spcPts val="600"/>
              </a:spcBef>
              <a:spcAft>
                <a:spcPts val="600"/>
              </a:spcAft>
              <a:buFont typeface="Wingdings" panose="05000000000000000000" pitchFamily="2" charset="2"/>
              <a:buChar char="Ø"/>
            </a:pPr>
            <a:r>
              <a:rPr lang="en-US" sz="2000" b="0" i="0" dirty="0">
                <a:solidFill>
                  <a:srgbClr val="1F2328"/>
                </a:solidFill>
                <a:effectLst/>
              </a:rPr>
              <a:t>Use DevOps to deploy and manage the creation and update of software environments</a:t>
            </a:r>
          </a:p>
          <a:p>
            <a:pPr lvl="1">
              <a:spcBef>
                <a:spcPts val="600"/>
              </a:spcBef>
              <a:spcAft>
                <a:spcPts val="600"/>
              </a:spcAft>
              <a:buFont typeface="Wingdings" panose="05000000000000000000" pitchFamily="2" charset="2"/>
              <a:buChar char="Ø"/>
            </a:pPr>
            <a:r>
              <a:rPr lang="en-US" sz="2000" b="0" i="0" dirty="0">
                <a:solidFill>
                  <a:srgbClr val="1F2328"/>
                </a:solidFill>
                <a:effectLst/>
              </a:rPr>
              <a:t>Use cloud services to carry out specific use cases such as machine learning</a:t>
            </a:r>
          </a:p>
          <a:p>
            <a:pPr algn="l">
              <a:buFont typeface="+mj-lt"/>
              <a:buAutoNum type="arabicPeriod"/>
            </a:pPr>
            <a:endParaRPr lang="en-US" sz="1600" b="0" i="0" dirty="0">
              <a:solidFill>
                <a:srgbClr val="1F2328"/>
              </a:solidFill>
              <a:effectLst/>
              <a:latin typeface="-apple-system"/>
            </a:endParaRPr>
          </a:p>
        </p:txBody>
      </p:sp>
    </p:spTree>
    <p:extLst>
      <p:ext uri="{BB962C8B-B14F-4D97-AF65-F5344CB8AC3E}">
        <p14:creationId xmlns:p14="http://schemas.microsoft.com/office/powerpoint/2010/main" val="10687469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45622" y="212726"/>
            <a:ext cx="7886700" cy="897617"/>
          </a:xfrm>
        </p:spPr>
        <p:txBody>
          <a:bodyPr/>
          <a:lstStyle/>
          <a:p>
            <a:r>
              <a:rPr lang="en-AU" b="1" dirty="0"/>
              <a:t>Copyright notice</a:t>
            </a:r>
          </a:p>
        </p:txBody>
      </p:sp>
      <p:sp>
        <p:nvSpPr>
          <p:cNvPr id="2" name="Content Placeholder 1">
            <a:extLst>
              <a:ext uri="{FF2B5EF4-FFF2-40B4-BE49-F238E27FC236}">
                <a16:creationId xmlns:a16="http://schemas.microsoft.com/office/drawing/2014/main" id="{75A042B4-6EB2-4F38-8355-D92C4E4A5EF9}"/>
              </a:ext>
            </a:extLst>
          </p:cNvPr>
          <p:cNvSpPr>
            <a:spLocks noGrp="1"/>
          </p:cNvSpPr>
          <p:nvPr>
            <p:ph idx="1"/>
          </p:nvPr>
        </p:nvSpPr>
        <p:spPr>
          <a:xfrm>
            <a:off x="290241" y="1411401"/>
            <a:ext cx="8563518" cy="4035198"/>
          </a:xfrm>
        </p:spPr>
        <p:txBody>
          <a:bodyPr>
            <a:normAutofit fontScale="92500" lnSpcReduction="20000"/>
          </a:bodyPr>
          <a:lstStyle/>
          <a:p>
            <a:pPr marL="27675" indent="0" algn="ctr">
              <a:buNone/>
            </a:pPr>
            <a:r>
              <a:rPr lang="en-AU" sz="3000" b="1" dirty="0">
                <a:cs typeface="Arial" panose="020B0604020202020204" pitchFamily="34" charset="0"/>
              </a:rPr>
              <a:t>Commonwealth of Australia</a:t>
            </a:r>
          </a:p>
          <a:p>
            <a:pPr marL="27675" indent="0" algn="ctr">
              <a:buNone/>
            </a:pPr>
            <a:endParaRPr lang="en-AU" dirty="0">
              <a:cs typeface="Arial" panose="020B0604020202020204" pitchFamily="34" charset="0"/>
            </a:endParaRPr>
          </a:p>
          <a:p>
            <a:pPr marL="27675" indent="0" algn="ctr">
              <a:buNone/>
            </a:pPr>
            <a:r>
              <a:rPr lang="en-AU" sz="2200" dirty="0">
                <a:cs typeface="Arial" panose="020B0604020202020204" pitchFamily="34" charset="0"/>
              </a:rPr>
              <a:t>Copyright Regulations 1969</a:t>
            </a:r>
          </a:p>
          <a:p>
            <a:pPr marL="27675" indent="0" algn="ctr">
              <a:buNone/>
            </a:pPr>
            <a:endParaRPr lang="en-AU" sz="2200" dirty="0">
              <a:cs typeface="Arial" panose="020B0604020202020204" pitchFamily="34" charset="0"/>
            </a:endParaRPr>
          </a:p>
          <a:p>
            <a:pPr marL="27675" indent="0" algn="ctr">
              <a:buNone/>
            </a:pPr>
            <a:r>
              <a:rPr lang="en-AU" sz="2200" dirty="0">
                <a:cs typeface="Arial" panose="020B0604020202020204" pitchFamily="34" charset="0"/>
              </a:rPr>
              <a:t>WARNING</a:t>
            </a:r>
          </a:p>
          <a:p>
            <a:pPr marL="27675" indent="0" algn="ctr">
              <a:buNone/>
            </a:pPr>
            <a:endParaRPr lang="en-AU" sz="2200" dirty="0">
              <a:cs typeface="Arial" panose="020B0604020202020204" pitchFamily="34" charset="0"/>
            </a:endParaRPr>
          </a:p>
          <a:p>
            <a:pPr marL="27675" indent="0">
              <a:buNone/>
            </a:pPr>
            <a:r>
              <a:rPr lang="en-AU" sz="2200" dirty="0">
                <a:cs typeface="Arial" panose="020B0604020202020204" pitchFamily="34" charset="0"/>
              </a:rPr>
              <a:t>Materials in this unit have been reproduced and communicated to you by or on behalf of The University of Western Australia pursuant to Part VB of the </a:t>
            </a:r>
            <a:r>
              <a:rPr lang="en-AU" sz="2200" i="1" dirty="0">
                <a:cs typeface="Arial" panose="020B0604020202020204" pitchFamily="34" charset="0"/>
              </a:rPr>
              <a:t>Copyright Act</a:t>
            </a:r>
            <a:r>
              <a:rPr lang="en-AU" sz="2200" dirty="0">
                <a:cs typeface="Arial" panose="020B0604020202020204" pitchFamily="34" charset="0"/>
              </a:rPr>
              <a:t>1968 (</a:t>
            </a:r>
            <a:r>
              <a:rPr lang="en-AU" sz="2200" b="1" dirty="0">
                <a:cs typeface="Arial" panose="020B0604020202020204" pitchFamily="34" charset="0"/>
              </a:rPr>
              <a:t>the Act</a:t>
            </a:r>
            <a:r>
              <a:rPr lang="en-AU" sz="2200" dirty="0">
                <a:cs typeface="Arial" panose="020B0604020202020204" pitchFamily="34" charset="0"/>
              </a:rPr>
              <a:t>).</a:t>
            </a:r>
          </a:p>
          <a:p>
            <a:pPr marL="27675" indent="0">
              <a:buNone/>
            </a:pPr>
            <a:endParaRPr lang="en-AU" sz="2200" dirty="0">
              <a:cs typeface="Arial" panose="020B0604020202020204" pitchFamily="34" charset="0"/>
            </a:endParaRPr>
          </a:p>
          <a:p>
            <a:pPr marL="27675" indent="0">
              <a:buNone/>
            </a:pPr>
            <a:r>
              <a:rPr lang="en-AU" sz="2200" dirty="0">
                <a:cs typeface="Arial" panose="020B0604020202020204" pitchFamily="34" charset="0"/>
              </a:rPr>
              <a:t>The material in this communication may be subject to copyright under the Act. Any further reproduction or communication of this material by you may be the subject of copyright protection under the Act.</a:t>
            </a:r>
          </a:p>
          <a:p>
            <a:pPr marL="27675" indent="0">
              <a:buNone/>
            </a:pPr>
            <a:endParaRPr lang="en-AU" dirty="0"/>
          </a:p>
        </p:txBody>
      </p:sp>
    </p:spTree>
    <p:extLst>
      <p:ext uri="{BB962C8B-B14F-4D97-AF65-F5344CB8AC3E}">
        <p14:creationId xmlns:p14="http://schemas.microsoft.com/office/powerpoint/2010/main" val="2307588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TotalTime>
  <Words>2809</Words>
  <Application>Microsoft Office PowerPoint</Application>
  <PresentationFormat>On-screen Show (4:3)</PresentationFormat>
  <Paragraphs>446</Paragraphs>
  <Slides>63</Slides>
  <Notes>63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63</vt:i4>
      </vt:variant>
    </vt:vector>
  </HeadingPairs>
  <TitlesOfParts>
    <vt:vector size="74" baseType="lpstr">
      <vt:lpstr>-apple-system</vt:lpstr>
      <vt:lpstr>Inter</vt:lpstr>
      <vt:lpstr>Söhne</vt:lpstr>
      <vt:lpstr>Arial</vt:lpstr>
      <vt:lpstr>Calibri</vt:lpstr>
      <vt:lpstr>Calibri Light</vt:lpstr>
      <vt:lpstr>Roboto</vt:lpstr>
      <vt:lpstr>Tahoma</vt:lpstr>
      <vt:lpstr>Times New Roman</vt:lpstr>
      <vt:lpstr>Wingdings</vt:lpstr>
      <vt:lpstr>Office Theme</vt:lpstr>
      <vt:lpstr>PowerPoint Presentation</vt:lpstr>
      <vt:lpstr>PowerPoint Presentation</vt:lpstr>
      <vt:lpstr>PowerPoint Presentation</vt:lpstr>
      <vt:lpstr>PowerPoint Presentation</vt:lpstr>
      <vt:lpstr>Three main cloud providers</vt:lpstr>
      <vt:lpstr>Three main virtual machine monitors (VMM)</vt:lpstr>
      <vt:lpstr>Three main virtual machine monitors (VMM)</vt:lpstr>
      <vt:lpstr>Three main virtual machine monitors (VMM)  What do they have in common?</vt:lpstr>
      <vt:lpstr>PowerPoint Presentation</vt:lpstr>
      <vt:lpstr>Three main virtual machine monitors (VMM)</vt:lpstr>
      <vt:lpstr>PowerPoint Presentation</vt:lpstr>
      <vt:lpstr>To Get Started</vt:lpstr>
      <vt:lpstr>People</vt:lpstr>
      <vt:lpstr>Emergency</vt:lpstr>
      <vt:lpstr>Lectures</vt:lpstr>
      <vt:lpstr>Assessments</vt:lpstr>
      <vt:lpstr>Labs start in week 2 </vt:lpstr>
      <vt:lpstr>Lab materials</vt:lpstr>
      <vt:lpstr>AWS</vt:lpstr>
      <vt:lpstr>PowerPoint Presentation</vt:lpstr>
      <vt:lpstr>Lab Location</vt:lpstr>
      <vt:lpstr>MS Teams</vt:lpstr>
      <vt:lpstr>Lab Computer</vt:lpstr>
      <vt:lpstr>Lab Assessment</vt:lpstr>
      <vt:lpstr>Lab Assessment</vt:lpstr>
      <vt:lpstr>Lab Assessment</vt:lpstr>
      <vt:lpstr>Other Assessments</vt:lpstr>
      <vt:lpstr>PowerPoint Presentation</vt:lpstr>
      <vt:lpstr>Enquiries</vt:lpstr>
      <vt:lpstr>What is cloud computing?</vt:lpstr>
      <vt:lpstr>Cloud Services</vt:lpstr>
      <vt:lpstr>Formal definition</vt:lpstr>
      <vt:lpstr>Formal definition</vt:lpstr>
      <vt:lpstr>Formal definition</vt:lpstr>
      <vt:lpstr>Formal definition</vt:lpstr>
      <vt:lpstr>Motivating Cloud Computing</vt:lpstr>
      <vt:lpstr>Cluster</vt:lpstr>
      <vt:lpstr>Power and cooling</vt:lpstr>
      <vt:lpstr>Scaling up</vt:lpstr>
      <vt:lpstr>Data center</vt:lpstr>
      <vt:lpstr>What's inside a data center?</vt:lpstr>
      <vt:lpstr>What's inside a data center?</vt:lpstr>
      <vt:lpstr>What's inside a data center?</vt:lpstr>
      <vt:lpstr>What's inside a data center?</vt:lpstr>
      <vt:lpstr>Data Center</vt:lpstr>
      <vt:lpstr>Scaling up</vt:lpstr>
      <vt:lpstr>Global distribution</vt:lpstr>
      <vt:lpstr>Global distribution</vt:lpstr>
      <vt:lpstr>Data center has enabled cloud computing</vt:lpstr>
      <vt:lpstr>Other terms</vt:lpstr>
      <vt:lpstr>Cloud applications</vt:lpstr>
      <vt:lpstr>Some Examples</vt:lpstr>
      <vt:lpstr>Practice Questions</vt:lpstr>
      <vt:lpstr>Practice Questions</vt:lpstr>
      <vt:lpstr>Practice Questions</vt:lpstr>
      <vt:lpstr>Practice Questions</vt:lpstr>
      <vt:lpstr>Practice Questions</vt:lpstr>
      <vt:lpstr>Practice Questions</vt:lpstr>
      <vt:lpstr>Practice Questions</vt:lpstr>
      <vt:lpstr>Practice Questions</vt:lpstr>
      <vt:lpstr>Practice Questions</vt:lpstr>
      <vt:lpstr>Learning Outcomes</vt:lpstr>
      <vt:lpstr>Copyright notice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
  <cp:lastModifiedBy>Zhi Zhang</cp:lastModifiedBy>
  <cp:revision>3</cp:revision>
  <dcterms:created xsi:type="dcterms:W3CDTF">2026-07-20T03:46:34Z</dcterms:created>
  <dcterms:modified xsi:type="dcterms:W3CDTF">2026-10-13T01:42:02Z</dcterms:modified>
  <cp:category/>
</cp:coreProperties>
</file>