
<file path=[Content_Types].xml><?xml version="1.0" encoding="utf-8"?>
<Types xmlns="http://schemas.openxmlformats.org/package/2006/content-types"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emovePersonalInfoOnSave="1" strictFirstAndLastChars="0" saveSubsetFonts="1">
  <p:sldMasterIdLst>
    <p:sldMasterId id="2147483694" r:id="rId1"/>
  </p:sldMasterIdLst>
  <p:notesMasterIdLst>
    <p:notesMasterId r:id="rId82"/>
  </p:notesMasterIdLst>
  <p:handoutMasterIdLst>
    <p:handoutMasterId r:id="rId83"/>
  </p:handoutMasterIdLst>
  <p:sldIdLst>
    <p:sldId id="1357" r:id="rId2"/>
    <p:sldId id="1423" r:id="rId3"/>
    <p:sldId id="1454" r:id="rId4"/>
    <p:sldId id="1484" r:id="rId5"/>
    <p:sldId id="1485" r:id="rId6"/>
    <p:sldId id="1441" r:id="rId7"/>
    <p:sldId id="1486" r:id="rId8"/>
    <p:sldId id="1487" r:id="rId9"/>
    <p:sldId id="1543" r:id="rId10"/>
    <p:sldId id="1544" r:id="rId11"/>
    <p:sldId id="1545" r:id="rId12"/>
    <p:sldId id="1566" r:id="rId13"/>
    <p:sldId id="1565" r:id="rId14"/>
    <p:sldId id="1488" r:id="rId15"/>
    <p:sldId id="1567" r:id="rId16"/>
    <p:sldId id="1489" r:id="rId17"/>
    <p:sldId id="1490" r:id="rId18"/>
    <p:sldId id="1491" r:id="rId19"/>
    <p:sldId id="1547" r:id="rId20"/>
    <p:sldId id="1451" r:id="rId21"/>
    <p:sldId id="1536" r:id="rId22"/>
    <p:sldId id="1558" r:id="rId23"/>
    <p:sldId id="1555" r:id="rId24"/>
    <p:sldId id="1534" r:id="rId25"/>
    <p:sldId id="1552" r:id="rId26"/>
    <p:sldId id="1551" r:id="rId27"/>
    <p:sldId id="1535" r:id="rId28"/>
    <p:sldId id="1553" r:id="rId29"/>
    <p:sldId id="1559" r:id="rId30"/>
    <p:sldId id="1461" r:id="rId31"/>
    <p:sldId id="1568" r:id="rId32"/>
    <p:sldId id="1569" r:id="rId33"/>
    <p:sldId id="1570" r:id="rId34"/>
    <p:sldId id="1572" r:id="rId35"/>
    <p:sldId id="1573" r:id="rId36"/>
    <p:sldId id="1550" r:id="rId37"/>
    <p:sldId id="1560" r:id="rId38"/>
    <p:sldId id="1561" r:id="rId39"/>
    <p:sldId id="1546" r:id="rId40"/>
    <p:sldId id="258" r:id="rId41"/>
    <p:sldId id="1413" r:id="rId42"/>
    <p:sldId id="1334" r:id="rId43"/>
    <p:sldId id="1537" r:id="rId44"/>
    <p:sldId id="1539" r:id="rId45"/>
    <p:sldId id="1414" r:id="rId46"/>
    <p:sldId id="1420" r:id="rId47"/>
    <p:sldId id="1417" r:id="rId48"/>
    <p:sldId id="1421" r:id="rId49"/>
    <p:sldId id="1540" r:id="rId50"/>
    <p:sldId id="1326" r:id="rId51"/>
    <p:sldId id="1374" r:id="rId52"/>
    <p:sldId id="1556" r:id="rId53"/>
    <p:sldId id="1562" r:id="rId54"/>
    <p:sldId id="1373" r:id="rId55"/>
    <p:sldId id="1480" r:id="rId56"/>
    <p:sldId id="1481" r:id="rId57"/>
    <p:sldId id="1372" r:id="rId58"/>
    <p:sldId id="1450" r:id="rId59"/>
    <p:sldId id="1557" r:id="rId60"/>
    <p:sldId id="1482" r:id="rId61"/>
    <p:sldId id="1424" r:id="rId62"/>
    <p:sldId id="1483" r:id="rId63"/>
    <p:sldId id="1425" r:id="rId64"/>
    <p:sldId id="1426" r:id="rId65"/>
    <p:sldId id="1427" r:id="rId66"/>
    <p:sldId id="1428" r:id="rId67"/>
    <p:sldId id="1541" r:id="rId68"/>
    <p:sldId id="1564" r:id="rId69"/>
    <p:sldId id="1574" r:id="rId70"/>
    <p:sldId id="1563" r:id="rId71"/>
    <p:sldId id="1575" r:id="rId72"/>
    <p:sldId id="1430" r:id="rId73"/>
    <p:sldId id="1431" r:id="rId74"/>
    <p:sldId id="1433" r:id="rId75"/>
    <p:sldId id="1436" r:id="rId76"/>
    <p:sldId id="1445" r:id="rId77"/>
    <p:sldId id="1443" r:id="rId78"/>
    <p:sldId id="1444" r:id="rId79"/>
    <p:sldId id="1375" r:id="rId80"/>
    <p:sldId id="1459" r:id="rId81"/>
  </p:sldIdLst>
  <p:sldSz cx="12192000" cy="6858000"/>
  <p:notesSz cx="9601200" cy="7315200"/>
  <p:defaultTextStyle>
    <a:defPPr>
      <a:defRPr lang="en-US"/>
    </a:defPPr>
    <a:lvl1pPr algn="ctr" rtl="0" fontAlgn="base">
      <a:spcBef>
        <a:spcPct val="20000"/>
      </a:spcBef>
      <a:spcAft>
        <a:spcPct val="0"/>
      </a:spcAft>
      <a:buClr>
        <a:schemeClr val="hlink"/>
      </a:buClr>
      <a:buSzPct val="55000"/>
      <a:buFont typeface="Wingdings" pitchFamily="2" charset="2"/>
      <a:defRPr sz="2000" kern="1200">
        <a:solidFill>
          <a:schemeClr val="tx1"/>
        </a:solidFill>
        <a:latin typeface="Tahoma" pitchFamily="34" charset="0"/>
        <a:ea typeface="+mn-ea"/>
        <a:cs typeface="+mn-cs"/>
      </a:defRPr>
    </a:lvl1pPr>
    <a:lvl2pPr marL="457200" algn="ctr" rtl="0" fontAlgn="base">
      <a:spcBef>
        <a:spcPct val="20000"/>
      </a:spcBef>
      <a:spcAft>
        <a:spcPct val="0"/>
      </a:spcAft>
      <a:buClr>
        <a:schemeClr val="hlink"/>
      </a:buClr>
      <a:buSzPct val="55000"/>
      <a:buFont typeface="Wingdings" pitchFamily="2" charset="2"/>
      <a:defRPr sz="2000" kern="1200">
        <a:solidFill>
          <a:schemeClr val="tx1"/>
        </a:solidFill>
        <a:latin typeface="Tahoma" pitchFamily="34" charset="0"/>
        <a:ea typeface="+mn-ea"/>
        <a:cs typeface="+mn-cs"/>
      </a:defRPr>
    </a:lvl2pPr>
    <a:lvl3pPr marL="914400" algn="ctr" rtl="0" fontAlgn="base">
      <a:spcBef>
        <a:spcPct val="20000"/>
      </a:spcBef>
      <a:spcAft>
        <a:spcPct val="0"/>
      </a:spcAft>
      <a:buClr>
        <a:schemeClr val="hlink"/>
      </a:buClr>
      <a:buSzPct val="55000"/>
      <a:buFont typeface="Wingdings" pitchFamily="2" charset="2"/>
      <a:defRPr sz="2000" kern="1200">
        <a:solidFill>
          <a:schemeClr val="tx1"/>
        </a:solidFill>
        <a:latin typeface="Tahoma" pitchFamily="34" charset="0"/>
        <a:ea typeface="+mn-ea"/>
        <a:cs typeface="+mn-cs"/>
      </a:defRPr>
    </a:lvl3pPr>
    <a:lvl4pPr marL="1371600" algn="ctr" rtl="0" fontAlgn="base">
      <a:spcBef>
        <a:spcPct val="20000"/>
      </a:spcBef>
      <a:spcAft>
        <a:spcPct val="0"/>
      </a:spcAft>
      <a:buClr>
        <a:schemeClr val="hlink"/>
      </a:buClr>
      <a:buSzPct val="55000"/>
      <a:buFont typeface="Wingdings" pitchFamily="2" charset="2"/>
      <a:defRPr sz="2000" kern="1200">
        <a:solidFill>
          <a:schemeClr val="tx1"/>
        </a:solidFill>
        <a:latin typeface="Tahoma" pitchFamily="34" charset="0"/>
        <a:ea typeface="+mn-ea"/>
        <a:cs typeface="+mn-cs"/>
      </a:defRPr>
    </a:lvl4pPr>
    <a:lvl5pPr marL="1828800" algn="ctr" rtl="0" fontAlgn="base">
      <a:spcBef>
        <a:spcPct val="20000"/>
      </a:spcBef>
      <a:spcAft>
        <a:spcPct val="0"/>
      </a:spcAft>
      <a:buClr>
        <a:schemeClr val="hlink"/>
      </a:buClr>
      <a:buSzPct val="55000"/>
      <a:buFont typeface="Wingdings" pitchFamily="2" charset="2"/>
      <a:defRPr sz="2000" kern="1200">
        <a:solidFill>
          <a:schemeClr val="tx1"/>
        </a:solidFill>
        <a:latin typeface="Tahoma" pitchFamily="34" charset="0"/>
        <a:ea typeface="+mn-ea"/>
        <a:cs typeface="+mn-cs"/>
      </a:defRPr>
    </a:lvl5pPr>
    <a:lvl6pPr marL="2286000" algn="l" defTabSz="914400" rtl="0" eaLnBrk="1" latinLnBrk="0" hangingPunct="1">
      <a:defRPr sz="2000" kern="1200">
        <a:solidFill>
          <a:schemeClr val="tx1"/>
        </a:solidFill>
        <a:latin typeface="Tahoma" pitchFamily="34" charset="0"/>
        <a:ea typeface="+mn-ea"/>
        <a:cs typeface="+mn-cs"/>
      </a:defRPr>
    </a:lvl6pPr>
    <a:lvl7pPr marL="2743200" algn="l" defTabSz="914400" rtl="0" eaLnBrk="1" latinLnBrk="0" hangingPunct="1">
      <a:defRPr sz="2000" kern="1200">
        <a:solidFill>
          <a:schemeClr val="tx1"/>
        </a:solidFill>
        <a:latin typeface="Tahoma" pitchFamily="34" charset="0"/>
        <a:ea typeface="+mn-ea"/>
        <a:cs typeface="+mn-cs"/>
      </a:defRPr>
    </a:lvl7pPr>
    <a:lvl8pPr marL="3200400" algn="l" defTabSz="914400" rtl="0" eaLnBrk="1" latinLnBrk="0" hangingPunct="1">
      <a:defRPr sz="2000" kern="1200">
        <a:solidFill>
          <a:schemeClr val="tx1"/>
        </a:solidFill>
        <a:latin typeface="Tahoma" pitchFamily="34" charset="0"/>
        <a:ea typeface="+mn-ea"/>
        <a:cs typeface="+mn-cs"/>
      </a:defRPr>
    </a:lvl8pPr>
    <a:lvl9pPr marL="3657600" algn="l" defTabSz="914400" rtl="0" eaLnBrk="1" latinLnBrk="0" hangingPunct="1">
      <a:defRPr sz="2000" kern="1200">
        <a:solidFill>
          <a:schemeClr val="tx1"/>
        </a:solidFill>
        <a:latin typeface="Tahoma" pitchFamily="34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888" userDrawn="1">
          <p15:clr>
            <a:srgbClr val="A4A3A4"/>
          </p15:clr>
        </p15:guide>
        <p15:guide id="2" pos="736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304">
          <p15:clr>
            <a:srgbClr val="A4A3A4"/>
          </p15:clr>
        </p15:guide>
        <p15:guide id="2" pos="3024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2" name="Author" initials="A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srgbClr val="FF0000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66FFFF"/>
    <a:srgbClr val="FF9900"/>
    <a:srgbClr val="33CC33"/>
    <a:srgbClr val="00FFFF"/>
    <a:srgbClr val="00CC00"/>
    <a:srgbClr val="FF3399"/>
    <a:srgbClr val="66FF33"/>
    <a:srgbClr val="FFCC99"/>
    <a:srgbClr val="FF3300"/>
    <a:srgbClr val="FFFF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2833802-FEF1-4C79-8D5D-14CF1EAF98D9}" styleName="Light Style 2 - Acc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32468" autoAdjust="0"/>
    <p:restoredTop sz="65725" autoAdjust="0"/>
  </p:normalViewPr>
  <p:slideViewPr>
    <p:cSldViewPr snapToGrid="0">
      <p:cViewPr varScale="1">
        <p:scale>
          <a:sx n="46" d="100"/>
          <a:sy n="46" d="100"/>
        </p:scale>
        <p:origin x="942" y="60"/>
      </p:cViewPr>
      <p:guideLst>
        <p:guide orient="horz" pos="3888"/>
        <p:guide pos="736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 snapToGrid="0">
      <p:cViewPr varScale="1">
        <p:scale>
          <a:sx n="122" d="100"/>
          <a:sy n="122" d="100"/>
        </p:scale>
        <p:origin x="-1344" y="-96"/>
      </p:cViewPr>
      <p:guideLst>
        <p:guide orient="horz" pos="2304"/>
        <p:guide pos="3024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commentAuthors" Target="commentAuthors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slide" Target="slides/slide76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slide" Target="slides/slide79.xml"/><Relationship Id="rId85" Type="http://schemas.openxmlformats.org/officeDocument/2006/relationships/presProps" Target="pres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handoutMaster" Target="handoutMasters/handoutMaster1.xml"/><Relationship Id="rId88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theme" Target="theme/theme1.xml"/><Relationship Id="rId61" Type="http://schemas.openxmlformats.org/officeDocument/2006/relationships/slide" Target="slides/slide60.xml"/><Relationship Id="rId82" Type="http://schemas.openxmlformats.org/officeDocument/2006/relationships/notesMaster" Target="notesMasters/notes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1698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1" y="1"/>
            <a:ext cx="4160973" cy="36505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l">
              <a:spcBef>
                <a:spcPct val="0"/>
              </a:spcBef>
              <a:buClrTx/>
              <a:buSzTx/>
              <a:buFontTx/>
              <a:buNone/>
              <a:defRPr sz="1200"/>
            </a:lvl1pPr>
          </a:lstStyle>
          <a:p>
            <a:endParaRPr lang="de-DE"/>
          </a:p>
        </p:txBody>
      </p:sp>
      <p:sp>
        <p:nvSpPr>
          <p:cNvPr id="541699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5440230" y="1"/>
            <a:ext cx="4160972" cy="36505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spcBef>
                <a:spcPct val="0"/>
              </a:spcBef>
              <a:buClrTx/>
              <a:buSzTx/>
              <a:buFontTx/>
              <a:buNone/>
              <a:defRPr sz="1200"/>
            </a:lvl1pPr>
          </a:lstStyle>
          <a:p>
            <a:endParaRPr lang="de-DE"/>
          </a:p>
        </p:txBody>
      </p:sp>
      <p:sp>
        <p:nvSpPr>
          <p:cNvPr id="541700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1" y="6950145"/>
            <a:ext cx="4160973" cy="36505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l">
              <a:spcBef>
                <a:spcPct val="0"/>
              </a:spcBef>
              <a:buClrTx/>
              <a:buSzTx/>
              <a:buFontTx/>
              <a:buNone/>
              <a:defRPr sz="1200"/>
            </a:lvl1pPr>
          </a:lstStyle>
          <a:p>
            <a:endParaRPr lang="de-DE"/>
          </a:p>
        </p:txBody>
      </p:sp>
      <p:sp>
        <p:nvSpPr>
          <p:cNvPr id="541701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5440230" y="6950145"/>
            <a:ext cx="4160972" cy="36505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spcBef>
                <a:spcPct val="0"/>
              </a:spcBef>
              <a:buClrTx/>
              <a:buSzTx/>
              <a:buFontTx/>
              <a:buNone/>
              <a:defRPr sz="1200"/>
            </a:lvl1pPr>
          </a:lstStyle>
          <a:p>
            <a:fld id="{66017A74-8498-4425-B905-56B59BE89ABC}" type="slidenum">
              <a:rPr lang="de-DE"/>
              <a:pPr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12420882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22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1" y="1"/>
            <a:ext cx="4160973" cy="36505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l" eaLnBrk="0" hangingPunct="0">
              <a:spcBef>
                <a:spcPct val="0"/>
              </a:spcBef>
              <a:buClrTx/>
              <a:buSzTx/>
              <a:buFontTx/>
              <a:buNone/>
              <a:defRPr sz="1200">
                <a:latin typeface="Arial" charset="0"/>
              </a:defRPr>
            </a:lvl1pPr>
          </a:lstStyle>
          <a:p>
            <a:endParaRPr lang="en-US"/>
          </a:p>
        </p:txBody>
      </p:sp>
      <p:sp>
        <p:nvSpPr>
          <p:cNvPr id="133123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5440230" y="1"/>
            <a:ext cx="4160972" cy="36505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0" hangingPunct="0">
              <a:spcBef>
                <a:spcPct val="0"/>
              </a:spcBef>
              <a:buClrTx/>
              <a:buSzTx/>
              <a:buFontTx/>
              <a:buNone/>
              <a:defRPr sz="1200">
                <a:latin typeface="Arial" charset="0"/>
              </a:defRPr>
            </a:lvl1pPr>
          </a:lstStyle>
          <a:p>
            <a:endParaRPr lang="en-US"/>
          </a:p>
        </p:txBody>
      </p:sp>
      <p:sp>
        <p:nvSpPr>
          <p:cNvPr id="133124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2362200" y="549275"/>
            <a:ext cx="4876800" cy="27432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ffectLst/>
        </p:spPr>
      </p:sp>
      <p:sp>
        <p:nvSpPr>
          <p:cNvPr id="133125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1279256" y="3475660"/>
            <a:ext cx="7042689" cy="329019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33126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1" y="6950145"/>
            <a:ext cx="4160973" cy="36505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l" eaLnBrk="0" hangingPunct="0">
              <a:spcBef>
                <a:spcPct val="0"/>
              </a:spcBef>
              <a:buClrTx/>
              <a:buSzTx/>
              <a:buFontTx/>
              <a:buNone/>
              <a:defRPr sz="1200">
                <a:latin typeface="Arial" charset="0"/>
              </a:defRPr>
            </a:lvl1pPr>
          </a:lstStyle>
          <a:p>
            <a:endParaRPr lang="en-US"/>
          </a:p>
        </p:txBody>
      </p:sp>
      <p:sp>
        <p:nvSpPr>
          <p:cNvPr id="133127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5440230" y="6950145"/>
            <a:ext cx="4160972" cy="36505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0" hangingPunct="0">
              <a:spcBef>
                <a:spcPct val="0"/>
              </a:spcBef>
              <a:buClrTx/>
              <a:buSzTx/>
              <a:buFontTx/>
              <a:buNone/>
              <a:defRPr sz="1200">
                <a:latin typeface="Arial" charset="0"/>
              </a:defRPr>
            </a:lvl1pPr>
          </a:lstStyle>
          <a:p>
            <a:fld id="{D37F8DB4-A4FF-4A8B-9A85-9B1874A58FCC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6811680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7F8DB4-A4FF-4A8B-9A85-9B1874A58FCC}" type="slidenum">
              <a:rPr lang="en-US" smtClean="0"/>
              <a:pPr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525657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2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14595285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3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57980141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7F8DB4-A4FF-4A8B-9A85-9B1874A58FCC}" type="slidenum">
              <a:rPr lang="en-US" smtClean="0"/>
              <a:pPr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243664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7F8DB4-A4FF-4A8B-9A85-9B1874A58FCC}" type="slidenum">
              <a:rPr lang="en-US" smtClean="0"/>
              <a:pPr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935576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7F8DB4-A4FF-4A8B-9A85-9B1874A58FCC}" type="slidenum">
              <a:rPr lang="en-US" smtClean="0"/>
              <a:pPr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814365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7F8DB4-A4FF-4A8B-9A85-9B1874A58FCC}" type="slidenum">
              <a:rPr lang="en-US" smtClean="0"/>
              <a:pPr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796018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7F8DB4-A4FF-4A8B-9A85-9B1874A58FCC}" type="slidenum">
              <a:rPr lang="en-US" smtClean="0"/>
              <a:pPr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455931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7F8DB4-A4FF-4A8B-9A85-9B1874A58FCC}" type="slidenum">
              <a:rPr lang="en-US" smtClean="0"/>
              <a:pPr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465433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7F8DB4-A4FF-4A8B-9A85-9B1874A58FCC}" type="slidenum">
              <a:rPr lang="en-US" smtClean="0"/>
              <a:pPr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332217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7F8DB4-A4FF-4A8B-9A85-9B1874A58FCC}" type="slidenum">
              <a:rPr lang="en-US" smtClean="0"/>
              <a:pPr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303420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7F8DB4-A4FF-4A8B-9A85-9B1874A58FCC}" type="slidenum">
              <a:rPr lang="en-US" smtClean="0"/>
              <a:pPr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893963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7F8DB4-A4FF-4A8B-9A85-9B1874A58FCC}" type="slidenum">
              <a:rPr lang="en-US" smtClean="0"/>
              <a:pPr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209527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7F8DB4-A4FF-4A8B-9A85-9B1874A58FCC}" type="slidenum">
              <a:rPr lang="en-US" smtClean="0"/>
              <a:pPr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305988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7F8DB4-A4FF-4A8B-9A85-9B1874A58FCC}" type="slidenum">
              <a:rPr lang="en-US" smtClean="0"/>
              <a:pPr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541925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just" rtl="0">
              <a:spcBef>
                <a:spcPts val="1200"/>
              </a:spcBef>
              <a:spcAft>
                <a:spcPts val="1200"/>
              </a:spcAft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7F8DB4-A4FF-4A8B-9A85-9B1874A58FCC}" type="slidenum">
              <a:rPr lang="en-US" smtClean="0"/>
              <a:pPr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924978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just" rtl="0">
              <a:spcBef>
                <a:spcPts val="1200"/>
              </a:spcBef>
              <a:spcAft>
                <a:spcPts val="1200"/>
              </a:spcAft>
            </a:pPr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7F8DB4-A4FF-4A8B-9A85-9B1874A58FCC}" type="slidenum">
              <a:rPr lang="en-US" smtClean="0"/>
              <a:pPr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4230614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7F8DB4-A4FF-4A8B-9A85-9B1874A58FCC}" type="slidenum">
              <a:rPr lang="en-US" smtClean="0"/>
              <a:pPr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1728669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7F8DB4-A4FF-4A8B-9A85-9B1874A58FCC}" type="slidenum">
              <a:rPr lang="en-US" smtClean="0"/>
              <a:pPr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218042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7F8DB4-A4FF-4A8B-9A85-9B1874A58FCC}" type="slidenum">
              <a:rPr lang="en-US" smtClean="0"/>
              <a:pPr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896889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7F8DB4-A4FF-4A8B-9A85-9B1874A58FCC}" type="slidenum">
              <a:rPr lang="en-US" smtClean="0"/>
              <a:pPr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1082170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7F8DB4-A4FF-4A8B-9A85-9B1874A58FCC}" type="slidenum">
              <a:rPr lang="en-US" smtClean="0"/>
              <a:pPr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8087796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7F8DB4-A4FF-4A8B-9A85-9B1874A58FCC}" type="slidenum">
              <a:rPr lang="en-US" smtClean="0"/>
              <a:pPr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3880225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362200" y="549275"/>
            <a:ext cx="4876800" cy="27432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37F8DB4-A4FF-4A8B-9A85-9B1874A58FCC}" type="slidenum">
              <a:rPr lang="en-US" smtClean="0"/>
              <a:pPr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1411552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362200" y="549275"/>
            <a:ext cx="4876800" cy="27432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37F8DB4-A4FF-4A8B-9A85-9B1874A58FCC}" type="slidenum">
              <a:rPr lang="en-US" smtClean="0"/>
              <a:pPr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1906594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362200" y="549275"/>
            <a:ext cx="4876800" cy="27432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37F8DB4-A4FF-4A8B-9A85-9B1874A58FCC}" type="slidenum">
              <a:rPr lang="en-US" smtClean="0"/>
              <a:pPr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2015346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362200" y="549275"/>
            <a:ext cx="4876800" cy="27432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37F8DB4-A4FF-4A8B-9A85-9B1874A58FCC}" type="slidenum">
              <a:rPr lang="en-US" smtClean="0"/>
              <a:pPr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5554577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362200" y="549275"/>
            <a:ext cx="4876800" cy="27432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37F8DB4-A4FF-4A8B-9A85-9B1874A58FCC}" type="slidenum">
              <a:rPr lang="en-US" smtClean="0"/>
              <a:pPr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0583189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362200" y="549275"/>
            <a:ext cx="4876800" cy="27432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37F8DB4-A4FF-4A8B-9A85-9B1874A58FCC}" type="slidenum">
              <a:rPr lang="en-US" smtClean="0"/>
              <a:pPr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5921600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362200" y="549275"/>
            <a:ext cx="4876800" cy="27432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37F8DB4-A4FF-4A8B-9A85-9B1874A58FCC}" type="slidenum">
              <a:rPr lang="en-US" smtClean="0"/>
              <a:pPr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2205716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362200" y="549275"/>
            <a:ext cx="4876800" cy="27432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37F8DB4-A4FF-4A8B-9A85-9B1874A58FCC}" type="slidenum">
              <a:rPr lang="en-US" smtClean="0"/>
              <a:pPr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9937513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7F8DB4-A4FF-4A8B-9A85-9B1874A58FCC}" type="slidenum">
              <a:rPr lang="en-US" smtClean="0"/>
              <a:pPr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7459217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39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148595379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40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69080867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41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616715747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37F8DB4-A4FF-4A8B-9A85-9B1874A58FCC}" type="slidenum">
              <a:rPr lang="en-US" smtClean="0"/>
              <a:pPr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7726458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37F8DB4-A4FF-4A8B-9A85-9B1874A58FCC}" type="slidenum">
              <a:rPr lang="en-US" smtClean="0"/>
              <a:pPr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204219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37F8DB4-A4FF-4A8B-9A85-9B1874A58FCC}" type="slidenum">
              <a:rPr lang="en-US" smtClean="0"/>
              <a:pPr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0136150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37F8DB4-A4FF-4A8B-9A85-9B1874A58FCC}" type="slidenum">
              <a:rPr lang="en-US" smtClean="0"/>
              <a:pPr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1402562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37F8DB4-A4FF-4A8B-9A85-9B1874A58FCC}" type="slidenum">
              <a:rPr lang="en-US" smtClean="0"/>
              <a:pPr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5568238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37F8DB4-A4FF-4A8B-9A85-9B1874A58FCC}" type="slidenum">
              <a:rPr lang="en-US" smtClean="0"/>
              <a:pPr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0204475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37F8DB4-A4FF-4A8B-9A85-9B1874A58FCC}" type="slidenum">
              <a:rPr lang="en-US" smtClean="0"/>
              <a:pPr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4976418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37F8DB4-A4FF-4A8B-9A85-9B1874A58FCC}" type="slidenum">
              <a:rPr lang="en-US" smtClean="0"/>
              <a:pPr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9748875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362200" y="549275"/>
            <a:ext cx="4876800" cy="27432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37F8DB4-A4FF-4A8B-9A85-9B1874A58FCC}" type="slidenum">
              <a:rPr lang="en-US" smtClean="0"/>
              <a:pPr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6346673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7F8DB4-A4FF-4A8B-9A85-9B1874A58FCC}" type="slidenum">
              <a:rPr lang="en-US" smtClean="0"/>
              <a:pPr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4357428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7F8DB4-A4FF-4A8B-9A85-9B1874A58FCC}" type="slidenum">
              <a:rPr lang="en-US" smtClean="0"/>
              <a:pPr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7202130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7F8DB4-A4FF-4A8B-9A85-9B1874A58FCC}" type="slidenum">
              <a:rPr lang="en-US" smtClean="0"/>
              <a:pPr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6770120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362200" y="549275"/>
            <a:ext cx="4876800" cy="27432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37F8DB4-A4FF-4A8B-9A85-9B1874A58FCC}" type="slidenum">
              <a:rPr lang="en-US" smtClean="0"/>
              <a:pPr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2591353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362200" y="549275"/>
            <a:ext cx="4876800" cy="27432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37F8DB4-A4FF-4A8B-9A85-9B1874A58FCC}" type="slidenum">
              <a:rPr lang="en-US" smtClean="0"/>
              <a:pPr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5016424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362200" y="549275"/>
            <a:ext cx="4876800" cy="27432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37F8DB4-A4FF-4A8B-9A85-9B1874A58FCC}" type="slidenum">
              <a:rPr lang="en-US" smtClean="0"/>
              <a:pPr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3610102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362200" y="549275"/>
            <a:ext cx="4876800" cy="27432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37F8DB4-A4FF-4A8B-9A85-9B1874A58FCC}" type="slidenum">
              <a:rPr lang="en-US" smtClean="0"/>
              <a:pPr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3213329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362200" y="549275"/>
            <a:ext cx="4876800" cy="27432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37F8DB4-A4FF-4A8B-9A85-9B1874A58FCC}" type="slidenum">
              <a:rPr lang="en-US" smtClean="0"/>
              <a:pPr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937351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7F8DB4-A4FF-4A8B-9A85-9B1874A58FCC}" type="slidenum">
              <a:rPr lang="en-US" smtClean="0"/>
              <a:pPr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622486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362200" y="549275"/>
            <a:ext cx="4876800" cy="27432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37F8DB4-A4FF-4A8B-9A85-9B1874A58FCC}" type="slidenum">
              <a:rPr lang="en-US" smtClean="0"/>
              <a:pPr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349900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362200" y="549275"/>
            <a:ext cx="4876800" cy="27432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37F8DB4-A4FF-4A8B-9A85-9B1874A58FCC}" type="slidenum">
              <a:rPr lang="en-US" smtClean="0"/>
              <a:pPr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9606424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362200" y="549275"/>
            <a:ext cx="4876800" cy="27432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37F8DB4-A4FF-4A8B-9A85-9B1874A58FCC}" type="slidenum">
              <a:rPr lang="en-US" smtClean="0"/>
              <a:pPr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8782330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362200" y="549275"/>
            <a:ext cx="4876800" cy="27432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37F8DB4-A4FF-4A8B-9A85-9B1874A58FCC}" type="slidenum">
              <a:rPr lang="en-US" smtClean="0"/>
              <a:pPr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9231454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362200" y="549275"/>
            <a:ext cx="4876800" cy="27432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37F8DB4-A4FF-4A8B-9A85-9B1874A58FCC}" type="slidenum">
              <a:rPr lang="en-US" smtClean="0"/>
              <a:pPr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4680147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362200" y="549275"/>
            <a:ext cx="4876800" cy="27432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37F8DB4-A4FF-4A8B-9A85-9B1874A58FCC}" type="slidenum">
              <a:rPr lang="en-US" smtClean="0"/>
              <a:pPr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9452445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362200" y="549275"/>
            <a:ext cx="4876800" cy="27432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37F8DB4-A4FF-4A8B-9A85-9B1874A58FCC}" type="slidenum">
              <a:rPr lang="en-US" smtClean="0"/>
              <a:pPr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8892653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362200" y="549275"/>
            <a:ext cx="4876800" cy="27432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37F8DB4-A4FF-4A8B-9A85-9B1874A58FCC}" type="slidenum">
              <a:rPr lang="en-US" smtClean="0"/>
              <a:pPr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1808794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362200" y="549275"/>
            <a:ext cx="4876800" cy="27432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37F8DB4-A4FF-4A8B-9A85-9B1874A58FCC}" type="slidenum">
              <a:rPr lang="en-US" smtClean="0"/>
              <a:pPr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3710085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362200" y="549275"/>
            <a:ext cx="4876800" cy="27432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37F8DB4-A4FF-4A8B-9A85-9B1874A58FCC}" type="slidenum">
              <a:rPr lang="en-US" smtClean="0"/>
              <a:pPr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9968599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362200" y="549275"/>
            <a:ext cx="4876800" cy="27432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37F8DB4-A4FF-4A8B-9A85-9B1874A58FCC}" type="slidenum">
              <a:rPr lang="en-US" smtClean="0"/>
              <a:pPr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506192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362200" y="549275"/>
            <a:ext cx="4876800" cy="27432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37F8DB4-A4FF-4A8B-9A85-9B1874A58FCC}" type="slidenum">
              <a:rPr lang="en-US" smtClean="0"/>
              <a:pPr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2591796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362200" y="549275"/>
            <a:ext cx="4876800" cy="27432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37F8DB4-A4FF-4A8B-9A85-9B1874A58FCC}" type="slidenum">
              <a:rPr lang="en-US" smtClean="0"/>
              <a:pPr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865781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362200" y="549275"/>
            <a:ext cx="4876800" cy="27432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37F8DB4-A4FF-4A8B-9A85-9B1874A58FCC}" type="slidenum">
              <a:rPr lang="en-US" smtClean="0"/>
              <a:pPr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2368765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362200" y="549275"/>
            <a:ext cx="4876800" cy="27432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37F8DB4-A4FF-4A8B-9A85-9B1874A58FCC}" type="slidenum">
              <a:rPr lang="en-US" smtClean="0"/>
              <a:pPr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1480473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362200" y="549275"/>
            <a:ext cx="4876800" cy="27432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37F8DB4-A4FF-4A8B-9A85-9B1874A58FCC}" type="slidenum">
              <a:rPr lang="en-US" smtClean="0"/>
              <a:pPr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4266199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362200" y="549275"/>
            <a:ext cx="4876800" cy="27432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37F8DB4-A4FF-4A8B-9A85-9B1874A58FCC}" type="slidenum">
              <a:rPr lang="en-US" smtClean="0"/>
              <a:pPr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6671325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362200" y="549275"/>
            <a:ext cx="4876800" cy="27432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37F8DB4-A4FF-4A8B-9A85-9B1874A58FCC}" type="slidenum">
              <a:rPr lang="en-US" smtClean="0"/>
              <a:pPr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8565940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362200" y="549275"/>
            <a:ext cx="4876800" cy="27432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37F8DB4-A4FF-4A8B-9A85-9B1874A58FCC}" type="slidenum">
              <a:rPr lang="en-US" smtClean="0"/>
              <a:pPr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0106202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362200" y="549275"/>
            <a:ext cx="4876800" cy="27432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79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047453732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362200" y="549275"/>
            <a:ext cx="4876800" cy="27432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80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19513494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gif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EBFC76-A687-7B4B-B7C4-626092A4E71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47D0C56-5CE4-974A-9396-D3EB55B4D78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D4DA849-C6BE-0D42-92BA-360B93EE95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8/23/2026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6DB5C5E-AC5B-A14E-A301-AD633DC7D7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5D572F-30CF-9840-9A79-9226228BE8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072F42-4DFA-4725-86F9-7594E4AB4EB5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71060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7378CA-57F7-834F-A3B8-2F41FDE557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0E7C3A-CA92-5142-9827-289275BFED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36E172-3480-524D-A4CE-62BEC772EC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8/23/2026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EECCA29-E44B-4C43-BD55-3FCD251CD0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014242-6B07-8543-919A-1FC4E1ADFB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072F42-4DFA-4725-86F9-7594E4AB4EB5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39467007"/>
      </p:ext>
    </p:extLst>
  </p:cSld>
  <p:clrMapOvr>
    <a:masterClrMapping/>
  </p:clrMapOvr>
  <p:hf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7ACDA5-F91D-D044-B783-1882CD742B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20242B5-90F0-4E4A-AAB6-B12084FC313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ECF56A0-C271-B245-A1C9-25A589EF50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8/23/2026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566E697-8320-434A-86D9-AAC2309222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University of Pennsylvania</a:t>
            </a:r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EB4B91-4A86-974C-8CCB-8A3EB058B0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072F42-4DFA-4725-86F9-7594E4AB4EB5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86896112"/>
      </p:ext>
    </p:extLst>
  </p:cSld>
  <p:clrMapOvr>
    <a:masterClrMapping/>
  </p:clrMapOvr>
  <p:hf hd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5B212B-8369-DA4C-BABB-1A078941EE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E790E38-4CB2-584D-B9E8-A2B2094BFE9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66C5A60-5C7D-254F-9697-BF3AEA3A3A1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4CFB941-C882-CC41-A9CF-2E02FA3FC5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8/23/2026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69EE5D5-3BD1-6B4E-B031-3D61A515D8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University of Pennsylvania</a:t>
            </a:r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3F84497-F0E4-324C-96C4-4BDF380025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072F42-4DFA-4725-86F9-7594E4AB4EB5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99670515"/>
      </p:ext>
    </p:extLst>
  </p:cSld>
  <p:clrMapOvr>
    <a:masterClrMapping/>
  </p:clrMapOvr>
  <p:hf hd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B9C25F-5F64-AB4A-BBF5-77AF585846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A848DA2-5CA8-1F4E-9841-4BBF6357443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63FFDB4-FED0-1C4F-8D7D-17B0867BD95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5BD7F3F-2DF5-3447-AAF3-1776599017F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0613463-9787-6941-B670-25EC1557F05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910F4E8-78E2-3747-80C1-43D61721C7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8/23/2026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BC262F4-0E96-6C4F-B0F2-DF033F911B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University of Pennsylvania</a:t>
            </a:r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5680677-D036-7543-8C21-49D40D16F0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072F42-4DFA-4725-86F9-7594E4AB4EB5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03045931"/>
      </p:ext>
    </p:extLst>
  </p:cSld>
  <p:clrMapOvr>
    <a:masterClrMapping/>
  </p:clrMapOvr>
  <p:hf hd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55E4D1-730E-504F-9683-098495A950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14C212F-EA7C-C045-BCB8-108319BCDE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8/23/2026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936530A-03A9-CA4D-B18F-9C4F563784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University of Pennsylvania</a:t>
            </a:r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6F73F1B-9FF0-8641-9282-74CC1E49A5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072F42-4DFA-4725-86F9-7594E4AB4EB5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463311"/>
      </p:ext>
    </p:extLst>
  </p:cSld>
  <p:clrMapOvr>
    <a:masterClrMapping/>
  </p:clrMapOvr>
  <p:hf hd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7740EEF-C38B-144B-821E-4975E49F33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8/23/2026</a:t>
            </a:fld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EABF87A-B408-1D4E-A728-89D503529F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University of Pennsylvania</a:t>
            </a:r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44A79A3-BC23-5049-AB5A-EEBEFC1DDF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072F42-4DFA-4725-86F9-7594E4AB4EB5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69640783"/>
      </p:ext>
    </p:extLst>
  </p:cSld>
  <p:clrMapOvr>
    <a:masterClrMapping/>
  </p:clrMapOvr>
  <p:hf hd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E8979A-65AB-B347-9E09-756CA6284E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205E94-A13D-4147-89EB-2AE179F7EE5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B5A8F7D-3AD4-1D43-A088-C33A031872F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FD2DD2C-19B1-0A43-9570-9A1842C00E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8/23/2026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28A2C57-1FDB-C346-95CB-FA52DB2829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University of Pennsylvania</a:t>
            </a:r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7896CB0-35B3-1D4E-8AD4-4B0E0C05CD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072F42-4DFA-4725-86F9-7594E4AB4EB5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04505574"/>
      </p:ext>
    </p:extLst>
  </p:cSld>
  <p:clrMapOvr>
    <a:masterClrMapping/>
  </p:clrMapOvr>
  <p:hf hd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6DD222-4F45-014E-98B9-BC327CE71F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AECB534-A460-C74C-B118-2356A474DAF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456C72C-FBD3-8440-AED3-C06C44303E2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D971F36-EF5A-5F46-9C28-6E6A7D474C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8/23/2026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93FA358-451B-7942-B0C1-D0B7B9D6D9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University of Pennsylvania</a:t>
            </a:r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DC32310-9E80-224C-B30E-CC263F97CE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072F42-4DFA-4725-86F9-7594E4AB4EB5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31300854"/>
      </p:ext>
    </p:extLst>
  </p:cSld>
  <p:clrMapOvr>
    <a:masterClrMapping/>
  </p:clrMapOvr>
  <p:hf hd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5C5363-015D-7D4B-BAFF-135F6C4F8A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B1C766A-A719-2A44-9699-E3C404432B1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E1E4ADE-3ECD-8641-9FE0-CD597AA3DA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8/23/2026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4B53541-5822-2348-8881-F75DD26C09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University of Pennsylvania</a:t>
            </a:r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5EF7EAC-E5FB-A241-A525-745F318996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072F42-4DFA-4725-86F9-7594E4AB4EB5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74430046"/>
      </p:ext>
    </p:extLst>
  </p:cSld>
  <p:clrMapOvr>
    <a:masterClrMapping/>
  </p:clrMapOvr>
  <p:hf hd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6E3AC36-B8F3-904D-9D44-3800404FE95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8B37D3E-B28E-E04C-B298-29CCA5D7CE0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F93EA0-EACD-4649-BF69-F205284D49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8/23/2026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527CA7A-55ED-7443-A196-4D2842C272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University of Pennsylvania</a:t>
            </a:r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FA9D338-29CC-A549-9D40-63A8AB4F78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072F42-4DFA-4725-86F9-7594E4AB4EB5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17650622"/>
      </p:ext>
    </p:extLst>
  </p:cSld>
  <p:clrMapOvr>
    <a:masterClrMapping/>
  </p:clrMapOvr>
  <p:hf hd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2685" y="1990725"/>
            <a:ext cx="10390716" cy="990600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5072F42-4DFA-4725-86F9-7594E4AB4EB5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University of Pennsylvania</a:t>
            </a:r>
            <a:endParaRPr lang="en-GB"/>
          </a:p>
        </p:txBody>
      </p:sp>
      <p:sp>
        <p:nvSpPr>
          <p:cNvPr id="5" name="Rectangle 111"/>
          <p:cNvSpPr>
            <a:spLocks noChangeArrowheads="1"/>
          </p:cNvSpPr>
          <p:nvPr userDrawn="1"/>
        </p:nvSpPr>
        <p:spPr bwMode="auto">
          <a:xfrm>
            <a:off x="406400" y="838200"/>
            <a:ext cx="1049867" cy="3429000"/>
          </a:xfrm>
          <a:prstGeom prst="rect">
            <a:avLst/>
          </a:prstGeom>
          <a:gradFill rotWithShape="0">
            <a:gsLst>
              <a:gs pos="0">
                <a:srgbClr val="708FE6"/>
              </a:gs>
              <a:gs pos="100000">
                <a:srgbClr val="FFFFFF"/>
              </a:gs>
            </a:gsLst>
            <a:lin ang="5400000" scaled="1"/>
          </a:gra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en-US" sz="2000"/>
          </a:p>
        </p:txBody>
      </p:sp>
      <p:sp>
        <p:nvSpPr>
          <p:cNvPr id="6" name="Line 110"/>
          <p:cNvSpPr>
            <a:spLocks noChangeShapeType="1"/>
          </p:cNvSpPr>
          <p:nvPr userDrawn="1"/>
        </p:nvSpPr>
        <p:spPr bwMode="auto">
          <a:xfrm>
            <a:off x="1123951" y="1143000"/>
            <a:ext cx="0" cy="2895600"/>
          </a:xfrm>
          <a:prstGeom prst="line">
            <a:avLst/>
          </a:prstGeom>
          <a:noFill/>
          <a:ln w="28575">
            <a:solidFill>
              <a:srgbClr val="000000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endParaRPr lang="en-US" sz="2000"/>
          </a:p>
        </p:txBody>
      </p:sp>
      <p:sp>
        <p:nvSpPr>
          <p:cNvPr id="8" name="Rectangle 13"/>
          <p:cNvSpPr>
            <a:spLocks noGrp="1" noChangeArrowheads="1"/>
          </p:cNvSpPr>
          <p:nvPr>
            <p:ph type="subTitle" idx="1"/>
          </p:nvPr>
        </p:nvSpPr>
        <p:spPr>
          <a:xfrm>
            <a:off x="1818217" y="3944938"/>
            <a:ext cx="8534400" cy="1752600"/>
          </a:xfrm>
        </p:spPr>
        <p:txBody>
          <a:bodyPr/>
          <a:lstStyle>
            <a:lvl1pPr marL="0" indent="0" algn="ctr">
              <a:buFont typeface="Wingdings" pitchFamily="2" charset="2"/>
              <a:buNone/>
              <a:defRPr/>
            </a:lvl1pPr>
          </a:lstStyle>
          <a:p>
            <a:r>
              <a:rPr lang="en-GB"/>
              <a:t>Click to edit Master subtitle style</a:t>
            </a:r>
          </a:p>
        </p:txBody>
      </p:sp>
      <p:sp>
        <p:nvSpPr>
          <p:cNvPr id="10" name="Rectangle 11"/>
          <p:cNvSpPr>
            <a:spLocks noChangeArrowheads="1"/>
          </p:cNvSpPr>
          <p:nvPr userDrawn="1"/>
        </p:nvSpPr>
        <p:spPr bwMode="auto">
          <a:xfrm flipV="1">
            <a:off x="268817" y="3011488"/>
            <a:ext cx="11590867" cy="55562"/>
          </a:xfrm>
          <a:prstGeom prst="rect">
            <a:avLst/>
          </a:prstGeom>
          <a:gradFill rotWithShape="0">
            <a:gsLst>
              <a:gs pos="0">
                <a:schemeClr val="bg2"/>
              </a:gs>
              <a:gs pos="100000">
                <a:schemeClr val="bg1"/>
              </a:gs>
            </a:gsLst>
            <a:lin ang="0" scaled="1"/>
          </a:gra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en-US" sz="2000"/>
          </a:p>
        </p:txBody>
      </p:sp>
      <p:pic>
        <p:nvPicPr>
          <p:cNvPr id="11" name="Picture 10" descr="Penn shield.gif"/>
          <p:cNvPicPr>
            <a:picLocks noChangeAspect="1"/>
          </p:cNvPicPr>
          <p:nvPr userDrawn="1"/>
        </p:nvPicPr>
        <p:blipFill>
          <a:blip r:embed="rId2" cstate="print"/>
          <a:stretch>
            <a:fillRect/>
          </a:stretch>
        </p:blipFill>
        <p:spPr>
          <a:xfrm>
            <a:off x="501061" y="2612508"/>
            <a:ext cx="878809" cy="740196"/>
          </a:xfrm>
          <a:prstGeom prst="rect">
            <a:avLst/>
          </a:prstGeom>
        </p:spPr>
      </p:pic>
      <p:sp>
        <p:nvSpPr>
          <p:cNvPr id="12" name="Rectangle 32"/>
          <p:cNvSpPr>
            <a:spLocks noChangeArrowheads="1"/>
          </p:cNvSpPr>
          <p:nvPr userDrawn="1"/>
        </p:nvSpPr>
        <p:spPr bwMode="auto">
          <a:xfrm>
            <a:off x="1" y="6605588"/>
            <a:ext cx="2331217" cy="2524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anchor="b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de-DE" sz="900"/>
              <a:t>© 2013 A. Haeberlen, Z. Ives</a:t>
            </a:r>
            <a:endParaRPr lang="en-GB" sz="90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09D4BDC-9DBC-F647-991C-B00D6C38D0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BB5DE1C-9DB9-0E43-B50B-973E8289EE6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081C8A-F206-BA43-8D7E-04234D39F29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smtClean="0"/>
              <a:pPr/>
              <a:t>8/23/2026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043EDD4-9495-C047-B664-F26C636480B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EA8D715-2296-A64B-AA69-3A1F4CFB77C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5072F42-4DFA-4725-86F9-7594E4AB4EB5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5105896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5" r:id="rId1"/>
    <p:sldLayoutId id="2147483696" r:id="rId2"/>
    <p:sldLayoutId id="2147483697" r:id="rId3"/>
    <p:sldLayoutId id="2147483698" r:id="rId4"/>
    <p:sldLayoutId id="2147483699" r:id="rId5"/>
    <p:sldLayoutId id="2147483700" r:id="rId6"/>
    <p:sldLayoutId id="2147483701" r:id="rId7"/>
    <p:sldLayoutId id="2147483702" r:id="rId8"/>
    <p:sldLayoutId id="2147483703" r:id="rId9"/>
    <p:sldLayoutId id="2147483704" r:id="rId10"/>
    <p:sldLayoutId id="2147483705" r:id="rId11"/>
    <p:sldLayoutId id="2147483658" r:id="rId12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jpg"/><Relationship Id="rId4" Type="http://schemas.openxmlformats.org/officeDocument/2006/relationships/image" Target="../media/image5.png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jpg"/><Relationship Id="rId4" Type="http://schemas.openxmlformats.org/officeDocument/2006/relationships/image" Target="../media/image5.pn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tint val="95000"/>
            <a:satMod val="17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oup 9" title="intersecting circles">
            <a:extLst>
              <a:ext uri="{FF2B5EF4-FFF2-40B4-BE49-F238E27FC236}">
                <a16:creationId xmlns:a16="http://schemas.microsoft.com/office/drawing/2014/main" id="{D2C4BFA1-2075-4901-9E24-E41D1FDD51FD}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155481" y="498348"/>
            <a:ext cx="9902663" cy="5861304"/>
            <a:chOff x="1155481" y="498348"/>
            <a:chExt cx="9902663" cy="5861304"/>
          </a:xfrm>
        </p:grpSpPr>
        <p:sp>
          <p:nvSpPr>
            <p:cNvPr id="11" name="Oval 5">
              <a:extLst>
                <a:ext uri="{FF2B5EF4-FFF2-40B4-BE49-F238E27FC236}">
                  <a16:creationId xmlns:a16="http://schemas.microsoft.com/office/drawing/2014/main" id="{985A7375-E3AF-4F5C-85AE-17E8832952CA}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55481" y="498348"/>
              <a:ext cx="5861304" cy="5861304"/>
            </a:xfrm>
            <a:prstGeom prst="ellipse">
              <a:avLst/>
            </a:prstGeom>
            <a:solidFill>
              <a:schemeClr val="accent1">
                <a:alpha val="55000"/>
              </a:schemeClr>
            </a:solidFill>
            <a:ln>
              <a:noFill/>
            </a:ln>
          </p:spPr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F0307F65-8304-4FA8-A841-D4D7625411BE}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196840" y="498348"/>
              <a:ext cx="5861304" cy="5861304"/>
            </a:xfrm>
            <a:prstGeom prst="ellipse">
              <a:avLst/>
            </a:prstGeom>
            <a:solidFill>
              <a:schemeClr val="accent1">
                <a:alpha val="55000"/>
              </a:schemeClr>
            </a:solidFill>
            <a:ln>
              <a:noFill/>
            </a:ln>
          </p:spPr>
        </p:sp>
        <p:sp>
          <p:nvSpPr>
            <p:cNvPr id="13" name="Oval 5">
              <a:extLst>
                <a:ext uri="{FF2B5EF4-FFF2-40B4-BE49-F238E27FC236}">
                  <a16:creationId xmlns:a16="http://schemas.microsoft.com/office/drawing/2014/main" id="{C8B8394C-136F-4E05-A002-D93A5E79CD50}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65348" y="498348"/>
              <a:ext cx="5861304" cy="5861304"/>
            </a:xfrm>
            <a:prstGeom prst="ellipse">
              <a:avLst/>
            </a:prstGeom>
            <a:solidFill>
              <a:schemeClr val="accent1">
                <a:alpha val="70000"/>
              </a:schemeClr>
            </a:solidFill>
            <a:ln>
              <a:noFill/>
            </a:ln>
          </p:spPr>
        </p:sp>
      </p:grpSp>
      <p:sp>
        <p:nvSpPr>
          <p:cNvPr id="15" name="Rectangle 14" title="ribbon">
            <a:extLst>
              <a:ext uri="{FF2B5EF4-FFF2-40B4-BE49-F238E27FC236}">
                <a16:creationId xmlns:a16="http://schemas.microsoft.com/office/drawing/2014/main" id="{053FB2EE-284F-4C87-AB3D-BBF87A9FAB97}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514600"/>
            <a:ext cx="12192000" cy="18288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D81C55C-64EF-5A4C-AA55-00ED127F385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776538"/>
            <a:ext cx="9144000" cy="1381188"/>
          </a:xfrm>
        </p:spPr>
        <p:txBody>
          <a:bodyPr anchor="ctr">
            <a:normAutofit/>
          </a:bodyPr>
          <a:lstStyle/>
          <a:p>
            <a:r>
              <a:rPr lang="en-US" sz="4000" dirty="0">
                <a:solidFill>
                  <a:schemeClr val="bg2"/>
                </a:solidFill>
              </a:rPr>
              <a:t>Week 5 AWS Identity Access Management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948071F-5629-E546-A495-2CF02BCF2F6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495800"/>
            <a:ext cx="9144000" cy="493059"/>
          </a:xfrm>
        </p:spPr>
        <p:txBody>
          <a:bodyPr>
            <a:normAutofit/>
          </a:bodyPr>
          <a:lstStyle/>
          <a:p>
            <a:r>
              <a:rPr lang="en-US" sz="1800" dirty="0"/>
              <a:t>Dr </a:t>
            </a:r>
            <a:r>
              <a:rPr lang="en-US" sz="1800" dirty="0" err="1"/>
              <a:t>Zhi</a:t>
            </a:r>
            <a:r>
              <a:rPr lang="en-US" sz="1800" dirty="0"/>
              <a:t> Zhang</a:t>
            </a:r>
          </a:p>
        </p:txBody>
      </p:sp>
    </p:spTree>
    <p:extLst>
      <p:ext uri="{BB962C8B-B14F-4D97-AF65-F5344CB8AC3E}">
        <p14:creationId xmlns:p14="http://schemas.microsoft.com/office/powerpoint/2010/main" val="20153539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4F01C5-5333-2248-B03B-703C97F7CC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1571" y="260686"/>
            <a:ext cx="7007643" cy="725844"/>
          </a:xfrm>
        </p:spPr>
        <p:txBody>
          <a:bodyPr>
            <a:normAutofit/>
          </a:bodyPr>
          <a:lstStyle/>
          <a:p>
            <a:r>
              <a:rPr lang="en-AU" sz="3200" b="1" dirty="0"/>
              <a:t>Mid-</a:t>
            </a:r>
            <a:r>
              <a:rPr lang="en-AU" sz="3200" b="1" dirty="0" err="1"/>
              <a:t>sem</a:t>
            </a:r>
            <a:r>
              <a:rPr lang="en-AU" sz="3200" b="1" dirty="0"/>
              <a:t> test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358CAA23-D2C2-4684-B594-EC635F94A48A}"/>
              </a:ext>
            </a:extLst>
          </p:cNvPr>
          <p:cNvSpPr txBox="1">
            <a:spLocks/>
          </p:cNvSpPr>
          <p:nvPr/>
        </p:nvSpPr>
        <p:spPr>
          <a:xfrm>
            <a:off x="621571" y="1091652"/>
            <a:ext cx="10948858" cy="233734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Aft>
                <a:spcPts val="0"/>
              </a:spcAft>
              <a:buClrTx/>
              <a:buSzTx/>
            </a:pPr>
            <a:r>
              <a:rPr lang="en-AU" dirty="0"/>
              <a:t>The test is at </a:t>
            </a:r>
            <a:r>
              <a:rPr lang="en-AU" dirty="0">
                <a:solidFill>
                  <a:srgbClr val="FF0000"/>
                </a:solidFill>
              </a:rPr>
              <a:t>5:15pm-6:15pm on August 24 2026.</a:t>
            </a:r>
          </a:p>
          <a:p>
            <a:pPr lvl="1" fontAlgn="auto">
              <a:spcAft>
                <a:spcPts val="0"/>
              </a:spcAft>
              <a:buClrTx/>
              <a:buSzTx/>
            </a:pPr>
            <a:r>
              <a:rPr lang="en-US" sz="2400" dirty="0"/>
              <a:t>If you are 30 minutes late to the </a:t>
            </a:r>
            <a:r>
              <a:rPr lang="en-US" altLang="zh-CN" sz="2400" dirty="0"/>
              <a:t>test</a:t>
            </a:r>
            <a:r>
              <a:rPr lang="en-US" sz="2400" dirty="0"/>
              <a:t>, you are not allowed to sit the test.</a:t>
            </a:r>
            <a:endParaRPr lang="en-AU" dirty="0">
              <a:solidFill>
                <a:srgbClr val="FF0000"/>
              </a:solidFill>
            </a:endParaRPr>
          </a:p>
          <a:p>
            <a:pPr fontAlgn="auto">
              <a:spcAft>
                <a:spcPts val="0"/>
              </a:spcAft>
              <a:buClrTx/>
              <a:buSzTx/>
            </a:pPr>
            <a:r>
              <a:rPr lang="en-AU" dirty="0"/>
              <a:t>A</a:t>
            </a:r>
            <a:r>
              <a:rPr lang="en-AU" sz="2800" dirty="0"/>
              <a:t>rrive at </a:t>
            </a:r>
            <a:r>
              <a:rPr lang="en-AU" sz="2800" dirty="0">
                <a:solidFill>
                  <a:srgbClr val="FF0000"/>
                </a:solidFill>
              </a:rPr>
              <a:t>5:00pm</a:t>
            </a:r>
            <a:r>
              <a:rPr lang="en-AU" sz="2800" dirty="0"/>
              <a:t> with your ID such as student card, driver license, etc.</a:t>
            </a:r>
          </a:p>
          <a:p>
            <a:pPr fontAlgn="auto">
              <a:spcAft>
                <a:spcPts val="0"/>
              </a:spcAft>
              <a:buClrTx/>
              <a:buSzTx/>
            </a:pPr>
            <a:r>
              <a:rPr lang="en-AU" dirty="0"/>
              <a:t>Check out your test venue from LMS. </a:t>
            </a:r>
          </a:p>
          <a:p>
            <a:pPr marL="36900" indent="0" fontAlgn="auto"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</a:pP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98367230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DD7DCB-C7E2-1B4F-BD83-3B7AF005DD7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6956" y="929986"/>
            <a:ext cx="10226063" cy="3935312"/>
          </a:xfrm>
        </p:spPr>
        <p:txBody>
          <a:bodyPr>
            <a:noAutofit/>
          </a:bodyPr>
          <a:lstStyle/>
          <a:p>
            <a:r>
              <a:rPr lang="en-AU" sz="2600" dirty="0"/>
              <a:t>Part 1: Multi-choice questions (15 marks)</a:t>
            </a:r>
          </a:p>
          <a:p>
            <a:pPr lvl="1"/>
            <a:r>
              <a:rPr lang="en-AU" sz="2600" dirty="0"/>
              <a:t>15 questions</a:t>
            </a:r>
          </a:p>
          <a:p>
            <a:r>
              <a:rPr lang="en-AU" sz="2600" dirty="0"/>
              <a:t>Part 2: Multi-answer questions (15 marks)</a:t>
            </a:r>
          </a:p>
          <a:p>
            <a:pPr lvl="1"/>
            <a:r>
              <a:rPr lang="en-AU" sz="2600" dirty="0"/>
              <a:t>5 questions</a:t>
            </a:r>
          </a:p>
          <a:p>
            <a:r>
              <a:rPr lang="en-AU" sz="2600" dirty="0"/>
              <a:t>Part 3: Short answer questions including reading code (30 marks) </a:t>
            </a:r>
          </a:p>
          <a:p>
            <a:pPr lvl="1"/>
            <a:r>
              <a:rPr lang="en-AU" sz="2600" dirty="0"/>
              <a:t>5 </a:t>
            </a:r>
            <a:r>
              <a:rPr lang="en-US" sz="2600" dirty="0"/>
              <a:t>themed questions</a:t>
            </a:r>
          </a:p>
          <a:p>
            <a:r>
              <a:rPr lang="en-AU" sz="2600" dirty="0"/>
              <a:t>Practice</a:t>
            </a:r>
          </a:p>
          <a:p>
            <a:pPr lvl="2"/>
            <a:endParaRPr lang="en-US" sz="2200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7B25F2ED-E391-4808-804E-4D92756B32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956" y="204142"/>
            <a:ext cx="7007643" cy="725844"/>
          </a:xfrm>
        </p:spPr>
        <p:txBody>
          <a:bodyPr>
            <a:normAutofit/>
          </a:bodyPr>
          <a:lstStyle/>
          <a:p>
            <a:r>
              <a:rPr lang="en-AU" sz="3200" b="1" dirty="0"/>
              <a:t>Mid-</a:t>
            </a:r>
            <a:r>
              <a:rPr lang="en-AU" sz="3200" b="1" dirty="0" err="1"/>
              <a:t>sem</a:t>
            </a:r>
            <a:r>
              <a:rPr lang="en-AU" sz="3200" b="1" dirty="0"/>
              <a:t> test</a:t>
            </a:r>
          </a:p>
        </p:txBody>
      </p:sp>
    </p:spTree>
    <p:extLst>
      <p:ext uri="{BB962C8B-B14F-4D97-AF65-F5344CB8AC3E}">
        <p14:creationId xmlns:p14="http://schemas.microsoft.com/office/powerpoint/2010/main" val="90116312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1DFFCBF6-9F99-46B5-A265-A32CB9CE9E26}"/>
              </a:ext>
            </a:extLst>
          </p:cNvPr>
          <p:cNvSpPr txBox="1"/>
          <p:nvPr/>
        </p:nvSpPr>
        <p:spPr>
          <a:xfrm>
            <a:off x="357997" y="826021"/>
            <a:ext cx="10821838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>
              <a:spcBef>
                <a:spcPts val="0"/>
              </a:spcBef>
              <a:spcAft>
                <a:spcPts val="0"/>
              </a:spcAft>
            </a:pPr>
            <a:r>
              <a:rPr lang="en-US" sz="2000" b="0" i="0" u="none" strike="noStrike" dirty="0">
                <a:solidFill>
                  <a:srgbClr val="000000"/>
                </a:solidFill>
                <a:effectLst/>
                <a:latin typeface="+mn-lt"/>
              </a:rPr>
              <a:t>How does virtualization contribute to the benefits of cloud computing?</a:t>
            </a:r>
            <a:endParaRPr lang="en-US" b="0" dirty="0">
              <a:effectLst/>
              <a:latin typeface="+mn-lt"/>
            </a:endParaRPr>
          </a:p>
          <a:p>
            <a:pPr indent="228600" algn="l" rtl="0">
              <a:spcBef>
                <a:spcPts val="0"/>
              </a:spcBef>
              <a:spcAft>
                <a:spcPts val="0"/>
              </a:spcAft>
            </a:pPr>
            <a:r>
              <a:rPr lang="en-US" sz="2000" b="0" i="0" u="none" strike="noStrike" dirty="0">
                <a:solidFill>
                  <a:srgbClr val="000000"/>
                </a:solidFill>
                <a:effectLst/>
                <a:latin typeface="+mn-lt"/>
              </a:rPr>
              <a:t>A. Virtualization eliminates the need for internet connectivity.</a:t>
            </a:r>
            <a:endParaRPr lang="en-US" b="0" dirty="0">
              <a:effectLst/>
              <a:latin typeface="+mn-lt"/>
            </a:endParaRPr>
          </a:p>
          <a:p>
            <a:pPr indent="228600" algn="l" rtl="0">
              <a:spcBef>
                <a:spcPts val="0"/>
              </a:spcBef>
              <a:spcAft>
                <a:spcPts val="0"/>
              </a:spcAft>
            </a:pPr>
            <a:r>
              <a:rPr lang="en-US" sz="2000" b="0" i="0" u="none" strike="noStrike" dirty="0">
                <a:solidFill>
                  <a:srgbClr val="000000"/>
                </a:solidFill>
                <a:effectLst/>
                <a:latin typeface="+mn-lt"/>
              </a:rPr>
              <a:t>B. Virtualization increases hardware resource costs.</a:t>
            </a:r>
            <a:endParaRPr lang="en-US" b="0" dirty="0">
              <a:effectLst/>
              <a:latin typeface="+mn-lt"/>
            </a:endParaRPr>
          </a:p>
          <a:p>
            <a:pPr indent="228600" algn="l" rtl="0">
              <a:spcBef>
                <a:spcPts val="0"/>
              </a:spcBef>
              <a:spcAft>
                <a:spcPts val="0"/>
              </a:spcAft>
            </a:pPr>
            <a:r>
              <a:rPr lang="en-US" sz="2000" b="0" i="0" u="none" strike="noStrike" dirty="0">
                <a:solidFill>
                  <a:srgbClr val="000000"/>
                </a:solidFill>
                <a:effectLst/>
                <a:latin typeface="+mn-lt"/>
              </a:rPr>
              <a:t>C. Virtualization enables efficient utilization of physical hardware by creating multiple virtual instances on a single server.</a:t>
            </a:r>
            <a:endParaRPr lang="en-US" b="0" dirty="0">
              <a:effectLst/>
              <a:latin typeface="+mn-lt"/>
            </a:endParaRPr>
          </a:p>
          <a:p>
            <a:pPr indent="228600" algn="l" rtl="0">
              <a:spcBef>
                <a:spcPts val="0"/>
              </a:spcBef>
              <a:spcAft>
                <a:spcPts val="0"/>
              </a:spcAft>
            </a:pPr>
            <a:r>
              <a:rPr lang="en-US" sz="2000" b="0" i="0" u="none" strike="noStrike" dirty="0">
                <a:solidFill>
                  <a:srgbClr val="000000"/>
                </a:solidFill>
                <a:effectLst/>
                <a:latin typeface="+mn-lt"/>
              </a:rPr>
              <a:t>D. Virtualization limits the scalability of cloud services.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BCCB75-6F48-43A5-A4C2-4EA807F30A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7997" y="230606"/>
            <a:ext cx="1867618" cy="588263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AU" sz="2600" dirty="0"/>
              <a:t>Part 1</a:t>
            </a:r>
            <a:endParaRPr lang="en-US" sz="2200" dirty="0"/>
          </a:p>
        </p:txBody>
      </p:sp>
    </p:spTree>
    <p:extLst>
      <p:ext uri="{BB962C8B-B14F-4D97-AF65-F5344CB8AC3E}">
        <p14:creationId xmlns:p14="http://schemas.microsoft.com/office/powerpoint/2010/main" val="167356460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1DFFCBF6-9F99-46B5-A265-A32CB9CE9E26}"/>
              </a:ext>
            </a:extLst>
          </p:cNvPr>
          <p:cNvSpPr txBox="1"/>
          <p:nvPr/>
        </p:nvSpPr>
        <p:spPr>
          <a:xfrm>
            <a:off x="306238" y="733246"/>
            <a:ext cx="10821838" cy="25545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000000"/>
                </a:solidFill>
                <a:latin typeface="+mn-lt"/>
              </a:rPr>
              <a:t>How does virtualization contribute to the benefits of cloud computing?</a:t>
            </a:r>
          </a:p>
          <a:p>
            <a:pPr indent="228600" algn="l" rtl="0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000000"/>
                </a:solidFill>
                <a:latin typeface="+mn-lt"/>
              </a:rPr>
              <a:t>A. Virtualization eliminates the need for internet connectivity.</a:t>
            </a:r>
          </a:p>
          <a:p>
            <a:pPr indent="228600" algn="l" rtl="0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000000"/>
                </a:solidFill>
                <a:latin typeface="+mn-lt"/>
              </a:rPr>
              <a:t>B. Virtualization increases hardware resource costs.</a:t>
            </a:r>
          </a:p>
          <a:p>
            <a:pPr indent="228600" algn="l" rtl="0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000000"/>
                </a:solidFill>
                <a:latin typeface="+mn-lt"/>
              </a:rPr>
              <a:t>C. Virtualization enables efficient utilization of physical hardware by creating multiple virtual instances on a single server.</a:t>
            </a:r>
          </a:p>
          <a:p>
            <a:pPr indent="228600" algn="l" rtl="0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000000"/>
                </a:solidFill>
                <a:latin typeface="+mn-lt"/>
              </a:rPr>
              <a:t>D. Virtualization limits the scalability of cloud services.</a:t>
            </a:r>
          </a:p>
          <a:p>
            <a:pPr indent="228600" algn="l" rtl="0">
              <a:spcBef>
                <a:spcPts val="0"/>
              </a:spcBef>
              <a:spcAft>
                <a:spcPts val="0"/>
              </a:spcAft>
            </a:pPr>
            <a:endParaRPr lang="en-US" dirty="0">
              <a:solidFill>
                <a:srgbClr val="000000"/>
              </a:solidFill>
              <a:latin typeface="+mn-lt"/>
            </a:endParaRPr>
          </a:p>
          <a:p>
            <a:pPr indent="228600" algn="l" rtl="0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FF0000"/>
                </a:solidFill>
                <a:latin typeface="+mn-lt"/>
              </a:rPr>
              <a:t>Answer: C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F0EED76-C82B-4BBD-8245-C65B837D8BFE}"/>
              </a:ext>
            </a:extLst>
          </p:cNvPr>
          <p:cNvSpPr txBox="1"/>
          <p:nvPr/>
        </p:nvSpPr>
        <p:spPr>
          <a:xfrm>
            <a:off x="463670" y="3634908"/>
            <a:ext cx="8749342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000000"/>
                </a:solidFill>
                <a:latin typeface="+mn-lt"/>
              </a:rPr>
              <a:t>What is EC2 used for in AWS?</a:t>
            </a:r>
          </a:p>
          <a:p>
            <a:pPr indent="228600" algn="l" rtl="0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000000"/>
                </a:solidFill>
                <a:latin typeface="+mn-lt"/>
              </a:rPr>
              <a:t>A. Managing DNS records for domains.</a:t>
            </a:r>
          </a:p>
          <a:p>
            <a:pPr indent="228600" algn="l" rtl="0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000000"/>
                </a:solidFill>
                <a:latin typeface="+mn-lt"/>
              </a:rPr>
              <a:t>B. Storing and managing relational databases.</a:t>
            </a:r>
          </a:p>
          <a:p>
            <a:pPr indent="228600" algn="l" rtl="0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000000"/>
                </a:solidFill>
                <a:latin typeface="+mn-lt"/>
              </a:rPr>
              <a:t>C. Scaling compute capacity and launching virtual servers in the cloud.</a:t>
            </a:r>
          </a:p>
          <a:p>
            <a:pPr indent="228600" algn="l" rtl="0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000000"/>
                </a:solidFill>
                <a:latin typeface="+mn-lt"/>
              </a:rPr>
              <a:t>D. Sending and receiving emails.</a:t>
            </a:r>
            <a:br>
              <a:rPr lang="en-US" dirty="0"/>
            </a:br>
            <a:endParaRPr lang="en-AU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FED2AE13-8920-432E-A393-0AC754964C4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7997" y="230606"/>
            <a:ext cx="1608826" cy="588263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AU" sz="2600" dirty="0"/>
              <a:t>Part 1</a:t>
            </a:r>
            <a:endParaRPr lang="en-US" sz="2200" dirty="0"/>
          </a:p>
        </p:txBody>
      </p:sp>
    </p:spTree>
    <p:extLst>
      <p:ext uri="{BB962C8B-B14F-4D97-AF65-F5344CB8AC3E}">
        <p14:creationId xmlns:p14="http://schemas.microsoft.com/office/powerpoint/2010/main" val="35677408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1DFFCBF6-9F99-46B5-A265-A32CB9CE9E26}"/>
              </a:ext>
            </a:extLst>
          </p:cNvPr>
          <p:cNvSpPr txBox="1"/>
          <p:nvPr/>
        </p:nvSpPr>
        <p:spPr>
          <a:xfrm>
            <a:off x="392502" y="684673"/>
            <a:ext cx="10821838" cy="25545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000000"/>
                </a:solidFill>
                <a:latin typeface="+mn-lt"/>
              </a:rPr>
              <a:t>How does virtualization contribute to the benefits of cloud computing?</a:t>
            </a:r>
          </a:p>
          <a:p>
            <a:pPr indent="228600" algn="l" rtl="0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000000"/>
                </a:solidFill>
                <a:latin typeface="+mn-lt"/>
              </a:rPr>
              <a:t>A. Virtualization eliminates the need for internet connectivity.</a:t>
            </a:r>
          </a:p>
          <a:p>
            <a:pPr indent="228600" algn="l" rtl="0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000000"/>
                </a:solidFill>
                <a:latin typeface="+mn-lt"/>
              </a:rPr>
              <a:t>B. Virtualization increases hardware resource costs.</a:t>
            </a:r>
          </a:p>
          <a:p>
            <a:pPr indent="228600" algn="l" rtl="0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000000"/>
                </a:solidFill>
                <a:latin typeface="+mn-lt"/>
              </a:rPr>
              <a:t>C. Virtualization enables efficient utilization of physical hardware by creating multiple virtual instances on a single server.</a:t>
            </a:r>
          </a:p>
          <a:p>
            <a:pPr indent="228600" algn="l" rtl="0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000000"/>
                </a:solidFill>
                <a:latin typeface="+mn-lt"/>
              </a:rPr>
              <a:t>D. Virtualization limits the scalability of cloud services.</a:t>
            </a:r>
          </a:p>
          <a:p>
            <a:pPr indent="228600" algn="l" rtl="0">
              <a:spcBef>
                <a:spcPts val="0"/>
              </a:spcBef>
              <a:spcAft>
                <a:spcPts val="0"/>
              </a:spcAft>
            </a:pPr>
            <a:endParaRPr lang="en-US" dirty="0">
              <a:solidFill>
                <a:srgbClr val="000000"/>
              </a:solidFill>
              <a:latin typeface="+mn-lt"/>
            </a:endParaRPr>
          </a:p>
          <a:p>
            <a:pPr indent="228600" algn="l" rtl="0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FF0000"/>
                </a:solidFill>
                <a:latin typeface="+mn-lt"/>
              </a:rPr>
              <a:t>Answer: C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F0EED76-C82B-4BBD-8245-C65B837D8BFE}"/>
              </a:ext>
            </a:extLst>
          </p:cNvPr>
          <p:cNvSpPr txBox="1"/>
          <p:nvPr/>
        </p:nvSpPr>
        <p:spPr>
          <a:xfrm>
            <a:off x="392502" y="3618782"/>
            <a:ext cx="8749342" cy="29238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000000"/>
                </a:solidFill>
                <a:latin typeface="+mn-lt"/>
              </a:rPr>
              <a:t>What is EC2 used for in AWS?</a:t>
            </a:r>
          </a:p>
          <a:p>
            <a:pPr indent="228600" algn="l" rtl="0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000000"/>
                </a:solidFill>
                <a:latin typeface="+mn-lt"/>
              </a:rPr>
              <a:t>A. Managing DNS records for domains.</a:t>
            </a:r>
          </a:p>
          <a:p>
            <a:pPr indent="228600" algn="l" rtl="0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000000"/>
                </a:solidFill>
                <a:latin typeface="+mn-lt"/>
              </a:rPr>
              <a:t>B. Storing and managing relational databases.</a:t>
            </a:r>
          </a:p>
          <a:p>
            <a:pPr indent="228600" algn="l" rtl="0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000000"/>
                </a:solidFill>
                <a:latin typeface="+mn-lt"/>
              </a:rPr>
              <a:t>C. Scaling compute capacity and launching virtual servers in the cloud.</a:t>
            </a:r>
          </a:p>
          <a:p>
            <a:pPr indent="228600" algn="l" rtl="0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000000"/>
                </a:solidFill>
                <a:latin typeface="+mn-lt"/>
              </a:rPr>
              <a:t>D. Sending and receiving emails.</a:t>
            </a:r>
          </a:p>
          <a:p>
            <a:pPr indent="228600" algn="l" rtl="0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000000"/>
                </a:solidFill>
                <a:latin typeface="+mn-lt"/>
              </a:rPr>
              <a:t> </a:t>
            </a:r>
          </a:p>
          <a:p>
            <a:pPr indent="228600" algn="l" rtl="0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FF0000"/>
                </a:solidFill>
                <a:latin typeface="+mn-lt"/>
              </a:rPr>
              <a:t>Answer: C</a:t>
            </a:r>
          </a:p>
          <a:p>
            <a:br>
              <a:rPr lang="en-US" dirty="0"/>
            </a:br>
            <a:endParaRPr lang="en-AU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E248530-C4C0-4D40-ADA8-F6CE73738A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7997" y="230606"/>
            <a:ext cx="1867618" cy="588263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AU" sz="2600" dirty="0"/>
              <a:t>Part 1</a:t>
            </a:r>
            <a:endParaRPr lang="en-US" sz="2200" dirty="0"/>
          </a:p>
        </p:txBody>
      </p:sp>
    </p:spTree>
    <p:extLst>
      <p:ext uri="{BB962C8B-B14F-4D97-AF65-F5344CB8AC3E}">
        <p14:creationId xmlns:p14="http://schemas.microsoft.com/office/powerpoint/2010/main" val="409921769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0F0EED76-C82B-4BBD-8245-C65B837D8BFE}"/>
              </a:ext>
            </a:extLst>
          </p:cNvPr>
          <p:cNvSpPr txBox="1"/>
          <p:nvPr/>
        </p:nvSpPr>
        <p:spPr>
          <a:xfrm>
            <a:off x="357997" y="818869"/>
            <a:ext cx="8749342" cy="1631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000000"/>
                </a:solidFill>
                <a:latin typeface="+mn-lt"/>
              </a:rPr>
              <a:t>Which of the following is NOT correct about cloud computing? </a:t>
            </a:r>
          </a:p>
          <a:p>
            <a:pPr indent="228600" algn="l" rtl="0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000000"/>
                </a:solidFill>
                <a:latin typeface="+mn-lt"/>
              </a:rPr>
              <a:t>A. On-demand self service</a:t>
            </a:r>
          </a:p>
          <a:p>
            <a:pPr indent="228600" algn="l" rtl="0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000000"/>
                </a:solidFill>
                <a:latin typeface="+mn-lt"/>
              </a:rPr>
              <a:t>B. Broad network access</a:t>
            </a:r>
          </a:p>
          <a:p>
            <a:pPr indent="228600" algn="l" rtl="0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000000"/>
                </a:solidFill>
                <a:latin typeface="+mn-lt"/>
              </a:rPr>
              <a:t>C. Resource pooling</a:t>
            </a:r>
          </a:p>
          <a:p>
            <a:pPr indent="228600" algn="l" rtl="0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000000"/>
                </a:solidFill>
                <a:latin typeface="+mn-lt"/>
              </a:rPr>
              <a:t>D. Slow elasticity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FE929A-2C65-43B6-BF39-AB5A7A3E6F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7997" y="230606"/>
            <a:ext cx="1867618" cy="588263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AU" sz="2600" dirty="0"/>
              <a:t>Part 1</a:t>
            </a:r>
            <a:endParaRPr lang="en-US" sz="2200" dirty="0"/>
          </a:p>
        </p:txBody>
      </p:sp>
    </p:spTree>
    <p:extLst>
      <p:ext uri="{BB962C8B-B14F-4D97-AF65-F5344CB8AC3E}">
        <p14:creationId xmlns:p14="http://schemas.microsoft.com/office/powerpoint/2010/main" val="136599661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0F0EED76-C82B-4BBD-8245-C65B837D8BFE}"/>
              </a:ext>
            </a:extLst>
          </p:cNvPr>
          <p:cNvSpPr txBox="1"/>
          <p:nvPr/>
        </p:nvSpPr>
        <p:spPr>
          <a:xfrm>
            <a:off x="659202" y="841075"/>
            <a:ext cx="8749342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000000"/>
                </a:solidFill>
                <a:latin typeface="+mn-lt"/>
              </a:rPr>
              <a:t>Which of the following is NOT correct about cloud computing? </a:t>
            </a:r>
          </a:p>
          <a:p>
            <a:pPr indent="228600" algn="l" rtl="0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000000"/>
                </a:solidFill>
                <a:latin typeface="+mn-lt"/>
              </a:rPr>
              <a:t>A. On-demand self service</a:t>
            </a:r>
          </a:p>
          <a:p>
            <a:pPr indent="228600" algn="l" rtl="0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000000"/>
                </a:solidFill>
                <a:latin typeface="+mn-lt"/>
              </a:rPr>
              <a:t>B. Broad network access</a:t>
            </a:r>
          </a:p>
          <a:p>
            <a:pPr indent="228600" algn="l" rtl="0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000000"/>
                </a:solidFill>
                <a:latin typeface="+mn-lt"/>
              </a:rPr>
              <a:t>C. Resource pooling</a:t>
            </a:r>
          </a:p>
          <a:p>
            <a:pPr indent="228600" algn="l" rtl="0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000000"/>
                </a:solidFill>
                <a:latin typeface="+mn-lt"/>
              </a:rPr>
              <a:t>D. Slow elasticity</a:t>
            </a:r>
          </a:p>
          <a:p>
            <a:pPr rtl="0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000000"/>
                </a:solidFill>
                <a:latin typeface="+mn-lt"/>
              </a:rPr>
              <a:t> </a:t>
            </a:r>
          </a:p>
          <a:p>
            <a:pPr marL="228600" algn="l" rtl="0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FF0000"/>
                </a:solidFill>
                <a:latin typeface="+mn-lt"/>
              </a:rPr>
              <a:t>Answer: D </a:t>
            </a:r>
            <a:endParaRPr lang="en-AU" dirty="0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176D5CF9-CDE8-426D-919B-DD03F1A7DC4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9202" y="252812"/>
            <a:ext cx="1867618" cy="588263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AU" sz="2600" dirty="0"/>
              <a:t>Part 1</a:t>
            </a:r>
            <a:endParaRPr lang="en-US" sz="22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691D2A9-45B3-44AC-967A-2ECD2DC3D30D}"/>
              </a:ext>
            </a:extLst>
          </p:cNvPr>
          <p:cNvSpPr txBox="1"/>
          <p:nvPr/>
        </p:nvSpPr>
        <p:spPr>
          <a:xfrm>
            <a:off x="659201" y="3676107"/>
            <a:ext cx="9990869" cy="1631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000000"/>
                </a:solidFill>
                <a:latin typeface="+mn-lt"/>
              </a:rPr>
              <a:t>Which of the following best describes ARN?</a:t>
            </a:r>
          </a:p>
          <a:p>
            <a:pPr indent="228600" algn="l" rtl="0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000000"/>
                </a:solidFill>
                <a:latin typeface="+mn-lt"/>
              </a:rPr>
              <a:t>A. a unique ID for AWS S3 buckets</a:t>
            </a:r>
          </a:p>
          <a:p>
            <a:pPr indent="228600" algn="l" rtl="0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000000"/>
                </a:solidFill>
                <a:latin typeface="+mn-lt"/>
              </a:rPr>
              <a:t>B. a unique ID for AWS EC2 instances</a:t>
            </a:r>
          </a:p>
          <a:p>
            <a:pPr indent="228600" algn="l" rtl="0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000000"/>
                </a:solidFill>
                <a:latin typeface="+mn-lt"/>
              </a:rPr>
              <a:t>C. a unique ID for AWS IAM users</a:t>
            </a:r>
          </a:p>
          <a:p>
            <a:pPr indent="228600" algn="l" rtl="0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000000"/>
                </a:solidFill>
                <a:latin typeface="+mn-lt"/>
              </a:rPr>
              <a:t>D. a unique ID for any AWS resources</a:t>
            </a:r>
          </a:p>
        </p:txBody>
      </p:sp>
    </p:spTree>
    <p:extLst>
      <p:ext uri="{BB962C8B-B14F-4D97-AF65-F5344CB8AC3E}">
        <p14:creationId xmlns:p14="http://schemas.microsoft.com/office/powerpoint/2010/main" val="403801155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0F0EED76-C82B-4BBD-8245-C65B837D8BFE}"/>
              </a:ext>
            </a:extLst>
          </p:cNvPr>
          <p:cNvSpPr txBox="1"/>
          <p:nvPr/>
        </p:nvSpPr>
        <p:spPr>
          <a:xfrm>
            <a:off x="659202" y="841075"/>
            <a:ext cx="8749342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000000"/>
                </a:solidFill>
                <a:latin typeface="+mn-lt"/>
              </a:rPr>
              <a:t>Which of the following is NOT correct about cloud computing? </a:t>
            </a:r>
          </a:p>
          <a:p>
            <a:pPr indent="228600" algn="l" rtl="0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000000"/>
                </a:solidFill>
                <a:latin typeface="+mn-lt"/>
              </a:rPr>
              <a:t>A. On-demand self service</a:t>
            </a:r>
          </a:p>
          <a:p>
            <a:pPr indent="228600" algn="l" rtl="0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000000"/>
                </a:solidFill>
                <a:latin typeface="+mn-lt"/>
              </a:rPr>
              <a:t>B. Broad network access</a:t>
            </a:r>
          </a:p>
          <a:p>
            <a:pPr indent="228600" algn="l" rtl="0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000000"/>
                </a:solidFill>
                <a:latin typeface="+mn-lt"/>
              </a:rPr>
              <a:t>C. Resource pooling</a:t>
            </a:r>
          </a:p>
          <a:p>
            <a:pPr indent="228600" algn="l" rtl="0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000000"/>
                </a:solidFill>
                <a:latin typeface="+mn-lt"/>
              </a:rPr>
              <a:t>D. Slow elasticity</a:t>
            </a:r>
          </a:p>
          <a:p>
            <a:pPr rtl="0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000000"/>
                </a:solidFill>
                <a:latin typeface="+mn-lt"/>
              </a:rPr>
              <a:t> </a:t>
            </a:r>
          </a:p>
          <a:p>
            <a:pPr marL="228600" algn="l" rtl="0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FF0000"/>
                </a:solidFill>
                <a:latin typeface="+mn-lt"/>
              </a:rPr>
              <a:t>Answer: D</a:t>
            </a:r>
            <a:endParaRPr lang="en-AU" dirty="0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176D5CF9-CDE8-426D-919B-DD03F1A7DC4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9202" y="252812"/>
            <a:ext cx="1867618" cy="588263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AU" sz="2600" dirty="0"/>
              <a:t>Part 1</a:t>
            </a:r>
            <a:endParaRPr lang="en-US" sz="22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691D2A9-45B3-44AC-967A-2ECD2DC3D30D}"/>
              </a:ext>
            </a:extLst>
          </p:cNvPr>
          <p:cNvSpPr txBox="1"/>
          <p:nvPr/>
        </p:nvSpPr>
        <p:spPr>
          <a:xfrm>
            <a:off x="659201" y="3676107"/>
            <a:ext cx="9990869" cy="29238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000000"/>
                </a:solidFill>
                <a:latin typeface="+mn-lt"/>
              </a:rPr>
              <a:t>Which of the following best describes ARN?</a:t>
            </a:r>
          </a:p>
          <a:p>
            <a:pPr indent="228600" algn="l" rtl="0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000000"/>
                </a:solidFill>
                <a:latin typeface="+mn-lt"/>
              </a:rPr>
              <a:t>A. a unique ID for AWS S3 buckets</a:t>
            </a:r>
          </a:p>
          <a:p>
            <a:pPr indent="228600" algn="l" rtl="0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000000"/>
                </a:solidFill>
                <a:latin typeface="+mn-lt"/>
              </a:rPr>
              <a:t>B. a unique ID for AWS EC2 instances</a:t>
            </a:r>
          </a:p>
          <a:p>
            <a:pPr indent="228600" algn="l" rtl="0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000000"/>
                </a:solidFill>
                <a:latin typeface="+mn-lt"/>
              </a:rPr>
              <a:t>C. a unique ID for AWS IAM users</a:t>
            </a:r>
          </a:p>
          <a:p>
            <a:pPr indent="228600" algn="l" rtl="0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000000"/>
                </a:solidFill>
                <a:latin typeface="+mn-lt"/>
              </a:rPr>
              <a:t>D. a unique ID for any AWS resources</a:t>
            </a:r>
          </a:p>
          <a:p>
            <a:pPr indent="228600" algn="l" rtl="0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000000"/>
                </a:solidFill>
                <a:latin typeface="+mn-lt"/>
              </a:rPr>
              <a:t> </a:t>
            </a:r>
          </a:p>
          <a:p>
            <a:pPr indent="228600" algn="l" rtl="0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FF0000"/>
                </a:solidFill>
                <a:latin typeface="+mn-lt"/>
              </a:rPr>
              <a:t>Answer: D</a:t>
            </a:r>
          </a:p>
          <a:p>
            <a:br>
              <a:rPr lang="en-US" dirty="0"/>
            </a:b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53591837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0F0EED76-C82B-4BBD-8245-C65B837D8BFE}"/>
              </a:ext>
            </a:extLst>
          </p:cNvPr>
          <p:cNvSpPr txBox="1"/>
          <p:nvPr/>
        </p:nvSpPr>
        <p:spPr>
          <a:xfrm>
            <a:off x="659202" y="841075"/>
            <a:ext cx="8749342" cy="1631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000000"/>
                </a:solidFill>
                <a:latin typeface="+mn-lt"/>
              </a:rPr>
              <a:t>Which of the following is the main feature of EBS?</a:t>
            </a:r>
          </a:p>
          <a:p>
            <a:pPr indent="228600" algn="l" rtl="0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000000"/>
                </a:solidFill>
                <a:latin typeface="+mn-lt"/>
              </a:rPr>
              <a:t>A. A cloud-based email service for sending and receiving messages.</a:t>
            </a:r>
          </a:p>
          <a:p>
            <a:pPr indent="228600" algn="l" rtl="0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000000"/>
                </a:solidFill>
                <a:latin typeface="+mn-lt"/>
              </a:rPr>
              <a:t>B. A service for launching and managing virtual servers in the cloud.</a:t>
            </a:r>
          </a:p>
          <a:p>
            <a:pPr indent="228600" algn="l" rtl="0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000000"/>
                </a:solidFill>
                <a:latin typeface="+mn-lt"/>
              </a:rPr>
              <a:t>C. A block storage service that provides persistent storage.</a:t>
            </a:r>
          </a:p>
          <a:p>
            <a:pPr indent="228600" algn="l" rtl="0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000000"/>
                </a:solidFill>
                <a:latin typeface="+mn-lt"/>
              </a:rPr>
              <a:t>D. A service that manages domain names and translates them to IP addresses.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176D5CF9-CDE8-426D-919B-DD03F1A7DC4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9202" y="252812"/>
            <a:ext cx="1867618" cy="588263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AU" sz="2600" dirty="0"/>
              <a:t>Part 1</a:t>
            </a:r>
            <a:endParaRPr lang="en-US" sz="2200" dirty="0"/>
          </a:p>
        </p:txBody>
      </p:sp>
    </p:spTree>
    <p:extLst>
      <p:ext uri="{BB962C8B-B14F-4D97-AF65-F5344CB8AC3E}">
        <p14:creationId xmlns:p14="http://schemas.microsoft.com/office/powerpoint/2010/main" val="42167411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0F0EED76-C82B-4BBD-8245-C65B837D8BFE}"/>
              </a:ext>
            </a:extLst>
          </p:cNvPr>
          <p:cNvSpPr txBox="1"/>
          <p:nvPr/>
        </p:nvSpPr>
        <p:spPr>
          <a:xfrm>
            <a:off x="659202" y="841075"/>
            <a:ext cx="8749342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000000"/>
                </a:solidFill>
                <a:latin typeface="+mn-lt"/>
              </a:rPr>
              <a:t>Which of the following is the main feature of EBS?</a:t>
            </a:r>
          </a:p>
          <a:p>
            <a:pPr indent="228600" algn="l" rtl="0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000000"/>
                </a:solidFill>
                <a:latin typeface="+mn-lt"/>
              </a:rPr>
              <a:t>A. A cloud-based email service for sending and receiving messages.</a:t>
            </a:r>
          </a:p>
          <a:p>
            <a:pPr indent="228600" algn="l" rtl="0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000000"/>
                </a:solidFill>
                <a:latin typeface="+mn-lt"/>
              </a:rPr>
              <a:t>B. A service for launching and managing virtual servers in the cloud.</a:t>
            </a:r>
          </a:p>
          <a:p>
            <a:pPr indent="228600" algn="l" rtl="0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000000"/>
                </a:solidFill>
                <a:latin typeface="+mn-lt"/>
              </a:rPr>
              <a:t>C. A block storage service that provides persistent storage.</a:t>
            </a:r>
          </a:p>
          <a:p>
            <a:pPr indent="228600" algn="l" rtl="0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000000"/>
                </a:solidFill>
                <a:latin typeface="+mn-lt"/>
              </a:rPr>
              <a:t>D. A service that manages domain names and translates them to IP addresses.</a:t>
            </a:r>
          </a:p>
          <a:p>
            <a:pPr indent="228600" algn="l" rtl="0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000000"/>
                </a:solidFill>
                <a:latin typeface="+mn-lt"/>
              </a:rPr>
              <a:t> </a:t>
            </a:r>
          </a:p>
          <a:p>
            <a:pPr indent="228600" algn="l" rtl="0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FF0000"/>
                </a:solidFill>
                <a:latin typeface="+mn-lt"/>
              </a:rPr>
              <a:t>Answer: C</a:t>
            </a:r>
            <a:endParaRPr lang="en-AU" dirty="0">
              <a:solidFill>
                <a:srgbClr val="FF0000"/>
              </a:solidFill>
            </a:endParaRP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176D5CF9-CDE8-426D-919B-DD03F1A7DC4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9202" y="252812"/>
            <a:ext cx="1867618" cy="588263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AU" sz="2600" dirty="0"/>
              <a:t>Part 1</a:t>
            </a:r>
            <a:endParaRPr lang="en-US" sz="22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FB1EBBE-1897-4B6F-AE2B-08A14F9EC9C5}"/>
              </a:ext>
            </a:extLst>
          </p:cNvPr>
          <p:cNvSpPr txBox="1"/>
          <p:nvPr/>
        </p:nvSpPr>
        <p:spPr>
          <a:xfrm>
            <a:off x="659202" y="3429000"/>
            <a:ext cx="10491281" cy="26161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000000"/>
                </a:solidFill>
                <a:latin typeface="+mn-lt"/>
              </a:rPr>
              <a:t>Which of the following statements </a:t>
            </a:r>
            <a:r>
              <a:rPr lang="en-US" altLang="zh-CN" dirty="0">
                <a:solidFill>
                  <a:srgbClr val="000000"/>
                </a:solidFill>
                <a:latin typeface="+mn-lt"/>
              </a:rPr>
              <a:t>is</a:t>
            </a:r>
            <a:r>
              <a:rPr lang="en-US" dirty="0">
                <a:solidFill>
                  <a:srgbClr val="000000"/>
                </a:solidFill>
                <a:latin typeface="+mn-lt"/>
              </a:rPr>
              <a:t> correct? </a:t>
            </a:r>
          </a:p>
          <a:p>
            <a:pPr algn="l" rtl="0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000000"/>
                </a:solidFill>
                <a:latin typeface="+mn-lt"/>
              </a:rPr>
              <a:t>     A. A process waits in the Ready Queue to perform I/O operations.</a:t>
            </a:r>
          </a:p>
          <a:p>
            <a:pPr algn="l" rtl="0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000000"/>
                </a:solidFill>
                <a:latin typeface="+mn-lt"/>
              </a:rPr>
              <a:t>     B. A process in the Ready Queue has all the resources required for execution. </a:t>
            </a:r>
          </a:p>
          <a:p>
            <a:pPr algn="l" rtl="0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000000"/>
                </a:solidFill>
                <a:latin typeface="+mn-lt"/>
              </a:rPr>
              <a:t>     C. If a process is scheduled on the CPU but does not finish executing within its allocated time slice, it will be removed from the CPU permanently.</a:t>
            </a:r>
          </a:p>
          <a:p>
            <a:pPr algn="l" rtl="0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000000"/>
                </a:solidFill>
                <a:latin typeface="+mn-lt"/>
              </a:rPr>
              <a:t>     D. The Job Queue keeps all the processes in the system. </a:t>
            </a:r>
          </a:p>
          <a:p>
            <a:br>
              <a:rPr lang="en-US" dirty="0">
                <a:solidFill>
                  <a:srgbClr val="000000"/>
                </a:solidFill>
                <a:latin typeface="+mn-lt"/>
              </a:rPr>
            </a:br>
            <a:endParaRPr lang="en-AU" dirty="0">
              <a:solidFill>
                <a:srgbClr val="000000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47004364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0F0EED76-C82B-4BBD-8245-C65B837D8BFE}"/>
              </a:ext>
            </a:extLst>
          </p:cNvPr>
          <p:cNvSpPr txBox="1"/>
          <p:nvPr/>
        </p:nvSpPr>
        <p:spPr>
          <a:xfrm>
            <a:off x="659202" y="841075"/>
            <a:ext cx="8749342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000000"/>
                </a:solidFill>
                <a:latin typeface="+mn-lt"/>
              </a:rPr>
              <a:t>Which of the following is the main feature of EBS?</a:t>
            </a:r>
          </a:p>
          <a:p>
            <a:pPr indent="228600" algn="l" rtl="0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000000"/>
                </a:solidFill>
                <a:latin typeface="+mn-lt"/>
              </a:rPr>
              <a:t>A. A cloud-based email service for sending and receiving messages.</a:t>
            </a:r>
          </a:p>
          <a:p>
            <a:pPr indent="228600" algn="l" rtl="0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000000"/>
                </a:solidFill>
                <a:latin typeface="+mn-lt"/>
              </a:rPr>
              <a:t>B. A service for launching and managing virtual servers in the cloud.</a:t>
            </a:r>
          </a:p>
          <a:p>
            <a:pPr indent="228600" algn="l" rtl="0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000000"/>
                </a:solidFill>
                <a:latin typeface="+mn-lt"/>
              </a:rPr>
              <a:t>C. A block storage service that provides persistent storage.</a:t>
            </a:r>
          </a:p>
          <a:p>
            <a:pPr indent="228600" algn="l" rtl="0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000000"/>
                </a:solidFill>
                <a:latin typeface="+mn-lt"/>
              </a:rPr>
              <a:t>D. A service that manages domain names and translates them to IP addresses.</a:t>
            </a:r>
          </a:p>
          <a:p>
            <a:pPr indent="228600" algn="l" rtl="0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000000"/>
                </a:solidFill>
                <a:latin typeface="+mn-lt"/>
              </a:rPr>
              <a:t> </a:t>
            </a:r>
          </a:p>
          <a:p>
            <a:pPr indent="228600" algn="l" rtl="0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FF0000"/>
                </a:solidFill>
                <a:latin typeface="+mn-lt"/>
              </a:rPr>
              <a:t>Answer: C</a:t>
            </a:r>
            <a:endParaRPr lang="en-AU" dirty="0">
              <a:solidFill>
                <a:srgbClr val="FF0000"/>
              </a:solidFill>
            </a:endParaRP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176D5CF9-CDE8-426D-919B-DD03F1A7DC4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9202" y="252812"/>
            <a:ext cx="1867618" cy="588263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AU" sz="2600" dirty="0"/>
              <a:t>Part 1</a:t>
            </a:r>
            <a:endParaRPr lang="en-US" sz="22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FB1EBBE-1897-4B6F-AE2B-08A14F9EC9C5}"/>
              </a:ext>
            </a:extLst>
          </p:cNvPr>
          <p:cNvSpPr txBox="1"/>
          <p:nvPr/>
        </p:nvSpPr>
        <p:spPr>
          <a:xfrm>
            <a:off x="659202" y="3429000"/>
            <a:ext cx="10491281" cy="25545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000000"/>
                </a:solidFill>
                <a:latin typeface="+mn-lt"/>
              </a:rPr>
              <a:t>Which of the following statements is correct? </a:t>
            </a:r>
          </a:p>
          <a:p>
            <a:pPr algn="l" rtl="0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000000"/>
                </a:solidFill>
                <a:latin typeface="+mn-lt"/>
              </a:rPr>
              <a:t>     A. A process waits in the Ready Queue to perform I/O operations.</a:t>
            </a:r>
          </a:p>
          <a:p>
            <a:pPr algn="l" rtl="0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000000"/>
                </a:solidFill>
                <a:latin typeface="+mn-lt"/>
              </a:rPr>
              <a:t>     B. A process in the Ready Queue has all the resources required for execution. </a:t>
            </a:r>
          </a:p>
          <a:p>
            <a:pPr algn="l" rtl="0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000000"/>
                </a:solidFill>
                <a:latin typeface="+mn-lt"/>
              </a:rPr>
              <a:t>     C. If a process is scheduled on the CPU but does not finish executing within its allocated time slice, it will be removed from the CPU permanently.</a:t>
            </a:r>
          </a:p>
          <a:p>
            <a:pPr algn="l" rtl="0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000000"/>
                </a:solidFill>
                <a:latin typeface="+mn-lt"/>
              </a:rPr>
              <a:t>     D. The Job Queue keeps all the processes in the system. 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endParaRPr lang="en-US" dirty="0">
              <a:solidFill>
                <a:srgbClr val="FF0000"/>
              </a:solidFill>
              <a:latin typeface="+mn-lt"/>
            </a:endParaRP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FF0000"/>
                </a:solidFill>
                <a:latin typeface="+mn-lt"/>
              </a:rPr>
              <a:t>    Answer: D</a:t>
            </a:r>
            <a:endParaRPr lang="en-AU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430777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176D5CF9-CDE8-426D-919B-DD03F1A7DC4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9202" y="252812"/>
            <a:ext cx="1867618" cy="588263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AU" sz="2600" dirty="0"/>
              <a:t>Part 2</a:t>
            </a:r>
            <a:endParaRPr lang="en-US" sz="22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2AB97FC-0902-4487-ACC9-3FE99405DAC0}"/>
              </a:ext>
            </a:extLst>
          </p:cNvPr>
          <p:cNvSpPr txBox="1"/>
          <p:nvPr/>
        </p:nvSpPr>
        <p:spPr>
          <a:xfrm>
            <a:off x="659202" y="841075"/>
            <a:ext cx="10873595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000000"/>
                </a:solidFill>
                <a:latin typeface="+mn-lt"/>
              </a:rPr>
              <a:t>Which of the following statements are correct in cloud computing? (Select all that apply)</a:t>
            </a:r>
          </a:p>
          <a:p>
            <a:pPr indent="228600" algn="l" rtl="0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000000"/>
                </a:solidFill>
                <a:latin typeface="+mn-lt"/>
              </a:rPr>
              <a:t>A. Cloud providers allow users to pay as they go.</a:t>
            </a:r>
          </a:p>
          <a:p>
            <a:pPr indent="228600" algn="l" rtl="0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000000"/>
                </a:solidFill>
                <a:latin typeface="+mn-lt"/>
              </a:rPr>
              <a:t>B. Data centers are usually distributed globally.</a:t>
            </a:r>
          </a:p>
          <a:p>
            <a:pPr indent="228600" algn="l" rtl="0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000000"/>
                </a:solidFill>
                <a:latin typeface="+mn-lt"/>
              </a:rPr>
              <a:t>C. Cloud computing is built upon data centers.</a:t>
            </a:r>
          </a:p>
          <a:p>
            <a:pPr indent="228600" algn="l" rtl="0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000000"/>
                </a:solidFill>
                <a:latin typeface="+mn-lt"/>
              </a:rPr>
              <a:t>D. Cooling may not be needed for data centers.</a:t>
            </a:r>
            <a:br>
              <a:rPr lang="en-US" dirty="0"/>
            </a:b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67493023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9CC73D1F-F2E4-45BC-99DB-5BD980DEFC5F}"/>
              </a:ext>
            </a:extLst>
          </p:cNvPr>
          <p:cNvSpPr txBox="1"/>
          <p:nvPr/>
        </p:nvSpPr>
        <p:spPr>
          <a:xfrm>
            <a:off x="469421" y="847341"/>
            <a:ext cx="10873595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000000"/>
                </a:solidFill>
                <a:latin typeface="+mn-lt"/>
              </a:rPr>
              <a:t>Which of the following statements are correct in cloud computing? (Select all that apply)</a:t>
            </a:r>
          </a:p>
          <a:p>
            <a:pPr indent="228600" algn="l" rtl="0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000000"/>
                </a:solidFill>
                <a:latin typeface="+mn-lt"/>
              </a:rPr>
              <a:t>A. Cloud providers allow users to pay as they go.</a:t>
            </a:r>
          </a:p>
          <a:p>
            <a:pPr indent="228600" algn="l" rtl="0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000000"/>
                </a:solidFill>
                <a:latin typeface="+mn-lt"/>
              </a:rPr>
              <a:t>B. Data centers are usually distributed globally.</a:t>
            </a:r>
          </a:p>
          <a:p>
            <a:pPr indent="228600" algn="l" rtl="0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000000"/>
                </a:solidFill>
                <a:latin typeface="+mn-lt"/>
              </a:rPr>
              <a:t>C. Cloud computing is built upon data centers.</a:t>
            </a:r>
          </a:p>
          <a:p>
            <a:pPr indent="228600" algn="l" rtl="0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000000"/>
                </a:solidFill>
                <a:latin typeface="+mn-lt"/>
              </a:rPr>
              <a:t>D. Cooling may not be needed for data centers.</a:t>
            </a:r>
          </a:p>
          <a:p>
            <a:pPr indent="228600" rtl="0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000000"/>
                </a:solidFill>
                <a:latin typeface="+mn-lt"/>
              </a:rPr>
              <a:t> </a:t>
            </a:r>
          </a:p>
          <a:p>
            <a:pPr indent="228600" algn="l" rtl="0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FF0000"/>
                </a:solidFill>
                <a:latin typeface="+mn-lt"/>
              </a:rPr>
              <a:t>Answer: ABC</a:t>
            </a:r>
            <a:endParaRPr lang="en-AU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F838970B-571E-4375-A4B2-7028616C6088}"/>
              </a:ext>
            </a:extLst>
          </p:cNvPr>
          <p:cNvSpPr txBox="1">
            <a:spLocks/>
          </p:cNvSpPr>
          <p:nvPr/>
        </p:nvSpPr>
        <p:spPr>
          <a:xfrm>
            <a:off x="469421" y="259078"/>
            <a:ext cx="1867618" cy="588263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fontAlgn="auto"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</a:pPr>
            <a:r>
              <a:rPr lang="en-AU" sz="2600" dirty="0"/>
              <a:t>Part 2</a:t>
            </a:r>
            <a:endParaRPr lang="en-US" sz="22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61EDA79-5777-4921-BD7B-B71B0A72E078}"/>
              </a:ext>
            </a:extLst>
          </p:cNvPr>
          <p:cNvSpPr txBox="1"/>
          <p:nvPr/>
        </p:nvSpPr>
        <p:spPr>
          <a:xfrm>
            <a:off x="634041" y="3429000"/>
            <a:ext cx="9907437" cy="28315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000000"/>
                </a:solidFill>
                <a:latin typeface="+mn-lt"/>
              </a:rPr>
              <a:t>Which of the following statements are correct in AWS? (Select all that apply)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000000"/>
                </a:solidFill>
                <a:latin typeface="+mn-lt"/>
              </a:rPr>
              <a:t>  A</a:t>
            </a:r>
            <a:r>
              <a:rPr lang="en-AU" dirty="0">
                <a:solidFill>
                  <a:srgbClr val="000000"/>
                </a:solidFill>
                <a:latin typeface="+mn-lt"/>
              </a:rPr>
              <a:t>.</a:t>
            </a:r>
            <a:r>
              <a:rPr lang="zh-CN" altLang="en-US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dirty="0">
                <a:solidFill>
                  <a:srgbClr val="000000"/>
                </a:solidFill>
                <a:latin typeface="+mn-lt"/>
              </a:rPr>
              <a:t>An AWS region has multiple availability zones.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000000"/>
                </a:solidFill>
                <a:latin typeface="+mn-lt"/>
              </a:rPr>
              <a:t>  B. Different zones in the same region are networked with low-latency.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000000"/>
                </a:solidFill>
                <a:latin typeface="+mn-lt"/>
              </a:rPr>
              <a:t>  C. An AWS partition is a group of AWS regions.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000000"/>
                </a:solidFill>
                <a:latin typeface="+mn-lt"/>
              </a:rPr>
              <a:t>  D. By default, two EBS volumes are attached to a to-be-created EC2 instance, i.e., one is used to store the AMI and the other is used to store users’ data and code.</a:t>
            </a:r>
          </a:p>
          <a:p>
            <a:pPr algn="l" rtl="0">
              <a:spcBef>
                <a:spcPts val="1200"/>
              </a:spcBef>
              <a:spcAft>
                <a:spcPts val="1200"/>
              </a:spcAft>
            </a:pPr>
            <a:r>
              <a:rPr lang="en-US" sz="18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 </a:t>
            </a:r>
            <a:endParaRPr lang="en-US" dirty="0">
              <a:solidFill>
                <a:srgbClr val="000000"/>
              </a:solidFill>
              <a:latin typeface="+mn-lt"/>
            </a:endParaRPr>
          </a:p>
          <a:p>
            <a:pPr indent="228600" algn="l" rtl="0">
              <a:spcBef>
                <a:spcPts val="0"/>
              </a:spcBef>
              <a:spcAft>
                <a:spcPts val="0"/>
              </a:spcAft>
            </a:pPr>
            <a:endParaRPr lang="en-US" dirty="0">
              <a:solidFill>
                <a:srgbClr val="000000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58542955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9CC73D1F-F2E4-45BC-99DB-5BD980DEFC5F}"/>
              </a:ext>
            </a:extLst>
          </p:cNvPr>
          <p:cNvSpPr txBox="1"/>
          <p:nvPr/>
        </p:nvSpPr>
        <p:spPr>
          <a:xfrm>
            <a:off x="469421" y="847341"/>
            <a:ext cx="10873595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000000"/>
                </a:solidFill>
                <a:latin typeface="+mn-lt"/>
              </a:rPr>
              <a:t>Which of the following statements are correct in cloud computing? (Select all that apply)</a:t>
            </a:r>
          </a:p>
          <a:p>
            <a:pPr indent="228600" algn="l" rtl="0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000000"/>
                </a:solidFill>
                <a:latin typeface="+mn-lt"/>
              </a:rPr>
              <a:t>A. Cloud providers allow users to pay as they go.</a:t>
            </a:r>
          </a:p>
          <a:p>
            <a:pPr indent="228600" algn="l" rtl="0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000000"/>
                </a:solidFill>
                <a:latin typeface="+mn-lt"/>
              </a:rPr>
              <a:t>B. Data centers are usually distributed globally.</a:t>
            </a:r>
          </a:p>
          <a:p>
            <a:pPr indent="228600" algn="l" rtl="0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000000"/>
                </a:solidFill>
                <a:latin typeface="+mn-lt"/>
              </a:rPr>
              <a:t>C. Cloud computing is built upon data centers.</a:t>
            </a:r>
          </a:p>
          <a:p>
            <a:pPr indent="228600" algn="l" rtl="0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000000"/>
                </a:solidFill>
                <a:latin typeface="+mn-lt"/>
              </a:rPr>
              <a:t>D. Cooling may not be needed for data centers.</a:t>
            </a:r>
          </a:p>
          <a:p>
            <a:pPr indent="228600" rtl="0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000000"/>
                </a:solidFill>
                <a:latin typeface="+mn-lt"/>
              </a:rPr>
              <a:t> </a:t>
            </a:r>
          </a:p>
          <a:p>
            <a:pPr indent="228600" algn="l" rtl="0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FF0000"/>
                </a:solidFill>
                <a:latin typeface="+mn-lt"/>
              </a:rPr>
              <a:t>Answer: ABC</a:t>
            </a:r>
            <a:endParaRPr lang="en-AU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F838970B-571E-4375-A4B2-7028616C6088}"/>
              </a:ext>
            </a:extLst>
          </p:cNvPr>
          <p:cNvSpPr txBox="1">
            <a:spLocks/>
          </p:cNvSpPr>
          <p:nvPr/>
        </p:nvSpPr>
        <p:spPr>
          <a:xfrm>
            <a:off x="469421" y="259078"/>
            <a:ext cx="1867618" cy="588263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fontAlgn="auto"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</a:pPr>
            <a:r>
              <a:rPr lang="en-AU" sz="2600" dirty="0"/>
              <a:t>Part 2</a:t>
            </a:r>
            <a:endParaRPr lang="en-US" sz="22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61EDA79-5777-4921-BD7B-B71B0A72E078}"/>
              </a:ext>
            </a:extLst>
          </p:cNvPr>
          <p:cNvSpPr txBox="1"/>
          <p:nvPr/>
        </p:nvSpPr>
        <p:spPr>
          <a:xfrm>
            <a:off x="634041" y="3546804"/>
            <a:ext cx="9907437" cy="25545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000000"/>
                </a:solidFill>
                <a:latin typeface="+mn-lt"/>
              </a:rPr>
              <a:t>Which of the following statements are correct in AWS? (Select all that apply)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000000"/>
                </a:solidFill>
                <a:latin typeface="+mn-lt"/>
              </a:rPr>
              <a:t>  A</a:t>
            </a:r>
            <a:r>
              <a:rPr lang="en-AU" dirty="0">
                <a:solidFill>
                  <a:srgbClr val="000000"/>
                </a:solidFill>
                <a:latin typeface="+mn-lt"/>
              </a:rPr>
              <a:t>.</a:t>
            </a:r>
            <a:r>
              <a:rPr lang="zh-CN" altLang="en-US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dirty="0">
                <a:solidFill>
                  <a:srgbClr val="000000"/>
                </a:solidFill>
                <a:latin typeface="+mn-lt"/>
              </a:rPr>
              <a:t>An AWS region has multiple availability zones.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000000"/>
                </a:solidFill>
                <a:latin typeface="+mn-lt"/>
              </a:rPr>
              <a:t>  B. Different zones in the same region are networked with low-latency.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000000"/>
                </a:solidFill>
                <a:latin typeface="+mn-lt"/>
              </a:rPr>
              <a:t>  C. An AWS partition is a group of AWS regions.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000000"/>
                </a:solidFill>
                <a:latin typeface="+mn-lt"/>
              </a:rPr>
              <a:t>  D. By default, two EBS volumes are attached to a to-be-created EC2 instance, i.e., one is used to store the AMI and the other is used to store users’ data and code.</a:t>
            </a:r>
          </a:p>
          <a:p>
            <a:pPr indent="228600" algn="l" rtl="0">
              <a:spcBef>
                <a:spcPts val="0"/>
              </a:spcBef>
              <a:spcAft>
                <a:spcPts val="0"/>
              </a:spcAft>
            </a:pPr>
            <a:endParaRPr lang="en-US" dirty="0">
              <a:solidFill>
                <a:srgbClr val="000000"/>
              </a:solidFill>
              <a:latin typeface="+mn-lt"/>
            </a:endParaRPr>
          </a:p>
          <a:p>
            <a:pPr indent="228600" algn="l" rtl="0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FF0000"/>
                </a:solidFill>
                <a:latin typeface="+mn-lt"/>
              </a:rPr>
              <a:t>Answer: ABC</a:t>
            </a:r>
          </a:p>
        </p:txBody>
      </p:sp>
    </p:spTree>
    <p:extLst>
      <p:ext uri="{BB962C8B-B14F-4D97-AF65-F5344CB8AC3E}">
        <p14:creationId xmlns:p14="http://schemas.microsoft.com/office/powerpoint/2010/main" val="294430799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0F0EED76-C82B-4BBD-8245-C65B837D8BFE}"/>
              </a:ext>
            </a:extLst>
          </p:cNvPr>
          <p:cNvSpPr txBox="1"/>
          <p:nvPr/>
        </p:nvSpPr>
        <p:spPr>
          <a:xfrm>
            <a:off x="463671" y="823823"/>
            <a:ext cx="10302095" cy="1631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000000"/>
                </a:solidFill>
                <a:latin typeface="+mn-lt"/>
              </a:rPr>
              <a:t>Which of the following are the types of application architecture? (Select all that apply)</a:t>
            </a:r>
          </a:p>
          <a:p>
            <a:pPr indent="228600" algn="l" rtl="0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000000"/>
                </a:solidFill>
                <a:latin typeface="+mn-lt"/>
              </a:rPr>
              <a:t>A. Monolithic architecture.</a:t>
            </a:r>
          </a:p>
          <a:p>
            <a:pPr indent="228600" algn="l" rtl="0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000000"/>
                </a:solidFill>
                <a:latin typeface="+mn-lt"/>
              </a:rPr>
              <a:t>B. Client/Server architecture.</a:t>
            </a:r>
          </a:p>
          <a:p>
            <a:pPr indent="228600" algn="l" rtl="0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000000"/>
                </a:solidFill>
                <a:latin typeface="+mn-lt"/>
              </a:rPr>
              <a:t>C. Three-tier architecture.</a:t>
            </a:r>
          </a:p>
          <a:p>
            <a:pPr indent="228600" algn="l" rtl="0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000000"/>
                </a:solidFill>
                <a:latin typeface="+mn-lt"/>
              </a:rPr>
              <a:t>D. Cloud-based serverless architecture.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3EDBA29-CD9B-41A3-9A84-F29C68583E3E}"/>
              </a:ext>
            </a:extLst>
          </p:cNvPr>
          <p:cNvSpPr txBox="1">
            <a:spLocks/>
          </p:cNvSpPr>
          <p:nvPr/>
        </p:nvSpPr>
        <p:spPr>
          <a:xfrm>
            <a:off x="463671" y="283005"/>
            <a:ext cx="1867618" cy="588263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fontAlgn="auto"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</a:pPr>
            <a:r>
              <a:rPr lang="en-AU" sz="2600" dirty="0"/>
              <a:t>Part 2</a:t>
            </a:r>
            <a:endParaRPr lang="en-US" sz="2200" dirty="0"/>
          </a:p>
        </p:txBody>
      </p:sp>
    </p:spTree>
    <p:extLst>
      <p:ext uri="{BB962C8B-B14F-4D97-AF65-F5344CB8AC3E}">
        <p14:creationId xmlns:p14="http://schemas.microsoft.com/office/powerpoint/2010/main" val="155612776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0F0EED76-C82B-4BBD-8245-C65B837D8BFE}"/>
              </a:ext>
            </a:extLst>
          </p:cNvPr>
          <p:cNvSpPr txBox="1"/>
          <p:nvPr/>
        </p:nvSpPr>
        <p:spPr>
          <a:xfrm>
            <a:off x="446418" y="961846"/>
            <a:ext cx="10302095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000000"/>
                </a:solidFill>
                <a:latin typeface="+mn-lt"/>
              </a:rPr>
              <a:t>Which of the following are the types of application architecture? (Select all that apply)</a:t>
            </a:r>
          </a:p>
          <a:p>
            <a:pPr indent="228600" algn="l" rtl="0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000000"/>
                </a:solidFill>
                <a:latin typeface="+mn-lt"/>
              </a:rPr>
              <a:t>A. Monolithic architecture.</a:t>
            </a:r>
          </a:p>
          <a:p>
            <a:pPr indent="228600" algn="l" rtl="0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000000"/>
                </a:solidFill>
                <a:latin typeface="+mn-lt"/>
              </a:rPr>
              <a:t>B. Client/Server architecture.</a:t>
            </a:r>
          </a:p>
          <a:p>
            <a:pPr indent="228600" algn="l" rtl="0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000000"/>
                </a:solidFill>
                <a:latin typeface="+mn-lt"/>
              </a:rPr>
              <a:t>C. Three-tier architecture.</a:t>
            </a:r>
          </a:p>
          <a:p>
            <a:pPr indent="228600" algn="l" rtl="0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000000"/>
                </a:solidFill>
                <a:latin typeface="+mn-lt"/>
              </a:rPr>
              <a:t>D. Cloud-based serverless architecture.</a:t>
            </a:r>
          </a:p>
          <a:p>
            <a:pPr indent="228600" algn="l" rtl="0">
              <a:spcBef>
                <a:spcPts val="0"/>
              </a:spcBef>
              <a:spcAft>
                <a:spcPts val="0"/>
              </a:spcAft>
            </a:pPr>
            <a:r>
              <a:rPr lang="en-US" sz="20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 </a:t>
            </a:r>
            <a:endParaRPr lang="en-US" b="0" dirty="0">
              <a:effectLst/>
            </a:endParaRP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FF0000"/>
                </a:solidFill>
                <a:latin typeface="+mn-lt"/>
              </a:rPr>
              <a:t>    Answer: ABCD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B686E1-230D-4229-9661-253860BE6020}"/>
              </a:ext>
            </a:extLst>
          </p:cNvPr>
          <p:cNvSpPr txBox="1">
            <a:spLocks/>
          </p:cNvSpPr>
          <p:nvPr/>
        </p:nvSpPr>
        <p:spPr>
          <a:xfrm>
            <a:off x="509678" y="373583"/>
            <a:ext cx="1867618" cy="588263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fontAlgn="auto"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</a:pPr>
            <a:r>
              <a:rPr lang="en-AU" sz="2600" dirty="0"/>
              <a:t>Part 2</a:t>
            </a:r>
            <a:endParaRPr lang="en-US" sz="22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95D3685-FF03-4DC6-BF5B-3D5C9C29C0B3}"/>
              </a:ext>
            </a:extLst>
          </p:cNvPr>
          <p:cNvSpPr txBox="1"/>
          <p:nvPr/>
        </p:nvSpPr>
        <p:spPr>
          <a:xfrm>
            <a:off x="509678" y="3796878"/>
            <a:ext cx="10614802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000000"/>
                </a:solidFill>
                <a:latin typeface="+mn-lt"/>
              </a:rPr>
              <a:t>Which of the following statements are correct? (Select all that apply)</a:t>
            </a:r>
          </a:p>
          <a:p>
            <a:pPr indent="228600" algn="l" rtl="0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000000"/>
                </a:solidFill>
                <a:latin typeface="+mn-lt"/>
              </a:rPr>
              <a:t>A. OS Memory map translates virtual memory into physical memory.</a:t>
            </a:r>
          </a:p>
          <a:p>
            <a:pPr indent="228600" algn="l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000000"/>
                </a:solidFill>
                <a:latin typeface="+mn-lt"/>
              </a:rPr>
              <a:t>B. VMM Memory map translates guest physical memory into host physical memory.</a:t>
            </a:r>
          </a:p>
          <a:p>
            <a:pPr indent="228600" algn="l" rtl="0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000000"/>
                </a:solidFill>
                <a:latin typeface="+mn-lt"/>
              </a:rPr>
              <a:t>C. The total guest physical memory allocated across all VMs is limited by the amount of physical memory available on the host.</a:t>
            </a:r>
          </a:p>
          <a:p>
            <a:pPr indent="228600" algn="l" rtl="0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000000"/>
                </a:solidFill>
                <a:latin typeface="+mn-lt"/>
              </a:rPr>
              <a:t>D. The number of processes is limited by the number of physical CPUs.</a:t>
            </a:r>
          </a:p>
          <a:p>
            <a:pPr indent="228600" algn="l" rtl="0">
              <a:spcBef>
                <a:spcPts val="0"/>
              </a:spcBef>
              <a:spcAft>
                <a:spcPts val="0"/>
              </a:spcAft>
            </a:pP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18023338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0F0EED76-C82B-4BBD-8245-C65B837D8BFE}"/>
              </a:ext>
            </a:extLst>
          </p:cNvPr>
          <p:cNvSpPr txBox="1"/>
          <p:nvPr/>
        </p:nvSpPr>
        <p:spPr>
          <a:xfrm>
            <a:off x="446418" y="961846"/>
            <a:ext cx="10302095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000000"/>
                </a:solidFill>
                <a:latin typeface="+mn-lt"/>
              </a:rPr>
              <a:t>Which of the following are the types of application architecture? (Select all that apply)</a:t>
            </a:r>
          </a:p>
          <a:p>
            <a:pPr indent="228600" algn="l" rtl="0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000000"/>
                </a:solidFill>
                <a:latin typeface="+mn-lt"/>
              </a:rPr>
              <a:t>A. Monolithic architecture.</a:t>
            </a:r>
          </a:p>
          <a:p>
            <a:pPr indent="228600" algn="l" rtl="0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000000"/>
                </a:solidFill>
                <a:latin typeface="+mn-lt"/>
              </a:rPr>
              <a:t>B. Client/Server architecture.</a:t>
            </a:r>
          </a:p>
          <a:p>
            <a:pPr indent="228600" algn="l" rtl="0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000000"/>
                </a:solidFill>
                <a:latin typeface="+mn-lt"/>
              </a:rPr>
              <a:t>C. Three-tier architecture.</a:t>
            </a:r>
          </a:p>
          <a:p>
            <a:pPr indent="228600" algn="l" rtl="0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000000"/>
                </a:solidFill>
                <a:latin typeface="+mn-lt"/>
              </a:rPr>
              <a:t>D. Cloud-based serverless architecture.</a:t>
            </a:r>
          </a:p>
          <a:p>
            <a:pPr indent="228600" algn="l" rtl="0">
              <a:spcBef>
                <a:spcPts val="0"/>
              </a:spcBef>
              <a:spcAft>
                <a:spcPts val="0"/>
              </a:spcAft>
            </a:pPr>
            <a:r>
              <a:rPr lang="en-US" sz="20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 </a:t>
            </a:r>
            <a:endParaRPr lang="en-US" b="0" dirty="0">
              <a:effectLst/>
            </a:endParaRP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FF0000"/>
                </a:solidFill>
                <a:latin typeface="+mn-lt"/>
              </a:rPr>
              <a:t>    Answer: ABCD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B686E1-230D-4229-9661-253860BE6020}"/>
              </a:ext>
            </a:extLst>
          </p:cNvPr>
          <p:cNvSpPr txBox="1">
            <a:spLocks/>
          </p:cNvSpPr>
          <p:nvPr/>
        </p:nvSpPr>
        <p:spPr>
          <a:xfrm>
            <a:off x="509678" y="373583"/>
            <a:ext cx="1867618" cy="588263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fontAlgn="auto"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</a:pPr>
            <a:r>
              <a:rPr lang="en-AU" sz="2600" dirty="0"/>
              <a:t>Part 2</a:t>
            </a:r>
            <a:endParaRPr lang="en-US" sz="22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C9F25CD-4850-4B0E-99E3-F84197404370}"/>
              </a:ext>
            </a:extLst>
          </p:cNvPr>
          <p:cNvSpPr txBox="1"/>
          <p:nvPr/>
        </p:nvSpPr>
        <p:spPr>
          <a:xfrm>
            <a:off x="509678" y="3276245"/>
            <a:ext cx="10614802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000000"/>
                </a:solidFill>
                <a:latin typeface="+mn-lt"/>
              </a:rPr>
              <a:t>Which of the following statements are correct? (Select all that apply)</a:t>
            </a:r>
          </a:p>
          <a:p>
            <a:pPr indent="228600" algn="l" rtl="0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000000"/>
                </a:solidFill>
                <a:latin typeface="+mn-lt"/>
              </a:rPr>
              <a:t>A. OS Memory map translates virtual memory into physical memory.</a:t>
            </a:r>
          </a:p>
          <a:p>
            <a:pPr indent="228600" algn="l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000000"/>
                </a:solidFill>
                <a:latin typeface="+mn-lt"/>
              </a:rPr>
              <a:t>B. VMM </a:t>
            </a:r>
            <a:r>
              <a:rPr lang="en-US" altLang="zh-CN" dirty="0">
                <a:solidFill>
                  <a:srgbClr val="000000"/>
                </a:solidFill>
                <a:latin typeface="+mn-lt"/>
              </a:rPr>
              <a:t>m</a:t>
            </a:r>
            <a:r>
              <a:rPr lang="en-US" dirty="0">
                <a:solidFill>
                  <a:srgbClr val="000000"/>
                </a:solidFill>
                <a:latin typeface="+mn-lt"/>
              </a:rPr>
              <a:t>emory map translates guest physical memory into host physical memory.</a:t>
            </a:r>
          </a:p>
          <a:p>
            <a:pPr indent="228600" algn="l" rtl="0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000000"/>
                </a:solidFill>
                <a:latin typeface="+mn-lt"/>
              </a:rPr>
              <a:t>C. The total guest physical memory allocated across all VMs is limited by the amount of physical memory available on the host.</a:t>
            </a:r>
          </a:p>
          <a:p>
            <a:pPr indent="228600" algn="l" rtl="0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000000"/>
                </a:solidFill>
                <a:latin typeface="+mn-lt"/>
              </a:rPr>
              <a:t>D. The number of processes is limited by the number of physical CPUs.</a:t>
            </a:r>
          </a:p>
          <a:p>
            <a:pPr indent="228600" algn="l" rtl="0">
              <a:spcBef>
                <a:spcPts val="0"/>
              </a:spcBef>
              <a:spcAft>
                <a:spcPts val="0"/>
              </a:spcAft>
            </a:pPr>
            <a:endParaRPr lang="en-US" dirty="0">
              <a:solidFill>
                <a:srgbClr val="000000"/>
              </a:solidFill>
              <a:latin typeface="+mn-lt"/>
            </a:endParaRPr>
          </a:p>
          <a:p>
            <a:pPr indent="228600" algn="l" rtl="0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FF0000"/>
                </a:solidFill>
                <a:latin typeface="+mn-lt"/>
              </a:rPr>
              <a:t>Answer: AB</a:t>
            </a:r>
            <a:endParaRPr lang="en-US" dirty="0">
              <a:solidFill>
                <a:srgbClr val="000000"/>
              </a:solidFill>
              <a:latin typeface="+mn-lt"/>
            </a:endParaRPr>
          </a:p>
          <a:p>
            <a:pPr indent="228600" algn="l" rtl="0">
              <a:spcBef>
                <a:spcPts val="0"/>
              </a:spcBef>
              <a:spcAft>
                <a:spcPts val="0"/>
              </a:spcAft>
            </a:pP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97943754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5CE2BA23-D316-4CAA-91C7-58F765B920BE}"/>
              </a:ext>
            </a:extLst>
          </p:cNvPr>
          <p:cNvSpPr txBox="1">
            <a:spLocks/>
          </p:cNvSpPr>
          <p:nvPr/>
        </p:nvSpPr>
        <p:spPr>
          <a:xfrm>
            <a:off x="422988" y="121327"/>
            <a:ext cx="1867618" cy="588263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fontAlgn="auto"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</a:pPr>
            <a:r>
              <a:rPr lang="en-AU" sz="2600" dirty="0"/>
              <a:t>Part 2</a:t>
            </a:r>
            <a:endParaRPr lang="en-US" sz="22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47C7FA9-E403-403C-8653-689AF92917FC}"/>
              </a:ext>
            </a:extLst>
          </p:cNvPr>
          <p:cNvSpPr txBox="1"/>
          <p:nvPr/>
        </p:nvSpPr>
        <p:spPr>
          <a:xfrm>
            <a:off x="422988" y="709590"/>
            <a:ext cx="10614802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latin typeface="+mn-lt"/>
              </a:rPr>
              <a:t>Which of the following statements are correct about IAM? (Select all that apply)</a:t>
            </a:r>
          </a:p>
          <a:p>
            <a:pPr indent="228600" algn="l" rtl="0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latin typeface="+mn-lt"/>
              </a:rPr>
              <a:t>A. A principal must be authorized to access AWS resources after being authenticated.</a:t>
            </a:r>
          </a:p>
          <a:p>
            <a:pPr indent="228600" algn="l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latin typeface="+mn-lt"/>
              </a:rPr>
              <a:t>B. </a:t>
            </a:r>
            <a:r>
              <a:rPr lang="en-US" b="0" i="0" dirty="0">
                <a:solidFill>
                  <a:srgbClr val="16191F"/>
                </a:solidFill>
                <a:effectLst/>
                <a:latin typeface="Amazon Ember"/>
              </a:rPr>
              <a:t>An AWS root user account can create many IAM users and grant them access to AWS resources. The root user does not have to share their login credentials</a:t>
            </a:r>
            <a:r>
              <a:rPr lang="en-US" dirty="0">
                <a:latin typeface="+mn-lt"/>
              </a:rPr>
              <a:t>.</a:t>
            </a:r>
          </a:p>
          <a:p>
            <a:pPr indent="228600" algn="l" rtl="0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latin typeface="+mn-lt"/>
              </a:rPr>
              <a:t>C. IAM policies define both permissions for an action and the method used to perform the action.</a:t>
            </a:r>
          </a:p>
          <a:p>
            <a:pPr indent="228600" algn="l" rtl="0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latin typeface="+mn-lt"/>
              </a:rPr>
              <a:t>D. IAM allows fine-grained permissions, e.g., specifying actions that an IAM user or role can perform on specific AWS resources.</a:t>
            </a:r>
          </a:p>
        </p:txBody>
      </p:sp>
    </p:spTree>
    <p:extLst>
      <p:ext uri="{BB962C8B-B14F-4D97-AF65-F5344CB8AC3E}">
        <p14:creationId xmlns:p14="http://schemas.microsoft.com/office/powerpoint/2010/main" val="418568712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F6C215C3-3091-4FD7-A469-01B9381C28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3389" y="196718"/>
            <a:ext cx="1867618" cy="588263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AU" sz="2600" dirty="0"/>
              <a:t>Part 3</a:t>
            </a:r>
            <a:endParaRPr lang="en-US" sz="22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F1719AB-5520-4E75-855B-34E845C5DD6C}"/>
              </a:ext>
            </a:extLst>
          </p:cNvPr>
          <p:cNvSpPr txBox="1"/>
          <p:nvPr/>
        </p:nvSpPr>
        <p:spPr>
          <a:xfrm>
            <a:off x="593389" y="3044279"/>
            <a:ext cx="769717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200" dirty="0">
                <a:latin typeface="+mn-lt"/>
              </a:rPr>
              <a:t>Read the python code snippet above. Explain Line 3 and Line4 and conclude what essential file operation has been performed.</a:t>
            </a:r>
            <a:endParaRPr lang="en-AU" sz="2200" dirty="0">
              <a:latin typeface="+mn-lt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4E49C1B-695C-41AA-BE49-EFDEA6671BB4}"/>
              </a:ext>
            </a:extLst>
          </p:cNvPr>
          <p:cNvSpPr txBox="1"/>
          <p:nvPr/>
        </p:nvSpPr>
        <p:spPr>
          <a:xfrm>
            <a:off x="700069" y="789216"/>
            <a:ext cx="9556474" cy="2074286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 wrap="square">
            <a:spAutoFit/>
          </a:bodyPr>
          <a:lstStyle/>
          <a:p>
            <a:pPr algn="just" fontAlgn="base">
              <a:lnSpc>
                <a:spcPct val="150000"/>
              </a:lnSpc>
            </a:pPr>
            <a:r>
              <a:rPr lang="en-AU" sz="2000" dirty="0">
                <a:effectLst/>
                <a:latin typeface="Calibri" panose="020F0502020204030204" pitchFamily="34" charset="0"/>
                <a:ea typeface="Times New Roman" panose="02020603050405020304" pitchFamily="18" charset="0"/>
              </a:rPr>
              <a:t>1  import boto3</a:t>
            </a:r>
            <a:endParaRPr lang="en-AU" sz="24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algn="just" fontAlgn="base">
              <a:lnSpc>
                <a:spcPct val="150000"/>
              </a:lnSpc>
            </a:pPr>
            <a:r>
              <a:rPr lang="en-AU" sz="2000" dirty="0">
                <a:effectLst/>
                <a:latin typeface="Calibri" panose="020F0502020204030204" pitchFamily="34" charset="0"/>
                <a:ea typeface="Times New Roman" panose="02020603050405020304" pitchFamily="18" charset="0"/>
              </a:rPr>
              <a:t>2  s3_resource = boto3.resource('s3’)</a:t>
            </a:r>
            <a:endParaRPr lang="en-AU" sz="24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algn="just" fontAlgn="base">
              <a:lnSpc>
                <a:spcPct val="150000"/>
              </a:lnSpc>
            </a:pPr>
            <a:r>
              <a:rPr lang="en-AU" dirty="0">
                <a:latin typeface="Calibri" panose="020F0502020204030204" pitchFamily="34" charset="0"/>
                <a:ea typeface="Times New Roman" panose="02020603050405020304" pitchFamily="18" charset="0"/>
              </a:rPr>
              <a:t>3  </a:t>
            </a:r>
            <a:r>
              <a:rPr lang="en-AU" sz="2000" dirty="0">
                <a:effectLst/>
                <a:latin typeface="Calibri" panose="020F0502020204030204" pitchFamily="34" charset="0"/>
                <a:ea typeface="Times New Roman" panose="02020603050405020304" pitchFamily="18" charset="0"/>
              </a:rPr>
              <a:t>s3_resource.Object('bucket-</a:t>
            </a:r>
            <a:r>
              <a:rPr lang="en-AU" sz="2000" dirty="0" err="1">
                <a:effectLst/>
                <a:latin typeface="Calibri" panose="020F0502020204030204" pitchFamily="34" charset="0"/>
                <a:ea typeface="Times New Roman" panose="02020603050405020304" pitchFamily="18" charset="0"/>
              </a:rPr>
              <a:t>mst</a:t>
            </a:r>
            <a:r>
              <a:rPr lang="en-AU" sz="2000" dirty="0">
                <a:effectLst/>
                <a:latin typeface="Calibri" panose="020F0502020204030204" pitchFamily="34" charset="0"/>
                <a:ea typeface="Times New Roman" panose="02020603050405020304" pitchFamily="18" charset="0"/>
              </a:rPr>
              <a:t>', 'A2.txt').</a:t>
            </a:r>
            <a:r>
              <a:rPr lang="en-AU" sz="2000" dirty="0" err="1">
                <a:effectLst/>
                <a:latin typeface="Calibri" panose="020F0502020204030204" pitchFamily="34" charset="0"/>
                <a:ea typeface="Times New Roman" panose="02020603050405020304" pitchFamily="18" charset="0"/>
              </a:rPr>
              <a:t>copy_from</a:t>
            </a:r>
            <a:r>
              <a:rPr lang="en-AU" sz="2000" dirty="0">
                <a:effectLst/>
                <a:latin typeface="Calibri" panose="020F0502020204030204" pitchFamily="34" charset="0"/>
                <a:ea typeface="Times New Roman" panose="02020603050405020304" pitchFamily="18" charset="0"/>
              </a:rPr>
              <a:t>(</a:t>
            </a:r>
            <a:r>
              <a:rPr lang="en-AU" sz="2000" dirty="0" err="1">
                <a:effectLst/>
                <a:latin typeface="Calibri" panose="020F0502020204030204" pitchFamily="34" charset="0"/>
                <a:ea typeface="Times New Roman" panose="02020603050405020304" pitchFamily="18" charset="0"/>
              </a:rPr>
              <a:t>CopySource</a:t>
            </a:r>
            <a:r>
              <a:rPr lang="en-AU" sz="2000" dirty="0">
                <a:effectLst/>
                <a:latin typeface="Calibri" panose="020F0502020204030204" pitchFamily="34" charset="0"/>
                <a:ea typeface="Times New Roman" panose="02020603050405020304" pitchFamily="18" charset="0"/>
              </a:rPr>
              <a:t> ='bucket-</a:t>
            </a:r>
            <a:r>
              <a:rPr lang="en-AU" sz="2000" dirty="0" err="1">
                <a:effectLst/>
                <a:latin typeface="Calibri" panose="020F0502020204030204" pitchFamily="34" charset="0"/>
                <a:ea typeface="Times New Roman" panose="02020603050405020304" pitchFamily="18" charset="0"/>
              </a:rPr>
              <a:t>mst</a:t>
            </a:r>
            <a:r>
              <a:rPr lang="en-AU" sz="2000" dirty="0">
                <a:effectLst/>
                <a:latin typeface="Calibri" panose="020F0502020204030204" pitchFamily="34" charset="0"/>
                <a:ea typeface="Times New Roman" panose="02020603050405020304" pitchFamily="18" charset="0"/>
              </a:rPr>
              <a:t>/A1.txt’)</a:t>
            </a:r>
            <a:endParaRPr lang="en-AU" sz="24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algn="just" fontAlgn="base">
              <a:lnSpc>
                <a:spcPct val="150000"/>
              </a:lnSpc>
            </a:pPr>
            <a:r>
              <a:rPr lang="en-AU" sz="2000" dirty="0">
                <a:effectLst/>
                <a:latin typeface="Calibri" panose="020F0502020204030204" pitchFamily="34" charset="0"/>
                <a:ea typeface="Times New Roman" panose="02020603050405020304" pitchFamily="18" charset="0"/>
              </a:rPr>
              <a:t>4  s3_resource.Object('bucket-</a:t>
            </a:r>
            <a:r>
              <a:rPr lang="en-AU" sz="2000" dirty="0" err="1">
                <a:effectLst/>
                <a:latin typeface="Calibri" panose="020F0502020204030204" pitchFamily="34" charset="0"/>
                <a:ea typeface="Times New Roman" panose="02020603050405020304" pitchFamily="18" charset="0"/>
              </a:rPr>
              <a:t>mst</a:t>
            </a:r>
            <a:r>
              <a:rPr lang="en-AU" sz="2000" dirty="0">
                <a:effectLst/>
                <a:latin typeface="Calibri" panose="020F0502020204030204" pitchFamily="34" charset="0"/>
                <a:ea typeface="Times New Roman" panose="02020603050405020304" pitchFamily="18" charset="0"/>
              </a:rPr>
              <a:t>', 'A1.txt').delete() </a:t>
            </a:r>
            <a:endParaRPr lang="en-AU" sz="24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0071546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F6C215C3-3091-4FD7-A469-01B9381C28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0194" y="200953"/>
            <a:ext cx="1867618" cy="588263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AU" sz="2600" dirty="0"/>
              <a:t>Part 3</a:t>
            </a:r>
            <a:endParaRPr lang="en-US" sz="22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46CFC07-D02E-4EF7-85CC-AD984F73B1A8}"/>
              </a:ext>
            </a:extLst>
          </p:cNvPr>
          <p:cNvSpPr txBox="1"/>
          <p:nvPr/>
        </p:nvSpPr>
        <p:spPr>
          <a:xfrm>
            <a:off x="700069" y="789216"/>
            <a:ext cx="9556474" cy="2074286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 wrap="square">
            <a:spAutoFit/>
          </a:bodyPr>
          <a:lstStyle/>
          <a:p>
            <a:pPr algn="just" fontAlgn="base">
              <a:lnSpc>
                <a:spcPct val="150000"/>
              </a:lnSpc>
            </a:pPr>
            <a:r>
              <a:rPr lang="en-AU" sz="2000" dirty="0">
                <a:effectLst/>
                <a:latin typeface="Calibri" panose="020F0502020204030204" pitchFamily="34" charset="0"/>
                <a:ea typeface="Times New Roman" panose="02020603050405020304" pitchFamily="18" charset="0"/>
              </a:rPr>
              <a:t>1  import boto3</a:t>
            </a:r>
            <a:endParaRPr lang="en-AU" sz="24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algn="just" fontAlgn="base">
              <a:lnSpc>
                <a:spcPct val="150000"/>
              </a:lnSpc>
            </a:pPr>
            <a:r>
              <a:rPr lang="en-AU" sz="2000" dirty="0">
                <a:effectLst/>
                <a:latin typeface="Calibri" panose="020F0502020204030204" pitchFamily="34" charset="0"/>
                <a:ea typeface="Times New Roman" panose="02020603050405020304" pitchFamily="18" charset="0"/>
              </a:rPr>
              <a:t>2  s3_resource = boto3.resource('s3’)</a:t>
            </a:r>
            <a:endParaRPr lang="en-AU" sz="24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algn="just" fontAlgn="base">
              <a:lnSpc>
                <a:spcPct val="150000"/>
              </a:lnSpc>
            </a:pPr>
            <a:r>
              <a:rPr lang="en-AU" dirty="0">
                <a:latin typeface="Calibri" panose="020F0502020204030204" pitchFamily="34" charset="0"/>
                <a:ea typeface="Times New Roman" panose="02020603050405020304" pitchFamily="18" charset="0"/>
              </a:rPr>
              <a:t>3  </a:t>
            </a:r>
            <a:r>
              <a:rPr lang="en-AU" sz="2000" dirty="0">
                <a:effectLst/>
                <a:latin typeface="Calibri" panose="020F0502020204030204" pitchFamily="34" charset="0"/>
                <a:ea typeface="Times New Roman" panose="02020603050405020304" pitchFamily="18" charset="0"/>
              </a:rPr>
              <a:t>s3_resource.Object('bucket-</a:t>
            </a:r>
            <a:r>
              <a:rPr lang="en-AU" sz="2000" dirty="0" err="1">
                <a:effectLst/>
                <a:latin typeface="Calibri" panose="020F0502020204030204" pitchFamily="34" charset="0"/>
                <a:ea typeface="Times New Roman" panose="02020603050405020304" pitchFamily="18" charset="0"/>
              </a:rPr>
              <a:t>mst</a:t>
            </a:r>
            <a:r>
              <a:rPr lang="en-AU" sz="2000" dirty="0">
                <a:effectLst/>
                <a:latin typeface="Calibri" panose="020F0502020204030204" pitchFamily="34" charset="0"/>
                <a:ea typeface="Times New Roman" panose="02020603050405020304" pitchFamily="18" charset="0"/>
              </a:rPr>
              <a:t>', 'A2.txt').</a:t>
            </a:r>
            <a:r>
              <a:rPr lang="en-AU" sz="2000" dirty="0" err="1">
                <a:effectLst/>
                <a:latin typeface="Calibri" panose="020F0502020204030204" pitchFamily="34" charset="0"/>
                <a:ea typeface="Times New Roman" panose="02020603050405020304" pitchFamily="18" charset="0"/>
              </a:rPr>
              <a:t>copy_from</a:t>
            </a:r>
            <a:r>
              <a:rPr lang="en-AU" sz="2000" dirty="0">
                <a:effectLst/>
                <a:latin typeface="Calibri" panose="020F0502020204030204" pitchFamily="34" charset="0"/>
                <a:ea typeface="Times New Roman" panose="02020603050405020304" pitchFamily="18" charset="0"/>
              </a:rPr>
              <a:t>(</a:t>
            </a:r>
            <a:r>
              <a:rPr lang="en-AU" sz="2000" dirty="0" err="1">
                <a:effectLst/>
                <a:latin typeface="Calibri" panose="020F0502020204030204" pitchFamily="34" charset="0"/>
                <a:ea typeface="Times New Roman" panose="02020603050405020304" pitchFamily="18" charset="0"/>
              </a:rPr>
              <a:t>CopySource</a:t>
            </a:r>
            <a:r>
              <a:rPr lang="en-AU" sz="2000" dirty="0">
                <a:effectLst/>
                <a:latin typeface="Calibri" panose="020F0502020204030204" pitchFamily="34" charset="0"/>
                <a:ea typeface="Times New Roman" panose="02020603050405020304" pitchFamily="18" charset="0"/>
              </a:rPr>
              <a:t> ='bucket-</a:t>
            </a:r>
            <a:r>
              <a:rPr lang="en-AU" sz="2000" dirty="0" err="1">
                <a:effectLst/>
                <a:latin typeface="Calibri" panose="020F0502020204030204" pitchFamily="34" charset="0"/>
                <a:ea typeface="Times New Roman" panose="02020603050405020304" pitchFamily="18" charset="0"/>
              </a:rPr>
              <a:t>mst</a:t>
            </a:r>
            <a:r>
              <a:rPr lang="en-AU" sz="2000" dirty="0">
                <a:effectLst/>
                <a:latin typeface="Calibri" panose="020F0502020204030204" pitchFamily="34" charset="0"/>
                <a:ea typeface="Times New Roman" panose="02020603050405020304" pitchFamily="18" charset="0"/>
              </a:rPr>
              <a:t>/A1.txt’)</a:t>
            </a:r>
            <a:endParaRPr lang="en-AU" sz="24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algn="just" fontAlgn="base">
              <a:lnSpc>
                <a:spcPct val="150000"/>
              </a:lnSpc>
            </a:pPr>
            <a:r>
              <a:rPr lang="en-AU" sz="2000" dirty="0">
                <a:effectLst/>
                <a:latin typeface="Calibri" panose="020F0502020204030204" pitchFamily="34" charset="0"/>
                <a:ea typeface="Times New Roman" panose="02020603050405020304" pitchFamily="18" charset="0"/>
              </a:rPr>
              <a:t>4  s3_resource.Object('bucket-</a:t>
            </a:r>
            <a:r>
              <a:rPr lang="en-AU" sz="2000" dirty="0" err="1">
                <a:effectLst/>
                <a:latin typeface="Calibri" panose="020F0502020204030204" pitchFamily="34" charset="0"/>
                <a:ea typeface="Times New Roman" panose="02020603050405020304" pitchFamily="18" charset="0"/>
              </a:rPr>
              <a:t>mst</a:t>
            </a:r>
            <a:r>
              <a:rPr lang="en-AU" sz="2000" dirty="0">
                <a:effectLst/>
                <a:latin typeface="Calibri" panose="020F0502020204030204" pitchFamily="34" charset="0"/>
                <a:ea typeface="Times New Roman" panose="02020603050405020304" pitchFamily="18" charset="0"/>
              </a:rPr>
              <a:t>', 'A1.txt').delete() </a:t>
            </a:r>
            <a:endParaRPr lang="en-AU" sz="24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10B32205-06D1-4686-8760-E67E157DDA54}"/>
              </a:ext>
            </a:extLst>
          </p:cNvPr>
          <p:cNvSpPr txBox="1">
            <a:spLocks/>
          </p:cNvSpPr>
          <p:nvPr/>
        </p:nvSpPr>
        <p:spPr>
          <a:xfrm>
            <a:off x="444037" y="3429000"/>
            <a:ext cx="9157164" cy="207428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0" algn="l" rtl="0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sz="2000" dirty="0">
                <a:solidFill>
                  <a:srgbClr val="FF0000"/>
                </a:solidFill>
              </a:rPr>
              <a:t>Answer</a:t>
            </a:r>
          </a:p>
          <a:p>
            <a:pPr indent="0" algn="l" rtl="0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sz="2000" dirty="0"/>
              <a:t>Line 3 copies the object named 'A1.txt' from the 'bucket-</a:t>
            </a:r>
            <a:r>
              <a:rPr lang="en-US" sz="2000" dirty="0" err="1"/>
              <a:t>mst</a:t>
            </a:r>
            <a:r>
              <a:rPr lang="en-US" sz="2000" dirty="0"/>
              <a:t>' bucket to a new object named 'A2.txt' within the same bucket. </a:t>
            </a:r>
          </a:p>
          <a:p>
            <a:pPr indent="0" algn="l" rtl="0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sz="2000" dirty="0"/>
              <a:t>Line 4 deletes 'A1.txt' from the 'bucket-</a:t>
            </a:r>
            <a:r>
              <a:rPr lang="en-US" sz="2000" dirty="0" err="1"/>
              <a:t>mst</a:t>
            </a:r>
            <a:r>
              <a:rPr lang="en-US" sz="2000" dirty="0"/>
              <a:t>' bucket. </a:t>
            </a:r>
          </a:p>
          <a:p>
            <a:pPr indent="0" algn="l" rtl="0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sz="2000" dirty="0"/>
              <a:t>The </a:t>
            </a:r>
            <a:r>
              <a:rPr lang="en-US" altLang="zh-CN" sz="2000" dirty="0"/>
              <a:t>essential </a:t>
            </a:r>
            <a:r>
              <a:rPr lang="en-US" sz="2000" dirty="0"/>
              <a:t>operation is to rename the object from A1.txt to A2.txt.</a:t>
            </a:r>
          </a:p>
        </p:txBody>
      </p:sp>
    </p:spTree>
    <p:extLst>
      <p:ext uri="{BB962C8B-B14F-4D97-AF65-F5344CB8AC3E}">
        <p14:creationId xmlns:p14="http://schemas.microsoft.com/office/powerpoint/2010/main" val="279589597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F6C215C3-3091-4FD7-A469-01B9381C28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3389" y="196718"/>
            <a:ext cx="1867618" cy="588263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AU" sz="2600" dirty="0"/>
              <a:t>Part 3</a:t>
            </a:r>
            <a:endParaRPr lang="en-US" sz="22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F1719AB-5520-4E75-855B-34E845C5DD6C}"/>
              </a:ext>
            </a:extLst>
          </p:cNvPr>
          <p:cNvSpPr txBox="1"/>
          <p:nvPr/>
        </p:nvSpPr>
        <p:spPr>
          <a:xfrm>
            <a:off x="593389" y="746990"/>
            <a:ext cx="858952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US" sz="2200" dirty="0">
                <a:latin typeface="+mn-lt"/>
              </a:rPr>
              <a:t>Read the following JSON code snippet and explain what it does based on Effect, Principal, Action, Resource and Condition.</a:t>
            </a:r>
            <a:endParaRPr lang="en-AU" sz="2200" dirty="0">
              <a:latin typeface="+mn-lt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1B5BE04-51BF-4016-9034-ED6154714361}"/>
              </a:ext>
            </a:extLst>
          </p:cNvPr>
          <p:cNvSpPr txBox="1"/>
          <p:nvPr/>
        </p:nvSpPr>
        <p:spPr>
          <a:xfrm>
            <a:off x="810231" y="1660561"/>
            <a:ext cx="5858584" cy="4702826"/>
          </a:xfrm>
          <a:prstGeom prst="rect">
            <a:avLst/>
          </a:prstGeom>
          <a:solidFill>
            <a:schemeClr val="bg1">
              <a:lumMod val="85000"/>
              <a:alpha val="3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49213" lvl="2" algn="l"/>
            <a:r>
              <a:rPr lang="en-US" sz="1400" dirty="0">
                <a:latin typeface="+mn-lt"/>
              </a:rPr>
              <a:t>{</a:t>
            </a:r>
          </a:p>
          <a:p>
            <a:pPr marL="49213" lvl="2" algn="l"/>
            <a:r>
              <a:rPr lang="en-US" sz="1400" dirty="0">
                <a:latin typeface="+mn-lt"/>
              </a:rPr>
              <a:t>    "Version": "2012-10-17",</a:t>
            </a:r>
          </a:p>
          <a:p>
            <a:pPr marL="49213" lvl="2" algn="l"/>
            <a:r>
              <a:rPr lang="en-US" sz="1400" dirty="0">
                <a:latin typeface="+mn-lt"/>
              </a:rPr>
              <a:t>    "Statement": [</a:t>
            </a:r>
          </a:p>
          <a:p>
            <a:pPr marL="49213" lvl="2" algn="l"/>
            <a:r>
              <a:rPr lang="en-US" sz="1400" dirty="0">
                <a:latin typeface="+mn-lt"/>
              </a:rPr>
              <a:t>        {</a:t>
            </a:r>
          </a:p>
          <a:p>
            <a:pPr marL="49213" lvl="2" algn="l"/>
            <a:r>
              <a:rPr lang="en-US" sz="1400" dirty="0">
                <a:latin typeface="+mn-lt"/>
              </a:rPr>
              <a:t>            "Effect": “Allow",</a:t>
            </a:r>
          </a:p>
          <a:p>
            <a:pPr marL="49213" lvl="2" algn="l"/>
            <a:r>
              <a:rPr lang="en-US" sz="1400" dirty="0">
                <a:latin typeface="+mn-lt"/>
              </a:rPr>
              <a:t>            "Principal": {</a:t>
            </a:r>
          </a:p>
          <a:p>
            <a:pPr marL="49213" lvl="2" algn="l"/>
            <a:r>
              <a:rPr lang="en-US" sz="1400" dirty="0">
                <a:latin typeface="+mn-lt"/>
              </a:rPr>
              <a:t>	         "AWS": "</a:t>
            </a:r>
            <a:r>
              <a:rPr lang="en-US" sz="1400" dirty="0" err="1">
                <a:latin typeface="+mn-lt"/>
              </a:rPr>
              <a:t>arn</a:t>
            </a:r>
            <a:r>
              <a:rPr lang="en-US" sz="1400" dirty="0">
                <a:latin typeface="+mn-lt"/>
              </a:rPr>
              <a:t>: </a:t>
            </a:r>
            <a:r>
              <a:rPr lang="en-US" sz="1400" dirty="0" err="1">
                <a:latin typeface="+mn-lt"/>
              </a:rPr>
              <a:t>aws</a:t>
            </a:r>
            <a:r>
              <a:rPr lang="en-US" sz="1400" dirty="0">
                <a:latin typeface="+mn-lt"/>
              </a:rPr>
              <a:t>: </a:t>
            </a:r>
            <a:r>
              <a:rPr lang="en-US" sz="1400" dirty="0" err="1">
                <a:latin typeface="+mn-lt"/>
              </a:rPr>
              <a:t>iam</a:t>
            </a:r>
            <a:r>
              <a:rPr lang="en-US" sz="1400" dirty="0">
                <a:latin typeface="+mn-lt"/>
              </a:rPr>
              <a:t>: :12345:user/</a:t>
            </a:r>
            <a:r>
              <a:rPr lang="en-US" sz="1400" dirty="0" err="1">
                <a:latin typeface="+mn-lt"/>
              </a:rPr>
              <a:t>dave</a:t>
            </a:r>
            <a:r>
              <a:rPr lang="en-US" sz="1400" dirty="0">
                <a:latin typeface="+mn-lt"/>
              </a:rPr>
              <a:t>"</a:t>
            </a:r>
          </a:p>
          <a:p>
            <a:pPr marL="49213" lvl="2" algn="l"/>
            <a:r>
              <a:rPr lang="en-US" sz="1400" dirty="0">
                <a:latin typeface="+mn-lt"/>
              </a:rPr>
              <a:t>             },</a:t>
            </a:r>
          </a:p>
          <a:p>
            <a:pPr marL="49213" lvl="2" algn="l"/>
            <a:r>
              <a:rPr lang="en-US" sz="1400" dirty="0">
                <a:latin typeface="+mn-lt"/>
              </a:rPr>
              <a:t>            "Action": "*",</a:t>
            </a:r>
          </a:p>
          <a:p>
            <a:pPr marL="49213" lvl="2" algn="l"/>
            <a:r>
              <a:rPr lang="en-US" sz="1400" dirty="0">
                <a:latin typeface="+mn-lt"/>
              </a:rPr>
              <a:t>            "Resource": "*",	</a:t>
            </a:r>
          </a:p>
          <a:p>
            <a:pPr marL="49213" lvl="2" algn="l"/>
            <a:r>
              <a:rPr lang="en-US" sz="1400" dirty="0">
                <a:latin typeface="+mn-lt"/>
              </a:rPr>
              <a:t>            "Condition": {</a:t>
            </a:r>
          </a:p>
          <a:p>
            <a:pPr marL="49213" lvl="2" algn="l"/>
            <a:r>
              <a:rPr lang="en-US" sz="1400" dirty="0">
                <a:latin typeface="+mn-lt"/>
              </a:rPr>
              <a:t>		"</a:t>
            </a:r>
            <a:r>
              <a:rPr lang="en-US" sz="1400" dirty="0" err="1">
                <a:latin typeface="+mn-lt"/>
              </a:rPr>
              <a:t>IpAddress</a:t>
            </a:r>
            <a:r>
              <a:rPr lang="en-US" sz="1400" dirty="0">
                <a:latin typeface="+mn-lt"/>
              </a:rPr>
              <a:t>": {</a:t>
            </a:r>
          </a:p>
          <a:p>
            <a:pPr marL="49213" lvl="2" algn="l"/>
            <a:r>
              <a:rPr lang="en-US" sz="1400" dirty="0">
                <a:latin typeface="+mn-lt"/>
              </a:rPr>
              <a:t>			"</a:t>
            </a:r>
            <a:r>
              <a:rPr lang="en-US" sz="1400" dirty="0" err="1">
                <a:latin typeface="+mn-lt"/>
              </a:rPr>
              <a:t>aws</a:t>
            </a:r>
            <a:r>
              <a:rPr lang="en-US" sz="1400" dirty="0">
                <a:latin typeface="+mn-lt"/>
              </a:rPr>
              <a:t>: </a:t>
            </a:r>
            <a:r>
              <a:rPr lang="en-US" sz="1400" dirty="0" err="1">
                <a:latin typeface="+mn-lt"/>
              </a:rPr>
              <a:t>SourceIp</a:t>
            </a:r>
            <a:r>
              <a:rPr lang="en-US" sz="1400" dirty="0">
                <a:latin typeface="+mn-lt"/>
              </a:rPr>
              <a:t>": "192.168.110.110"</a:t>
            </a:r>
          </a:p>
          <a:p>
            <a:pPr marL="49213" lvl="2" algn="l"/>
            <a:r>
              <a:rPr lang="en-US" sz="1400" dirty="0">
                <a:latin typeface="+mn-lt"/>
              </a:rPr>
              <a:t>		}</a:t>
            </a:r>
          </a:p>
          <a:p>
            <a:pPr marL="49213" lvl="2" algn="l"/>
            <a:r>
              <a:rPr lang="en-US" sz="1400" dirty="0">
                <a:latin typeface="+mn-lt"/>
              </a:rPr>
              <a:t>	}</a:t>
            </a:r>
          </a:p>
          <a:p>
            <a:pPr marL="49213" lvl="2" algn="l"/>
            <a:r>
              <a:rPr lang="en-US" sz="1400" dirty="0">
                <a:latin typeface="+mn-lt"/>
              </a:rPr>
              <a:t>        }</a:t>
            </a:r>
          </a:p>
          <a:p>
            <a:pPr marL="49213" lvl="2" algn="l"/>
            <a:r>
              <a:rPr lang="en-US" sz="1400" dirty="0">
                <a:latin typeface="+mn-lt"/>
              </a:rPr>
              <a:t>    ]</a:t>
            </a:r>
          </a:p>
          <a:p>
            <a:pPr marL="49213" lvl="2" algn="l"/>
            <a:r>
              <a:rPr lang="en-US" sz="1400" dirty="0">
                <a:latin typeface="+mn-lt"/>
              </a:rPr>
              <a:t>}</a:t>
            </a:r>
            <a:endParaRPr lang="en-US" sz="2400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35290104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F6C215C3-3091-4FD7-A469-01B9381C28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3389" y="196718"/>
            <a:ext cx="1867618" cy="588263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AU" sz="2600" dirty="0"/>
              <a:t>Part 3</a:t>
            </a:r>
            <a:endParaRPr lang="en-US" sz="22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F1719AB-5520-4E75-855B-34E845C5DD6C}"/>
              </a:ext>
            </a:extLst>
          </p:cNvPr>
          <p:cNvSpPr txBox="1"/>
          <p:nvPr/>
        </p:nvSpPr>
        <p:spPr>
          <a:xfrm>
            <a:off x="593389" y="746990"/>
            <a:ext cx="858952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US" sz="2200" dirty="0">
                <a:latin typeface="+mn-lt"/>
              </a:rPr>
              <a:t>Read the following JSON code snippet and explain what it does based on Effect, Principal, Action, Resource and Condition.</a:t>
            </a:r>
            <a:endParaRPr lang="en-AU" sz="2200" dirty="0">
              <a:latin typeface="+mn-lt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1B5BE04-51BF-4016-9034-ED6154714361}"/>
              </a:ext>
            </a:extLst>
          </p:cNvPr>
          <p:cNvSpPr txBox="1"/>
          <p:nvPr/>
        </p:nvSpPr>
        <p:spPr>
          <a:xfrm>
            <a:off x="810231" y="1660561"/>
            <a:ext cx="5858584" cy="4702826"/>
          </a:xfrm>
          <a:prstGeom prst="rect">
            <a:avLst/>
          </a:prstGeom>
          <a:solidFill>
            <a:schemeClr val="bg1">
              <a:lumMod val="85000"/>
              <a:alpha val="3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49213" lvl="2" algn="l"/>
            <a:r>
              <a:rPr lang="en-US" sz="1400" dirty="0">
                <a:latin typeface="+mn-lt"/>
              </a:rPr>
              <a:t>{</a:t>
            </a:r>
          </a:p>
          <a:p>
            <a:pPr marL="49213" lvl="2" algn="l"/>
            <a:r>
              <a:rPr lang="en-US" sz="1400" dirty="0">
                <a:latin typeface="+mn-lt"/>
              </a:rPr>
              <a:t>    "Version": "2012-10-17",</a:t>
            </a:r>
          </a:p>
          <a:p>
            <a:pPr marL="49213" lvl="2" algn="l"/>
            <a:r>
              <a:rPr lang="en-US" sz="1400" dirty="0">
                <a:latin typeface="+mn-lt"/>
              </a:rPr>
              <a:t>    "Statement": [</a:t>
            </a:r>
          </a:p>
          <a:p>
            <a:pPr marL="49213" lvl="2" algn="l"/>
            <a:r>
              <a:rPr lang="en-US" sz="1400" dirty="0">
                <a:latin typeface="+mn-lt"/>
              </a:rPr>
              <a:t>        {</a:t>
            </a:r>
          </a:p>
          <a:p>
            <a:pPr marL="49213" lvl="2" algn="l"/>
            <a:r>
              <a:rPr lang="en-US" sz="1400" dirty="0">
                <a:latin typeface="+mn-lt"/>
              </a:rPr>
              <a:t>            "Effect": “Allow",</a:t>
            </a:r>
          </a:p>
          <a:p>
            <a:pPr marL="49213" lvl="2" algn="l"/>
            <a:r>
              <a:rPr lang="en-US" sz="1400" dirty="0">
                <a:latin typeface="+mn-lt"/>
              </a:rPr>
              <a:t>            "Principal": {</a:t>
            </a:r>
          </a:p>
          <a:p>
            <a:pPr marL="49213" lvl="2" algn="l"/>
            <a:r>
              <a:rPr lang="en-US" sz="1400" dirty="0">
                <a:latin typeface="+mn-lt"/>
              </a:rPr>
              <a:t>	         "AWS": "</a:t>
            </a:r>
            <a:r>
              <a:rPr lang="en-US" sz="1400" dirty="0" err="1">
                <a:latin typeface="+mn-lt"/>
              </a:rPr>
              <a:t>arn</a:t>
            </a:r>
            <a:r>
              <a:rPr lang="en-US" sz="1400" dirty="0">
                <a:latin typeface="+mn-lt"/>
              </a:rPr>
              <a:t>: </a:t>
            </a:r>
            <a:r>
              <a:rPr lang="en-US" sz="1400" dirty="0" err="1">
                <a:latin typeface="+mn-lt"/>
              </a:rPr>
              <a:t>aws</a:t>
            </a:r>
            <a:r>
              <a:rPr lang="en-US" sz="1400" dirty="0">
                <a:latin typeface="+mn-lt"/>
              </a:rPr>
              <a:t>: </a:t>
            </a:r>
            <a:r>
              <a:rPr lang="en-US" sz="1400" dirty="0" err="1">
                <a:latin typeface="+mn-lt"/>
              </a:rPr>
              <a:t>iam</a:t>
            </a:r>
            <a:r>
              <a:rPr lang="en-US" sz="1400" dirty="0">
                <a:latin typeface="+mn-lt"/>
              </a:rPr>
              <a:t>: :12345:user/</a:t>
            </a:r>
            <a:r>
              <a:rPr lang="en-US" sz="1400" dirty="0" err="1">
                <a:latin typeface="+mn-lt"/>
              </a:rPr>
              <a:t>dave</a:t>
            </a:r>
            <a:r>
              <a:rPr lang="en-US" sz="1400" dirty="0">
                <a:latin typeface="+mn-lt"/>
              </a:rPr>
              <a:t>"</a:t>
            </a:r>
          </a:p>
          <a:p>
            <a:pPr marL="49213" lvl="2" algn="l"/>
            <a:r>
              <a:rPr lang="en-US" sz="1400" dirty="0">
                <a:latin typeface="+mn-lt"/>
              </a:rPr>
              <a:t>             },</a:t>
            </a:r>
          </a:p>
          <a:p>
            <a:pPr marL="49213" lvl="2" algn="l"/>
            <a:r>
              <a:rPr lang="en-US" sz="1400" dirty="0">
                <a:latin typeface="+mn-lt"/>
              </a:rPr>
              <a:t>            "Action": "*",</a:t>
            </a:r>
          </a:p>
          <a:p>
            <a:pPr marL="49213" lvl="2" algn="l"/>
            <a:r>
              <a:rPr lang="en-US" sz="1400" dirty="0">
                <a:latin typeface="+mn-lt"/>
              </a:rPr>
              <a:t>            "Resource": "*",	</a:t>
            </a:r>
          </a:p>
          <a:p>
            <a:pPr marL="49213" lvl="2" algn="l"/>
            <a:r>
              <a:rPr lang="en-US" sz="1400" dirty="0">
                <a:latin typeface="+mn-lt"/>
              </a:rPr>
              <a:t>            "Condition": {</a:t>
            </a:r>
          </a:p>
          <a:p>
            <a:pPr marL="49213" lvl="2" algn="l"/>
            <a:r>
              <a:rPr lang="en-US" sz="1400" dirty="0">
                <a:latin typeface="+mn-lt"/>
              </a:rPr>
              <a:t>		"</a:t>
            </a:r>
            <a:r>
              <a:rPr lang="en-US" sz="1400" dirty="0" err="1">
                <a:latin typeface="+mn-lt"/>
              </a:rPr>
              <a:t>IpAddress</a:t>
            </a:r>
            <a:r>
              <a:rPr lang="en-US" sz="1400" dirty="0">
                <a:latin typeface="+mn-lt"/>
              </a:rPr>
              <a:t>": {</a:t>
            </a:r>
          </a:p>
          <a:p>
            <a:pPr marL="49213" lvl="2" algn="l"/>
            <a:r>
              <a:rPr lang="en-US" sz="1400" dirty="0">
                <a:latin typeface="+mn-lt"/>
              </a:rPr>
              <a:t>			"</a:t>
            </a:r>
            <a:r>
              <a:rPr lang="en-US" sz="1400" dirty="0" err="1">
                <a:latin typeface="+mn-lt"/>
              </a:rPr>
              <a:t>aws</a:t>
            </a:r>
            <a:r>
              <a:rPr lang="en-US" sz="1400" dirty="0">
                <a:latin typeface="+mn-lt"/>
              </a:rPr>
              <a:t>: </a:t>
            </a:r>
            <a:r>
              <a:rPr lang="en-US" sz="1400" dirty="0" err="1">
                <a:latin typeface="+mn-lt"/>
              </a:rPr>
              <a:t>SourceIp</a:t>
            </a:r>
            <a:r>
              <a:rPr lang="en-US" sz="1400" dirty="0">
                <a:latin typeface="+mn-lt"/>
              </a:rPr>
              <a:t>": "192.168.110.110"</a:t>
            </a:r>
          </a:p>
          <a:p>
            <a:pPr marL="49213" lvl="2" algn="l"/>
            <a:r>
              <a:rPr lang="en-US" sz="1400" dirty="0">
                <a:latin typeface="+mn-lt"/>
              </a:rPr>
              <a:t>		}</a:t>
            </a:r>
          </a:p>
          <a:p>
            <a:pPr marL="49213" lvl="2" algn="l"/>
            <a:r>
              <a:rPr lang="en-US" sz="1400" dirty="0">
                <a:latin typeface="+mn-lt"/>
              </a:rPr>
              <a:t>	}</a:t>
            </a:r>
          </a:p>
          <a:p>
            <a:pPr marL="49213" lvl="2" algn="l"/>
            <a:r>
              <a:rPr lang="en-US" sz="1400" dirty="0">
                <a:latin typeface="+mn-lt"/>
              </a:rPr>
              <a:t>        }</a:t>
            </a:r>
          </a:p>
          <a:p>
            <a:pPr marL="49213" lvl="2" algn="l"/>
            <a:r>
              <a:rPr lang="en-US" sz="1400" dirty="0">
                <a:latin typeface="+mn-lt"/>
              </a:rPr>
              <a:t>    ]</a:t>
            </a:r>
          </a:p>
          <a:p>
            <a:pPr marL="49213" lvl="2" algn="l"/>
            <a:r>
              <a:rPr lang="en-US" sz="1400" dirty="0">
                <a:latin typeface="+mn-lt"/>
              </a:rPr>
              <a:t>}</a:t>
            </a:r>
            <a:endParaRPr lang="en-US" sz="2400" dirty="0">
              <a:latin typeface="+mn-lt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FD0491C-6FA3-4898-9683-7538DA5F9A41}"/>
              </a:ext>
            </a:extLst>
          </p:cNvPr>
          <p:cNvSpPr txBox="1"/>
          <p:nvPr/>
        </p:nvSpPr>
        <p:spPr>
          <a:xfrm>
            <a:off x="6436272" y="2211481"/>
            <a:ext cx="5261741" cy="29238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algn="just" rtl="0">
              <a:spcBef>
                <a:spcPts val="1200"/>
              </a:spcBef>
              <a:spcAft>
                <a:spcPts val="1200"/>
              </a:spcAft>
            </a:pPr>
            <a:r>
              <a:rPr lang="en-US" sz="2200" dirty="0">
                <a:solidFill>
                  <a:srgbClr val="FF0000"/>
                </a:solidFill>
                <a:latin typeface="+mn-lt"/>
              </a:rPr>
              <a:t>Answer keys</a:t>
            </a:r>
          </a:p>
          <a:p>
            <a:pPr marL="457200" algn="l" rtl="0">
              <a:spcBef>
                <a:spcPts val="1200"/>
              </a:spcBef>
              <a:spcAft>
                <a:spcPts val="1200"/>
              </a:spcAft>
            </a:pPr>
            <a:r>
              <a:rPr lang="en-US" sz="2200" dirty="0">
                <a:latin typeface="+mn-lt"/>
              </a:rPr>
              <a:t>This policy </a:t>
            </a:r>
            <a:r>
              <a:rPr lang="en-US" sz="2200" b="1" dirty="0">
                <a:latin typeface="+mn-lt"/>
              </a:rPr>
              <a:t>allows</a:t>
            </a:r>
            <a:r>
              <a:rPr lang="en-US" sz="2200" dirty="0">
                <a:latin typeface="+mn-lt"/>
              </a:rPr>
              <a:t> a specific IAM user named (</a:t>
            </a:r>
            <a:r>
              <a:rPr lang="en-US" sz="2200" b="1" dirty="0" err="1">
                <a:latin typeface="+mn-lt"/>
              </a:rPr>
              <a:t>dave</a:t>
            </a:r>
            <a:r>
              <a:rPr lang="en-US" sz="2200" dirty="0">
                <a:latin typeface="+mn-lt"/>
              </a:rPr>
              <a:t>) to do </a:t>
            </a:r>
            <a:r>
              <a:rPr lang="en-US" sz="2200" b="1" dirty="0">
                <a:latin typeface="+mn-lt"/>
              </a:rPr>
              <a:t>any </a:t>
            </a:r>
            <a:r>
              <a:rPr lang="en-US" sz="2200" dirty="0">
                <a:latin typeface="+mn-lt"/>
              </a:rPr>
              <a:t>action on </a:t>
            </a:r>
            <a:r>
              <a:rPr lang="en-US" sz="2200" b="1" dirty="0">
                <a:latin typeface="+mn-lt"/>
              </a:rPr>
              <a:t>any</a:t>
            </a:r>
            <a:r>
              <a:rPr lang="en-US" sz="2200" dirty="0">
                <a:latin typeface="+mn-lt"/>
              </a:rPr>
              <a:t> (AWS) resources </a:t>
            </a:r>
            <a:r>
              <a:rPr lang="en-US" sz="2200" b="1" dirty="0">
                <a:latin typeface="+mn-lt"/>
              </a:rPr>
              <a:t>from</a:t>
            </a:r>
            <a:r>
              <a:rPr lang="en-US" sz="2200" dirty="0">
                <a:latin typeface="+mn-lt"/>
              </a:rPr>
              <a:t> a specific IP address of </a:t>
            </a:r>
            <a:r>
              <a:rPr lang="en-US" sz="2200" b="1" dirty="0">
                <a:latin typeface="+mn-lt"/>
              </a:rPr>
              <a:t>192.168.110.110</a:t>
            </a:r>
            <a:r>
              <a:rPr lang="en-US" sz="2200" dirty="0">
                <a:latin typeface="+mn-lt"/>
              </a:rPr>
              <a:t>.</a:t>
            </a:r>
          </a:p>
          <a:p>
            <a:br>
              <a:rPr lang="en-US" dirty="0"/>
            </a:b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99922970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4">
            <a:extLst>
              <a:ext uri="{FF2B5EF4-FFF2-40B4-BE49-F238E27FC236}">
                <a16:creationId xmlns:a16="http://schemas.microsoft.com/office/drawing/2014/main" id="{8626BF48-081B-4DC9-853C-01F03540A98F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9600" y="824901"/>
            <a:ext cx="6507480" cy="40011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en-US" dirty="0">
                <a:latin typeface="+mn-lt"/>
              </a:rPr>
              <a:t>Read the code snippet below.</a:t>
            </a: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FBA02F26-1BED-44BE-BC72-6C90DFE8FE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" y="236638"/>
            <a:ext cx="1867618" cy="588263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AU" sz="2600" dirty="0"/>
              <a:t>Part 3</a:t>
            </a:r>
            <a:endParaRPr lang="en-US" sz="22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049A220-4BBA-4001-A56E-A715DBE3D0F4}"/>
              </a:ext>
            </a:extLst>
          </p:cNvPr>
          <p:cNvSpPr txBox="1"/>
          <p:nvPr/>
        </p:nvSpPr>
        <p:spPr>
          <a:xfrm>
            <a:off x="1199248" y="1416721"/>
            <a:ext cx="9297118" cy="2031325"/>
          </a:xfrm>
          <a:prstGeom prst="rect">
            <a:avLst/>
          </a:prstGeom>
          <a:solidFill>
            <a:schemeClr val="bg1">
              <a:lumMod val="85000"/>
              <a:alpha val="30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pPr marL="49213" lvl="2" algn="l"/>
            <a:r>
              <a:rPr lang="en-AU" sz="1800" dirty="0" err="1">
                <a:latin typeface="Calibri" panose="020F0502020204030204" pitchFamily="34" charset="0"/>
              </a:rPr>
              <a:t>aws</a:t>
            </a:r>
            <a:r>
              <a:rPr lang="en-AU" sz="1800" dirty="0">
                <a:latin typeface="Calibri" panose="020F0502020204030204" pitchFamily="34" charset="0"/>
              </a:rPr>
              <a:t> </a:t>
            </a:r>
            <a:r>
              <a:rPr lang="en-AU" sz="1800" dirty="0" err="1">
                <a:latin typeface="Calibri" panose="020F0502020204030204" pitchFamily="34" charset="0"/>
              </a:rPr>
              <a:t>dynamodb</a:t>
            </a:r>
            <a:r>
              <a:rPr lang="en-AU" sz="1800" dirty="0">
                <a:latin typeface="Calibri" panose="020F0502020204030204" pitchFamily="34" charset="0"/>
              </a:rPr>
              <a:t> create-table --table-name </a:t>
            </a:r>
            <a:r>
              <a:rPr lang="en-AU" sz="1800" dirty="0" err="1">
                <a:latin typeface="Calibri" panose="020F0502020204030204" pitchFamily="34" charset="0"/>
              </a:rPr>
              <a:t>MusicAlbum</a:t>
            </a:r>
            <a:r>
              <a:rPr lang="en-AU" sz="1800" dirty="0">
                <a:latin typeface="Calibri" panose="020F0502020204030204" pitchFamily="34" charset="0"/>
              </a:rPr>
              <a:t> </a:t>
            </a:r>
          </a:p>
          <a:p>
            <a:pPr marL="49213" lvl="2" algn="l"/>
            <a:r>
              <a:rPr lang="en-AU" sz="1800" dirty="0">
                <a:latin typeface="Calibri" panose="020F0502020204030204" pitchFamily="34" charset="0"/>
              </a:rPr>
              <a:t>  --attribute-definitions \</a:t>
            </a:r>
          </a:p>
          <a:p>
            <a:pPr marL="49213" lvl="2" algn="l"/>
            <a:r>
              <a:rPr lang="en-AU" sz="1800" dirty="0">
                <a:latin typeface="Calibri" panose="020F0502020204030204" pitchFamily="34" charset="0"/>
              </a:rPr>
              <a:t>    </a:t>
            </a:r>
            <a:r>
              <a:rPr lang="en-AU" sz="1800" dirty="0" err="1">
                <a:latin typeface="Calibri" panose="020F0502020204030204" pitchFamily="34" charset="0"/>
              </a:rPr>
              <a:t>AttributeName</a:t>
            </a:r>
            <a:r>
              <a:rPr lang="en-AU" sz="1800" dirty="0">
                <a:latin typeface="Calibri" panose="020F0502020204030204" pitchFamily="34" charset="0"/>
              </a:rPr>
              <a:t>=</a:t>
            </a:r>
            <a:r>
              <a:rPr lang="en-AU" sz="1800" dirty="0" err="1">
                <a:latin typeface="Calibri" panose="020F0502020204030204" pitchFamily="34" charset="0"/>
              </a:rPr>
              <a:t>Artist,AttributeType</a:t>
            </a:r>
            <a:r>
              <a:rPr lang="en-AU" sz="1800" dirty="0">
                <a:latin typeface="Calibri" panose="020F0502020204030204" pitchFamily="34" charset="0"/>
              </a:rPr>
              <a:t>=S \</a:t>
            </a:r>
          </a:p>
          <a:p>
            <a:pPr marL="49213" lvl="2" algn="l"/>
            <a:r>
              <a:rPr lang="en-AU" sz="1800" dirty="0">
                <a:latin typeface="Calibri" panose="020F0502020204030204" pitchFamily="34" charset="0"/>
              </a:rPr>
              <a:t>  --key-schema </a:t>
            </a:r>
            <a:r>
              <a:rPr lang="en-AU" sz="1800" dirty="0" err="1">
                <a:latin typeface="Calibri" panose="020F0502020204030204" pitchFamily="34" charset="0"/>
              </a:rPr>
              <a:t>AttributeName</a:t>
            </a:r>
            <a:r>
              <a:rPr lang="en-AU" sz="1800" dirty="0">
                <a:latin typeface="Calibri" panose="020F0502020204030204" pitchFamily="34" charset="0"/>
              </a:rPr>
              <a:t>=</a:t>
            </a:r>
            <a:r>
              <a:rPr lang="en-AU" sz="1800" dirty="0" err="1">
                <a:latin typeface="Calibri" panose="020F0502020204030204" pitchFamily="34" charset="0"/>
              </a:rPr>
              <a:t>Artist,KeyType</a:t>
            </a:r>
            <a:r>
              <a:rPr lang="en-AU" sz="1800" dirty="0">
                <a:latin typeface="Calibri" panose="020F0502020204030204" pitchFamily="34" charset="0"/>
              </a:rPr>
              <a:t>=HASH \ </a:t>
            </a:r>
          </a:p>
          <a:p>
            <a:pPr marL="49213" lvl="2" algn="l"/>
            <a:r>
              <a:rPr lang="en-AU" sz="1800" dirty="0">
                <a:latin typeface="Calibri" panose="020F0502020204030204" pitchFamily="34" charset="0"/>
              </a:rPr>
              <a:t>  --provisioned-throughput </a:t>
            </a:r>
            <a:r>
              <a:rPr lang="en-AU" sz="1800" dirty="0" err="1">
                <a:latin typeface="Calibri" panose="020F0502020204030204" pitchFamily="34" charset="0"/>
              </a:rPr>
              <a:t>ReadCapacityUnits</a:t>
            </a:r>
            <a:r>
              <a:rPr lang="en-AU" sz="1800" dirty="0">
                <a:latin typeface="Calibri" panose="020F0502020204030204" pitchFamily="34" charset="0"/>
              </a:rPr>
              <a:t>=1,WriteCapacityUnits=1 \</a:t>
            </a:r>
          </a:p>
          <a:p>
            <a:pPr marL="7938" lvl="2" algn="l"/>
            <a:r>
              <a:rPr lang="en-AU" sz="1800" dirty="0">
                <a:latin typeface="Calibri" panose="020F0502020204030204" pitchFamily="34" charset="0"/>
              </a:rPr>
              <a:t>  --endpoint-</a:t>
            </a:r>
            <a:r>
              <a:rPr lang="en-AU" sz="1800" dirty="0" err="1">
                <a:latin typeface="Calibri" panose="020F0502020204030204" pitchFamily="34" charset="0"/>
              </a:rPr>
              <a:t>url</a:t>
            </a:r>
            <a:r>
              <a:rPr lang="en-AU" sz="1800" dirty="0">
                <a:latin typeface="Calibri" panose="020F0502020204030204" pitchFamily="34" charset="0"/>
              </a:rPr>
              <a:t>=http://localhost:8000</a:t>
            </a:r>
            <a:endParaRPr lang="en-US" sz="1800" dirty="0">
              <a:latin typeface="Calibri" panose="020F0502020204030204" pitchFamily="34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B43A55E-267A-410E-B2E3-C53C2642A84E}"/>
              </a:ext>
            </a:extLst>
          </p:cNvPr>
          <p:cNvSpPr txBox="1"/>
          <p:nvPr/>
        </p:nvSpPr>
        <p:spPr>
          <a:xfrm>
            <a:off x="640080" y="1413164"/>
            <a:ext cx="559168" cy="2031325"/>
          </a:xfrm>
          <a:prstGeom prst="rect">
            <a:avLst/>
          </a:prstGeom>
          <a:solidFill>
            <a:schemeClr val="bg1">
              <a:lumMod val="85000"/>
              <a:alpha val="30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pPr marL="49213" lvl="2" algn="l"/>
            <a:r>
              <a:rPr lang="en-US" sz="1800" dirty="0">
                <a:latin typeface="+mn-lt"/>
              </a:rPr>
              <a:t>1</a:t>
            </a:r>
          </a:p>
          <a:p>
            <a:pPr marL="49213" lvl="2" algn="l"/>
            <a:r>
              <a:rPr lang="en-US" sz="1800" dirty="0">
                <a:latin typeface="+mn-lt"/>
              </a:rPr>
              <a:t>2</a:t>
            </a:r>
          </a:p>
          <a:p>
            <a:pPr marL="49213" lvl="2" algn="l"/>
            <a:r>
              <a:rPr lang="en-US" sz="1800" dirty="0">
                <a:latin typeface="+mn-lt"/>
              </a:rPr>
              <a:t>3</a:t>
            </a:r>
          </a:p>
          <a:p>
            <a:pPr marL="49213" lvl="2" algn="l"/>
            <a:r>
              <a:rPr lang="en-US" sz="1800" dirty="0">
                <a:latin typeface="+mn-lt"/>
              </a:rPr>
              <a:t>4</a:t>
            </a:r>
          </a:p>
          <a:p>
            <a:pPr marL="49213" lvl="2" algn="l"/>
            <a:r>
              <a:rPr lang="en-US" sz="1800" dirty="0">
                <a:latin typeface="+mn-lt"/>
              </a:rPr>
              <a:t>5</a:t>
            </a:r>
          </a:p>
          <a:p>
            <a:pPr marL="49213" lvl="2" algn="l"/>
            <a:r>
              <a:rPr lang="en-US" sz="1800" dirty="0">
                <a:latin typeface="+mn-lt"/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34988410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4">
            <a:extLst>
              <a:ext uri="{FF2B5EF4-FFF2-40B4-BE49-F238E27FC236}">
                <a16:creationId xmlns:a16="http://schemas.microsoft.com/office/drawing/2014/main" id="{8626BF48-081B-4DC9-853C-01F03540A98F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9600" y="824901"/>
            <a:ext cx="6507480" cy="40011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en-US" dirty="0">
                <a:latin typeface="+mn-lt"/>
              </a:rPr>
              <a:t>Read the code snippet below and show its table output.</a:t>
            </a: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FBA02F26-1BED-44BE-BC72-6C90DFE8FE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" y="236638"/>
            <a:ext cx="1867618" cy="588263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AU" sz="2600" dirty="0"/>
              <a:t>Part 3</a:t>
            </a:r>
            <a:endParaRPr lang="en-US" sz="22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A4E2B70-B132-40A7-9D52-EFE3D6E15C97}"/>
              </a:ext>
            </a:extLst>
          </p:cNvPr>
          <p:cNvSpPr txBox="1"/>
          <p:nvPr/>
        </p:nvSpPr>
        <p:spPr>
          <a:xfrm>
            <a:off x="1252379" y="1413164"/>
            <a:ext cx="9687242" cy="5022914"/>
          </a:xfrm>
          <a:prstGeom prst="rect">
            <a:avLst/>
          </a:prstGeom>
          <a:solidFill>
            <a:schemeClr val="bg1">
              <a:lumMod val="85000"/>
              <a:alpha val="30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pPr marL="49213" lvl="2" algn="l"/>
            <a:r>
              <a:rPr lang="en-AU" sz="1800" dirty="0" err="1">
                <a:latin typeface="+mn-lt"/>
              </a:rPr>
              <a:t>aws</a:t>
            </a:r>
            <a:r>
              <a:rPr lang="en-AU" sz="1800" dirty="0">
                <a:latin typeface="+mn-lt"/>
              </a:rPr>
              <a:t> </a:t>
            </a:r>
            <a:r>
              <a:rPr lang="en-AU" sz="1800" dirty="0" err="1">
                <a:latin typeface="+mn-lt"/>
              </a:rPr>
              <a:t>dynamodb</a:t>
            </a:r>
            <a:r>
              <a:rPr lang="en-AU" sz="1800" dirty="0">
                <a:latin typeface="+mn-lt"/>
              </a:rPr>
              <a:t> put-item \ </a:t>
            </a:r>
          </a:p>
          <a:p>
            <a:pPr marL="49213" lvl="2" algn="l"/>
            <a:r>
              <a:rPr lang="en-AU" sz="1800" i="1" dirty="0">
                <a:latin typeface="+mn-lt"/>
              </a:rPr>
              <a:t>  --table-name </a:t>
            </a:r>
            <a:r>
              <a:rPr lang="en-AU" sz="1800" dirty="0" err="1">
                <a:latin typeface="+mn-lt"/>
              </a:rPr>
              <a:t>MusicAlbum</a:t>
            </a:r>
            <a:r>
              <a:rPr lang="en-AU" sz="1800" i="1" dirty="0">
                <a:latin typeface="+mn-lt"/>
              </a:rPr>
              <a:t> \</a:t>
            </a:r>
            <a:r>
              <a:rPr lang="en-AU" sz="1800" dirty="0">
                <a:latin typeface="+mn-lt"/>
              </a:rPr>
              <a:t> </a:t>
            </a:r>
          </a:p>
          <a:p>
            <a:pPr marL="49213" lvl="2" algn="l"/>
            <a:r>
              <a:rPr lang="en-AU" sz="1800" i="1" dirty="0">
                <a:latin typeface="+mn-lt"/>
              </a:rPr>
              <a:t>  --item </a:t>
            </a:r>
            <a:r>
              <a:rPr lang="en-AU" sz="1800" dirty="0">
                <a:latin typeface="+mn-lt"/>
              </a:rPr>
              <a:t>'{"Artist": {"S": "Tom"}, "Song": {"S": "Call me today"}}'\ </a:t>
            </a:r>
          </a:p>
          <a:p>
            <a:pPr marL="49213" lvl="2" algn="l"/>
            <a:r>
              <a:rPr lang="en-AU" sz="1800" i="1" dirty="0">
                <a:latin typeface="+mn-lt"/>
              </a:rPr>
              <a:t>  --return-consumed-capacity TOTAL </a:t>
            </a:r>
            <a:r>
              <a:rPr lang="en-AU" sz="1800" dirty="0">
                <a:latin typeface="+mn-lt"/>
              </a:rPr>
              <a:t>--endpoint-</a:t>
            </a:r>
            <a:r>
              <a:rPr lang="en-AU" sz="1800" dirty="0" err="1">
                <a:latin typeface="+mn-lt"/>
              </a:rPr>
              <a:t>url</a:t>
            </a:r>
            <a:r>
              <a:rPr lang="en-AU" sz="1800" dirty="0">
                <a:latin typeface="+mn-lt"/>
              </a:rPr>
              <a:t>=http://localhost:8000</a:t>
            </a:r>
            <a:endParaRPr lang="en-AU" sz="1800" i="1" dirty="0">
              <a:latin typeface="+mn-lt"/>
            </a:endParaRPr>
          </a:p>
          <a:p>
            <a:pPr marL="49213" lvl="2" algn="l"/>
            <a:endParaRPr lang="en-AU" sz="1800" i="1" dirty="0">
              <a:latin typeface="+mn-lt"/>
            </a:endParaRPr>
          </a:p>
          <a:p>
            <a:pPr marL="49213" lvl="2" algn="l"/>
            <a:r>
              <a:rPr lang="en-AU" sz="1800" dirty="0" err="1">
                <a:latin typeface="+mn-lt"/>
              </a:rPr>
              <a:t>aws</a:t>
            </a:r>
            <a:r>
              <a:rPr lang="en-AU" sz="1800" dirty="0">
                <a:latin typeface="+mn-lt"/>
              </a:rPr>
              <a:t> </a:t>
            </a:r>
            <a:r>
              <a:rPr lang="en-AU" sz="1800" dirty="0" err="1">
                <a:latin typeface="+mn-lt"/>
              </a:rPr>
              <a:t>dynamodb</a:t>
            </a:r>
            <a:r>
              <a:rPr lang="en-AU" sz="1800" dirty="0">
                <a:latin typeface="+mn-lt"/>
              </a:rPr>
              <a:t> put-item \ </a:t>
            </a:r>
          </a:p>
          <a:p>
            <a:pPr marL="49213" lvl="2" algn="l"/>
            <a:r>
              <a:rPr lang="en-AU" sz="1800" i="1" dirty="0">
                <a:latin typeface="+mn-lt"/>
              </a:rPr>
              <a:t>  --table-name </a:t>
            </a:r>
            <a:r>
              <a:rPr lang="en-AU" sz="1800" dirty="0" err="1">
                <a:latin typeface="+mn-lt"/>
              </a:rPr>
              <a:t>MusicAlbum</a:t>
            </a:r>
            <a:r>
              <a:rPr lang="en-AU" sz="1800" i="1" dirty="0">
                <a:latin typeface="+mn-lt"/>
              </a:rPr>
              <a:t> \</a:t>
            </a:r>
            <a:r>
              <a:rPr lang="en-AU" sz="1800" dirty="0">
                <a:latin typeface="+mn-lt"/>
              </a:rPr>
              <a:t> </a:t>
            </a:r>
          </a:p>
          <a:p>
            <a:pPr marL="49213" lvl="2" algn="l"/>
            <a:r>
              <a:rPr lang="en-AU" sz="1800" i="1" dirty="0">
                <a:latin typeface="+mn-lt"/>
              </a:rPr>
              <a:t>  --item </a:t>
            </a:r>
            <a:r>
              <a:rPr lang="en-AU" sz="1800" dirty="0">
                <a:latin typeface="+mn-lt"/>
              </a:rPr>
              <a:t>'</a:t>
            </a:r>
            <a:r>
              <a:rPr lang="en-AU" sz="1800" i="1" dirty="0">
                <a:latin typeface="+mn-lt"/>
              </a:rPr>
              <a:t>{</a:t>
            </a:r>
            <a:r>
              <a:rPr lang="en-AU" sz="1800" dirty="0">
                <a:latin typeface="+mn-lt"/>
              </a:rPr>
              <a:t>"Artist": {"S": "Henry"}, "Song": {"S": "Flowers"}}' \ </a:t>
            </a:r>
          </a:p>
          <a:p>
            <a:pPr marL="49213" lvl="2" algn="l"/>
            <a:r>
              <a:rPr lang="en-AU" sz="1800" i="1" dirty="0">
                <a:latin typeface="+mn-lt"/>
              </a:rPr>
              <a:t>  --return-consumed-capacity TOTAL</a:t>
            </a:r>
            <a:r>
              <a:rPr lang="en-AU" sz="1800" dirty="0">
                <a:latin typeface="+mn-lt"/>
              </a:rPr>
              <a:t>  --endpoint-</a:t>
            </a:r>
            <a:r>
              <a:rPr lang="en-AU" sz="1800" dirty="0" err="1">
                <a:latin typeface="+mn-lt"/>
              </a:rPr>
              <a:t>url</a:t>
            </a:r>
            <a:r>
              <a:rPr lang="en-AU" sz="1800" dirty="0">
                <a:latin typeface="+mn-lt"/>
              </a:rPr>
              <a:t>=http://localhost:8000</a:t>
            </a:r>
            <a:endParaRPr lang="en-US" sz="1800" dirty="0">
              <a:latin typeface="+mn-lt"/>
            </a:endParaRPr>
          </a:p>
          <a:p>
            <a:pPr marL="49213" lvl="2" algn="l"/>
            <a:endParaRPr lang="en-AU" sz="1800" i="1" dirty="0">
              <a:latin typeface="+mn-lt"/>
            </a:endParaRPr>
          </a:p>
          <a:p>
            <a:pPr marL="49213" lvl="2" algn="l"/>
            <a:endParaRPr lang="en-AU" sz="1800" i="1" dirty="0">
              <a:latin typeface="+mn-lt"/>
            </a:endParaRPr>
          </a:p>
          <a:p>
            <a:pPr marL="49213" lvl="2" algn="l"/>
            <a:r>
              <a:rPr lang="en-AU" sz="1800" dirty="0" err="1">
                <a:latin typeface="+mn-lt"/>
              </a:rPr>
              <a:t>aws</a:t>
            </a:r>
            <a:r>
              <a:rPr lang="en-AU" sz="1800" dirty="0">
                <a:latin typeface="+mn-lt"/>
              </a:rPr>
              <a:t> </a:t>
            </a:r>
            <a:r>
              <a:rPr lang="en-AU" sz="1800" dirty="0" err="1">
                <a:latin typeface="+mn-lt"/>
              </a:rPr>
              <a:t>dynamodb</a:t>
            </a:r>
            <a:r>
              <a:rPr lang="en-AU" sz="1800" dirty="0">
                <a:latin typeface="+mn-lt"/>
              </a:rPr>
              <a:t> put-item \ </a:t>
            </a:r>
          </a:p>
          <a:p>
            <a:pPr marL="49213" lvl="2" algn="l"/>
            <a:r>
              <a:rPr lang="en-AU" sz="1800" i="1" dirty="0">
                <a:latin typeface="+mn-lt"/>
              </a:rPr>
              <a:t>  --table-name </a:t>
            </a:r>
            <a:r>
              <a:rPr lang="en-AU" sz="1800" dirty="0" err="1">
                <a:latin typeface="+mn-lt"/>
              </a:rPr>
              <a:t>MusicAlbum</a:t>
            </a:r>
            <a:r>
              <a:rPr lang="en-AU" sz="1800" i="1" dirty="0">
                <a:latin typeface="+mn-lt"/>
              </a:rPr>
              <a:t> \</a:t>
            </a:r>
            <a:r>
              <a:rPr lang="en-AU" sz="1800" dirty="0">
                <a:latin typeface="+mn-lt"/>
              </a:rPr>
              <a:t> </a:t>
            </a:r>
          </a:p>
          <a:p>
            <a:pPr marL="49213" lvl="2" algn="l"/>
            <a:r>
              <a:rPr lang="en-AU" sz="1800" i="1" dirty="0">
                <a:latin typeface="+mn-lt"/>
              </a:rPr>
              <a:t>  --item </a:t>
            </a:r>
            <a:r>
              <a:rPr lang="en-AU" sz="1800" dirty="0">
                <a:latin typeface="+mn-lt"/>
              </a:rPr>
              <a:t>'</a:t>
            </a:r>
            <a:r>
              <a:rPr lang="en-AU" sz="1800" i="1" dirty="0">
                <a:latin typeface="+mn-lt"/>
              </a:rPr>
              <a:t>{</a:t>
            </a:r>
            <a:r>
              <a:rPr lang="en-AU" sz="1800" dirty="0">
                <a:latin typeface="+mn-lt"/>
              </a:rPr>
              <a:t>"Artist": {"S": "Jerry"}, "Song": {"S": "Happy day"}}' \ </a:t>
            </a:r>
          </a:p>
          <a:p>
            <a:pPr marL="49213" lvl="2" algn="l"/>
            <a:r>
              <a:rPr lang="en-AU" sz="1800" i="1" dirty="0">
                <a:latin typeface="+mn-lt"/>
              </a:rPr>
              <a:t>  --return-consumed-capacity TOTAL</a:t>
            </a:r>
            <a:r>
              <a:rPr lang="en-AU" sz="1800" dirty="0">
                <a:latin typeface="+mn-lt"/>
              </a:rPr>
              <a:t>  --endpoint-</a:t>
            </a:r>
            <a:r>
              <a:rPr lang="en-AU" sz="1800" dirty="0" err="1">
                <a:latin typeface="+mn-lt"/>
              </a:rPr>
              <a:t>url</a:t>
            </a:r>
            <a:r>
              <a:rPr lang="en-AU" sz="1800" dirty="0">
                <a:latin typeface="+mn-lt"/>
              </a:rPr>
              <a:t>=http://localhost:8000</a:t>
            </a:r>
            <a:endParaRPr lang="en-US" sz="1800" dirty="0">
              <a:latin typeface="+mn-lt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50BC33F-906F-4157-AE5A-DF7FD85553F5}"/>
              </a:ext>
            </a:extLst>
          </p:cNvPr>
          <p:cNvSpPr txBox="1"/>
          <p:nvPr/>
        </p:nvSpPr>
        <p:spPr>
          <a:xfrm>
            <a:off x="693211" y="1413165"/>
            <a:ext cx="559168" cy="5022914"/>
          </a:xfrm>
          <a:prstGeom prst="rect">
            <a:avLst/>
          </a:prstGeom>
          <a:solidFill>
            <a:schemeClr val="bg1">
              <a:lumMod val="85000"/>
              <a:alpha val="30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pPr marL="49213" lvl="2" algn="l"/>
            <a:r>
              <a:rPr lang="en-US" sz="1800" dirty="0">
                <a:latin typeface="+mn-lt"/>
              </a:rPr>
              <a:t>1</a:t>
            </a:r>
          </a:p>
          <a:p>
            <a:pPr marL="49213" lvl="2" algn="l"/>
            <a:r>
              <a:rPr lang="en-US" sz="1800" dirty="0">
                <a:latin typeface="+mn-lt"/>
              </a:rPr>
              <a:t>2</a:t>
            </a:r>
          </a:p>
          <a:p>
            <a:pPr marL="49213" lvl="2" algn="l"/>
            <a:r>
              <a:rPr lang="en-US" sz="1800" dirty="0">
                <a:latin typeface="+mn-lt"/>
              </a:rPr>
              <a:t>3</a:t>
            </a:r>
          </a:p>
          <a:p>
            <a:pPr marL="49213" lvl="2" algn="l"/>
            <a:r>
              <a:rPr lang="en-US" sz="1800" dirty="0">
                <a:latin typeface="+mn-lt"/>
              </a:rPr>
              <a:t>4</a:t>
            </a:r>
          </a:p>
          <a:p>
            <a:pPr marL="49213" lvl="2" algn="l"/>
            <a:r>
              <a:rPr lang="en-US" sz="1800" dirty="0">
                <a:latin typeface="+mn-lt"/>
              </a:rPr>
              <a:t>5</a:t>
            </a:r>
          </a:p>
          <a:p>
            <a:pPr marL="49213" lvl="2" algn="l"/>
            <a:r>
              <a:rPr lang="en-US" sz="1800" dirty="0">
                <a:latin typeface="+mn-lt"/>
              </a:rPr>
              <a:t>6</a:t>
            </a:r>
          </a:p>
          <a:p>
            <a:pPr marL="49213" lvl="2" algn="l"/>
            <a:r>
              <a:rPr lang="en-US" sz="1800" dirty="0">
                <a:latin typeface="+mn-lt"/>
              </a:rPr>
              <a:t>7</a:t>
            </a:r>
          </a:p>
          <a:p>
            <a:pPr marL="49213" lvl="2" algn="l"/>
            <a:r>
              <a:rPr lang="en-US" sz="1800" dirty="0">
                <a:latin typeface="+mn-lt"/>
              </a:rPr>
              <a:t>8</a:t>
            </a:r>
          </a:p>
          <a:p>
            <a:pPr marL="49213" lvl="2" algn="l"/>
            <a:r>
              <a:rPr lang="en-US" sz="1800" dirty="0">
                <a:latin typeface="+mn-lt"/>
              </a:rPr>
              <a:t>9</a:t>
            </a:r>
          </a:p>
          <a:p>
            <a:pPr marL="49213" lvl="2" algn="l"/>
            <a:r>
              <a:rPr lang="en-US" sz="1800" dirty="0">
                <a:latin typeface="+mn-lt"/>
              </a:rPr>
              <a:t>10</a:t>
            </a:r>
          </a:p>
          <a:p>
            <a:pPr marL="49213" lvl="2" algn="l"/>
            <a:r>
              <a:rPr lang="en-US" sz="1800" dirty="0">
                <a:latin typeface="+mn-lt"/>
              </a:rPr>
              <a:t>11</a:t>
            </a:r>
          </a:p>
          <a:p>
            <a:pPr marL="49213" lvl="2" algn="l"/>
            <a:r>
              <a:rPr lang="en-US" sz="1800" dirty="0">
                <a:latin typeface="+mn-lt"/>
              </a:rPr>
              <a:t>12</a:t>
            </a:r>
          </a:p>
          <a:p>
            <a:pPr marL="49213" lvl="2" algn="l"/>
            <a:r>
              <a:rPr lang="en-US" sz="1800" dirty="0">
                <a:latin typeface="+mn-lt"/>
              </a:rPr>
              <a:t>13</a:t>
            </a:r>
          </a:p>
          <a:p>
            <a:pPr marL="49213" lvl="2" algn="l"/>
            <a:r>
              <a:rPr lang="en-US" sz="1800" dirty="0">
                <a:latin typeface="+mn-lt"/>
              </a:rPr>
              <a:t>14</a:t>
            </a:r>
          </a:p>
          <a:p>
            <a:pPr marL="49213" lvl="2" algn="l"/>
            <a:r>
              <a:rPr lang="en-US" sz="1800" dirty="0">
                <a:latin typeface="+mn-lt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285204482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354F49DA-4A53-4C50-A43E-A110B48BFD50}"/>
              </a:ext>
            </a:extLst>
          </p:cNvPr>
          <p:cNvGraphicFramePr>
            <a:graphicFrameLocks noGrp="1"/>
          </p:cNvGraphicFramePr>
          <p:nvPr/>
        </p:nvGraphicFramePr>
        <p:xfrm>
          <a:off x="700069" y="1202240"/>
          <a:ext cx="5131340" cy="1908739"/>
        </p:xfrm>
        <a:graphic>
          <a:graphicData uri="http://schemas.openxmlformats.org/drawingml/2006/table">
            <a:tbl>
              <a:tblPr/>
              <a:tblGrid>
                <a:gridCol w="2597608">
                  <a:extLst>
                    <a:ext uri="{9D8B030D-6E8A-4147-A177-3AD203B41FA5}">
                      <a16:colId xmlns:a16="http://schemas.microsoft.com/office/drawing/2014/main" val="1924360048"/>
                    </a:ext>
                  </a:extLst>
                </a:gridCol>
                <a:gridCol w="2533732">
                  <a:extLst>
                    <a:ext uri="{9D8B030D-6E8A-4147-A177-3AD203B41FA5}">
                      <a16:colId xmlns:a16="http://schemas.microsoft.com/office/drawing/2014/main" val="223233917"/>
                    </a:ext>
                  </a:extLst>
                </a:gridCol>
              </a:tblGrid>
              <a:tr h="435232">
                <a:tc>
                  <a:txBody>
                    <a:bodyPr/>
                    <a:lstStyle/>
                    <a:p>
                      <a:pPr algn="just" rtl="0" fontAlgn="t">
                        <a:spcBef>
                          <a:spcPts val="1200"/>
                        </a:spcBef>
                        <a:spcAft>
                          <a:spcPts val="1200"/>
                        </a:spcAft>
                      </a:pPr>
                      <a:r>
                        <a:rPr lang="en-AU" sz="20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Artist</a:t>
                      </a:r>
                    </a:p>
                  </a:txBody>
                  <a:tcPr marL="88900" marR="88900" marT="50800" marB="50800">
                    <a:lnL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 rtl="0" fontAlgn="t">
                        <a:spcBef>
                          <a:spcPts val="1200"/>
                        </a:spcBef>
                        <a:spcAft>
                          <a:spcPts val="1200"/>
                        </a:spcAft>
                      </a:pPr>
                      <a:r>
                        <a:rPr lang="en-AU" sz="20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Song</a:t>
                      </a:r>
                    </a:p>
                  </a:txBody>
                  <a:tcPr marL="88900" marR="88900" marT="50800" marB="50800">
                    <a:lnL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08597333"/>
                  </a:ext>
                </a:extLst>
              </a:tr>
              <a:tr h="531381">
                <a:tc>
                  <a:txBody>
                    <a:bodyPr/>
                    <a:lstStyle/>
                    <a:p>
                      <a:pPr algn="just" rtl="0" fontAlgn="t">
                        <a:spcBef>
                          <a:spcPts val="1200"/>
                        </a:spcBef>
                        <a:spcAft>
                          <a:spcPts val="1200"/>
                        </a:spcAft>
                      </a:pPr>
                      <a:r>
                        <a:rPr lang="en-AU" sz="20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Tom</a:t>
                      </a:r>
                    </a:p>
                  </a:txBody>
                  <a:tcPr marL="88900" marR="88900" marT="50800" marB="50800">
                    <a:lnL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 rtl="0" fontAlgn="t">
                        <a:spcBef>
                          <a:spcPts val="1200"/>
                        </a:spcBef>
                        <a:spcAft>
                          <a:spcPts val="1200"/>
                        </a:spcAft>
                      </a:pPr>
                      <a:r>
                        <a:rPr lang="en-AU" sz="20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Call me today</a:t>
                      </a:r>
                    </a:p>
                  </a:txBody>
                  <a:tcPr marL="88900" marR="88900" marT="50800" marB="50800">
                    <a:lnL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00003405"/>
                  </a:ext>
                </a:extLst>
              </a:tr>
              <a:tr h="531381">
                <a:tc>
                  <a:txBody>
                    <a:bodyPr/>
                    <a:lstStyle/>
                    <a:p>
                      <a:pPr algn="just" rtl="0" fontAlgn="t">
                        <a:spcBef>
                          <a:spcPts val="1200"/>
                        </a:spcBef>
                        <a:spcAft>
                          <a:spcPts val="1200"/>
                        </a:spcAft>
                      </a:pPr>
                      <a:r>
                        <a:rPr lang="en-AU" sz="20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Henry</a:t>
                      </a:r>
                    </a:p>
                  </a:txBody>
                  <a:tcPr marL="88900" marR="88900" marT="50800" marB="50800">
                    <a:lnL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 rtl="0" fontAlgn="t">
                        <a:spcBef>
                          <a:spcPts val="1200"/>
                        </a:spcBef>
                        <a:spcAft>
                          <a:spcPts val="1200"/>
                        </a:spcAft>
                      </a:pPr>
                      <a:r>
                        <a:rPr lang="en-AU" sz="20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Flowers</a:t>
                      </a:r>
                    </a:p>
                  </a:txBody>
                  <a:tcPr marL="88900" marR="88900" marT="50800" marB="50800">
                    <a:lnL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89814150"/>
                  </a:ext>
                </a:extLst>
              </a:tr>
              <a:tr h="410745">
                <a:tc>
                  <a:txBody>
                    <a:bodyPr/>
                    <a:lstStyle/>
                    <a:p>
                      <a:pPr algn="just" rtl="0" fontAlgn="t">
                        <a:spcBef>
                          <a:spcPts val="1200"/>
                        </a:spcBef>
                        <a:spcAft>
                          <a:spcPts val="1200"/>
                        </a:spcAft>
                      </a:pPr>
                      <a:r>
                        <a:rPr lang="en-AU" sz="20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Jerry</a:t>
                      </a:r>
                    </a:p>
                  </a:txBody>
                  <a:tcPr marL="88900" marR="88900" marT="50800" marB="50800">
                    <a:lnL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 rtl="0" fontAlgn="t">
                        <a:spcBef>
                          <a:spcPts val="1200"/>
                        </a:spcBef>
                        <a:spcAft>
                          <a:spcPts val="1200"/>
                        </a:spcAft>
                      </a:pPr>
                      <a:r>
                        <a:rPr lang="en-AU" sz="20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Happy day</a:t>
                      </a:r>
                    </a:p>
                  </a:txBody>
                  <a:tcPr marL="88900" marR="88900" marT="50800" marB="50800">
                    <a:lnL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71930919"/>
                  </a:ext>
                </a:extLst>
              </a:tr>
            </a:tbl>
          </a:graphicData>
        </a:graphic>
      </p:graphicFrame>
      <p:sp>
        <p:nvSpPr>
          <p:cNvPr id="7" name="Rectangle 1">
            <a:extLst>
              <a:ext uri="{FF2B5EF4-FFF2-40B4-BE49-F238E27FC236}">
                <a16:creationId xmlns:a16="http://schemas.microsoft.com/office/drawing/2014/main" id="{5DFC8B7A-204D-46E3-B7DE-63DE89EA5AF6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9600" y="715942"/>
            <a:ext cx="5750993" cy="40011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en-US" dirty="0">
                <a:latin typeface="+mn-lt"/>
              </a:rPr>
              <a:t>A DynamoDB table called </a:t>
            </a:r>
            <a:r>
              <a:rPr lang="en-US" altLang="en-US" dirty="0" err="1">
                <a:latin typeface="+mn-lt"/>
              </a:rPr>
              <a:t>MusicAlbum</a:t>
            </a:r>
            <a:r>
              <a:rPr lang="en-US" altLang="en-US" dirty="0">
                <a:latin typeface="+mn-lt"/>
              </a:rPr>
              <a:t> will be created</a:t>
            </a:r>
          </a:p>
        </p:txBody>
      </p:sp>
      <p:sp>
        <p:nvSpPr>
          <p:cNvPr id="9" name="Rectangle 4">
            <a:extLst>
              <a:ext uri="{FF2B5EF4-FFF2-40B4-BE49-F238E27FC236}">
                <a16:creationId xmlns:a16="http://schemas.microsoft.com/office/drawing/2014/main" id="{8626BF48-081B-4DC9-853C-01F03540A98F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9600" y="3933511"/>
            <a:ext cx="6507480" cy="40011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en-US" dirty="0">
                <a:latin typeface="+mn-lt"/>
              </a:rPr>
              <a:t>Read the code snippet below and show its table output.</a:t>
            </a: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FBA02F26-1BED-44BE-BC72-6C90DFE8FE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" y="236638"/>
            <a:ext cx="1867618" cy="588263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AU" sz="2600" dirty="0"/>
              <a:t>Part 3</a:t>
            </a:r>
            <a:endParaRPr lang="en-US" sz="22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0A053A3-EB21-4DB1-A2CA-254184B34B03}"/>
              </a:ext>
            </a:extLst>
          </p:cNvPr>
          <p:cNvSpPr txBox="1"/>
          <p:nvPr/>
        </p:nvSpPr>
        <p:spPr>
          <a:xfrm>
            <a:off x="1259237" y="4624772"/>
            <a:ext cx="6939883" cy="1366528"/>
          </a:xfrm>
          <a:prstGeom prst="rect">
            <a:avLst/>
          </a:prstGeom>
          <a:solidFill>
            <a:schemeClr val="bg1">
              <a:lumMod val="85000"/>
              <a:alpha val="30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pPr marL="49213" lvl="2" algn="l"/>
            <a:r>
              <a:rPr lang="en-US" sz="1800" dirty="0" err="1">
                <a:latin typeface="Calibri" panose="020F0502020204030204" pitchFamily="34" charset="0"/>
              </a:rPr>
              <a:t>aws</a:t>
            </a:r>
            <a:r>
              <a:rPr lang="en-US" sz="1800" dirty="0">
                <a:latin typeface="Calibri" panose="020F0502020204030204" pitchFamily="34" charset="0"/>
              </a:rPr>
              <a:t> </a:t>
            </a:r>
            <a:r>
              <a:rPr lang="en-US" sz="1800" dirty="0" err="1">
                <a:latin typeface="Calibri" panose="020F0502020204030204" pitchFamily="34" charset="0"/>
              </a:rPr>
              <a:t>dynamodb</a:t>
            </a:r>
            <a:r>
              <a:rPr lang="en-US" sz="1800" dirty="0">
                <a:latin typeface="Calibri" panose="020F0502020204030204" pitchFamily="34" charset="0"/>
              </a:rPr>
              <a:t> query \ </a:t>
            </a:r>
          </a:p>
          <a:p>
            <a:pPr marL="49213" lvl="2" algn="l"/>
            <a:r>
              <a:rPr lang="en-US" sz="1800" dirty="0">
                <a:latin typeface="Calibri" panose="020F0502020204030204" pitchFamily="34" charset="0"/>
              </a:rPr>
              <a:t>  --table-name </a:t>
            </a:r>
            <a:r>
              <a:rPr lang="en-AU" sz="1800" dirty="0" err="1">
                <a:latin typeface="Calibri" panose="020F0502020204030204" pitchFamily="34" charset="0"/>
              </a:rPr>
              <a:t>MusicAlbum</a:t>
            </a:r>
            <a:r>
              <a:rPr lang="en-US" sz="1800" dirty="0">
                <a:latin typeface="Calibri" panose="020F0502020204030204" pitchFamily="34" charset="0"/>
              </a:rPr>
              <a:t> \ </a:t>
            </a:r>
          </a:p>
          <a:p>
            <a:pPr marL="49213" lvl="2" algn="l"/>
            <a:r>
              <a:rPr lang="en-US" sz="1800" dirty="0">
                <a:latin typeface="Calibri" panose="020F0502020204030204" pitchFamily="34" charset="0"/>
              </a:rPr>
              <a:t>  --key-condition-expression "Artist = :A1 or Artist = </a:t>
            </a:r>
            <a:r>
              <a:rPr lang="en-AU" sz="1800" dirty="0">
                <a:latin typeface="Calibri" panose="020F0502020204030204" pitchFamily="34" charset="0"/>
              </a:rPr>
              <a:t>:A2</a:t>
            </a:r>
            <a:r>
              <a:rPr lang="en-US" sz="1800" dirty="0">
                <a:latin typeface="Calibri" panose="020F0502020204030204" pitchFamily="34" charset="0"/>
              </a:rPr>
              <a:t>" \ </a:t>
            </a:r>
          </a:p>
          <a:p>
            <a:pPr marL="49213" lvl="2" algn="l"/>
            <a:r>
              <a:rPr lang="en-US" sz="1800" dirty="0">
                <a:latin typeface="Calibri" panose="020F0502020204030204" pitchFamily="34" charset="0"/>
              </a:rPr>
              <a:t>  --expression-attribute-values </a:t>
            </a:r>
            <a:r>
              <a:rPr lang="en-AU" sz="1800" dirty="0">
                <a:latin typeface="+mn-lt"/>
              </a:rPr>
              <a:t>'</a:t>
            </a:r>
            <a:r>
              <a:rPr lang="en-US" sz="1800" dirty="0">
                <a:latin typeface="Calibri" panose="020F0502020204030204" pitchFamily="34" charset="0"/>
              </a:rPr>
              <a:t>{":A1":{"</a:t>
            </a:r>
            <a:r>
              <a:rPr lang="en-US" sz="1800" dirty="0" err="1">
                <a:latin typeface="Calibri" panose="020F0502020204030204" pitchFamily="34" charset="0"/>
              </a:rPr>
              <a:t>S":"Tom</a:t>
            </a:r>
            <a:r>
              <a:rPr lang="en-US" sz="1800" dirty="0">
                <a:latin typeface="Calibri" panose="020F0502020204030204" pitchFamily="34" charset="0"/>
              </a:rPr>
              <a:t>"}, ":A2":{"</a:t>
            </a:r>
            <a:r>
              <a:rPr lang="en-US" sz="1800" dirty="0" err="1">
                <a:latin typeface="Calibri" panose="020F0502020204030204" pitchFamily="34" charset="0"/>
              </a:rPr>
              <a:t>S":"Jerry</a:t>
            </a:r>
            <a:r>
              <a:rPr lang="en-US" sz="1800" dirty="0">
                <a:latin typeface="Calibri" panose="020F0502020204030204" pitchFamily="34" charset="0"/>
              </a:rPr>
              <a:t>"}}</a:t>
            </a:r>
            <a:r>
              <a:rPr lang="en-AU" sz="1800" dirty="0">
                <a:latin typeface="+mn-lt"/>
              </a:rPr>
              <a:t>'</a:t>
            </a:r>
            <a:r>
              <a:rPr lang="en-US" sz="1800" dirty="0">
                <a:latin typeface="Calibri" panose="020F0502020204030204" pitchFamily="34" charset="0"/>
              </a:rPr>
              <a:t>  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47FAE20-EAAA-4AE7-B642-752E134CF55A}"/>
              </a:ext>
            </a:extLst>
          </p:cNvPr>
          <p:cNvSpPr txBox="1"/>
          <p:nvPr/>
        </p:nvSpPr>
        <p:spPr>
          <a:xfrm>
            <a:off x="700069" y="4627756"/>
            <a:ext cx="559168" cy="1366528"/>
          </a:xfrm>
          <a:prstGeom prst="rect">
            <a:avLst/>
          </a:prstGeom>
          <a:solidFill>
            <a:schemeClr val="bg1">
              <a:lumMod val="85000"/>
              <a:alpha val="30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pPr marL="49213" lvl="2" algn="l"/>
            <a:r>
              <a:rPr lang="en-US" sz="1800" dirty="0">
                <a:latin typeface="+mn-lt"/>
              </a:rPr>
              <a:t>1</a:t>
            </a:r>
          </a:p>
          <a:p>
            <a:pPr marL="49213" lvl="2" algn="l"/>
            <a:r>
              <a:rPr lang="en-US" sz="1800" dirty="0">
                <a:latin typeface="+mn-lt"/>
              </a:rPr>
              <a:t>2</a:t>
            </a:r>
          </a:p>
          <a:p>
            <a:pPr marL="49213" lvl="2" algn="l"/>
            <a:r>
              <a:rPr lang="en-US" sz="1800" dirty="0">
                <a:latin typeface="+mn-lt"/>
              </a:rPr>
              <a:t>3</a:t>
            </a:r>
          </a:p>
          <a:p>
            <a:pPr marL="49213" lvl="2" algn="l"/>
            <a:r>
              <a:rPr lang="en-US" sz="1800" dirty="0">
                <a:latin typeface="+mn-lt"/>
              </a:rPr>
              <a:t>4</a:t>
            </a:r>
            <a:endParaRPr lang="en-US" sz="1600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46954718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85F43C81-AB7E-4741-AB00-9388CECDDEB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33634691"/>
              </p:ext>
            </p:extLst>
          </p:nvPr>
        </p:nvGraphicFramePr>
        <p:xfrm>
          <a:off x="593389" y="3405457"/>
          <a:ext cx="5898851" cy="1261200"/>
        </p:xfrm>
        <a:graphic>
          <a:graphicData uri="http://schemas.openxmlformats.org/drawingml/2006/table">
            <a:tbl>
              <a:tblPr/>
              <a:tblGrid>
                <a:gridCol w="3225302">
                  <a:extLst>
                    <a:ext uri="{9D8B030D-6E8A-4147-A177-3AD203B41FA5}">
                      <a16:colId xmlns:a16="http://schemas.microsoft.com/office/drawing/2014/main" val="3377382520"/>
                    </a:ext>
                  </a:extLst>
                </a:gridCol>
                <a:gridCol w="2673549">
                  <a:extLst>
                    <a:ext uri="{9D8B030D-6E8A-4147-A177-3AD203B41FA5}">
                      <a16:colId xmlns:a16="http://schemas.microsoft.com/office/drawing/2014/main" val="1255259023"/>
                    </a:ext>
                  </a:extLst>
                </a:gridCol>
              </a:tblGrid>
              <a:tr h="427400">
                <a:tc>
                  <a:txBody>
                    <a:bodyPr/>
                    <a:lstStyle/>
                    <a:p>
                      <a:pPr marL="546100" marR="88900" rtl="0" fontAlgn="t">
                        <a:spcBef>
                          <a:spcPts val="1200"/>
                        </a:spcBef>
                        <a:spcAft>
                          <a:spcPts val="1200"/>
                        </a:spcAft>
                      </a:pPr>
                      <a:r>
                        <a:rPr lang="en-AU" sz="20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Artist</a:t>
                      </a:r>
                    </a:p>
                  </a:txBody>
                  <a:tcPr marL="88900" marR="88900" marT="50800" marB="50800">
                    <a:lnL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46100" marR="88900" rtl="0" fontAlgn="t">
                        <a:spcBef>
                          <a:spcPts val="1200"/>
                        </a:spcBef>
                        <a:spcAft>
                          <a:spcPts val="1200"/>
                        </a:spcAft>
                      </a:pPr>
                      <a:r>
                        <a:rPr lang="en-AU" sz="20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Song</a:t>
                      </a:r>
                    </a:p>
                  </a:txBody>
                  <a:tcPr marL="88900" marR="88900" marT="50800" marB="50800">
                    <a:lnL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17130011"/>
                  </a:ext>
                </a:extLst>
              </a:tr>
              <a:tr h="427400">
                <a:tc>
                  <a:txBody>
                    <a:bodyPr/>
                    <a:lstStyle/>
                    <a:p>
                      <a:pPr marL="546100" marR="88900" rtl="0" fontAlgn="t">
                        <a:spcBef>
                          <a:spcPts val="1200"/>
                        </a:spcBef>
                        <a:spcAft>
                          <a:spcPts val="1200"/>
                        </a:spcAft>
                      </a:pPr>
                      <a:r>
                        <a:rPr lang="en-AU" sz="20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Tom</a:t>
                      </a:r>
                    </a:p>
                  </a:txBody>
                  <a:tcPr marL="88900" marR="88900" marT="50800" marB="50800">
                    <a:lnL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46100" marR="88900" rtl="0" fontAlgn="t">
                        <a:spcBef>
                          <a:spcPts val="1200"/>
                        </a:spcBef>
                        <a:spcAft>
                          <a:spcPts val="1200"/>
                        </a:spcAft>
                      </a:pPr>
                      <a:r>
                        <a:rPr lang="en-AU" sz="20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Call me today</a:t>
                      </a:r>
                    </a:p>
                  </a:txBody>
                  <a:tcPr marL="88900" marR="88900" marT="50800" marB="50800">
                    <a:lnL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89210556"/>
                  </a:ext>
                </a:extLst>
              </a:tr>
              <a:tr h="405927">
                <a:tc>
                  <a:txBody>
                    <a:bodyPr/>
                    <a:lstStyle/>
                    <a:p>
                      <a:pPr marL="546100" marR="88900" rtl="0" fontAlgn="t">
                        <a:spcBef>
                          <a:spcPts val="1200"/>
                        </a:spcBef>
                        <a:spcAft>
                          <a:spcPts val="1200"/>
                        </a:spcAft>
                      </a:pPr>
                      <a:r>
                        <a:rPr lang="en-AU" sz="20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Jerry</a:t>
                      </a:r>
                    </a:p>
                  </a:txBody>
                  <a:tcPr marL="88900" marR="88900" marT="50800" marB="50800">
                    <a:lnL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46100" marR="88900" rtl="0" fontAlgn="t">
                        <a:spcBef>
                          <a:spcPts val="1200"/>
                        </a:spcBef>
                        <a:spcAft>
                          <a:spcPts val="1200"/>
                        </a:spcAft>
                      </a:pPr>
                      <a:r>
                        <a:rPr lang="en-AU" sz="20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Happy day</a:t>
                      </a:r>
                    </a:p>
                  </a:txBody>
                  <a:tcPr marL="88900" marR="88900" marT="50800" marB="50800">
                    <a:lnL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46519875"/>
                  </a:ext>
                </a:extLst>
              </a:tr>
            </a:tbl>
          </a:graphicData>
        </a:graphic>
      </p:graphicFrame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FBA02F26-1BED-44BE-BC72-6C90DFE8FE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3049" y="283697"/>
            <a:ext cx="1867618" cy="588263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AU" sz="2600" dirty="0"/>
              <a:t>Part 3</a:t>
            </a:r>
            <a:endParaRPr lang="en-US" sz="22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7A9C017-73AA-4452-8071-BD2E29728FF5}"/>
              </a:ext>
            </a:extLst>
          </p:cNvPr>
          <p:cNvSpPr txBox="1"/>
          <p:nvPr/>
        </p:nvSpPr>
        <p:spPr>
          <a:xfrm>
            <a:off x="1152557" y="871960"/>
            <a:ext cx="6939883" cy="1366528"/>
          </a:xfrm>
          <a:prstGeom prst="rect">
            <a:avLst/>
          </a:prstGeom>
          <a:solidFill>
            <a:schemeClr val="bg1">
              <a:lumMod val="85000"/>
              <a:alpha val="30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pPr marL="49213" lvl="2" algn="l"/>
            <a:r>
              <a:rPr lang="en-US" sz="1800" dirty="0" err="1">
                <a:latin typeface="Calibri" panose="020F0502020204030204" pitchFamily="34" charset="0"/>
              </a:rPr>
              <a:t>aws</a:t>
            </a:r>
            <a:r>
              <a:rPr lang="en-US" sz="1800" dirty="0">
                <a:latin typeface="Calibri" panose="020F0502020204030204" pitchFamily="34" charset="0"/>
              </a:rPr>
              <a:t> </a:t>
            </a:r>
            <a:r>
              <a:rPr lang="en-US" sz="1800" dirty="0" err="1">
                <a:latin typeface="Calibri" panose="020F0502020204030204" pitchFamily="34" charset="0"/>
              </a:rPr>
              <a:t>dynamodb</a:t>
            </a:r>
            <a:r>
              <a:rPr lang="en-US" sz="1800" dirty="0">
                <a:latin typeface="Calibri" panose="020F0502020204030204" pitchFamily="34" charset="0"/>
              </a:rPr>
              <a:t> query \ </a:t>
            </a:r>
          </a:p>
          <a:p>
            <a:pPr marL="49213" lvl="2" algn="l"/>
            <a:r>
              <a:rPr lang="en-US" sz="1800" dirty="0">
                <a:latin typeface="Calibri" panose="020F0502020204030204" pitchFamily="34" charset="0"/>
              </a:rPr>
              <a:t>  --table-name </a:t>
            </a:r>
            <a:r>
              <a:rPr lang="en-AU" sz="1800" dirty="0" err="1">
                <a:latin typeface="Calibri" panose="020F0502020204030204" pitchFamily="34" charset="0"/>
              </a:rPr>
              <a:t>MusicAlbum</a:t>
            </a:r>
            <a:r>
              <a:rPr lang="en-US" sz="1800" dirty="0">
                <a:latin typeface="Calibri" panose="020F0502020204030204" pitchFamily="34" charset="0"/>
              </a:rPr>
              <a:t> \ </a:t>
            </a:r>
          </a:p>
          <a:p>
            <a:pPr marL="49213" lvl="2" algn="l"/>
            <a:r>
              <a:rPr lang="en-US" sz="1800" dirty="0">
                <a:latin typeface="Calibri" panose="020F0502020204030204" pitchFamily="34" charset="0"/>
              </a:rPr>
              <a:t>  --key-condition-expression "Artist = :A1 or Artist = </a:t>
            </a:r>
            <a:r>
              <a:rPr lang="en-AU" sz="1800" dirty="0">
                <a:latin typeface="Calibri" panose="020F0502020204030204" pitchFamily="34" charset="0"/>
              </a:rPr>
              <a:t>:A2</a:t>
            </a:r>
            <a:r>
              <a:rPr lang="en-US" sz="1800" dirty="0">
                <a:latin typeface="Calibri" panose="020F0502020204030204" pitchFamily="34" charset="0"/>
              </a:rPr>
              <a:t>" \ </a:t>
            </a:r>
          </a:p>
          <a:p>
            <a:pPr marL="49213" lvl="2" algn="l"/>
            <a:r>
              <a:rPr lang="en-US" sz="1800" dirty="0">
                <a:latin typeface="Calibri" panose="020F0502020204030204" pitchFamily="34" charset="0"/>
              </a:rPr>
              <a:t>  --expression-attribute-values </a:t>
            </a:r>
            <a:r>
              <a:rPr lang="en-AU" sz="1800" dirty="0">
                <a:latin typeface="+mn-lt"/>
              </a:rPr>
              <a:t>'</a:t>
            </a:r>
            <a:r>
              <a:rPr lang="en-US" sz="1800" dirty="0">
                <a:latin typeface="Calibri" panose="020F0502020204030204" pitchFamily="34" charset="0"/>
              </a:rPr>
              <a:t>{":A1":{"</a:t>
            </a:r>
            <a:r>
              <a:rPr lang="en-US" sz="1800" dirty="0" err="1">
                <a:latin typeface="Calibri" panose="020F0502020204030204" pitchFamily="34" charset="0"/>
              </a:rPr>
              <a:t>S":"Tom</a:t>
            </a:r>
            <a:r>
              <a:rPr lang="en-US" sz="1800" dirty="0">
                <a:latin typeface="Calibri" panose="020F0502020204030204" pitchFamily="34" charset="0"/>
              </a:rPr>
              <a:t>"}, ":A2":{"</a:t>
            </a:r>
            <a:r>
              <a:rPr lang="en-US" sz="1800" dirty="0" err="1">
                <a:latin typeface="Calibri" panose="020F0502020204030204" pitchFamily="34" charset="0"/>
              </a:rPr>
              <a:t>S":"Jerry</a:t>
            </a:r>
            <a:r>
              <a:rPr lang="en-US" sz="1800" dirty="0">
                <a:latin typeface="Calibri" panose="020F0502020204030204" pitchFamily="34" charset="0"/>
              </a:rPr>
              <a:t>"}}</a:t>
            </a:r>
            <a:r>
              <a:rPr lang="en-AU" sz="1800" dirty="0">
                <a:latin typeface="+mn-lt"/>
              </a:rPr>
              <a:t>'</a:t>
            </a:r>
            <a:r>
              <a:rPr lang="en-US" sz="1800" dirty="0">
                <a:latin typeface="Calibri" panose="020F0502020204030204" pitchFamily="34" charset="0"/>
              </a:rPr>
              <a:t>  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CDA297F-7E0F-4C49-BE38-BCCD28A130C5}"/>
              </a:ext>
            </a:extLst>
          </p:cNvPr>
          <p:cNvSpPr txBox="1"/>
          <p:nvPr/>
        </p:nvSpPr>
        <p:spPr>
          <a:xfrm>
            <a:off x="593389" y="874944"/>
            <a:ext cx="559168" cy="1366528"/>
          </a:xfrm>
          <a:prstGeom prst="rect">
            <a:avLst/>
          </a:prstGeom>
          <a:solidFill>
            <a:schemeClr val="bg1">
              <a:lumMod val="85000"/>
              <a:alpha val="30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pPr marL="49213" lvl="2" algn="l"/>
            <a:r>
              <a:rPr lang="en-US" sz="1800" dirty="0">
                <a:latin typeface="+mn-lt"/>
              </a:rPr>
              <a:t>1</a:t>
            </a:r>
          </a:p>
          <a:p>
            <a:pPr marL="49213" lvl="2" algn="l"/>
            <a:r>
              <a:rPr lang="en-US" sz="1800" dirty="0">
                <a:latin typeface="+mn-lt"/>
              </a:rPr>
              <a:t>2</a:t>
            </a:r>
          </a:p>
          <a:p>
            <a:pPr marL="49213" lvl="2" algn="l"/>
            <a:r>
              <a:rPr lang="en-US" sz="1800" dirty="0">
                <a:latin typeface="+mn-lt"/>
              </a:rPr>
              <a:t>3</a:t>
            </a:r>
          </a:p>
          <a:p>
            <a:pPr marL="49213" lvl="2" algn="l"/>
            <a:r>
              <a:rPr lang="en-US" sz="1800" dirty="0">
                <a:latin typeface="+mn-lt"/>
              </a:rPr>
              <a:t>4</a:t>
            </a:r>
            <a:endParaRPr lang="en-US" sz="1600" dirty="0">
              <a:latin typeface="+mn-lt"/>
            </a:endParaRPr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380051B4-4662-40FB-B0DA-DC472D9A16EB}"/>
              </a:ext>
            </a:extLst>
          </p:cNvPr>
          <p:cNvSpPr txBox="1">
            <a:spLocks/>
          </p:cNvSpPr>
          <p:nvPr/>
        </p:nvSpPr>
        <p:spPr>
          <a:xfrm>
            <a:off x="373194" y="2566816"/>
            <a:ext cx="3067259" cy="862184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0" algn="l" rtl="0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sz="2000" dirty="0">
                <a:solidFill>
                  <a:srgbClr val="FF0000"/>
                </a:solidFill>
              </a:rPr>
              <a:t>Answer</a:t>
            </a:r>
          </a:p>
        </p:txBody>
      </p:sp>
    </p:spTree>
    <p:extLst>
      <p:ext uri="{BB962C8B-B14F-4D97-AF65-F5344CB8AC3E}">
        <p14:creationId xmlns:p14="http://schemas.microsoft.com/office/powerpoint/2010/main" val="234088719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FBA02F26-1BED-44BE-BC72-6C90DFE8FE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3389" y="230942"/>
            <a:ext cx="1867618" cy="588263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AU" sz="2600" dirty="0"/>
              <a:t>Part 3</a:t>
            </a:r>
            <a:endParaRPr lang="en-US" sz="22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E614E99-6B60-4D7A-AB48-CE8878D869D8}"/>
              </a:ext>
            </a:extLst>
          </p:cNvPr>
          <p:cNvSpPr txBox="1"/>
          <p:nvPr/>
        </p:nvSpPr>
        <p:spPr>
          <a:xfrm>
            <a:off x="1252379" y="748866"/>
            <a:ext cx="9687242" cy="1366528"/>
          </a:xfrm>
          <a:prstGeom prst="rect">
            <a:avLst/>
          </a:prstGeom>
          <a:solidFill>
            <a:schemeClr val="bg1">
              <a:lumMod val="85000"/>
              <a:alpha val="30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pPr marL="49213" lvl="2" algn="l"/>
            <a:r>
              <a:rPr lang="en-AU" sz="1800" dirty="0" err="1">
                <a:latin typeface="+mn-lt"/>
              </a:rPr>
              <a:t>aws</a:t>
            </a:r>
            <a:r>
              <a:rPr lang="en-AU" sz="1800" dirty="0">
                <a:latin typeface="+mn-lt"/>
              </a:rPr>
              <a:t> </a:t>
            </a:r>
            <a:r>
              <a:rPr lang="en-AU" sz="1800" dirty="0" err="1">
                <a:latin typeface="+mn-lt"/>
              </a:rPr>
              <a:t>dynamodb</a:t>
            </a:r>
            <a:r>
              <a:rPr lang="en-AU" sz="1800" dirty="0">
                <a:latin typeface="+mn-lt"/>
              </a:rPr>
              <a:t> put-item \ </a:t>
            </a:r>
          </a:p>
          <a:p>
            <a:pPr marL="49213" lvl="2" algn="l"/>
            <a:r>
              <a:rPr lang="en-AU" sz="1800" i="1" dirty="0">
                <a:latin typeface="+mn-lt"/>
              </a:rPr>
              <a:t>  --table-name </a:t>
            </a:r>
            <a:r>
              <a:rPr lang="en-AU" sz="1800" dirty="0" err="1">
                <a:latin typeface="+mn-lt"/>
              </a:rPr>
              <a:t>MusicAlbum</a:t>
            </a:r>
            <a:r>
              <a:rPr lang="en-AU" sz="1800" i="1" dirty="0">
                <a:latin typeface="+mn-lt"/>
              </a:rPr>
              <a:t> \</a:t>
            </a:r>
            <a:r>
              <a:rPr lang="en-AU" sz="1800" dirty="0">
                <a:latin typeface="+mn-lt"/>
              </a:rPr>
              <a:t> </a:t>
            </a:r>
          </a:p>
          <a:p>
            <a:pPr marL="49213" lvl="2" algn="l"/>
            <a:r>
              <a:rPr lang="en-AU" sz="1800" i="1" dirty="0">
                <a:latin typeface="+mn-lt"/>
              </a:rPr>
              <a:t>  --item </a:t>
            </a:r>
            <a:r>
              <a:rPr lang="en-AU" sz="1800" dirty="0">
                <a:latin typeface="+mn-lt"/>
              </a:rPr>
              <a:t>'{"Artist": {"S": "Eason"}}'\ </a:t>
            </a:r>
          </a:p>
          <a:p>
            <a:pPr marL="49213" lvl="2" algn="l"/>
            <a:r>
              <a:rPr lang="en-AU" sz="1800" i="1" dirty="0">
                <a:latin typeface="+mn-lt"/>
              </a:rPr>
              <a:t>  --return-consumed-capacity TOTAL </a:t>
            </a:r>
            <a:r>
              <a:rPr lang="en-AU" sz="1800" dirty="0">
                <a:latin typeface="+mn-lt"/>
              </a:rPr>
              <a:t>--endpoint-</a:t>
            </a:r>
            <a:r>
              <a:rPr lang="en-AU" sz="1800" dirty="0" err="1">
                <a:latin typeface="+mn-lt"/>
              </a:rPr>
              <a:t>url</a:t>
            </a:r>
            <a:r>
              <a:rPr lang="en-AU" sz="1800" dirty="0">
                <a:latin typeface="+mn-lt"/>
              </a:rPr>
              <a:t>=http://localhost:8000</a:t>
            </a:r>
            <a:endParaRPr lang="en-AU" sz="1800" i="1" dirty="0">
              <a:latin typeface="+mn-lt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A64B221-5502-4C03-BE25-C67BDAD7A9E0}"/>
              </a:ext>
            </a:extLst>
          </p:cNvPr>
          <p:cNvSpPr txBox="1"/>
          <p:nvPr/>
        </p:nvSpPr>
        <p:spPr>
          <a:xfrm>
            <a:off x="693211" y="748867"/>
            <a:ext cx="559168" cy="1366528"/>
          </a:xfrm>
          <a:prstGeom prst="rect">
            <a:avLst/>
          </a:prstGeom>
          <a:solidFill>
            <a:schemeClr val="bg1">
              <a:lumMod val="85000"/>
              <a:alpha val="30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pPr marL="49213" lvl="2" algn="l"/>
            <a:r>
              <a:rPr lang="en-US" sz="1800" dirty="0">
                <a:latin typeface="+mn-lt"/>
              </a:rPr>
              <a:t>1</a:t>
            </a:r>
          </a:p>
          <a:p>
            <a:pPr marL="49213" lvl="2" algn="l"/>
            <a:r>
              <a:rPr lang="en-US" sz="1800" dirty="0">
                <a:latin typeface="+mn-lt"/>
              </a:rPr>
              <a:t>2</a:t>
            </a:r>
          </a:p>
          <a:p>
            <a:pPr marL="49213" lvl="2" algn="l"/>
            <a:r>
              <a:rPr lang="en-US" sz="1800" dirty="0">
                <a:latin typeface="+mn-lt"/>
              </a:rPr>
              <a:t>3</a:t>
            </a:r>
          </a:p>
          <a:p>
            <a:pPr marL="49213" lvl="2" algn="l"/>
            <a:r>
              <a:rPr lang="en-US" sz="1800" dirty="0">
                <a:latin typeface="+mn-lt"/>
              </a:rPr>
              <a:t>4</a:t>
            </a:r>
          </a:p>
        </p:txBody>
      </p:sp>
      <p:sp>
        <p:nvSpPr>
          <p:cNvPr id="16" name="Rectangle 4">
            <a:extLst>
              <a:ext uri="{FF2B5EF4-FFF2-40B4-BE49-F238E27FC236}">
                <a16:creationId xmlns:a16="http://schemas.microsoft.com/office/drawing/2014/main" id="{64451328-AC89-425C-AB40-7E68C2F6ECE8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3389" y="2233208"/>
            <a:ext cx="6507480" cy="40011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en-US" dirty="0">
                <a:latin typeface="+mn-lt"/>
              </a:rPr>
              <a:t>Read the code snippet above and show its table output.</a:t>
            </a:r>
          </a:p>
        </p:txBody>
      </p:sp>
    </p:spTree>
    <p:extLst>
      <p:ext uri="{BB962C8B-B14F-4D97-AF65-F5344CB8AC3E}">
        <p14:creationId xmlns:p14="http://schemas.microsoft.com/office/powerpoint/2010/main" val="372730550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FBA02F26-1BED-44BE-BC72-6C90DFE8FE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3389" y="230942"/>
            <a:ext cx="1867618" cy="588263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AU" sz="2600" dirty="0"/>
              <a:t>Part 3</a:t>
            </a:r>
            <a:endParaRPr lang="en-US" sz="22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E614E99-6B60-4D7A-AB48-CE8878D869D8}"/>
              </a:ext>
            </a:extLst>
          </p:cNvPr>
          <p:cNvSpPr txBox="1"/>
          <p:nvPr/>
        </p:nvSpPr>
        <p:spPr>
          <a:xfrm>
            <a:off x="1252379" y="748866"/>
            <a:ext cx="9687242" cy="1366528"/>
          </a:xfrm>
          <a:prstGeom prst="rect">
            <a:avLst/>
          </a:prstGeom>
          <a:solidFill>
            <a:schemeClr val="bg1">
              <a:lumMod val="85000"/>
              <a:alpha val="30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pPr marL="49213" lvl="2" algn="l"/>
            <a:r>
              <a:rPr lang="en-AU" sz="1800" dirty="0" err="1">
                <a:latin typeface="+mn-lt"/>
              </a:rPr>
              <a:t>aws</a:t>
            </a:r>
            <a:r>
              <a:rPr lang="en-AU" sz="1800" dirty="0">
                <a:latin typeface="+mn-lt"/>
              </a:rPr>
              <a:t> </a:t>
            </a:r>
            <a:r>
              <a:rPr lang="en-AU" sz="1800" dirty="0" err="1">
                <a:latin typeface="+mn-lt"/>
              </a:rPr>
              <a:t>dynamodb</a:t>
            </a:r>
            <a:r>
              <a:rPr lang="en-AU" sz="1800" dirty="0">
                <a:latin typeface="+mn-lt"/>
              </a:rPr>
              <a:t> put-item \ </a:t>
            </a:r>
          </a:p>
          <a:p>
            <a:pPr marL="49213" lvl="2" algn="l"/>
            <a:r>
              <a:rPr lang="en-AU" sz="1800" i="1" dirty="0">
                <a:latin typeface="+mn-lt"/>
              </a:rPr>
              <a:t>  --table-name </a:t>
            </a:r>
            <a:r>
              <a:rPr lang="en-AU" sz="1800" dirty="0" err="1">
                <a:latin typeface="+mn-lt"/>
              </a:rPr>
              <a:t>MusicAlbum</a:t>
            </a:r>
            <a:r>
              <a:rPr lang="en-AU" sz="1800" i="1" dirty="0">
                <a:latin typeface="+mn-lt"/>
              </a:rPr>
              <a:t> \</a:t>
            </a:r>
            <a:r>
              <a:rPr lang="en-AU" sz="1800" dirty="0">
                <a:latin typeface="+mn-lt"/>
              </a:rPr>
              <a:t> </a:t>
            </a:r>
          </a:p>
          <a:p>
            <a:pPr marL="49213" lvl="2" algn="l"/>
            <a:r>
              <a:rPr lang="en-AU" sz="1800" i="1" dirty="0">
                <a:latin typeface="+mn-lt"/>
              </a:rPr>
              <a:t>  --item </a:t>
            </a:r>
            <a:r>
              <a:rPr lang="en-AU" sz="1800" dirty="0">
                <a:latin typeface="+mn-lt"/>
              </a:rPr>
              <a:t>'{"Artist": {"S": "Eason"}}'\ </a:t>
            </a:r>
          </a:p>
          <a:p>
            <a:pPr marL="49213" lvl="2" algn="l"/>
            <a:r>
              <a:rPr lang="en-AU" sz="1800" i="1" dirty="0">
                <a:latin typeface="+mn-lt"/>
              </a:rPr>
              <a:t>  --return-consumed-capacity TOTAL </a:t>
            </a:r>
            <a:r>
              <a:rPr lang="en-AU" sz="1800" dirty="0">
                <a:latin typeface="+mn-lt"/>
              </a:rPr>
              <a:t>--endpoint-</a:t>
            </a:r>
            <a:r>
              <a:rPr lang="en-AU" sz="1800" dirty="0" err="1">
                <a:latin typeface="+mn-lt"/>
              </a:rPr>
              <a:t>url</a:t>
            </a:r>
            <a:r>
              <a:rPr lang="en-AU" sz="1800" dirty="0">
                <a:latin typeface="+mn-lt"/>
              </a:rPr>
              <a:t>=http://localhost:8000</a:t>
            </a:r>
            <a:endParaRPr lang="en-AU" sz="1800" i="1" dirty="0">
              <a:latin typeface="+mn-lt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A64B221-5502-4C03-BE25-C67BDAD7A9E0}"/>
              </a:ext>
            </a:extLst>
          </p:cNvPr>
          <p:cNvSpPr txBox="1"/>
          <p:nvPr/>
        </p:nvSpPr>
        <p:spPr>
          <a:xfrm>
            <a:off x="693211" y="748867"/>
            <a:ext cx="559168" cy="1366528"/>
          </a:xfrm>
          <a:prstGeom prst="rect">
            <a:avLst/>
          </a:prstGeom>
          <a:solidFill>
            <a:schemeClr val="bg1">
              <a:lumMod val="85000"/>
              <a:alpha val="30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pPr marL="49213" lvl="2" algn="l"/>
            <a:r>
              <a:rPr lang="en-US" sz="1800" dirty="0">
                <a:latin typeface="+mn-lt"/>
              </a:rPr>
              <a:t>1</a:t>
            </a:r>
          </a:p>
          <a:p>
            <a:pPr marL="49213" lvl="2" algn="l"/>
            <a:r>
              <a:rPr lang="en-US" sz="1800" dirty="0">
                <a:latin typeface="+mn-lt"/>
              </a:rPr>
              <a:t>2</a:t>
            </a:r>
          </a:p>
          <a:p>
            <a:pPr marL="49213" lvl="2" algn="l"/>
            <a:r>
              <a:rPr lang="en-US" sz="1800" dirty="0">
                <a:latin typeface="+mn-lt"/>
              </a:rPr>
              <a:t>3</a:t>
            </a:r>
          </a:p>
          <a:p>
            <a:pPr marL="49213" lvl="2" algn="l"/>
            <a:r>
              <a:rPr lang="en-US" sz="1800" dirty="0">
                <a:latin typeface="+mn-lt"/>
              </a:rPr>
              <a:t>4</a:t>
            </a:r>
          </a:p>
        </p:txBody>
      </p:sp>
      <p:sp>
        <p:nvSpPr>
          <p:cNvPr id="16" name="Rectangle 4">
            <a:extLst>
              <a:ext uri="{FF2B5EF4-FFF2-40B4-BE49-F238E27FC236}">
                <a16:creationId xmlns:a16="http://schemas.microsoft.com/office/drawing/2014/main" id="{64451328-AC89-425C-AB40-7E68C2F6ECE8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3389" y="2233208"/>
            <a:ext cx="6507480" cy="40011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en-US" dirty="0">
                <a:latin typeface="+mn-lt"/>
              </a:rPr>
              <a:t>Read the code snippet above and show its table output.</a:t>
            </a:r>
          </a:p>
        </p:txBody>
      </p:sp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B76EAE17-8047-4B7F-BCAE-0C87AEFE144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98687436"/>
              </p:ext>
            </p:extLst>
          </p:nvPr>
        </p:nvGraphicFramePr>
        <p:xfrm>
          <a:off x="693211" y="3736381"/>
          <a:ext cx="5637251" cy="2372752"/>
        </p:xfrm>
        <a:graphic>
          <a:graphicData uri="http://schemas.openxmlformats.org/drawingml/2006/table">
            <a:tbl>
              <a:tblPr/>
              <a:tblGrid>
                <a:gridCol w="2853712">
                  <a:extLst>
                    <a:ext uri="{9D8B030D-6E8A-4147-A177-3AD203B41FA5}">
                      <a16:colId xmlns:a16="http://schemas.microsoft.com/office/drawing/2014/main" val="1924360048"/>
                    </a:ext>
                  </a:extLst>
                </a:gridCol>
                <a:gridCol w="2783539">
                  <a:extLst>
                    <a:ext uri="{9D8B030D-6E8A-4147-A177-3AD203B41FA5}">
                      <a16:colId xmlns:a16="http://schemas.microsoft.com/office/drawing/2014/main" val="223233917"/>
                    </a:ext>
                  </a:extLst>
                </a:gridCol>
              </a:tblGrid>
              <a:tr h="583931">
                <a:tc>
                  <a:txBody>
                    <a:bodyPr/>
                    <a:lstStyle/>
                    <a:p>
                      <a:pPr algn="just" rtl="0" fontAlgn="t">
                        <a:spcBef>
                          <a:spcPts val="1200"/>
                        </a:spcBef>
                        <a:spcAft>
                          <a:spcPts val="1200"/>
                        </a:spcAft>
                      </a:pPr>
                      <a:r>
                        <a:rPr lang="en-AU" sz="20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Artist</a:t>
                      </a:r>
                    </a:p>
                  </a:txBody>
                  <a:tcPr marL="88900" marR="88900" marT="50800" marB="50800">
                    <a:lnL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 rtl="0" fontAlgn="t">
                        <a:spcBef>
                          <a:spcPts val="1200"/>
                        </a:spcBef>
                        <a:spcAft>
                          <a:spcPts val="1200"/>
                        </a:spcAft>
                      </a:pPr>
                      <a:r>
                        <a:rPr lang="en-AU" sz="20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Song</a:t>
                      </a:r>
                    </a:p>
                  </a:txBody>
                  <a:tcPr marL="88900" marR="88900" marT="50800" marB="50800">
                    <a:lnL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08597333"/>
                  </a:ext>
                </a:extLst>
              </a:tr>
              <a:tr h="517413">
                <a:tc>
                  <a:txBody>
                    <a:bodyPr/>
                    <a:lstStyle/>
                    <a:p>
                      <a:pPr algn="just" rtl="0" fontAlgn="t">
                        <a:spcBef>
                          <a:spcPts val="1200"/>
                        </a:spcBef>
                        <a:spcAft>
                          <a:spcPts val="1200"/>
                        </a:spcAft>
                      </a:pPr>
                      <a:r>
                        <a:rPr lang="en-AU" sz="20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Tom</a:t>
                      </a:r>
                    </a:p>
                  </a:txBody>
                  <a:tcPr marL="88900" marR="88900" marT="50800" marB="50800">
                    <a:lnL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 rtl="0" fontAlgn="t">
                        <a:spcBef>
                          <a:spcPts val="1200"/>
                        </a:spcBef>
                        <a:spcAft>
                          <a:spcPts val="1200"/>
                        </a:spcAft>
                      </a:pPr>
                      <a:r>
                        <a:rPr lang="en-AU" sz="20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Call me today</a:t>
                      </a:r>
                    </a:p>
                  </a:txBody>
                  <a:tcPr marL="88900" marR="88900" marT="50800" marB="50800">
                    <a:lnL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00003405"/>
                  </a:ext>
                </a:extLst>
              </a:tr>
              <a:tr h="356465">
                <a:tc>
                  <a:txBody>
                    <a:bodyPr/>
                    <a:lstStyle/>
                    <a:p>
                      <a:pPr algn="just" rtl="0" fontAlgn="t">
                        <a:spcBef>
                          <a:spcPts val="1200"/>
                        </a:spcBef>
                        <a:spcAft>
                          <a:spcPts val="1200"/>
                        </a:spcAft>
                      </a:pPr>
                      <a:r>
                        <a:rPr lang="en-AU" sz="20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Henry</a:t>
                      </a:r>
                    </a:p>
                  </a:txBody>
                  <a:tcPr marL="88900" marR="88900" marT="50800" marB="50800">
                    <a:lnL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 rtl="0" fontAlgn="t">
                        <a:spcBef>
                          <a:spcPts val="1200"/>
                        </a:spcBef>
                        <a:spcAft>
                          <a:spcPts val="1200"/>
                        </a:spcAft>
                      </a:pPr>
                      <a:r>
                        <a:rPr lang="en-AU" sz="20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Flowers</a:t>
                      </a:r>
                    </a:p>
                  </a:txBody>
                  <a:tcPr marL="88900" marR="88900" marT="50800" marB="50800">
                    <a:lnL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89814150"/>
                  </a:ext>
                </a:extLst>
              </a:tr>
              <a:tr h="356465">
                <a:tc>
                  <a:txBody>
                    <a:bodyPr/>
                    <a:lstStyle/>
                    <a:p>
                      <a:pPr algn="just" rtl="0" fontAlgn="t">
                        <a:spcBef>
                          <a:spcPts val="1200"/>
                        </a:spcBef>
                        <a:spcAft>
                          <a:spcPts val="1200"/>
                        </a:spcAft>
                      </a:pPr>
                      <a:r>
                        <a:rPr lang="en-AU" sz="20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Jerry</a:t>
                      </a:r>
                    </a:p>
                  </a:txBody>
                  <a:tcPr marL="88900" marR="88900" marT="50800" marB="50800">
                    <a:lnL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 rtl="0" fontAlgn="t">
                        <a:spcBef>
                          <a:spcPts val="1200"/>
                        </a:spcBef>
                        <a:spcAft>
                          <a:spcPts val="1200"/>
                        </a:spcAft>
                      </a:pPr>
                      <a:r>
                        <a:rPr lang="en-AU" sz="20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Happy day</a:t>
                      </a:r>
                    </a:p>
                  </a:txBody>
                  <a:tcPr marL="88900" marR="88900" marT="50800" marB="50800">
                    <a:lnL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76832406"/>
                  </a:ext>
                </a:extLst>
              </a:tr>
              <a:tr h="458608">
                <a:tc>
                  <a:txBody>
                    <a:bodyPr/>
                    <a:lstStyle/>
                    <a:p>
                      <a:pPr algn="just" rtl="0" fontAlgn="t">
                        <a:spcBef>
                          <a:spcPts val="1200"/>
                        </a:spcBef>
                        <a:spcAft>
                          <a:spcPts val="1200"/>
                        </a:spcAft>
                      </a:pPr>
                      <a:r>
                        <a:rPr lang="en-AU" sz="20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Eason</a:t>
                      </a:r>
                    </a:p>
                  </a:txBody>
                  <a:tcPr marL="88900" marR="88900" marT="50800" marB="50800">
                    <a:lnL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 rtl="0" fontAlgn="t">
                        <a:spcBef>
                          <a:spcPts val="1200"/>
                        </a:spcBef>
                        <a:spcAft>
                          <a:spcPts val="1200"/>
                        </a:spcAft>
                      </a:pPr>
                      <a:endParaRPr lang="en-AU" sz="20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8900" marR="88900" marT="50800" marB="50800">
                    <a:lnL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71930919"/>
                  </a:ext>
                </a:extLst>
              </a:tr>
            </a:tbl>
          </a:graphicData>
        </a:graphic>
      </p:graphicFrame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0270395F-BF34-4E8C-B21F-8646AEAE6D73}"/>
              </a:ext>
            </a:extLst>
          </p:cNvPr>
          <p:cNvSpPr txBox="1">
            <a:spLocks/>
          </p:cNvSpPr>
          <p:nvPr/>
        </p:nvSpPr>
        <p:spPr>
          <a:xfrm>
            <a:off x="408001" y="2874197"/>
            <a:ext cx="3067259" cy="862184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0" algn="l" rtl="0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sz="2000" dirty="0">
                <a:solidFill>
                  <a:srgbClr val="FF0000"/>
                </a:solidFill>
              </a:rPr>
              <a:t>Answer</a:t>
            </a:r>
          </a:p>
        </p:txBody>
      </p:sp>
    </p:spTree>
    <p:extLst>
      <p:ext uri="{BB962C8B-B14F-4D97-AF65-F5344CB8AC3E}">
        <p14:creationId xmlns:p14="http://schemas.microsoft.com/office/powerpoint/2010/main" val="222387889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D969FBCF-CAFE-430A-80E8-8CAC90FEC8C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407" y="3366108"/>
            <a:ext cx="9971212" cy="1815881"/>
          </a:xfrm>
          <a:prstGeom prst="rect">
            <a:avLst/>
          </a:prstGeom>
        </p:spPr>
      </p:pic>
      <p:sp>
        <p:nvSpPr>
          <p:cNvPr id="15" name="Title 1">
            <a:extLst>
              <a:ext uri="{FF2B5EF4-FFF2-40B4-BE49-F238E27FC236}">
                <a16:creationId xmlns:a16="http://schemas.microsoft.com/office/drawing/2014/main" id="{90756447-528D-4B22-86B2-C50A30E29B40}"/>
              </a:ext>
            </a:extLst>
          </p:cNvPr>
          <p:cNvSpPr txBox="1">
            <a:spLocks/>
          </p:cNvSpPr>
          <p:nvPr/>
        </p:nvSpPr>
        <p:spPr>
          <a:xfrm>
            <a:off x="603406" y="295461"/>
            <a:ext cx="6469926" cy="76328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fontAlgn="auto">
              <a:spcAft>
                <a:spcPts val="0"/>
              </a:spcAft>
              <a:buClrTx/>
              <a:buSzTx/>
              <a:buFontTx/>
            </a:pPr>
            <a:r>
              <a:rPr lang="en-US" sz="2400" dirty="0">
                <a:solidFill>
                  <a:srgbClr val="FF0000"/>
                </a:solidFill>
                <a:latin typeface="+mn-lt"/>
                <a:ea typeface="+mn-ea"/>
                <a:cs typeface="+mn-cs"/>
              </a:rPr>
              <a:t>Hash key is needed when creating a table.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0A7BBA1-8ECA-412C-8962-9C910765AA09}"/>
              </a:ext>
            </a:extLst>
          </p:cNvPr>
          <p:cNvSpPr txBox="1"/>
          <p:nvPr/>
        </p:nvSpPr>
        <p:spPr>
          <a:xfrm>
            <a:off x="1165533" y="1058745"/>
            <a:ext cx="9409085" cy="1815882"/>
          </a:xfrm>
          <a:prstGeom prst="rect">
            <a:avLst/>
          </a:prstGeom>
          <a:solidFill>
            <a:schemeClr val="bg1">
              <a:lumMod val="85000"/>
              <a:alpha val="30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pPr marL="49213" lvl="2" algn="l"/>
            <a:r>
              <a:rPr lang="en-AU" sz="1600" dirty="0" err="1">
                <a:latin typeface="Courier" pitchFamily="2" charset="0"/>
              </a:rPr>
              <a:t>aws</a:t>
            </a:r>
            <a:r>
              <a:rPr lang="en-AU" sz="1600" dirty="0">
                <a:latin typeface="Courier" pitchFamily="2" charset="0"/>
              </a:rPr>
              <a:t> </a:t>
            </a:r>
            <a:r>
              <a:rPr lang="en-AU" sz="1600" dirty="0" err="1">
                <a:latin typeface="Courier" pitchFamily="2" charset="0"/>
              </a:rPr>
              <a:t>dynamodb</a:t>
            </a:r>
            <a:r>
              <a:rPr lang="en-AU" sz="1600" dirty="0">
                <a:latin typeface="Courier" pitchFamily="2" charset="0"/>
              </a:rPr>
              <a:t> create-table --table-name </a:t>
            </a:r>
            <a:r>
              <a:rPr lang="en-AU" sz="1600" dirty="0" err="1">
                <a:latin typeface="Courier" pitchFamily="2" charset="0"/>
              </a:rPr>
              <a:t>MusicAlbum</a:t>
            </a:r>
            <a:r>
              <a:rPr lang="en-AU" sz="1600" dirty="0">
                <a:latin typeface="Courier" pitchFamily="2" charset="0"/>
              </a:rPr>
              <a:t> </a:t>
            </a:r>
          </a:p>
          <a:p>
            <a:pPr marL="49213" lvl="2" algn="l"/>
            <a:r>
              <a:rPr lang="en-AU" sz="1600" dirty="0">
                <a:latin typeface="Courier" pitchFamily="2" charset="0"/>
              </a:rPr>
              <a:t>  --attribute-definitions \</a:t>
            </a:r>
          </a:p>
          <a:p>
            <a:pPr marL="49213" lvl="2" algn="l"/>
            <a:r>
              <a:rPr lang="en-AU" sz="1600" dirty="0">
                <a:latin typeface="Courier" pitchFamily="2" charset="0"/>
              </a:rPr>
              <a:t>    </a:t>
            </a:r>
            <a:r>
              <a:rPr lang="en-AU" sz="1600" dirty="0" err="1">
                <a:latin typeface="Courier" pitchFamily="2" charset="0"/>
              </a:rPr>
              <a:t>AttributeName</a:t>
            </a:r>
            <a:r>
              <a:rPr lang="en-AU" sz="1600" dirty="0">
                <a:latin typeface="Courier" pitchFamily="2" charset="0"/>
              </a:rPr>
              <a:t>=</a:t>
            </a:r>
            <a:r>
              <a:rPr lang="en-AU" sz="1600" dirty="0" err="1">
                <a:latin typeface="Courier" pitchFamily="2" charset="0"/>
              </a:rPr>
              <a:t>Song,AttributeType</a:t>
            </a:r>
            <a:r>
              <a:rPr lang="en-AU" sz="1600" dirty="0">
                <a:latin typeface="Courier" pitchFamily="2" charset="0"/>
              </a:rPr>
              <a:t>=S \ </a:t>
            </a:r>
          </a:p>
          <a:p>
            <a:pPr marL="49213" lvl="2" algn="l"/>
            <a:r>
              <a:rPr lang="en-AU" sz="1600" dirty="0">
                <a:latin typeface="Courier" pitchFamily="2" charset="0"/>
              </a:rPr>
              <a:t>  --key-schema  </a:t>
            </a:r>
            <a:r>
              <a:rPr lang="en-AU" sz="1600" dirty="0" err="1">
                <a:latin typeface="Courier" pitchFamily="2" charset="0"/>
              </a:rPr>
              <a:t>AttributeName</a:t>
            </a:r>
            <a:r>
              <a:rPr lang="en-AU" sz="1600" dirty="0">
                <a:latin typeface="Courier" pitchFamily="2" charset="0"/>
              </a:rPr>
              <a:t>=</a:t>
            </a:r>
            <a:r>
              <a:rPr lang="en-AU" sz="1600" dirty="0" err="1">
                <a:latin typeface="Courier" pitchFamily="2" charset="0"/>
              </a:rPr>
              <a:t>Song,KeyType</a:t>
            </a:r>
            <a:r>
              <a:rPr lang="en-AU" sz="1600" dirty="0">
                <a:latin typeface="Courier" pitchFamily="2" charset="0"/>
              </a:rPr>
              <a:t>=RANGE  \</a:t>
            </a:r>
          </a:p>
          <a:p>
            <a:pPr marL="7938" lvl="2" algn="l"/>
            <a:r>
              <a:rPr lang="en-AU" sz="1600" dirty="0">
                <a:latin typeface="Courier" pitchFamily="2" charset="0"/>
              </a:rPr>
              <a:t>  --provisioned-throughput </a:t>
            </a:r>
            <a:r>
              <a:rPr lang="en-AU" sz="1600" dirty="0" err="1">
                <a:latin typeface="Courier" pitchFamily="2" charset="0"/>
              </a:rPr>
              <a:t>ReadCapacityUnits</a:t>
            </a:r>
            <a:r>
              <a:rPr lang="en-AU" sz="1600" dirty="0">
                <a:latin typeface="Courier" pitchFamily="2" charset="0"/>
              </a:rPr>
              <a:t>=1,WriteCapacityUnits=1 \</a:t>
            </a:r>
          </a:p>
          <a:p>
            <a:pPr marL="7938" lvl="2" algn="l"/>
            <a:r>
              <a:rPr lang="en-AU" sz="1600" dirty="0">
                <a:latin typeface="Courier" pitchFamily="2" charset="0"/>
              </a:rPr>
              <a:t>  --endpoint-</a:t>
            </a:r>
            <a:r>
              <a:rPr lang="en-AU" sz="1600" dirty="0" err="1">
                <a:latin typeface="Courier" pitchFamily="2" charset="0"/>
              </a:rPr>
              <a:t>url</a:t>
            </a:r>
            <a:r>
              <a:rPr lang="en-AU" sz="1600" dirty="0">
                <a:latin typeface="Courier" pitchFamily="2" charset="0"/>
              </a:rPr>
              <a:t>=http://localhost:8000</a:t>
            </a:r>
            <a:endParaRPr lang="en-US" sz="18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89F2C1D-5A3E-4B02-8828-863831EA6B0C}"/>
              </a:ext>
            </a:extLst>
          </p:cNvPr>
          <p:cNvSpPr txBox="1"/>
          <p:nvPr/>
        </p:nvSpPr>
        <p:spPr>
          <a:xfrm>
            <a:off x="603406" y="1058745"/>
            <a:ext cx="559168" cy="1815882"/>
          </a:xfrm>
          <a:prstGeom prst="rect">
            <a:avLst/>
          </a:prstGeom>
          <a:solidFill>
            <a:schemeClr val="bg1">
              <a:lumMod val="85000"/>
              <a:alpha val="30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pPr marL="49213" lvl="2" algn="l"/>
            <a:r>
              <a:rPr lang="en-US" sz="1600" dirty="0">
                <a:latin typeface="Courier" pitchFamily="2" charset="0"/>
              </a:rPr>
              <a:t>1</a:t>
            </a:r>
          </a:p>
          <a:p>
            <a:pPr marL="49213" lvl="2" algn="l"/>
            <a:r>
              <a:rPr lang="en-US" sz="1600" dirty="0">
                <a:latin typeface="Courier" pitchFamily="2" charset="0"/>
              </a:rPr>
              <a:t>2</a:t>
            </a:r>
          </a:p>
          <a:p>
            <a:pPr marL="49213" lvl="2" algn="l"/>
            <a:r>
              <a:rPr lang="en-US" sz="1600" dirty="0">
                <a:latin typeface="Courier" pitchFamily="2" charset="0"/>
              </a:rPr>
              <a:t>3</a:t>
            </a:r>
          </a:p>
          <a:p>
            <a:pPr marL="49213" lvl="2" algn="l"/>
            <a:r>
              <a:rPr lang="en-US" sz="1600" dirty="0">
                <a:latin typeface="Courier" pitchFamily="2" charset="0"/>
              </a:rPr>
              <a:t>4</a:t>
            </a:r>
          </a:p>
          <a:p>
            <a:pPr marL="49213" lvl="2" algn="l"/>
            <a:r>
              <a:rPr lang="en-US" sz="1600" dirty="0">
                <a:latin typeface="Courier" pitchFamily="2" charset="0"/>
              </a:rPr>
              <a:t>5</a:t>
            </a:r>
          </a:p>
          <a:p>
            <a:pPr marL="49213" lvl="2" algn="l"/>
            <a:r>
              <a:rPr lang="en-US" sz="1600" dirty="0">
                <a:latin typeface="Courier" pitchFamily="2" charset="0"/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57261632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55ED390B-49FB-495A-84BE-E47FB731C17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9265" y="3099010"/>
            <a:ext cx="9350125" cy="3107845"/>
          </a:xfrm>
          <a:prstGeom prst="rect">
            <a:avLst/>
          </a:prstGeom>
        </p:spPr>
      </p:pic>
      <p:sp>
        <p:nvSpPr>
          <p:cNvPr id="16" name="Title 1">
            <a:extLst>
              <a:ext uri="{FF2B5EF4-FFF2-40B4-BE49-F238E27FC236}">
                <a16:creationId xmlns:a16="http://schemas.microsoft.com/office/drawing/2014/main" id="{02F2E7A2-8784-469E-8222-779C254F1ECA}"/>
              </a:ext>
            </a:extLst>
          </p:cNvPr>
          <p:cNvSpPr txBox="1">
            <a:spLocks/>
          </p:cNvSpPr>
          <p:nvPr/>
        </p:nvSpPr>
        <p:spPr>
          <a:xfrm>
            <a:off x="414979" y="230882"/>
            <a:ext cx="7318607" cy="76328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fontAlgn="auto">
              <a:spcAft>
                <a:spcPts val="0"/>
              </a:spcAft>
              <a:buClrTx/>
              <a:buSzTx/>
              <a:buFontTx/>
            </a:pPr>
            <a:r>
              <a:rPr lang="en-US" sz="2400" dirty="0">
                <a:solidFill>
                  <a:srgbClr val="FF0000"/>
                </a:solidFill>
                <a:latin typeface="+mn-lt"/>
                <a:ea typeface="+mn-ea"/>
                <a:cs typeface="+mn-cs"/>
              </a:rPr>
              <a:t>Range key is optional when creating a table.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265AA0F-EFB7-435C-8FE2-526F6EEE9A61}"/>
              </a:ext>
            </a:extLst>
          </p:cNvPr>
          <p:cNvSpPr txBox="1"/>
          <p:nvPr/>
        </p:nvSpPr>
        <p:spPr>
          <a:xfrm>
            <a:off x="1165534" y="1058745"/>
            <a:ext cx="8823856" cy="1815882"/>
          </a:xfrm>
          <a:prstGeom prst="rect">
            <a:avLst/>
          </a:prstGeom>
          <a:solidFill>
            <a:schemeClr val="bg1">
              <a:lumMod val="85000"/>
              <a:alpha val="30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pPr marL="49213" lvl="2" algn="l"/>
            <a:r>
              <a:rPr lang="en-AU" sz="1600" dirty="0" err="1">
                <a:latin typeface="Courier" pitchFamily="2" charset="0"/>
              </a:rPr>
              <a:t>aws</a:t>
            </a:r>
            <a:r>
              <a:rPr lang="en-AU" sz="1600" dirty="0">
                <a:latin typeface="Courier" pitchFamily="2" charset="0"/>
              </a:rPr>
              <a:t> </a:t>
            </a:r>
            <a:r>
              <a:rPr lang="en-AU" sz="1600" dirty="0" err="1">
                <a:latin typeface="Courier" pitchFamily="2" charset="0"/>
              </a:rPr>
              <a:t>dynamodb</a:t>
            </a:r>
            <a:r>
              <a:rPr lang="en-AU" sz="1600" dirty="0">
                <a:latin typeface="Courier" pitchFamily="2" charset="0"/>
              </a:rPr>
              <a:t> create-table --table-name </a:t>
            </a:r>
            <a:r>
              <a:rPr lang="en-AU" sz="1600" dirty="0" err="1">
                <a:latin typeface="Courier" pitchFamily="2" charset="0"/>
              </a:rPr>
              <a:t>MusicAlbum</a:t>
            </a:r>
            <a:r>
              <a:rPr lang="en-AU" sz="1600" dirty="0">
                <a:latin typeface="Courier" pitchFamily="2" charset="0"/>
              </a:rPr>
              <a:t> </a:t>
            </a:r>
          </a:p>
          <a:p>
            <a:pPr marL="49213" lvl="2" algn="l"/>
            <a:r>
              <a:rPr lang="en-AU" sz="1600" dirty="0">
                <a:latin typeface="Courier" pitchFamily="2" charset="0"/>
              </a:rPr>
              <a:t>  --attribute-definitions \</a:t>
            </a:r>
          </a:p>
          <a:p>
            <a:pPr marL="49213" lvl="2" algn="l"/>
            <a:r>
              <a:rPr lang="en-AU" sz="1600" dirty="0">
                <a:latin typeface="Courier" pitchFamily="2" charset="0"/>
              </a:rPr>
              <a:t>    </a:t>
            </a:r>
            <a:r>
              <a:rPr lang="en-AU" sz="1600" dirty="0" err="1">
                <a:latin typeface="Courier" pitchFamily="2" charset="0"/>
              </a:rPr>
              <a:t>AttributeName</a:t>
            </a:r>
            <a:r>
              <a:rPr lang="en-AU" sz="1600" dirty="0">
                <a:latin typeface="Courier" pitchFamily="2" charset="0"/>
              </a:rPr>
              <a:t>=</a:t>
            </a:r>
            <a:r>
              <a:rPr lang="en-AU" sz="1600" dirty="0" err="1">
                <a:latin typeface="Courier" pitchFamily="2" charset="0"/>
              </a:rPr>
              <a:t>Artist,AttributeType</a:t>
            </a:r>
            <a:r>
              <a:rPr lang="en-AU" sz="1600" dirty="0">
                <a:latin typeface="Courier" pitchFamily="2" charset="0"/>
              </a:rPr>
              <a:t>=S \ </a:t>
            </a:r>
          </a:p>
          <a:p>
            <a:pPr marL="49213" lvl="2" algn="l"/>
            <a:r>
              <a:rPr lang="en-AU" sz="1600" dirty="0">
                <a:latin typeface="Courier" pitchFamily="2" charset="0"/>
              </a:rPr>
              <a:t>  --key-schema  </a:t>
            </a:r>
            <a:r>
              <a:rPr lang="en-AU" sz="1600" dirty="0" err="1">
                <a:latin typeface="Courier" pitchFamily="2" charset="0"/>
              </a:rPr>
              <a:t>AttributeName</a:t>
            </a:r>
            <a:r>
              <a:rPr lang="en-AU" sz="1600" dirty="0">
                <a:latin typeface="Courier" pitchFamily="2" charset="0"/>
              </a:rPr>
              <a:t>=</a:t>
            </a:r>
            <a:r>
              <a:rPr lang="en-AU" sz="1600" dirty="0" err="1">
                <a:latin typeface="Courier" pitchFamily="2" charset="0"/>
              </a:rPr>
              <a:t>Artist,KeyType</a:t>
            </a:r>
            <a:r>
              <a:rPr lang="en-AU" sz="1600" dirty="0">
                <a:latin typeface="Courier" pitchFamily="2" charset="0"/>
              </a:rPr>
              <a:t>=HASH  \</a:t>
            </a:r>
          </a:p>
          <a:p>
            <a:pPr marL="7938" lvl="2" algn="l"/>
            <a:r>
              <a:rPr lang="en-AU" sz="1600" dirty="0">
                <a:latin typeface="Courier" pitchFamily="2" charset="0"/>
              </a:rPr>
              <a:t>  --provisioned-throughput </a:t>
            </a:r>
            <a:r>
              <a:rPr lang="en-AU" sz="1600" dirty="0" err="1">
                <a:latin typeface="Courier" pitchFamily="2" charset="0"/>
              </a:rPr>
              <a:t>ReadCapacityUnits</a:t>
            </a:r>
            <a:r>
              <a:rPr lang="en-AU" sz="1600" dirty="0">
                <a:latin typeface="Courier" pitchFamily="2" charset="0"/>
              </a:rPr>
              <a:t>=1,WriteCapacityUnits=1 \</a:t>
            </a:r>
          </a:p>
          <a:p>
            <a:pPr marL="7938" lvl="2" algn="l"/>
            <a:r>
              <a:rPr lang="en-AU" sz="1600" dirty="0">
                <a:latin typeface="Courier" pitchFamily="2" charset="0"/>
              </a:rPr>
              <a:t>  --endpoint-</a:t>
            </a:r>
            <a:r>
              <a:rPr lang="en-AU" sz="1600" dirty="0" err="1">
                <a:latin typeface="Courier" pitchFamily="2" charset="0"/>
              </a:rPr>
              <a:t>url</a:t>
            </a:r>
            <a:r>
              <a:rPr lang="en-AU" sz="1600" dirty="0">
                <a:latin typeface="Courier" pitchFamily="2" charset="0"/>
              </a:rPr>
              <a:t>=http://localhost:8000</a:t>
            </a:r>
            <a:endParaRPr lang="en-US" sz="18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8969D8C-5365-454D-91FB-955BD53B2BFB}"/>
              </a:ext>
            </a:extLst>
          </p:cNvPr>
          <p:cNvSpPr txBox="1"/>
          <p:nvPr/>
        </p:nvSpPr>
        <p:spPr>
          <a:xfrm>
            <a:off x="617694" y="1058745"/>
            <a:ext cx="524389" cy="1815882"/>
          </a:xfrm>
          <a:prstGeom prst="rect">
            <a:avLst/>
          </a:prstGeom>
          <a:solidFill>
            <a:schemeClr val="bg1">
              <a:lumMod val="85000"/>
              <a:alpha val="30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pPr marL="49213" lvl="2" algn="l"/>
            <a:r>
              <a:rPr lang="en-US" sz="1600" dirty="0">
                <a:latin typeface="Courier" pitchFamily="2" charset="0"/>
              </a:rPr>
              <a:t>1</a:t>
            </a:r>
          </a:p>
          <a:p>
            <a:pPr marL="49213" lvl="2" algn="l"/>
            <a:r>
              <a:rPr lang="en-US" sz="1600" dirty="0">
                <a:latin typeface="Courier" pitchFamily="2" charset="0"/>
              </a:rPr>
              <a:t>2</a:t>
            </a:r>
          </a:p>
          <a:p>
            <a:pPr marL="49213" lvl="2" algn="l"/>
            <a:r>
              <a:rPr lang="en-US" sz="1600" dirty="0">
                <a:latin typeface="Courier" pitchFamily="2" charset="0"/>
              </a:rPr>
              <a:t>3</a:t>
            </a:r>
          </a:p>
          <a:p>
            <a:pPr marL="49213" lvl="2" algn="l"/>
            <a:r>
              <a:rPr lang="en-US" sz="1600" dirty="0">
                <a:latin typeface="Courier" pitchFamily="2" charset="0"/>
              </a:rPr>
              <a:t>4</a:t>
            </a:r>
          </a:p>
          <a:p>
            <a:pPr marL="49213" lvl="2" algn="l"/>
            <a:r>
              <a:rPr lang="en-US" sz="1600" dirty="0">
                <a:latin typeface="Courier" pitchFamily="2" charset="0"/>
              </a:rPr>
              <a:t>5</a:t>
            </a:r>
          </a:p>
          <a:p>
            <a:pPr marL="49213" lvl="2" algn="l"/>
            <a:r>
              <a:rPr lang="en-US" sz="1600" dirty="0">
                <a:latin typeface="Courier" pitchFamily="2" charset="0"/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90767860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">
            <a:extLst>
              <a:ext uri="{FF2B5EF4-FFF2-40B4-BE49-F238E27FC236}">
                <a16:creationId xmlns:a16="http://schemas.microsoft.com/office/drawing/2014/main" id="{02F2E7A2-8784-469E-8222-779C254F1ECA}"/>
              </a:ext>
            </a:extLst>
          </p:cNvPr>
          <p:cNvSpPr txBox="1">
            <a:spLocks/>
          </p:cNvSpPr>
          <p:nvPr/>
        </p:nvSpPr>
        <p:spPr>
          <a:xfrm>
            <a:off x="590402" y="2053771"/>
            <a:ext cx="9715026" cy="76328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fontAlgn="auto">
              <a:spcAft>
                <a:spcPts val="0"/>
              </a:spcAft>
              <a:buClrTx/>
              <a:buSzTx/>
              <a:buFontTx/>
            </a:pPr>
            <a:endParaRPr lang="en-US" sz="2400" dirty="0">
              <a:solidFill>
                <a:srgbClr val="FF0000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265AA0F-EFB7-435C-8FE2-526F6EEE9A61}"/>
              </a:ext>
            </a:extLst>
          </p:cNvPr>
          <p:cNvSpPr txBox="1"/>
          <p:nvPr/>
        </p:nvSpPr>
        <p:spPr>
          <a:xfrm>
            <a:off x="1130365" y="218201"/>
            <a:ext cx="8823856" cy="1815882"/>
          </a:xfrm>
          <a:prstGeom prst="rect">
            <a:avLst/>
          </a:prstGeom>
          <a:solidFill>
            <a:schemeClr val="bg1">
              <a:lumMod val="85000"/>
              <a:alpha val="30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pPr marL="49213" lvl="2" algn="l"/>
            <a:r>
              <a:rPr lang="en-AU" sz="1600" dirty="0" err="1">
                <a:latin typeface="Courier" pitchFamily="2" charset="0"/>
              </a:rPr>
              <a:t>aws</a:t>
            </a:r>
            <a:r>
              <a:rPr lang="en-AU" sz="1600" dirty="0">
                <a:latin typeface="Courier" pitchFamily="2" charset="0"/>
              </a:rPr>
              <a:t> </a:t>
            </a:r>
            <a:r>
              <a:rPr lang="en-AU" sz="1600" dirty="0" err="1">
                <a:latin typeface="Courier" pitchFamily="2" charset="0"/>
              </a:rPr>
              <a:t>dynamodb</a:t>
            </a:r>
            <a:r>
              <a:rPr lang="en-AU" sz="1600" dirty="0">
                <a:latin typeface="Courier" pitchFamily="2" charset="0"/>
              </a:rPr>
              <a:t> create-table --table-name </a:t>
            </a:r>
            <a:r>
              <a:rPr lang="en-AU" sz="1600" dirty="0" err="1">
                <a:latin typeface="Courier" pitchFamily="2" charset="0"/>
              </a:rPr>
              <a:t>MusicAlbum</a:t>
            </a:r>
            <a:r>
              <a:rPr lang="en-AU" sz="1600" dirty="0">
                <a:latin typeface="Courier" pitchFamily="2" charset="0"/>
              </a:rPr>
              <a:t> </a:t>
            </a:r>
          </a:p>
          <a:p>
            <a:pPr marL="49213" lvl="2" algn="l"/>
            <a:r>
              <a:rPr lang="en-AU" sz="1600" dirty="0">
                <a:latin typeface="Courier" pitchFamily="2" charset="0"/>
              </a:rPr>
              <a:t>  --attribute-definitions \</a:t>
            </a:r>
          </a:p>
          <a:p>
            <a:pPr marL="49213" lvl="2" algn="l"/>
            <a:r>
              <a:rPr lang="en-AU" sz="1600" dirty="0">
                <a:latin typeface="Courier" pitchFamily="2" charset="0"/>
              </a:rPr>
              <a:t>    </a:t>
            </a:r>
            <a:r>
              <a:rPr lang="en-AU" sz="1600" dirty="0" err="1">
                <a:latin typeface="Courier" pitchFamily="2" charset="0"/>
              </a:rPr>
              <a:t>AttributeName</a:t>
            </a:r>
            <a:r>
              <a:rPr lang="en-AU" sz="1600" dirty="0">
                <a:latin typeface="Courier" pitchFamily="2" charset="0"/>
              </a:rPr>
              <a:t>=</a:t>
            </a:r>
            <a:r>
              <a:rPr lang="en-AU" sz="1600" dirty="0" err="1">
                <a:latin typeface="Courier" pitchFamily="2" charset="0"/>
              </a:rPr>
              <a:t>Artist,AttributeType</a:t>
            </a:r>
            <a:r>
              <a:rPr lang="en-AU" sz="1600" dirty="0">
                <a:latin typeface="Courier" pitchFamily="2" charset="0"/>
              </a:rPr>
              <a:t>=S \ </a:t>
            </a:r>
          </a:p>
          <a:p>
            <a:pPr marL="49213" lvl="2" algn="l"/>
            <a:r>
              <a:rPr lang="en-AU" sz="1600" dirty="0">
                <a:latin typeface="Courier" pitchFamily="2" charset="0"/>
              </a:rPr>
              <a:t>  --key-schema  </a:t>
            </a:r>
            <a:r>
              <a:rPr lang="en-AU" sz="1600" dirty="0" err="1">
                <a:latin typeface="Courier" pitchFamily="2" charset="0"/>
              </a:rPr>
              <a:t>AttributeName</a:t>
            </a:r>
            <a:r>
              <a:rPr lang="en-AU" sz="1600" dirty="0">
                <a:latin typeface="Courier" pitchFamily="2" charset="0"/>
              </a:rPr>
              <a:t>=</a:t>
            </a:r>
            <a:r>
              <a:rPr lang="en-AU" sz="1600" dirty="0" err="1">
                <a:latin typeface="Courier" pitchFamily="2" charset="0"/>
              </a:rPr>
              <a:t>Artist,KeyType</a:t>
            </a:r>
            <a:r>
              <a:rPr lang="en-AU" sz="1600" dirty="0">
                <a:latin typeface="Courier" pitchFamily="2" charset="0"/>
              </a:rPr>
              <a:t>=HASH  \</a:t>
            </a:r>
          </a:p>
          <a:p>
            <a:pPr marL="7938" lvl="2" algn="l"/>
            <a:r>
              <a:rPr lang="en-AU" sz="1600" dirty="0">
                <a:latin typeface="Courier" pitchFamily="2" charset="0"/>
              </a:rPr>
              <a:t>  --provisioned-throughput </a:t>
            </a:r>
            <a:r>
              <a:rPr lang="en-AU" sz="1600" dirty="0" err="1">
                <a:latin typeface="Courier" pitchFamily="2" charset="0"/>
              </a:rPr>
              <a:t>ReadCapacityUnits</a:t>
            </a:r>
            <a:r>
              <a:rPr lang="en-AU" sz="1600" dirty="0">
                <a:latin typeface="Courier" pitchFamily="2" charset="0"/>
              </a:rPr>
              <a:t>=1,WriteCapacityUnits=1 \</a:t>
            </a:r>
          </a:p>
          <a:p>
            <a:pPr marL="7938" lvl="2" algn="l"/>
            <a:r>
              <a:rPr lang="en-AU" sz="1600" dirty="0">
                <a:latin typeface="Courier" pitchFamily="2" charset="0"/>
              </a:rPr>
              <a:t>  --endpoint-</a:t>
            </a:r>
            <a:r>
              <a:rPr lang="en-AU" sz="1600" dirty="0" err="1">
                <a:latin typeface="Courier" pitchFamily="2" charset="0"/>
              </a:rPr>
              <a:t>url</a:t>
            </a:r>
            <a:r>
              <a:rPr lang="en-AU" sz="1600" dirty="0">
                <a:latin typeface="Courier" pitchFamily="2" charset="0"/>
              </a:rPr>
              <a:t>=http://localhost:8000</a:t>
            </a:r>
            <a:endParaRPr lang="en-US" sz="18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8969D8C-5365-454D-91FB-955BD53B2BFB}"/>
              </a:ext>
            </a:extLst>
          </p:cNvPr>
          <p:cNvSpPr txBox="1"/>
          <p:nvPr/>
        </p:nvSpPr>
        <p:spPr>
          <a:xfrm>
            <a:off x="582525" y="218201"/>
            <a:ext cx="524389" cy="1815882"/>
          </a:xfrm>
          <a:prstGeom prst="rect">
            <a:avLst/>
          </a:prstGeom>
          <a:solidFill>
            <a:schemeClr val="bg1">
              <a:lumMod val="85000"/>
              <a:alpha val="30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pPr marL="49213" lvl="2" algn="l"/>
            <a:r>
              <a:rPr lang="en-US" sz="1600" dirty="0">
                <a:latin typeface="Courier" pitchFamily="2" charset="0"/>
              </a:rPr>
              <a:t>1</a:t>
            </a:r>
          </a:p>
          <a:p>
            <a:pPr marL="49213" lvl="2" algn="l"/>
            <a:r>
              <a:rPr lang="en-US" sz="1600" dirty="0">
                <a:latin typeface="Courier" pitchFamily="2" charset="0"/>
              </a:rPr>
              <a:t>2</a:t>
            </a:r>
          </a:p>
          <a:p>
            <a:pPr marL="49213" lvl="2" algn="l"/>
            <a:r>
              <a:rPr lang="en-US" sz="1600" dirty="0">
                <a:latin typeface="Courier" pitchFamily="2" charset="0"/>
              </a:rPr>
              <a:t>3</a:t>
            </a:r>
          </a:p>
          <a:p>
            <a:pPr marL="49213" lvl="2" algn="l"/>
            <a:r>
              <a:rPr lang="en-US" sz="1600" dirty="0">
                <a:latin typeface="Courier" pitchFamily="2" charset="0"/>
              </a:rPr>
              <a:t>4</a:t>
            </a:r>
          </a:p>
          <a:p>
            <a:pPr marL="49213" lvl="2" algn="l"/>
            <a:r>
              <a:rPr lang="en-US" sz="1600" dirty="0">
                <a:latin typeface="Courier" pitchFamily="2" charset="0"/>
              </a:rPr>
              <a:t>5</a:t>
            </a:r>
          </a:p>
          <a:p>
            <a:pPr marL="49213" lvl="2" algn="l"/>
            <a:r>
              <a:rPr lang="en-US" sz="1600" dirty="0">
                <a:latin typeface="Courier" pitchFamily="2" charset="0"/>
              </a:rPr>
              <a:t>6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BDF029F-30EF-49AF-803B-39E2FBB846E2}"/>
              </a:ext>
            </a:extLst>
          </p:cNvPr>
          <p:cNvSpPr txBox="1"/>
          <p:nvPr/>
        </p:nvSpPr>
        <p:spPr>
          <a:xfrm>
            <a:off x="590402" y="2499552"/>
            <a:ext cx="487207" cy="1366528"/>
          </a:xfrm>
          <a:prstGeom prst="rect">
            <a:avLst/>
          </a:prstGeom>
          <a:solidFill>
            <a:schemeClr val="bg1">
              <a:lumMod val="85000"/>
              <a:alpha val="30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pPr marL="49213" lvl="2" algn="l"/>
            <a:r>
              <a:rPr lang="en-US" sz="1800" dirty="0">
                <a:latin typeface="Courier" pitchFamily="2" charset="0"/>
              </a:rPr>
              <a:t>1</a:t>
            </a:r>
          </a:p>
          <a:p>
            <a:pPr marL="49213" lvl="2" algn="l"/>
            <a:r>
              <a:rPr lang="en-US" sz="1800" dirty="0">
                <a:latin typeface="Courier" pitchFamily="2" charset="0"/>
              </a:rPr>
              <a:t>2</a:t>
            </a:r>
          </a:p>
          <a:p>
            <a:pPr marL="49213" lvl="2" algn="l"/>
            <a:r>
              <a:rPr lang="en-US" sz="1800" dirty="0">
                <a:latin typeface="Courier" pitchFamily="2" charset="0"/>
              </a:rPr>
              <a:t>3</a:t>
            </a:r>
          </a:p>
          <a:p>
            <a:pPr marL="49213" lvl="2" algn="l"/>
            <a:r>
              <a:rPr lang="en-US" sz="1800" dirty="0">
                <a:latin typeface="Courier" pitchFamily="2" charset="0"/>
              </a:rPr>
              <a:t>4</a:t>
            </a:r>
            <a:endParaRPr lang="en-US" sz="1600" dirty="0">
              <a:latin typeface="Courier" pitchFamily="2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237F469-0274-46CC-8FB4-79540250F82A}"/>
              </a:ext>
            </a:extLst>
          </p:cNvPr>
          <p:cNvSpPr txBox="1"/>
          <p:nvPr/>
        </p:nvSpPr>
        <p:spPr>
          <a:xfrm>
            <a:off x="1106914" y="2499552"/>
            <a:ext cx="8794552" cy="1366528"/>
          </a:xfrm>
          <a:prstGeom prst="rect">
            <a:avLst/>
          </a:prstGeom>
          <a:solidFill>
            <a:schemeClr val="bg1">
              <a:lumMod val="85000"/>
              <a:alpha val="30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pPr marL="49213" lvl="2" algn="l"/>
            <a:r>
              <a:rPr lang="en-AU" sz="1800" dirty="0" err="1">
                <a:latin typeface="+mn-lt"/>
              </a:rPr>
              <a:t>aws</a:t>
            </a:r>
            <a:r>
              <a:rPr lang="en-AU" sz="1800" dirty="0">
                <a:latin typeface="+mn-lt"/>
              </a:rPr>
              <a:t> </a:t>
            </a:r>
            <a:r>
              <a:rPr lang="en-AU" sz="1800" dirty="0" err="1">
                <a:latin typeface="+mn-lt"/>
              </a:rPr>
              <a:t>dynamodb</a:t>
            </a:r>
            <a:r>
              <a:rPr lang="en-AU" sz="1800" dirty="0">
                <a:latin typeface="+mn-lt"/>
              </a:rPr>
              <a:t> put-item \ </a:t>
            </a:r>
          </a:p>
          <a:p>
            <a:pPr marL="49213" lvl="2" algn="l"/>
            <a:r>
              <a:rPr lang="en-AU" sz="1800" i="1" dirty="0">
                <a:latin typeface="+mn-lt"/>
              </a:rPr>
              <a:t>  --table-name </a:t>
            </a:r>
            <a:r>
              <a:rPr lang="en-AU" sz="1800" dirty="0" err="1">
                <a:latin typeface="+mn-lt"/>
              </a:rPr>
              <a:t>MusicAlbum</a:t>
            </a:r>
            <a:r>
              <a:rPr lang="en-AU" sz="1800" i="1" dirty="0">
                <a:latin typeface="+mn-lt"/>
              </a:rPr>
              <a:t> \</a:t>
            </a:r>
            <a:r>
              <a:rPr lang="en-AU" sz="1800" dirty="0">
                <a:latin typeface="+mn-lt"/>
              </a:rPr>
              <a:t> </a:t>
            </a:r>
          </a:p>
          <a:p>
            <a:pPr marL="49213" lvl="2" algn="l"/>
            <a:r>
              <a:rPr lang="en-AU" sz="1800" i="1" dirty="0">
                <a:latin typeface="+mn-lt"/>
              </a:rPr>
              <a:t>  --item </a:t>
            </a:r>
            <a:r>
              <a:rPr lang="en-AU" sz="1800" dirty="0">
                <a:latin typeface="+mn-lt"/>
              </a:rPr>
              <a:t>'{"Artist": {"S": "Tom"}, "Song": {"S": "Call me today"}}'\ </a:t>
            </a:r>
          </a:p>
          <a:p>
            <a:pPr marL="49213" lvl="2" algn="l"/>
            <a:r>
              <a:rPr lang="en-AU" sz="1800" i="1" dirty="0">
                <a:latin typeface="+mn-lt"/>
              </a:rPr>
              <a:t>  --return-consumed-capacity TOTAL </a:t>
            </a:r>
            <a:r>
              <a:rPr lang="en-AU" sz="1800" dirty="0">
                <a:latin typeface="+mn-lt"/>
              </a:rPr>
              <a:t>--endpoint-</a:t>
            </a:r>
            <a:r>
              <a:rPr lang="en-AU" sz="1800" dirty="0" err="1">
                <a:latin typeface="+mn-lt"/>
              </a:rPr>
              <a:t>url</a:t>
            </a:r>
            <a:r>
              <a:rPr lang="en-AU" sz="1800" dirty="0">
                <a:latin typeface="+mn-lt"/>
              </a:rPr>
              <a:t>=http://localhost:8000</a:t>
            </a:r>
            <a:endParaRPr lang="en-AU" sz="1800" i="1" dirty="0">
              <a:latin typeface="+mn-lt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602D4CD-A18F-4D7E-BBE6-4ECDB98FE0F3}"/>
              </a:ext>
            </a:extLst>
          </p:cNvPr>
          <p:cNvSpPr txBox="1"/>
          <p:nvPr/>
        </p:nvSpPr>
        <p:spPr>
          <a:xfrm>
            <a:off x="643157" y="4494742"/>
            <a:ext cx="487207" cy="1366528"/>
          </a:xfrm>
          <a:prstGeom prst="rect">
            <a:avLst/>
          </a:prstGeom>
          <a:solidFill>
            <a:schemeClr val="bg1">
              <a:lumMod val="85000"/>
              <a:alpha val="30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pPr marL="49213" lvl="2" algn="l"/>
            <a:r>
              <a:rPr lang="en-US" sz="1800" dirty="0">
                <a:latin typeface="Courier" pitchFamily="2" charset="0"/>
              </a:rPr>
              <a:t>1</a:t>
            </a:r>
          </a:p>
          <a:p>
            <a:pPr marL="49213" lvl="2" algn="l"/>
            <a:r>
              <a:rPr lang="en-US" sz="1800" dirty="0">
                <a:latin typeface="Courier" pitchFamily="2" charset="0"/>
              </a:rPr>
              <a:t>2</a:t>
            </a:r>
          </a:p>
          <a:p>
            <a:pPr marL="49213" lvl="2" algn="l"/>
            <a:r>
              <a:rPr lang="en-US" sz="1800" dirty="0">
                <a:latin typeface="Courier" pitchFamily="2" charset="0"/>
              </a:rPr>
              <a:t>3</a:t>
            </a:r>
          </a:p>
          <a:p>
            <a:pPr marL="49213" lvl="2" algn="l"/>
            <a:r>
              <a:rPr lang="en-US" sz="1800" dirty="0">
                <a:latin typeface="Courier" pitchFamily="2" charset="0"/>
              </a:rPr>
              <a:t>4</a:t>
            </a:r>
            <a:endParaRPr lang="en-US" sz="1600" dirty="0">
              <a:latin typeface="Courier" pitchFamily="2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3A5602C-8513-402A-9682-B3F71892DC70}"/>
              </a:ext>
            </a:extLst>
          </p:cNvPr>
          <p:cNvSpPr txBox="1"/>
          <p:nvPr/>
        </p:nvSpPr>
        <p:spPr>
          <a:xfrm>
            <a:off x="1159669" y="4494742"/>
            <a:ext cx="8794552" cy="1366528"/>
          </a:xfrm>
          <a:prstGeom prst="rect">
            <a:avLst/>
          </a:prstGeom>
          <a:solidFill>
            <a:schemeClr val="bg1">
              <a:lumMod val="85000"/>
              <a:alpha val="30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pPr marL="49213" lvl="2" algn="l"/>
            <a:r>
              <a:rPr lang="en-AU" sz="1800" dirty="0" err="1">
                <a:latin typeface="+mn-lt"/>
              </a:rPr>
              <a:t>aws</a:t>
            </a:r>
            <a:r>
              <a:rPr lang="en-AU" sz="1800" dirty="0">
                <a:latin typeface="+mn-lt"/>
              </a:rPr>
              <a:t> </a:t>
            </a:r>
            <a:r>
              <a:rPr lang="en-AU" sz="1800" dirty="0" err="1">
                <a:latin typeface="+mn-lt"/>
              </a:rPr>
              <a:t>dynamodb</a:t>
            </a:r>
            <a:r>
              <a:rPr lang="en-AU" sz="1800" dirty="0">
                <a:latin typeface="+mn-lt"/>
              </a:rPr>
              <a:t> put-item \ </a:t>
            </a:r>
          </a:p>
          <a:p>
            <a:pPr marL="49213" lvl="2" algn="l"/>
            <a:r>
              <a:rPr lang="en-AU" sz="1800" i="1" dirty="0">
                <a:latin typeface="+mn-lt"/>
              </a:rPr>
              <a:t>  --table-name </a:t>
            </a:r>
            <a:r>
              <a:rPr lang="en-AU" sz="1800" dirty="0" err="1">
                <a:latin typeface="+mn-lt"/>
              </a:rPr>
              <a:t>MusicAlbum</a:t>
            </a:r>
            <a:r>
              <a:rPr lang="en-AU" sz="1800" i="1" dirty="0">
                <a:latin typeface="+mn-lt"/>
              </a:rPr>
              <a:t> \</a:t>
            </a:r>
            <a:r>
              <a:rPr lang="en-AU" sz="1800" dirty="0">
                <a:latin typeface="+mn-lt"/>
              </a:rPr>
              <a:t> </a:t>
            </a:r>
          </a:p>
          <a:p>
            <a:pPr marL="49213" lvl="2" algn="l"/>
            <a:r>
              <a:rPr lang="en-AU" sz="1800" i="1" dirty="0">
                <a:latin typeface="+mn-lt"/>
              </a:rPr>
              <a:t>  --item </a:t>
            </a:r>
            <a:r>
              <a:rPr lang="en-AU" sz="1800" dirty="0">
                <a:latin typeface="+mn-lt"/>
              </a:rPr>
              <a:t>'{"Artist": {"S": "Tom"}, "Song": {"S": “H</a:t>
            </a:r>
            <a:r>
              <a:rPr lang="en-US" altLang="zh-CN" sz="1800" dirty="0" err="1">
                <a:latin typeface="+mn-lt"/>
              </a:rPr>
              <a:t>appy</a:t>
            </a:r>
            <a:r>
              <a:rPr lang="en-US" altLang="zh-CN" sz="1800" dirty="0">
                <a:latin typeface="+mn-lt"/>
              </a:rPr>
              <a:t> </a:t>
            </a:r>
            <a:r>
              <a:rPr lang="en-AU" sz="1800" dirty="0">
                <a:latin typeface="+mn-lt"/>
              </a:rPr>
              <a:t>day"}}'\ </a:t>
            </a:r>
          </a:p>
          <a:p>
            <a:pPr marL="49213" lvl="2" algn="l"/>
            <a:r>
              <a:rPr lang="en-AU" sz="1800" i="1" dirty="0">
                <a:latin typeface="+mn-lt"/>
              </a:rPr>
              <a:t>  --return-consumed-capacity TOTAL </a:t>
            </a:r>
            <a:r>
              <a:rPr lang="en-AU" sz="1800" dirty="0">
                <a:latin typeface="+mn-lt"/>
              </a:rPr>
              <a:t>--endpoint-</a:t>
            </a:r>
            <a:r>
              <a:rPr lang="en-AU" sz="1800" dirty="0" err="1">
                <a:latin typeface="+mn-lt"/>
              </a:rPr>
              <a:t>url</a:t>
            </a:r>
            <a:r>
              <a:rPr lang="en-AU" sz="1800" dirty="0">
                <a:latin typeface="+mn-lt"/>
              </a:rPr>
              <a:t>=http://localhost:8000</a:t>
            </a:r>
            <a:endParaRPr lang="en-AU" sz="1800" i="1" dirty="0">
              <a:latin typeface="+mn-lt"/>
            </a:endParaRPr>
          </a:p>
        </p:txBody>
      </p:sp>
      <p:sp>
        <p:nvSpPr>
          <p:cNvPr id="15" name="Title 1">
            <a:extLst>
              <a:ext uri="{FF2B5EF4-FFF2-40B4-BE49-F238E27FC236}">
                <a16:creationId xmlns:a16="http://schemas.microsoft.com/office/drawing/2014/main" id="{BD30FFE8-2CF0-4BD1-8DD3-2987727231AC}"/>
              </a:ext>
            </a:extLst>
          </p:cNvPr>
          <p:cNvSpPr txBox="1">
            <a:spLocks/>
          </p:cNvSpPr>
          <p:nvPr/>
        </p:nvSpPr>
        <p:spPr>
          <a:xfrm>
            <a:off x="548943" y="2017518"/>
            <a:ext cx="3374014" cy="51828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fontAlgn="auto">
              <a:spcAft>
                <a:spcPts val="0"/>
              </a:spcAft>
              <a:buClrTx/>
              <a:buSzTx/>
              <a:buFontTx/>
            </a:pPr>
            <a:r>
              <a:rPr lang="en-US" sz="2400" dirty="0">
                <a:solidFill>
                  <a:srgbClr val="FF0000"/>
                </a:solidFill>
                <a:latin typeface="+mn-lt"/>
                <a:ea typeface="+mn-ea"/>
                <a:cs typeface="+mn-cs"/>
              </a:rPr>
              <a:t>Insert the first item.</a:t>
            </a:r>
          </a:p>
        </p:txBody>
      </p:sp>
      <p:sp>
        <p:nvSpPr>
          <p:cNvPr id="17" name="Title 1">
            <a:extLst>
              <a:ext uri="{FF2B5EF4-FFF2-40B4-BE49-F238E27FC236}">
                <a16:creationId xmlns:a16="http://schemas.microsoft.com/office/drawing/2014/main" id="{DBA8A4F6-0E8E-4765-B1C0-559C2695E414}"/>
              </a:ext>
            </a:extLst>
          </p:cNvPr>
          <p:cNvSpPr txBox="1">
            <a:spLocks/>
          </p:cNvSpPr>
          <p:nvPr/>
        </p:nvSpPr>
        <p:spPr>
          <a:xfrm>
            <a:off x="582525" y="3976454"/>
            <a:ext cx="3374014" cy="51828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fontAlgn="auto">
              <a:spcAft>
                <a:spcPts val="0"/>
              </a:spcAft>
              <a:buClrTx/>
              <a:buSzTx/>
              <a:buFontTx/>
            </a:pPr>
            <a:r>
              <a:rPr lang="en-US" sz="2400" dirty="0">
                <a:solidFill>
                  <a:srgbClr val="FF0000"/>
                </a:solidFill>
                <a:latin typeface="+mn-lt"/>
                <a:ea typeface="+mn-ea"/>
                <a:cs typeface="+mn-cs"/>
              </a:rPr>
              <a:t>Insert the second item.</a:t>
            </a:r>
          </a:p>
        </p:txBody>
      </p:sp>
      <p:sp>
        <p:nvSpPr>
          <p:cNvPr id="18" name="Title 1">
            <a:extLst>
              <a:ext uri="{FF2B5EF4-FFF2-40B4-BE49-F238E27FC236}">
                <a16:creationId xmlns:a16="http://schemas.microsoft.com/office/drawing/2014/main" id="{1F19B184-4D6F-45B6-8C9F-13960DB24245}"/>
              </a:ext>
            </a:extLst>
          </p:cNvPr>
          <p:cNvSpPr txBox="1">
            <a:spLocks/>
          </p:cNvSpPr>
          <p:nvPr/>
        </p:nvSpPr>
        <p:spPr>
          <a:xfrm>
            <a:off x="582525" y="5861270"/>
            <a:ext cx="10576448" cy="98489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fontAlgn="auto">
              <a:spcAft>
                <a:spcPts val="0"/>
              </a:spcAft>
              <a:buClrTx/>
              <a:buSzTx/>
            </a:pPr>
            <a:r>
              <a:rPr lang="en-AU" sz="2400" dirty="0">
                <a:solidFill>
                  <a:srgbClr val="FF0000"/>
                </a:solidFill>
                <a:latin typeface="+mn-lt"/>
                <a:ea typeface="+mn-ea"/>
                <a:cs typeface="+mn-cs"/>
              </a:rPr>
              <a:t>What will the table be like?</a:t>
            </a:r>
            <a:endParaRPr lang="en-US" sz="2400" dirty="0">
              <a:solidFill>
                <a:srgbClr val="FF0000"/>
              </a:solidFill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69654795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077A1571-74FE-4469-B8FC-3AF47E1B2260}"/>
              </a:ext>
            </a:extLst>
          </p:cNvPr>
          <p:cNvSpPr txBox="1"/>
          <p:nvPr/>
        </p:nvSpPr>
        <p:spPr>
          <a:xfrm>
            <a:off x="1147432" y="82015"/>
            <a:ext cx="8741797" cy="2696123"/>
          </a:xfrm>
          <a:prstGeom prst="rect">
            <a:avLst/>
          </a:prstGeom>
          <a:solidFill>
            <a:schemeClr val="bg1">
              <a:lumMod val="85000"/>
              <a:alpha val="30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pPr marL="49213" lvl="2" algn="l"/>
            <a:r>
              <a:rPr lang="en-AU" sz="1800" dirty="0" err="1">
                <a:latin typeface="Calibri" panose="020F0502020204030204" pitchFamily="34" charset="0"/>
              </a:rPr>
              <a:t>aws</a:t>
            </a:r>
            <a:r>
              <a:rPr lang="en-AU" sz="1800" dirty="0">
                <a:latin typeface="Calibri" panose="020F0502020204030204" pitchFamily="34" charset="0"/>
              </a:rPr>
              <a:t> </a:t>
            </a:r>
            <a:r>
              <a:rPr lang="en-AU" sz="1800" dirty="0" err="1">
                <a:latin typeface="Calibri" panose="020F0502020204030204" pitchFamily="34" charset="0"/>
              </a:rPr>
              <a:t>dynamodb</a:t>
            </a:r>
            <a:r>
              <a:rPr lang="en-AU" sz="1800" dirty="0">
                <a:latin typeface="Calibri" panose="020F0502020204030204" pitchFamily="34" charset="0"/>
              </a:rPr>
              <a:t> create-table --table-name </a:t>
            </a:r>
            <a:r>
              <a:rPr lang="en-AU" sz="1800" dirty="0" err="1">
                <a:latin typeface="Calibri" panose="020F0502020204030204" pitchFamily="34" charset="0"/>
              </a:rPr>
              <a:t>MusicAlbum</a:t>
            </a:r>
            <a:r>
              <a:rPr lang="en-AU" sz="1800" dirty="0">
                <a:latin typeface="Calibri" panose="020F0502020204030204" pitchFamily="34" charset="0"/>
              </a:rPr>
              <a:t> </a:t>
            </a:r>
          </a:p>
          <a:p>
            <a:pPr marL="49213" lvl="2" algn="l"/>
            <a:r>
              <a:rPr lang="en-AU" sz="1800" dirty="0">
                <a:latin typeface="Calibri" panose="020F0502020204030204" pitchFamily="34" charset="0"/>
              </a:rPr>
              <a:t>  --attribute-definitions \</a:t>
            </a:r>
          </a:p>
          <a:p>
            <a:pPr marL="49213" lvl="2" algn="l"/>
            <a:r>
              <a:rPr lang="en-AU" sz="1800" dirty="0">
                <a:latin typeface="Calibri" panose="020F0502020204030204" pitchFamily="34" charset="0"/>
              </a:rPr>
              <a:t>    </a:t>
            </a:r>
            <a:r>
              <a:rPr lang="en-AU" sz="1800" dirty="0" err="1">
                <a:latin typeface="Calibri" panose="020F0502020204030204" pitchFamily="34" charset="0"/>
              </a:rPr>
              <a:t>AttributeName</a:t>
            </a:r>
            <a:r>
              <a:rPr lang="en-AU" sz="1800" dirty="0">
                <a:latin typeface="Calibri" panose="020F0502020204030204" pitchFamily="34" charset="0"/>
              </a:rPr>
              <a:t>=</a:t>
            </a:r>
            <a:r>
              <a:rPr lang="en-AU" sz="1800" dirty="0" err="1">
                <a:latin typeface="Calibri" panose="020F0502020204030204" pitchFamily="34" charset="0"/>
              </a:rPr>
              <a:t>Artist,AttributeType</a:t>
            </a:r>
            <a:r>
              <a:rPr lang="en-AU" sz="1800" dirty="0">
                <a:latin typeface="Calibri" panose="020F0502020204030204" pitchFamily="34" charset="0"/>
              </a:rPr>
              <a:t>=S \</a:t>
            </a:r>
          </a:p>
          <a:p>
            <a:pPr marL="49213" lvl="2" algn="l"/>
            <a:r>
              <a:rPr lang="en-AU" sz="1800" dirty="0">
                <a:latin typeface="Calibri" panose="020F0502020204030204" pitchFamily="34" charset="0"/>
              </a:rPr>
              <a:t>    </a:t>
            </a:r>
            <a:r>
              <a:rPr lang="en-AU" sz="1800" dirty="0" err="1">
                <a:latin typeface="Calibri" panose="020F0502020204030204" pitchFamily="34" charset="0"/>
              </a:rPr>
              <a:t>AttributeName</a:t>
            </a:r>
            <a:r>
              <a:rPr lang="en-AU" sz="1800" dirty="0">
                <a:latin typeface="Calibri" panose="020F0502020204030204" pitchFamily="34" charset="0"/>
              </a:rPr>
              <a:t>=</a:t>
            </a:r>
            <a:r>
              <a:rPr lang="en-AU" sz="1800" dirty="0" err="1">
                <a:latin typeface="Calibri" panose="020F0502020204030204" pitchFamily="34" charset="0"/>
              </a:rPr>
              <a:t>Song,AttributeType</a:t>
            </a:r>
            <a:r>
              <a:rPr lang="en-AU" sz="1800" dirty="0">
                <a:latin typeface="Calibri" panose="020F0502020204030204" pitchFamily="34" charset="0"/>
              </a:rPr>
              <a:t>=S \ </a:t>
            </a:r>
          </a:p>
          <a:p>
            <a:pPr marL="49213" lvl="2" algn="l"/>
            <a:r>
              <a:rPr lang="en-AU" sz="1800" dirty="0">
                <a:latin typeface="Calibri" panose="020F0502020204030204" pitchFamily="34" charset="0"/>
              </a:rPr>
              <a:t>  --key-schema </a:t>
            </a:r>
            <a:r>
              <a:rPr lang="en-AU" sz="1800" dirty="0" err="1">
                <a:latin typeface="Calibri" panose="020F0502020204030204" pitchFamily="34" charset="0"/>
              </a:rPr>
              <a:t>AttributeName</a:t>
            </a:r>
            <a:r>
              <a:rPr lang="en-AU" sz="1800" dirty="0">
                <a:latin typeface="Calibri" panose="020F0502020204030204" pitchFamily="34" charset="0"/>
              </a:rPr>
              <a:t>=</a:t>
            </a:r>
            <a:r>
              <a:rPr lang="en-AU" sz="1800" dirty="0" err="1">
                <a:latin typeface="Calibri" panose="020F0502020204030204" pitchFamily="34" charset="0"/>
              </a:rPr>
              <a:t>Artist,KeyType</a:t>
            </a:r>
            <a:r>
              <a:rPr lang="en-AU" sz="1800" dirty="0">
                <a:latin typeface="Calibri" panose="020F0502020204030204" pitchFamily="34" charset="0"/>
              </a:rPr>
              <a:t>=HASH \ </a:t>
            </a:r>
          </a:p>
          <a:p>
            <a:pPr marL="49213" lvl="2" algn="l"/>
            <a:r>
              <a:rPr lang="en-AU" sz="1800" dirty="0">
                <a:latin typeface="Calibri" panose="020F0502020204030204" pitchFamily="34" charset="0"/>
              </a:rPr>
              <a:t>               </a:t>
            </a:r>
            <a:r>
              <a:rPr lang="en-AU" sz="1800" dirty="0" err="1">
                <a:latin typeface="Calibri" panose="020F0502020204030204" pitchFamily="34" charset="0"/>
              </a:rPr>
              <a:t>AttributeName</a:t>
            </a:r>
            <a:r>
              <a:rPr lang="en-AU" sz="1800" dirty="0">
                <a:latin typeface="Calibri" panose="020F0502020204030204" pitchFamily="34" charset="0"/>
              </a:rPr>
              <a:t>=</a:t>
            </a:r>
            <a:r>
              <a:rPr lang="en-AU" sz="1800" dirty="0" err="1">
                <a:latin typeface="Calibri" panose="020F0502020204030204" pitchFamily="34" charset="0"/>
              </a:rPr>
              <a:t>Song,KeyType</a:t>
            </a:r>
            <a:r>
              <a:rPr lang="en-AU" sz="1800" dirty="0">
                <a:latin typeface="Calibri" panose="020F0502020204030204" pitchFamily="34" charset="0"/>
              </a:rPr>
              <a:t>=RANGE  \</a:t>
            </a:r>
          </a:p>
          <a:p>
            <a:pPr marL="7938" lvl="2" algn="l"/>
            <a:r>
              <a:rPr lang="en-AU" sz="1800" dirty="0">
                <a:latin typeface="Calibri" panose="020F0502020204030204" pitchFamily="34" charset="0"/>
              </a:rPr>
              <a:t>  --provisioned-throughput </a:t>
            </a:r>
            <a:r>
              <a:rPr lang="en-AU" sz="1800" dirty="0" err="1">
                <a:latin typeface="Calibri" panose="020F0502020204030204" pitchFamily="34" charset="0"/>
              </a:rPr>
              <a:t>ReadCapacityUnits</a:t>
            </a:r>
            <a:r>
              <a:rPr lang="en-AU" sz="1800" dirty="0">
                <a:latin typeface="Calibri" panose="020F0502020204030204" pitchFamily="34" charset="0"/>
              </a:rPr>
              <a:t>=1,WriteCapacityUnits=1 \</a:t>
            </a:r>
          </a:p>
          <a:p>
            <a:pPr marL="7938" lvl="2" algn="l"/>
            <a:r>
              <a:rPr lang="en-AU" sz="1800" dirty="0">
                <a:latin typeface="Calibri" panose="020F0502020204030204" pitchFamily="34" charset="0"/>
              </a:rPr>
              <a:t>  --endpoint-</a:t>
            </a:r>
            <a:r>
              <a:rPr lang="en-AU" sz="1800" dirty="0" err="1">
                <a:latin typeface="Calibri" panose="020F0502020204030204" pitchFamily="34" charset="0"/>
              </a:rPr>
              <a:t>url</a:t>
            </a:r>
            <a:r>
              <a:rPr lang="en-AU" sz="1800" dirty="0">
                <a:latin typeface="Calibri" panose="020F0502020204030204" pitchFamily="34" charset="0"/>
              </a:rPr>
              <a:t>=http://localhost:8000</a:t>
            </a:r>
            <a:endParaRPr lang="en-US" sz="1800" dirty="0">
              <a:latin typeface="Calibri" panose="020F050202020403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C156143-998A-4DA9-ADF7-48C9419DE713}"/>
              </a:ext>
            </a:extLst>
          </p:cNvPr>
          <p:cNvSpPr txBox="1"/>
          <p:nvPr/>
        </p:nvSpPr>
        <p:spPr>
          <a:xfrm>
            <a:off x="588264" y="82076"/>
            <a:ext cx="559168" cy="2696123"/>
          </a:xfrm>
          <a:prstGeom prst="rect">
            <a:avLst/>
          </a:prstGeom>
          <a:solidFill>
            <a:schemeClr val="bg1">
              <a:lumMod val="85000"/>
              <a:alpha val="30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pPr marL="49213" lvl="2" algn="l"/>
            <a:r>
              <a:rPr lang="en-US" sz="1800" dirty="0">
                <a:latin typeface="Calibri" panose="020F0502020204030204" pitchFamily="34" charset="0"/>
              </a:rPr>
              <a:t>1</a:t>
            </a:r>
          </a:p>
          <a:p>
            <a:pPr marL="49213" lvl="2" algn="l"/>
            <a:r>
              <a:rPr lang="en-US" sz="1800" dirty="0">
                <a:latin typeface="Calibri" panose="020F0502020204030204" pitchFamily="34" charset="0"/>
              </a:rPr>
              <a:t>2</a:t>
            </a:r>
          </a:p>
          <a:p>
            <a:pPr marL="49213" lvl="2" algn="l"/>
            <a:r>
              <a:rPr lang="en-US" sz="1800" dirty="0">
                <a:latin typeface="Calibri" panose="020F0502020204030204" pitchFamily="34" charset="0"/>
              </a:rPr>
              <a:t>3</a:t>
            </a:r>
          </a:p>
          <a:p>
            <a:pPr marL="49213" lvl="2" algn="l"/>
            <a:r>
              <a:rPr lang="en-US" sz="1800" dirty="0">
                <a:latin typeface="Calibri" panose="020F0502020204030204" pitchFamily="34" charset="0"/>
              </a:rPr>
              <a:t>4</a:t>
            </a:r>
          </a:p>
          <a:p>
            <a:pPr marL="49213" lvl="2" algn="l"/>
            <a:r>
              <a:rPr lang="en-US" sz="1800" dirty="0">
                <a:latin typeface="Calibri" panose="020F0502020204030204" pitchFamily="34" charset="0"/>
              </a:rPr>
              <a:t>5</a:t>
            </a:r>
          </a:p>
          <a:p>
            <a:pPr marL="49213" lvl="2" algn="l"/>
            <a:r>
              <a:rPr lang="en-US" sz="1800" dirty="0">
                <a:latin typeface="Calibri" panose="020F0502020204030204" pitchFamily="34" charset="0"/>
              </a:rPr>
              <a:t>6</a:t>
            </a:r>
          </a:p>
          <a:p>
            <a:pPr marL="49213" lvl="2" algn="l"/>
            <a:r>
              <a:rPr lang="en-US" sz="1800" dirty="0">
                <a:latin typeface="Calibri" panose="020F0502020204030204" pitchFamily="34" charset="0"/>
              </a:rPr>
              <a:t>7</a:t>
            </a:r>
          </a:p>
          <a:p>
            <a:pPr marL="49213" lvl="2" algn="l"/>
            <a:r>
              <a:rPr lang="en-US" sz="1800" dirty="0">
                <a:latin typeface="Calibri" panose="020F0502020204030204" pitchFamily="34" charset="0"/>
              </a:rPr>
              <a:t>8</a:t>
            </a: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69C4C5AE-7E86-4075-9044-A8DE8685B0D7}"/>
              </a:ext>
            </a:extLst>
          </p:cNvPr>
          <p:cNvSpPr txBox="1">
            <a:spLocks/>
          </p:cNvSpPr>
          <p:nvPr/>
        </p:nvSpPr>
        <p:spPr>
          <a:xfrm>
            <a:off x="578165" y="2814391"/>
            <a:ext cx="9715026" cy="76328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fontAlgn="auto">
              <a:spcAft>
                <a:spcPts val="0"/>
              </a:spcAft>
              <a:buClrTx/>
              <a:buSzTx/>
              <a:buFontTx/>
            </a:pPr>
            <a:endParaRPr lang="en-US" sz="2400" dirty="0">
              <a:solidFill>
                <a:srgbClr val="FF0000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6210159-DF2F-4FC5-AC24-7B352668CBC8}"/>
              </a:ext>
            </a:extLst>
          </p:cNvPr>
          <p:cNvSpPr txBox="1"/>
          <p:nvPr/>
        </p:nvSpPr>
        <p:spPr>
          <a:xfrm>
            <a:off x="578165" y="3189832"/>
            <a:ext cx="487207" cy="1366528"/>
          </a:xfrm>
          <a:prstGeom prst="rect">
            <a:avLst/>
          </a:prstGeom>
          <a:solidFill>
            <a:schemeClr val="bg1">
              <a:lumMod val="85000"/>
              <a:alpha val="30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pPr marL="49213" lvl="2" algn="l"/>
            <a:r>
              <a:rPr lang="en-US" sz="1800" dirty="0">
                <a:latin typeface="Courier" pitchFamily="2" charset="0"/>
              </a:rPr>
              <a:t>1</a:t>
            </a:r>
          </a:p>
          <a:p>
            <a:pPr marL="49213" lvl="2" algn="l"/>
            <a:r>
              <a:rPr lang="en-US" sz="1800" dirty="0">
                <a:latin typeface="Courier" pitchFamily="2" charset="0"/>
              </a:rPr>
              <a:t>2</a:t>
            </a:r>
          </a:p>
          <a:p>
            <a:pPr marL="49213" lvl="2" algn="l"/>
            <a:r>
              <a:rPr lang="en-US" sz="1800" dirty="0">
                <a:latin typeface="Courier" pitchFamily="2" charset="0"/>
              </a:rPr>
              <a:t>3</a:t>
            </a:r>
          </a:p>
          <a:p>
            <a:pPr marL="49213" lvl="2" algn="l"/>
            <a:r>
              <a:rPr lang="en-US" sz="1800" dirty="0">
                <a:latin typeface="Courier" pitchFamily="2" charset="0"/>
              </a:rPr>
              <a:t>4</a:t>
            </a:r>
            <a:endParaRPr lang="en-US" sz="1600" dirty="0">
              <a:latin typeface="Courier" pitchFamily="2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0ED1A94-170B-4FB5-AB5E-188E753A629D}"/>
              </a:ext>
            </a:extLst>
          </p:cNvPr>
          <p:cNvSpPr txBox="1"/>
          <p:nvPr/>
        </p:nvSpPr>
        <p:spPr>
          <a:xfrm>
            <a:off x="1094677" y="3189832"/>
            <a:ext cx="8794552" cy="1366528"/>
          </a:xfrm>
          <a:prstGeom prst="rect">
            <a:avLst/>
          </a:prstGeom>
          <a:solidFill>
            <a:schemeClr val="bg1">
              <a:lumMod val="85000"/>
              <a:alpha val="30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pPr marL="49213" lvl="2" algn="l"/>
            <a:r>
              <a:rPr lang="en-AU" sz="1800" dirty="0" err="1">
                <a:latin typeface="+mn-lt"/>
              </a:rPr>
              <a:t>aws</a:t>
            </a:r>
            <a:r>
              <a:rPr lang="en-AU" sz="1800" dirty="0">
                <a:latin typeface="+mn-lt"/>
              </a:rPr>
              <a:t> </a:t>
            </a:r>
            <a:r>
              <a:rPr lang="en-AU" sz="1800" dirty="0" err="1">
                <a:latin typeface="+mn-lt"/>
              </a:rPr>
              <a:t>dynamodb</a:t>
            </a:r>
            <a:r>
              <a:rPr lang="en-AU" sz="1800" dirty="0">
                <a:latin typeface="+mn-lt"/>
              </a:rPr>
              <a:t> put-item \ </a:t>
            </a:r>
          </a:p>
          <a:p>
            <a:pPr marL="49213" lvl="2" algn="l"/>
            <a:r>
              <a:rPr lang="en-AU" sz="1800" i="1" dirty="0">
                <a:latin typeface="+mn-lt"/>
              </a:rPr>
              <a:t>  --table-name </a:t>
            </a:r>
            <a:r>
              <a:rPr lang="en-AU" sz="1800" dirty="0" err="1">
                <a:latin typeface="+mn-lt"/>
              </a:rPr>
              <a:t>MusicAlbum</a:t>
            </a:r>
            <a:r>
              <a:rPr lang="en-AU" sz="1800" i="1" dirty="0">
                <a:latin typeface="+mn-lt"/>
              </a:rPr>
              <a:t> \</a:t>
            </a:r>
            <a:r>
              <a:rPr lang="en-AU" sz="1800" dirty="0">
                <a:latin typeface="+mn-lt"/>
              </a:rPr>
              <a:t> </a:t>
            </a:r>
          </a:p>
          <a:p>
            <a:pPr marL="49213" lvl="2" algn="l"/>
            <a:r>
              <a:rPr lang="en-AU" sz="1800" i="1" dirty="0">
                <a:latin typeface="+mn-lt"/>
              </a:rPr>
              <a:t>  --item </a:t>
            </a:r>
            <a:r>
              <a:rPr lang="en-AU" sz="1800" dirty="0">
                <a:latin typeface="+mn-lt"/>
              </a:rPr>
              <a:t>'{"Artist": {"S": "Tom"}, "Song": {"S": "Call me today"}}'\ </a:t>
            </a:r>
          </a:p>
          <a:p>
            <a:pPr marL="49213" lvl="2" algn="l"/>
            <a:r>
              <a:rPr lang="en-AU" sz="1800" i="1" dirty="0">
                <a:latin typeface="+mn-lt"/>
              </a:rPr>
              <a:t>  --return-consumed-capacity TOTAL </a:t>
            </a:r>
            <a:r>
              <a:rPr lang="en-AU" sz="1800" dirty="0">
                <a:latin typeface="+mn-lt"/>
              </a:rPr>
              <a:t>--endpoint-</a:t>
            </a:r>
            <a:r>
              <a:rPr lang="en-AU" sz="1800" dirty="0" err="1">
                <a:latin typeface="+mn-lt"/>
              </a:rPr>
              <a:t>url</a:t>
            </a:r>
            <a:r>
              <a:rPr lang="en-AU" sz="1800" dirty="0">
                <a:latin typeface="+mn-lt"/>
              </a:rPr>
              <a:t>=http://localhost:8000</a:t>
            </a:r>
            <a:endParaRPr lang="en-AU" sz="1800" i="1" dirty="0">
              <a:latin typeface="+mn-lt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DD6A3CB-BC1A-44D2-8F8C-A52CE7144D57}"/>
              </a:ext>
            </a:extLst>
          </p:cNvPr>
          <p:cNvSpPr txBox="1"/>
          <p:nvPr/>
        </p:nvSpPr>
        <p:spPr>
          <a:xfrm>
            <a:off x="630920" y="5002141"/>
            <a:ext cx="487207" cy="1366528"/>
          </a:xfrm>
          <a:prstGeom prst="rect">
            <a:avLst/>
          </a:prstGeom>
          <a:solidFill>
            <a:schemeClr val="bg1">
              <a:lumMod val="85000"/>
              <a:alpha val="30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pPr marL="49213" lvl="2" algn="l"/>
            <a:r>
              <a:rPr lang="en-US" sz="1800" dirty="0">
                <a:latin typeface="Courier" pitchFamily="2" charset="0"/>
              </a:rPr>
              <a:t>1</a:t>
            </a:r>
          </a:p>
          <a:p>
            <a:pPr marL="49213" lvl="2" algn="l"/>
            <a:r>
              <a:rPr lang="en-US" sz="1800" dirty="0">
                <a:latin typeface="Courier" pitchFamily="2" charset="0"/>
              </a:rPr>
              <a:t>2</a:t>
            </a:r>
          </a:p>
          <a:p>
            <a:pPr marL="49213" lvl="2" algn="l"/>
            <a:r>
              <a:rPr lang="en-US" sz="1800" dirty="0">
                <a:latin typeface="Courier" pitchFamily="2" charset="0"/>
              </a:rPr>
              <a:t>3</a:t>
            </a:r>
          </a:p>
          <a:p>
            <a:pPr marL="49213" lvl="2" algn="l"/>
            <a:r>
              <a:rPr lang="en-US" sz="1800" dirty="0">
                <a:latin typeface="Courier" pitchFamily="2" charset="0"/>
              </a:rPr>
              <a:t>4</a:t>
            </a:r>
            <a:endParaRPr lang="en-US" sz="1600" dirty="0">
              <a:latin typeface="Courier" pitchFamily="2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40651EA-96A1-4C06-B8A6-057D5441B9E5}"/>
              </a:ext>
            </a:extLst>
          </p:cNvPr>
          <p:cNvSpPr txBox="1"/>
          <p:nvPr/>
        </p:nvSpPr>
        <p:spPr>
          <a:xfrm>
            <a:off x="1147432" y="5002141"/>
            <a:ext cx="8794552" cy="1366528"/>
          </a:xfrm>
          <a:prstGeom prst="rect">
            <a:avLst/>
          </a:prstGeom>
          <a:solidFill>
            <a:schemeClr val="bg1">
              <a:lumMod val="85000"/>
              <a:alpha val="30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pPr marL="49213" lvl="2" algn="l"/>
            <a:r>
              <a:rPr lang="en-AU" sz="1800" dirty="0" err="1">
                <a:latin typeface="+mn-lt"/>
              </a:rPr>
              <a:t>aws</a:t>
            </a:r>
            <a:r>
              <a:rPr lang="en-AU" sz="1800" dirty="0">
                <a:latin typeface="+mn-lt"/>
              </a:rPr>
              <a:t> </a:t>
            </a:r>
            <a:r>
              <a:rPr lang="en-AU" sz="1800" dirty="0" err="1">
                <a:latin typeface="+mn-lt"/>
              </a:rPr>
              <a:t>dynamodb</a:t>
            </a:r>
            <a:r>
              <a:rPr lang="en-AU" sz="1800" dirty="0">
                <a:latin typeface="+mn-lt"/>
              </a:rPr>
              <a:t> put-item \ </a:t>
            </a:r>
          </a:p>
          <a:p>
            <a:pPr marL="49213" lvl="2" algn="l"/>
            <a:r>
              <a:rPr lang="en-AU" sz="1800" i="1" dirty="0">
                <a:latin typeface="+mn-lt"/>
              </a:rPr>
              <a:t>  --table-name </a:t>
            </a:r>
            <a:r>
              <a:rPr lang="en-AU" sz="1800" dirty="0" err="1">
                <a:latin typeface="+mn-lt"/>
              </a:rPr>
              <a:t>MusicAlbum</a:t>
            </a:r>
            <a:r>
              <a:rPr lang="en-AU" sz="1800" i="1" dirty="0">
                <a:latin typeface="+mn-lt"/>
              </a:rPr>
              <a:t> \</a:t>
            </a:r>
            <a:r>
              <a:rPr lang="en-AU" sz="1800" dirty="0">
                <a:latin typeface="+mn-lt"/>
              </a:rPr>
              <a:t> </a:t>
            </a:r>
          </a:p>
          <a:p>
            <a:pPr marL="49213" lvl="2" algn="l"/>
            <a:r>
              <a:rPr lang="en-AU" sz="1800" i="1" dirty="0">
                <a:latin typeface="+mn-lt"/>
              </a:rPr>
              <a:t>  --item </a:t>
            </a:r>
            <a:r>
              <a:rPr lang="en-AU" sz="1800" dirty="0">
                <a:latin typeface="+mn-lt"/>
              </a:rPr>
              <a:t>'{"Artist": {"S": "Tom"}, "Song": {"S": “H</a:t>
            </a:r>
            <a:r>
              <a:rPr lang="en-US" altLang="zh-CN" sz="1800" dirty="0" err="1">
                <a:latin typeface="+mn-lt"/>
              </a:rPr>
              <a:t>appy</a:t>
            </a:r>
            <a:r>
              <a:rPr lang="en-US" altLang="zh-CN" sz="1800" dirty="0">
                <a:latin typeface="+mn-lt"/>
              </a:rPr>
              <a:t> </a:t>
            </a:r>
            <a:r>
              <a:rPr lang="en-AU" sz="1800" dirty="0">
                <a:latin typeface="+mn-lt"/>
              </a:rPr>
              <a:t>day"}}'\ </a:t>
            </a:r>
          </a:p>
          <a:p>
            <a:pPr marL="49213" lvl="2" algn="l"/>
            <a:r>
              <a:rPr lang="en-AU" sz="1800" i="1" dirty="0">
                <a:latin typeface="+mn-lt"/>
              </a:rPr>
              <a:t>  --return-consumed-capacity TOTAL </a:t>
            </a:r>
            <a:r>
              <a:rPr lang="en-AU" sz="1800" dirty="0">
                <a:latin typeface="+mn-lt"/>
              </a:rPr>
              <a:t>--endpoint-</a:t>
            </a:r>
            <a:r>
              <a:rPr lang="en-AU" sz="1800" dirty="0" err="1">
                <a:latin typeface="+mn-lt"/>
              </a:rPr>
              <a:t>url</a:t>
            </a:r>
            <a:r>
              <a:rPr lang="en-AU" sz="1800" dirty="0">
                <a:latin typeface="+mn-lt"/>
              </a:rPr>
              <a:t>=http://localhost:8000</a:t>
            </a:r>
            <a:endParaRPr lang="en-AU" sz="1800" i="1" dirty="0">
              <a:latin typeface="+mn-lt"/>
            </a:endParaRPr>
          </a:p>
        </p:txBody>
      </p:sp>
      <p:sp>
        <p:nvSpPr>
          <p:cNvPr id="15" name="Title 1">
            <a:extLst>
              <a:ext uri="{FF2B5EF4-FFF2-40B4-BE49-F238E27FC236}">
                <a16:creationId xmlns:a16="http://schemas.microsoft.com/office/drawing/2014/main" id="{9EDAFD53-BF89-4555-AE2E-803E19F885BD}"/>
              </a:ext>
            </a:extLst>
          </p:cNvPr>
          <p:cNvSpPr txBox="1">
            <a:spLocks/>
          </p:cNvSpPr>
          <p:nvPr/>
        </p:nvSpPr>
        <p:spPr>
          <a:xfrm>
            <a:off x="504382" y="2760322"/>
            <a:ext cx="3374014" cy="37166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fontAlgn="auto">
              <a:spcAft>
                <a:spcPts val="0"/>
              </a:spcAft>
              <a:buClrTx/>
              <a:buSzTx/>
              <a:buFontTx/>
            </a:pPr>
            <a:r>
              <a:rPr lang="en-US" sz="2000" dirty="0">
                <a:solidFill>
                  <a:srgbClr val="FF0000"/>
                </a:solidFill>
                <a:latin typeface="+mn-lt"/>
                <a:ea typeface="+mn-ea"/>
                <a:cs typeface="+mn-cs"/>
              </a:rPr>
              <a:t>Insert the first item.</a:t>
            </a:r>
          </a:p>
        </p:txBody>
      </p:sp>
      <p:sp>
        <p:nvSpPr>
          <p:cNvPr id="16" name="Title 1">
            <a:extLst>
              <a:ext uri="{FF2B5EF4-FFF2-40B4-BE49-F238E27FC236}">
                <a16:creationId xmlns:a16="http://schemas.microsoft.com/office/drawing/2014/main" id="{EF66AEC1-E0FE-4D2E-81B9-8422814CDE8B}"/>
              </a:ext>
            </a:extLst>
          </p:cNvPr>
          <p:cNvSpPr txBox="1">
            <a:spLocks/>
          </p:cNvSpPr>
          <p:nvPr/>
        </p:nvSpPr>
        <p:spPr>
          <a:xfrm>
            <a:off x="570288" y="4666734"/>
            <a:ext cx="3374014" cy="335407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fontAlgn="auto">
              <a:spcAft>
                <a:spcPts val="0"/>
              </a:spcAft>
              <a:buClrTx/>
              <a:buSzTx/>
              <a:buFontTx/>
            </a:pPr>
            <a:r>
              <a:rPr lang="en-US" sz="2000" dirty="0">
                <a:solidFill>
                  <a:srgbClr val="FF0000"/>
                </a:solidFill>
                <a:latin typeface="+mn-lt"/>
                <a:ea typeface="+mn-ea"/>
                <a:cs typeface="+mn-cs"/>
              </a:rPr>
              <a:t>Insert the second item.</a:t>
            </a:r>
          </a:p>
        </p:txBody>
      </p:sp>
      <p:sp>
        <p:nvSpPr>
          <p:cNvPr id="17" name="Title 1">
            <a:extLst>
              <a:ext uri="{FF2B5EF4-FFF2-40B4-BE49-F238E27FC236}">
                <a16:creationId xmlns:a16="http://schemas.microsoft.com/office/drawing/2014/main" id="{E338C0A8-EAC2-4D49-8973-627E1A214A95}"/>
              </a:ext>
            </a:extLst>
          </p:cNvPr>
          <p:cNvSpPr txBox="1">
            <a:spLocks/>
          </p:cNvSpPr>
          <p:nvPr/>
        </p:nvSpPr>
        <p:spPr>
          <a:xfrm>
            <a:off x="582525" y="6368668"/>
            <a:ext cx="4991798" cy="47749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fontAlgn="auto">
              <a:spcAft>
                <a:spcPts val="0"/>
              </a:spcAft>
              <a:buClrTx/>
              <a:buSzTx/>
            </a:pPr>
            <a:r>
              <a:rPr lang="en-AU" sz="2000" dirty="0">
                <a:solidFill>
                  <a:srgbClr val="FF0000"/>
                </a:solidFill>
                <a:latin typeface="+mn-lt"/>
                <a:ea typeface="+mn-ea"/>
                <a:cs typeface="+mn-cs"/>
              </a:rPr>
              <a:t>What will the table be like?</a:t>
            </a:r>
            <a:endParaRPr lang="en-US" sz="2000" dirty="0">
              <a:solidFill>
                <a:srgbClr val="FF0000"/>
              </a:solidFill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07414838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077A1571-74FE-4469-B8FC-3AF47E1B2260}"/>
              </a:ext>
            </a:extLst>
          </p:cNvPr>
          <p:cNvSpPr txBox="1"/>
          <p:nvPr/>
        </p:nvSpPr>
        <p:spPr>
          <a:xfrm>
            <a:off x="1147432" y="82015"/>
            <a:ext cx="8741797" cy="2696123"/>
          </a:xfrm>
          <a:prstGeom prst="rect">
            <a:avLst/>
          </a:prstGeom>
          <a:solidFill>
            <a:schemeClr val="bg1">
              <a:lumMod val="85000"/>
              <a:alpha val="30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pPr marL="49213" lvl="2" algn="l"/>
            <a:r>
              <a:rPr lang="en-AU" sz="1800" dirty="0" err="1">
                <a:latin typeface="Calibri" panose="020F0502020204030204" pitchFamily="34" charset="0"/>
              </a:rPr>
              <a:t>aws</a:t>
            </a:r>
            <a:r>
              <a:rPr lang="en-AU" sz="1800" dirty="0">
                <a:latin typeface="Calibri" panose="020F0502020204030204" pitchFamily="34" charset="0"/>
              </a:rPr>
              <a:t> </a:t>
            </a:r>
            <a:r>
              <a:rPr lang="en-AU" sz="1800" dirty="0" err="1">
                <a:latin typeface="Calibri" panose="020F0502020204030204" pitchFamily="34" charset="0"/>
              </a:rPr>
              <a:t>dynamodb</a:t>
            </a:r>
            <a:r>
              <a:rPr lang="en-AU" sz="1800" dirty="0">
                <a:latin typeface="Calibri" panose="020F0502020204030204" pitchFamily="34" charset="0"/>
              </a:rPr>
              <a:t> create-table --table-name </a:t>
            </a:r>
            <a:r>
              <a:rPr lang="en-AU" sz="1800" dirty="0" err="1">
                <a:latin typeface="Calibri" panose="020F0502020204030204" pitchFamily="34" charset="0"/>
              </a:rPr>
              <a:t>MusicAlbum</a:t>
            </a:r>
            <a:r>
              <a:rPr lang="en-AU" sz="1800" dirty="0">
                <a:latin typeface="Calibri" panose="020F0502020204030204" pitchFamily="34" charset="0"/>
              </a:rPr>
              <a:t> </a:t>
            </a:r>
          </a:p>
          <a:p>
            <a:pPr marL="49213" lvl="2" algn="l"/>
            <a:r>
              <a:rPr lang="en-AU" sz="1800" dirty="0">
                <a:latin typeface="Calibri" panose="020F0502020204030204" pitchFamily="34" charset="0"/>
              </a:rPr>
              <a:t>  --attribute-definitions \</a:t>
            </a:r>
          </a:p>
          <a:p>
            <a:pPr marL="49213" lvl="2" algn="l"/>
            <a:r>
              <a:rPr lang="en-AU" sz="1800" dirty="0">
                <a:latin typeface="Calibri" panose="020F0502020204030204" pitchFamily="34" charset="0"/>
              </a:rPr>
              <a:t>    </a:t>
            </a:r>
            <a:r>
              <a:rPr lang="en-AU" sz="1800" dirty="0" err="1">
                <a:latin typeface="Calibri" panose="020F0502020204030204" pitchFamily="34" charset="0"/>
              </a:rPr>
              <a:t>AttributeName</a:t>
            </a:r>
            <a:r>
              <a:rPr lang="en-AU" sz="1800" dirty="0">
                <a:latin typeface="Calibri" panose="020F0502020204030204" pitchFamily="34" charset="0"/>
              </a:rPr>
              <a:t>=</a:t>
            </a:r>
            <a:r>
              <a:rPr lang="en-AU" sz="1800" dirty="0" err="1">
                <a:latin typeface="Calibri" panose="020F0502020204030204" pitchFamily="34" charset="0"/>
              </a:rPr>
              <a:t>Artist,AttributeType</a:t>
            </a:r>
            <a:r>
              <a:rPr lang="en-AU" sz="1800" dirty="0">
                <a:latin typeface="Calibri" panose="020F0502020204030204" pitchFamily="34" charset="0"/>
              </a:rPr>
              <a:t>=S \</a:t>
            </a:r>
          </a:p>
          <a:p>
            <a:pPr marL="49213" lvl="2" algn="l"/>
            <a:r>
              <a:rPr lang="en-AU" sz="1800" dirty="0">
                <a:latin typeface="Calibri" panose="020F0502020204030204" pitchFamily="34" charset="0"/>
              </a:rPr>
              <a:t>    </a:t>
            </a:r>
            <a:r>
              <a:rPr lang="en-AU" sz="1800" dirty="0" err="1">
                <a:latin typeface="Calibri" panose="020F0502020204030204" pitchFamily="34" charset="0"/>
              </a:rPr>
              <a:t>AttributeName</a:t>
            </a:r>
            <a:r>
              <a:rPr lang="en-AU" sz="1800" dirty="0">
                <a:latin typeface="Calibri" panose="020F0502020204030204" pitchFamily="34" charset="0"/>
              </a:rPr>
              <a:t>=</a:t>
            </a:r>
            <a:r>
              <a:rPr lang="en-AU" sz="1800" dirty="0" err="1">
                <a:latin typeface="Calibri" panose="020F0502020204030204" pitchFamily="34" charset="0"/>
              </a:rPr>
              <a:t>Song,AttributeType</a:t>
            </a:r>
            <a:r>
              <a:rPr lang="en-AU" sz="1800" dirty="0">
                <a:latin typeface="Calibri" panose="020F0502020204030204" pitchFamily="34" charset="0"/>
              </a:rPr>
              <a:t>=S \ </a:t>
            </a:r>
          </a:p>
          <a:p>
            <a:pPr marL="49213" lvl="2" algn="l"/>
            <a:r>
              <a:rPr lang="en-AU" sz="1800" dirty="0">
                <a:latin typeface="Calibri" panose="020F0502020204030204" pitchFamily="34" charset="0"/>
              </a:rPr>
              <a:t>  --key-schema </a:t>
            </a:r>
            <a:r>
              <a:rPr lang="en-AU" sz="1800" dirty="0" err="1">
                <a:latin typeface="Calibri" panose="020F0502020204030204" pitchFamily="34" charset="0"/>
              </a:rPr>
              <a:t>AttributeName</a:t>
            </a:r>
            <a:r>
              <a:rPr lang="en-AU" sz="1800" dirty="0">
                <a:latin typeface="Calibri" panose="020F0502020204030204" pitchFamily="34" charset="0"/>
              </a:rPr>
              <a:t>=</a:t>
            </a:r>
            <a:r>
              <a:rPr lang="en-AU" sz="1800" dirty="0" err="1">
                <a:latin typeface="Calibri" panose="020F0502020204030204" pitchFamily="34" charset="0"/>
              </a:rPr>
              <a:t>Artist,KeyType</a:t>
            </a:r>
            <a:r>
              <a:rPr lang="en-AU" sz="1800" dirty="0">
                <a:latin typeface="Calibri" panose="020F0502020204030204" pitchFamily="34" charset="0"/>
              </a:rPr>
              <a:t>=HASH \ </a:t>
            </a:r>
          </a:p>
          <a:p>
            <a:pPr marL="49213" lvl="2" algn="l"/>
            <a:r>
              <a:rPr lang="en-AU" sz="1800" dirty="0">
                <a:latin typeface="Calibri" panose="020F0502020204030204" pitchFamily="34" charset="0"/>
              </a:rPr>
              <a:t>               </a:t>
            </a:r>
            <a:r>
              <a:rPr lang="en-AU" sz="1800" dirty="0" err="1">
                <a:latin typeface="Calibri" panose="020F0502020204030204" pitchFamily="34" charset="0"/>
              </a:rPr>
              <a:t>AttributeName</a:t>
            </a:r>
            <a:r>
              <a:rPr lang="en-AU" sz="1800" dirty="0">
                <a:latin typeface="Calibri" panose="020F0502020204030204" pitchFamily="34" charset="0"/>
              </a:rPr>
              <a:t>=</a:t>
            </a:r>
            <a:r>
              <a:rPr lang="en-AU" sz="1800" dirty="0" err="1">
                <a:latin typeface="Calibri" panose="020F0502020204030204" pitchFamily="34" charset="0"/>
              </a:rPr>
              <a:t>Song,KeyType</a:t>
            </a:r>
            <a:r>
              <a:rPr lang="en-AU" sz="1800" dirty="0">
                <a:latin typeface="Calibri" panose="020F0502020204030204" pitchFamily="34" charset="0"/>
              </a:rPr>
              <a:t>=RANGE  \</a:t>
            </a:r>
          </a:p>
          <a:p>
            <a:pPr marL="7938" lvl="2" algn="l"/>
            <a:r>
              <a:rPr lang="en-AU" sz="1800" dirty="0">
                <a:latin typeface="Calibri" panose="020F0502020204030204" pitchFamily="34" charset="0"/>
              </a:rPr>
              <a:t>  --provisioned-throughput </a:t>
            </a:r>
            <a:r>
              <a:rPr lang="en-AU" sz="1800" dirty="0" err="1">
                <a:latin typeface="Calibri" panose="020F0502020204030204" pitchFamily="34" charset="0"/>
              </a:rPr>
              <a:t>ReadCapacityUnits</a:t>
            </a:r>
            <a:r>
              <a:rPr lang="en-AU" sz="1800" dirty="0">
                <a:latin typeface="Calibri" panose="020F0502020204030204" pitchFamily="34" charset="0"/>
              </a:rPr>
              <a:t>=1,WriteCapacityUnits=1 \</a:t>
            </a:r>
          </a:p>
          <a:p>
            <a:pPr marL="7938" lvl="2" algn="l"/>
            <a:r>
              <a:rPr lang="en-AU" sz="1800" dirty="0">
                <a:latin typeface="Calibri" panose="020F0502020204030204" pitchFamily="34" charset="0"/>
              </a:rPr>
              <a:t>  --endpoint-</a:t>
            </a:r>
            <a:r>
              <a:rPr lang="en-AU" sz="1800" dirty="0" err="1">
                <a:latin typeface="Calibri" panose="020F0502020204030204" pitchFamily="34" charset="0"/>
              </a:rPr>
              <a:t>url</a:t>
            </a:r>
            <a:r>
              <a:rPr lang="en-AU" sz="1800" dirty="0">
                <a:latin typeface="Calibri" panose="020F0502020204030204" pitchFamily="34" charset="0"/>
              </a:rPr>
              <a:t>=http://localhost:8000</a:t>
            </a:r>
            <a:endParaRPr lang="en-US" sz="1800" dirty="0">
              <a:latin typeface="Calibri" panose="020F050202020403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C156143-998A-4DA9-ADF7-48C9419DE713}"/>
              </a:ext>
            </a:extLst>
          </p:cNvPr>
          <p:cNvSpPr txBox="1"/>
          <p:nvPr/>
        </p:nvSpPr>
        <p:spPr>
          <a:xfrm>
            <a:off x="588264" y="82076"/>
            <a:ext cx="559168" cy="2696123"/>
          </a:xfrm>
          <a:prstGeom prst="rect">
            <a:avLst/>
          </a:prstGeom>
          <a:solidFill>
            <a:schemeClr val="bg1">
              <a:lumMod val="85000"/>
              <a:alpha val="30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pPr marL="49213" lvl="2" algn="l"/>
            <a:r>
              <a:rPr lang="en-US" sz="1800" dirty="0">
                <a:latin typeface="Calibri" panose="020F0502020204030204" pitchFamily="34" charset="0"/>
              </a:rPr>
              <a:t>1</a:t>
            </a:r>
          </a:p>
          <a:p>
            <a:pPr marL="49213" lvl="2" algn="l"/>
            <a:r>
              <a:rPr lang="en-US" sz="1800" dirty="0">
                <a:latin typeface="Calibri" panose="020F0502020204030204" pitchFamily="34" charset="0"/>
              </a:rPr>
              <a:t>2</a:t>
            </a:r>
          </a:p>
          <a:p>
            <a:pPr marL="49213" lvl="2" algn="l"/>
            <a:r>
              <a:rPr lang="en-US" sz="1800" dirty="0">
                <a:latin typeface="Calibri" panose="020F0502020204030204" pitchFamily="34" charset="0"/>
              </a:rPr>
              <a:t>3</a:t>
            </a:r>
          </a:p>
          <a:p>
            <a:pPr marL="49213" lvl="2" algn="l"/>
            <a:r>
              <a:rPr lang="en-US" sz="1800" dirty="0">
                <a:latin typeface="Calibri" panose="020F0502020204030204" pitchFamily="34" charset="0"/>
              </a:rPr>
              <a:t>4</a:t>
            </a:r>
          </a:p>
          <a:p>
            <a:pPr marL="49213" lvl="2" algn="l"/>
            <a:r>
              <a:rPr lang="en-US" sz="1800" dirty="0">
                <a:latin typeface="Calibri" panose="020F0502020204030204" pitchFamily="34" charset="0"/>
              </a:rPr>
              <a:t>5</a:t>
            </a:r>
          </a:p>
          <a:p>
            <a:pPr marL="49213" lvl="2" algn="l"/>
            <a:r>
              <a:rPr lang="en-US" sz="1800" dirty="0">
                <a:latin typeface="Calibri" panose="020F0502020204030204" pitchFamily="34" charset="0"/>
              </a:rPr>
              <a:t>6</a:t>
            </a:r>
          </a:p>
          <a:p>
            <a:pPr marL="49213" lvl="2" algn="l"/>
            <a:r>
              <a:rPr lang="en-US" sz="1800" dirty="0">
                <a:latin typeface="Calibri" panose="020F0502020204030204" pitchFamily="34" charset="0"/>
              </a:rPr>
              <a:t>7</a:t>
            </a:r>
          </a:p>
          <a:p>
            <a:pPr marL="49213" lvl="2" algn="l"/>
            <a:r>
              <a:rPr lang="en-US" sz="1800" dirty="0">
                <a:latin typeface="Calibri" panose="020F0502020204030204" pitchFamily="34" charset="0"/>
              </a:rPr>
              <a:t>8</a:t>
            </a: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69C4C5AE-7E86-4075-9044-A8DE8685B0D7}"/>
              </a:ext>
            </a:extLst>
          </p:cNvPr>
          <p:cNvSpPr txBox="1">
            <a:spLocks/>
          </p:cNvSpPr>
          <p:nvPr/>
        </p:nvSpPr>
        <p:spPr>
          <a:xfrm>
            <a:off x="578165" y="2814391"/>
            <a:ext cx="9715026" cy="76328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fontAlgn="auto">
              <a:spcAft>
                <a:spcPts val="0"/>
              </a:spcAft>
              <a:buClrTx/>
              <a:buSzTx/>
              <a:buFontTx/>
            </a:pPr>
            <a:endParaRPr lang="en-US" sz="2400" dirty="0">
              <a:solidFill>
                <a:srgbClr val="FF0000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6210159-DF2F-4FC5-AC24-7B352668CBC8}"/>
              </a:ext>
            </a:extLst>
          </p:cNvPr>
          <p:cNvSpPr txBox="1"/>
          <p:nvPr/>
        </p:nvSpPr>
        <p:spPr>
          <a:xfrm>
            <a:off x="578165" y="3189832"/>
            <a:ext cx="487207" cy="1366528"/>
          </a:xfrm>
          <a:prstGeom prst="rect">
            <a:avLst/>
          </a:prstGeom>
          <a:solidFill>
            <a:schemeClr val="bg1">
              <a:lumMod val="85000"/>
              <a:alpha val="30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pPr marL="49213" lvl="2" algn="l"/>
            <a:r>
              <a:rPr lang="en-US" sz="1800" dirty="0">
                <a:latin typeface="Courier" pitchFamily="2" charset="0"/>
              </a:rPr>
              <a:t>1</a:t>
            </a:r>
          </a:p>
          <a:p>
            <a:pPr marL="49213" lvl="2" algn="l"/>
            <a:r>
              <a:rPr lang="en-US" sz="1800" dirty="0">
                <a:latin typeface="Courier" pitchFamily="2" charset="0"/>
              </a:rPr>
              <a:t>2</a:t>
            </a:r>
          </a:p>
          <a:p>
            <a:pPr marL="49213" lvl="2" algn="l"/>
            <a:r>
              <a:rPr lang="en-US" sz="1800" dirty="0">
                <a:latin typeface="Courier" pitchFamily="2" charset="0"/>
              </a:rPr>
              <a:t>3</a:t>
            </a:r>
          </a:p>
          <a:p>
            <a:pPr marL="49213" lvl="2" algn="l"/>
            <a:r>
              <a:rPr lang="en-US" sz="1800" dirty="0">
                <a:latin typeface="Courier" pitchFamily="2" charset="0"/>
              </a:rPr>
              <a:t>4</a:t>
            </a:r>
            <a:endParaRPr lang="en-US" sz="1600" dirty="0">
              <a:latin typeface="Courier" pitchFamily="2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0ED1A94-170B-4FB5-AB5E-188E753A629D}"/>
              </a:ext>
            </a:extLst>
          </p:cNvPr>
          <p:cNvSpPr txBox="1"/>
          <p:nvPr/>
        </p:nvSpPr>
        <p:spPr>
          <a:xfrm>
            <a:off x="1094677" y="3189832"/>
            <a:ext cx="8794552" cy="1366528"/>
          </a:xfrm>
          <a:prstGeom prst="rect">
            <a:avLst/>
          </a:prstGeom>
          <a:solidFill>
            <a:schemeClr val="bg1">
              <a:lumMod val="85000"/>
              <a:alpha val="30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pPr marL="49213" lvl="2" algn="l"/>
            <a:r>
              <a:rPr lang="en-AU" sz="1800" dirty="0" err="1">
                <a:latin typeface="+mn-lt"/>
              </a:rPr>
              <a:t>aws</a:t>
            </a:r>
            <a:r>
              <a:rPr lang="en-AU" sz="1800" dirty="0">
                <a:latin typeface="+mn-lt"/>
              </a:rPr>
              <a:t> </a:t>
            </a:r>
            <a:r>
              <a:rPr lang="en-AU" sz="1800" dirty="0" err="1">
                <a:latin typeface="+mn-lt"/>
              </a:rPr>
              <a:t>dynamodb</a:t>
            </a:r>
            <a:r>
              <a:rPr lang="en-AU" sz="1800" dirty="0">
                <a:latin typeface="+mn-lt"/>
              </a:rPr>
              <a:t> put-item \ </a:t>
            </a:r>
          </a:p>
          <a:p>
            <a:pPr marL="49213" lvl="2" algn="l"/>
            <a:r>
              <a:rPr lang="en-AU" sz="1800" i="1" dirty="0">
                <a:latin typeface="+mn-lt"/>
              </a:rPr>
              <a:t>  --table-name </a:t>
            </a:r>
            <a:r>
              <a:rPr lang="en-AU" sz="1800" dirty="0" err="1">
                <a:latin typeface="+mn-lt"/>
              </a:rPr>
              <a:t>MusicAlbum</a:t>
            </a:r>
            <a:r>
              <a:rPr lang="en-AU" sz="1800" i="1" dirty="0">
                <a:latin typeface="+mn-lt"/>
              </a:rPr>
              <a:t> \</a:t>
            </a:r>
            <a:r>
              <a:rPr lang="en-AU" sz="1800" dirty="0">
                <a:latin typeface="+mn-lt"/>
              </a:rPr>
              <a:t> </a:t>
            </a:r>
          </a:p>
          <a:p>
            <a:pPr marL="49213" lvl="2" algn="l"/>
            <a:r>
              <a:rPr lang="en-AU" sz="1800" i="1" dirty="0">
                <a:latin typeface="+mn-lt"/>
              </a:rPr>
              <a:t>  --item </a:t>
            </a:r>
            <a:r>
              <a:rPr lang="en-AU" sz="1800" dirty="0">
                <a:latin typeface="+mn-lt"/>
              </a:rPr>
              <a:t>'{"Artist": {"S": "Tom"}, "Song": {"S": "Call me today"}}'\ </a:t>
            </a:r>
          </a:p>
          <a:p>
            <a:pPr marL="49213" lvl="2" algn="l"/>
            <a:r>
              <a:rPr lang="en-AU" sz="1800" i="1" dirty="0">
                <a:latin typeface="+mn-lt"/>
              </a:rPr>
              <a:t>  --return-consumed-capacity TOTAL </a:t>
            </a:r>
            <a:r>
              <a:rPr lang="en-AU" sz="1800" dirty="0">
                <a:latin typeface="+mn-lt"/>
              </a:rPr>
              <a:t>--endpoint-</a:t>
            </a:r>
            <a:r>
              <a:rPr lang="en-AU" sz="1800" dirty="0" err="1">
                <a:latin typeface="+mn-lt"/>
              </a:rPr>
              <a:t>url</a:t>
            </a:r>
            <a:r>
              <a:rPr lang="en-AU" sz="1800" dirty="0">
                <a:latin typeface="+mn-lt"/>
              </a:rPr>
              <a:t>=http://localhost:8000</a:t>
            </a:r>
            <a:endParaRPr lang="en-AU" sz="1800" i="1" dirty="0">
              <a:latin typeface="+mn-lt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DD6A3CB-BC1A-44D2-8F8C-A52CE7144D57}"/>
              </a:ext>
            </a:extLst>
          </p:cNvPr>
          <p:cNvSpPr txBox="1"/>
          <p:nvPr/>
        </p:nvSpPr>
        <p:spPr>
          <a:xfrm>
            <a:off x="630920" y="5002141"/>
            <a:ext cx="487207" cy="1366528"/>
          </a:xfrm>
          <a:prstGeom prst="rect">
            <a:avLst/>
          </a:prstGeom>
          <a:solidFill>
            <a:schemeClr val="bg1">
              <a:lumMod val="85000"/>
              <a:alpha val="30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pPr marL="49213" lvl="2" algn="l"/>
            <a:r>
              <a:rPr lang="en-US" sz="1800" dirty="0">
                <a:latin typeface="Courier" pitchFamily="2" charset="0"/>
              </a:rPr>
              <a:t>1</a:t>
            </a:r>
          </a:p>
          <a:p>
            <a:pPr marL="49213" lvl="2" algn="l"/>
            <a:r>
              <a:rPr lang="en-US" sz="1800" dirty="0">
                <a:latin typeface="Courier" pitchFamily="2" charset="0"/>
              </a:rPr>
              <a:t>2</a:t>
            </a:r>
          </a:p>
          <a:p>
            <a:pPr marL="49213" lvl="2" algn="l"/>
            <a:r>
              <a:rPr lang="en-US" sz="1800" dirty="0">
                <a:latin typeface="Courier" pitchFamily="2" charset="0"/>
              </a:rPr>
              <a:t>3</a:t>
            </a:r>
          </a:p>
          <a:p>
            <a:pPr marL="49213" lvl="2" algn="l"/>
            <a:r>
              <a:rPr lang="en-US" sz="1800" dirty="0">
                <a:latin typeface="Courier" pitchFamily="2" charset="0"/>
              </a:rPr>
              <a:t>4</a:t>
            </a:r>
            <a:endParaRPr lang="en-US" sz="1600" dirty="0">
              <a:latin typeface="Courier" pitchFamily="2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40651EA-96A1-4C06-B8A6-057D5441B9E5}"/>
              </a:ext>
            </a:extLst>
          </p:cNvPr>
          <p:cNvSpPr txBox="1"/>
          <p:nvPr/>
        </p:nvSpPr>
        <p:spPr>
          <a:xfrm>
            <a:off x="1147432" y="5002141"/>
            <a:ext cx="8794552" cy="1366528"/>
          </a:xfrm>
          <a:prstGeom prst="rect">
            <a:avLst/>
          </a:prstGeom>
          <a:solidFill>
            <a:schemeClr val="bg1">
              <a:lumMod val="85000"/>
              <a:alpha val="30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pPr marL="49213" lvl="2" algn="l"/>
            <a:r>
              <a:rPr lang="en-AU" sz="1800" dirty="0" err="1">
                <a:latin typeface="+mn-lt"/>
              </a:rPr>
              <a:t>aws</a:t>
            </a:r>
            <a:r>
              <a:rPr lang="en-AU" sz="1800" dirty="0">
                <a:latin typeface="+mn-lt"/>
              </a:rPr>
              <a:t> </a:t>
            </a:r>
            <a:r>
              <a:rPr lang="en-AU" sz="1800" dirty="0" err="1">
                <a:latin typeface="+mn-lt"/>
              </a:rPr>
              <a:t>dynamodb</a:t>
            </a:r>
            <a:r>
              <a:rPr lang="en-AU" sz="1800" dirty="0">
                <a:latin typeface="+mn-lt"/>
              </a:rPr>
              <a:t> put-item \ </a:t>
            </a:r>
          </a:p>
          <a:p>
            <a:pPr marL="49213" lvl="2" algn="l"/>
            <a:r>
              <a:rPr lang="en-AU" sz="1800" i="1" dirty="0">
                <a:latin typeface="+mn-lt"/>
              </a:rPr>
              <a:t>  --table-name </a:t>
            </a:r>
            <a:r>
              <a:rPr lang="en-AU" sz="1800" dirty="0" err="1">
                <a:latin typeface="+mn-lt"/>
              </a:rPr>
              <a:t>MusicAlbum</a:t>
            </a:r>
            <a:r>
              <a:rPr lang="en-AU" sz="1800" i="1" dirty="0">
                <a:latin typeface="+mn-lt"/>
              </a:rPr>
              <a:t> \</a:t>
            </a:r>
            <a:r>
              <a:rPr lang="en-AU" sz="1800" dirty="0">
                <a:latin typeface="+mn-lt"/>
              </a:rPr>
              <a:t> </a:t>
            </a:r>
          </a:p>
          <a:p>
            <a:pPr marL="49213" lvl="2" algn="l"/>
            <a:r>
              <a:rPr lang="en-AU" sz="1800" i="1" dirty="0">
                <a:latin typeface="+mn-lt"/>
              </a:rPr>
              <a:t>  --item </a:t>
            </a:r>
            <a:r>
              <a:rPr lang="en-AU" sz="1800" dirty="0">
                <a:latin typeface="+mn-lt"/>
              </a:rPr>
              <a:t>'{"Artist": {"S": "Tom"}, "Song": {"S": “C</a:t>
            </a:r>
            <a:r>
              <a:rPr lang="en-US" altLang="zh-CN" sz="1800" dirty="0">
                <a:latin typeface="+mn-lt"/>
              </a:rPr>
              <a:t>all me today</a:t>
            </a:r>
            <a:r>
              <a:rPr lang="en-AU" sz="1800" dirty="0">
                <a:latin typeface="+mn-lt"/>
              </a:rPr>
              <a:t>"}}'\ </a:t>
            </a:r>
          </a:p>
          <a:p>
            <a:pPr marL="49213" lvl="2" algn="l"/>
            <a:r>
              <a:rPr lang="en-AU" sz="1800" i="1" dirty="0">
                <a:latin typeface="+mn-lt"/>
              </a:rPr>
              <a:t>  --return-consumed-capacity TOTAL </a:t>
            </a:r>
            <a:r>
              <a:rPr lang="en-AU" sz="1800" dirty="0">
                <a:latin typeface="+mn-lt"/>
              </a:rPr>
              <a:t>--endpoint-</a:t>
            </a:r>
            <a:r>
              <a:rPr lang="en-AU" sz="1800" dirty="0" err="1">
                <a:latin typeface="+mn-lt"/>
              </a:rPr>
              <a:t>url</a:t>
            </a:r>
            <a:r>
              <a:rPr lang="en-AU" sz="1800" dirty="0">
                <a:latin typeface="+mn-lt"/>
              </a:rPr>
              <a:t>=http://localhost:8000</a:t>
            </a:r>
            <a:endParaRPr lang="en-AU" sz="1800" i="1" dirty="0">
              <a:latin typeface="+mn-lt"/>
            </a:endParaRPr>
          </a:p>
        </p:txBody>
      </p:sp>
      <p:sp>
        <p:nvSpPr>
          <p:cNvPr id="15" name="Title 1">
            <a:extLst>
              <a:ext uri="{FF2B5EF4-FFF2-40B4-BE49-F238E27FC236}">
                <a16:creationId xmlns:a16="http://schemas.microsoft.com/office/drawing/2014/main" id="{9EDAFD53-BF89-4555-AE2E-803E19F885BD}"/>
              </a:ext>
            </a:extLst>
          </p:cNvPr>
          <p:cNvSpPr txBox="1">
            <a:spLocks/>
          </p:cNvSpPr>
          <p:nvPr/>
        </p:nvSpPr>
        <p:spPr>
          <a:xfrm>
            <a:off x="504382" y="2760322"/>
            <a:ext cx="3374014" cy="37166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fontAlgn="auto">
              <a:spcAft>
                <a:spcPts val="0"/>
              </a:spcAft>
              <a:buClrTx/>
              <a:buSzTx/>
              <a:buFontTx/>
            </a:pPr>
            <a:r>
              <a:rPr lang="en-US" sz="2000" dirty="0">
                <a:solidFill>
                  <a:srgbClr val="FF0000"/>
                </a:solidFill>
                <a:latin typeface="+mn-lt"/>
                <a:ea typeface="+mn-ea"/>
                <a:cs typeface="+mn-cs"/>
              </a:rPr>
              <a:t>Insert the first item.</a:t>
            </a:r>
          </a:p>
        </p:txBody>
      </p:sp>
      <p:sp>
        <p:nvSpPr>
          <p:cNvPr id="16" name="Title 1">
            <a:extLst>
              <a:ext uri="{FF2B5EF4-FFF2-40B4-BE49-F238E27FC236}">
                <a16:creationId xmlns:a16="http://schemas.microsoft.com/office/drawing/2014/main" id="{EF66AEC1-E0FE-4D2E-81B9-8422814CDE8B}"/>
              </a:ext>
            </a:extLst>
          </p:cNvPr>
          <p:cNvSpPr txBox="1">
            <a:spLocks/>
          </p:cNvSpPr>
          <p:nvPr/>
        </p:nvSpPr>
        <p:spPr>
          <a:xfrm>
            <a:off x="570288" y="4666734"/>
            <a:ext cx="3374014" cy="335407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fontAlgn="auto">
              <a:spcAft>
                <a:spcPts val="0"/>
              </a:spcAft>
              <a:buClrTx/>
              <a:buSzTx/>
              <a:buFontTx/>
            </a:pPr>
            <a:r>
              <a:rPr lang="en-US" sz="2000" dirty="0">
                <a:solidFill>
                  <a:srgbClr val="FF0000"/>
                </a:solidFill>
                <a:latin typeface="+mn-lt"/>
                <a:ea typeface="+mn-ea"/>
                <a:cs typeface="+mn-cs"/>
              </a:rPr>
              <a:t>Insert the second item.</a:t>
            </a:r>
          </a:p>
        </p:txBody>
      </p:sp>
      <p:sp>
        <p:nvSpPr>
          <p:cNvPr id="17" name="Title 1">
            <a:extLst>
              <a:ext uri="{FF2B5EF4-FFF2-40B4-BE49-F238E27FC236}">
                <a16:creationId xmlns:a16="http://schemas.microsoft.com/office/drawing/2014/main" id="{E338C0A8-EAC2-4D49-8973-627E1A214A95}"/>
              </a:ext>
            </a:extLst>
          </p:cNvPr>
          <p:cNvSpPr txBox="1">
            <a:spLocks/>
          </p:cNvSpPr>
          <p:nvPr/>
        </p:nvSpPr>
        <p:spPr>
          <a:xfrm>
            <a:off x="582525" y="6368668"/>
            <a:ext cx="4991798" cy="47749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fontAlgn="auto">
              <a:spcAft>
                <a:spcPts val="0"/>
              </a:spcAft>
              <a:buClrTx/>
              <a:buSzTx/>
            </a:pPr>
            <a:r>
              <a:rPr lang="en-AU" sz="2000" dirty="0">
                <a:solidFill>
                  <a:srgbClr val="FF0000"/>
                </a:solidFill>
                <a:latin typeface="+mn-lt"/>
                <a:ea typeface="+mn-ea"/>
                <a:cs typeface="+mn-cs"/>
              </a:rPr>
              <a:t>What will the table be like?</a:t>
            </a:r>
            <a:endParaRPr lang="en-US" sz="2000" dirty="0">
              <a:solidFill>
                <a:srgbClr val="FF0000"/>
              </a:solidFill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94557778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077A1571-74FE-4469-B8FC-3AF47E1B2260}"/>
              </a:ext>
            </a:extLst>
          </p:cNvPr>
          <p:cNvSpPr txBox="1"/>
          <p:nvPr/>
        </p:nvSpPr>
        <p:spPr>
          <a:xfrm>
            <a:off x="1147432" y="29260"/>
            <a:ext cx="8741797" cy="2406813"/>
          </a:xfrm>
          <a:prstGeom prst="rect">
            <a:avLst/>
          </a:prstGeom>
          <a:solidFill>
            <a:schemeClr val="bg1">
              <a:lumMod val="85000"/>
              <a:alpha val="30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pPr marL="49213" lvl="2" algn="l"/>
            <a:r>
              <a:rPr lang="en-AU" sz="1600" dirty="0" err="1">
                <a:latin typeface="Calibri" panose="020F0502020204030204" pitchFamily="34" charset="0"/>
              </a:rPr>
              <a:t>aws</a:t>
            </a:r>
            <a:r>
              <a:rPr lang="en-AU" sz="1600" dirty="0">
                <a:latin typeface="Calibri" panose="020F0502020204030204" pitchFamily="34" charset="0"/>
              </a:rPr>
              <a:t> </a:t>
            </a:r>
            <a:r>
              <a:rPr lang="en-AU" sz="1600" dirty="0" err="1">
                <a:latin typeface="Calibri" panose="020F0502020204030204" pitchFamily="34" charset="0"/>
              </a:rPr>
              <a:t>dynamodb</a:t>
            </a:r>
            <a:r>
              <a:rPr lang="en-AU" sz="1600" dirty="0">
                <a:latin typeface="Calibri" panose="020F0502020204030204" pitchFamily="34" charset="0"/>
              </a:rPr>
              <a:t> create-table --table-name </a:t>
            </a:r>
            <a:r>
              <a:rPr lang="en-AU" sz="1600" dirty="0" err="1">
                <a:latin typeface="Calibri" panose="020F0502020204030204" pitchFamily="34" charset="0"/>
              </a:rPr>
              <a:t>MusicAlbum</a:t>
            </a:r>
            <a:r>
              <a:rPr lang="en-AU" sz="1600" dirty="0">
                <a:latin typeface="Calibri" panose="020F0502020204030204" pitchFamily="34" charset="0"/>
              </a:rPr>
              <a:t> </a:t>
            </a:r>
          </a:p>
          <a:p>
            <a:pPr marL="49213" lvl="2" algn="l"/>
            <a:r>
              <a:rPr lang="en-AU" sz="1600" dirty="0">
                <a:latin typeface="Calibri" panose="020F0502020204030204" pitchFamily="34" charset="0"/>
              </a:rPr>
              <a:t>  --attribute-definitions \</a:t>
            </a:r>
          </a:p>
          <a:p>
            <a:pPr marL="49213" lvl="2" algn="l"/>
            <a:r>
              <a:rPr lang="en-AU" sz="1600" dirty="0">
                <a:latin typeface="Calibri" panose="020F0502020204030204" pitchFamily="34" charset="0"/>
              </a:rPr>
              <a:t>    </a:t>
            </a:r>
            <a:r>
              <a:rPr lang="en-AU" sz="1600" dirty="0" err="1">
                <a:latin typeface="Calibri" panose="020F0502020204030204" pitchFamily="34" charset="0"/>
              </a:rPr>
              <a:t>AttributeName</a:t>
            </a:r>
            <a:r>
              <a:rPr lang="en-AU" sz="1600" dirty="0">
                <a:latin typeface="Calibri" panose="020F0502020204030204" pitchFamily="34" charset="0"/>
              </a:rPr>
              <a:t>=</a:t>
            </a:r>
            <a:r>
              <a:rPr lang="en-AU" sz="1600" dirty="0" err="1">
                <a:latin typeface="Calibri" panose="020F0502020204030204" pitchFamily="34" charset="0"/>
              </a:rPr>
              <a:t>Artist,AttributeType</a:t>
            </a:r>
            <a:r>
              <a:rPr lang="en-AU" sz="1600" dirty="0">
                <a:latin typeface="Calibri" panose="020F0502020204030204" pitchFamily="34" charset="0"/>
              </a:rPr>
              <a:t>=S \</a:t>
            </a:r>
          </a:p>
          <a:p>
            <a:pPr marL="49213" lvl="2" algn="l"/>
            <a:r>
              <a:rPr lang="en-AU" sz="1600" dirty="0">
                <a:latin typeface="Calibri" panose="020F0502020204030204" pitchFamily="34" charset="0"/>
              </a:rPr>
              <a:t>    </a:t>
            </a:r>
            <a:r>
              <a:rPr lang="en-AU" sz="1600" dirty="0" err="1">
                <a:latin typeface="Calibri" panose="020F0502020204030204" pitchFamily="34" charset="0"/>
              </a:rPr>
              <a:t>AttributeName</a:t>
            </a:r>
            <a:r>
              <a:rPr lang="en-AU" sz="1600" dirty="0">
                <a:latin typeface="Calibri" panose="020F0502020204030204" pitchFamily="34" charset="0"/>
              </a:rPr>
              <a:t>=</a:t>
            </a:r>
            <a:r>
              <a:rPr lang="en-AU" sz="1600" dirty="0" err="1">
                <a:latin typeface="Calibri" panose="020F0502020204030204" pitchFamily="34" charset="0"/>
              </a:rPr>
              <a:t>Song,AttributeType</a:t>
            </a:r>
            <a:r>
              <a:rPr lang="en-AU" sz="1600" dirty="0">
                <a:latin typeface="Calibri" panose="020F0502020204030204" pitchFamily="34" charset="0"/>
              </a:rPr>
              <a:t>=S \ </a:t>
            </a:r>
          </a:p>
          <a:p>
            <a:pPr marL="49213" lvl="2" algn="l"/>
            <a:r>
              <a:rPr lang="en-AU" sz="1600" dirty="0">
                <a:latin typeface="Calibri" panose="020F0502020204030204" pitchFamily="34" charset="0"/>
              </a:rPr>
              <a:t>  --key-schema </a:t>
            </a:r>
            <a:r>
              <a:rPr lang="en-AU" sz="1600" dirty="0" err="1">
                <a:latin typeface="Calibri" panose="020F0502020204030204" pitchFamily="34" charset="0"/>
              </a:rPr>
              <a:t>AttributeName</a:t>
            </a:r>
            <a:r>
              <a:rPr lang="en-AU" sz="1600" dirty="0">
                <a:latin typeface="Calibri" panose="020F0502020204030204" pitchFamily="34" charset="0"/>
              </a:rPr>
              <a:t>=</a:t>
            </a:r>
            <a:r>
              <a:rPr lang="en-AU" sz="1600" dirty="0" err="1">
                <a:latin typeface="Calibri" panose="020F0502020204030204" pitchFamily="34" charset="0"/>
              </a:rPr>
              <a:t>Artist,KeyType</a:t>
            </a:r>
            <a:r>
              <a:rPr lang="en-AU" sz="1600" dirty="0">
                <a:latin typeface="Calibri" panose="020F0502020204030204" pitchFamily="34" charset="0"/>
              </a:rPr>
              <a:t>=HASH \ </a:t>
            </a:r>
          </a:p>
          <a:p>
            <a:pPr marL="49213" lvl="2" algn="l"/>
            <a:r>
              <a:rPr lang="en-AU" sz="1600" dirty="0">
                <a:latin typeface="Calibri" panose="020F0502020204030204" pitchFamily="34" charset="0"/>
              </a:rPr>
              <a:t>               </a:t>
            </a:r>
            <a:r>
              <a:rPr lang="en-AU" sz="1600" dirty="0" err="1">
                <a:latin typeface="Calibri" panose="020F0502020204030204" pitchFamily="34" charset="0"/>
              </a:rPr>
              <a:t>AttributeName</a:t>
            </a:r>
            <a:r>
              <a:rPr lang="en-AU" sz="1600" dirty="0">
                <a:latin typeface="Calibri" panose="020F0502020204030204" pitchFamily="34" charset="0"/>
              </a:rPr>
              <a:t>=</a:t>
            </a:r>
            <a:r>
              <a:rPr lang="en-AU" sz="1600" dirty="0" err="1">
                <a:latin typeface="Calibri" panose="020F0502020204030204" pitchFamily="34" charset="0"/>
              </a:rPr>
              <a:t>Song,KeyType</a:t>
            </a:r>
            <a:r>
              <a:rPr lang="en-AU" sz="1600" dirty="0">
                <a:latin typeface="Calibri" panose="020F0502020204030204" pitchFamily="34" charset="0"/>
              </a:rPr>
              <a:t>=RANGE  \</a:t>
            </a:r>
          </a:p>
          <a:p>
            <a:pPr marL="7938" lvl="2" algn="l"/>
            <a:r>
              <a:rPr lang="en-AU" sz="1600" dirty="0">
                <a:latin typeface="Calibri" panose="020F0502020204030204" pitchFamily="34" charset="0"/>
              </a:rPr>
              <a:t>  --provisioned-throughput </a:t>
            </a:r>
            <a:r>
              <a:rPr lang="en-AU" sz="1600" dirty="0" err="1">
                <a:latin typeface="Calibri" panose="020F0502020204030204" pitchFamily="34" charset="0"/>
              </a:rPr>
              <a:t>ReadCapacityUnits</a:t>
            </a:r>
            <a:r>
              <a:rPr lang="en-AU" sz="1600" dirty="0">
                <a:latin typeface="Calibri" panose="020F0502020204030204" pitchFamily="34" charset="0"/>
              </a:rPr>
              <a:t>=1,WriteCapacityUnits=1 \</a:t>
            </a:r>
          </a:p>
          <a:p>
            <a:pPr marL="7938" lvl="2" algn="l"/>
            <a:r>
              <a:rPr lang="en-AU" sz="1600" dirty="0">
                <a:latin typeface="Calibri" panose="020F0502020204030204" pitchFamily="34" charset="0"/>
              </a:rPr>
              <a:t>  --endpoint-</a:t>
            </a:r>
            <a:r>
              <a:rPr lang="en-AU" sz="1600" dirty="0" err="1">
                <a:latin typeface="Calibri" panose="020F0502020204030204" pitchFamily="34" charset="0"/>
              </a:rPr>
              <a:t>url</a:t>
            </a:r>
            <a:r>
              <a:rPr lang="en-AU" sz="1600" dirty="0">
                <a:latin typeface="Calibri" panose="020F0502020204030204" pitchFamily="34" charset="0"/>
              </a:rPr>
              <a:t>=http://localhost:8000</a:t>
            </a:r>
            <a:endParaRPr lang="en-US" sz="1600" dirty="0">
              <a:latin typeface="Calibri" panose="020F050202020403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C156143-998A-4DA9-ADF7-48C9419DE713}"/>
              </a:ext>
            </a:extLst>
          </p:cNvPr>
          <p:cNvSpPr txBox="1"/>
          <p:nvPr/>
        </p:nvSpPr>
        <p:spPr>
          <a:xfrm>
            <a:off x="588264" y="29321"/>
            <a:ext cx="559168" cy="2406813"/>
          </a:xfrm>
          <a:prstGeom prst="rect">
            <a:avLst/>
          </a:prstGeom>
          <a:solidFill>
            <a:schemeClr val="bg1">
              <a:lumMod val="85000"/>
              <a:alpha val="30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pPr marL="49213" lvl="2" algn="l"/>
            <a:r>
              <a:rPr lang="en-US" sz="1600" dirty="0">
                <a:latin typeface="Calibri" panose="020F0502020204030204" pitchFamily="34" charset="0"/>
              </a:rPr>
              <a:t>1</a:t>
            </a:r>
          </a:p>
          <a:p>
            <a:pPr marL="49213" lvl="2" algn="l"/>
            <a:r>
              <a:rPr lang="en-US" sz="1600" dirty="0">
                <a:latin typeface="Calibri" panose="020F0502020204030204" pitchFamily="34" charset="0"/>
              </a:rPr>
              <a:t>2</a:t>
            </a:r>
          </a:p>
          <a:p>
            <a:pPr marL="49213" lvl="2" algn="l"/>
            <a:r>
              <a:rPr lang="en-US" sz="1600" dirty="0">
                <a:latin typeface="Calibri" panose="020F0502020204030204" pitchFamily="34" charset="0"/>
              </a:rPr>
              <a:t>3</a:t>
            </a:r>
          </a:p>
          <a:p>
            <a:pPr marL="49213" lvl="2" algn="l"/>
            <a:r>
              <a:rPr lang="en-US" sz="1600" dirty="0">
                <a:latin typeface="Calibri" panose="020F0502020204030204" pitchFamily="34" charset="0"/>
              </a:rPr>
              <a:t>4</a:t>
            </a:r>
          </a:p>
          <a:p>
            <a:pPr marL="49213" lvl="2" algn="l"/>
            <a:r>
              <a:rPr lang="en-US" sz="1600" dirty="0">
                <a:latin typeface="Calibri" panose="020F0502020204030204" pitchFamily="34" charset="0"/>
              </a:rPr>
              <a:t>5</a:t>
            </a:r>
          </a:p>
          <a:p>
            <a:pPr marL="49213" lvl="2" algn="l"/>
            <a:r>
              <a:rPr lang="en-US" sz="1600" dirty="0">
                <a:latin typeface="Calibri" panose="020F0502020204030204" pitchFamily="34" charset="0"/>
              </a:rPr>
              <a:t>6</a:t>
            </a:r>
          </a:p>
          <a:p>
            <a:pPr marL="49213" lvl="2" algn="l"/>
            <a:r>
              <a:rPr lang="en-US" sz="1600" dirty="0">
                <a:latin typeface="Calibri" panose="020F0502020204030204" pitchFamily="34" charset="0"/>
              </a:rPr>
              <a:t>7</a:t>
            </a:r>
          </a:p>
          <a:p>
            <a:pPr marL="49213" lvl="2" algn="l"/>
            <a:r>
              <a:rPr lang="en-US" sz="1600" dirty="0">
                <a:latin typeface="Calibri" panose="020F0502020204030204" pitchFamily="34" charset="0"/>
              </a:rPr>
              <a:t>8</a:t>
            </a: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69C4C5AE-7E86-4075-9044-A8DE8685B0D7}"/>
              </a:ext>
            </a:extLst>
          </p:cNvPr>
          <p:cNvSpPr txBox="1">
            <a:spLocks/>
          </p:cNvSpPr>
          <p:nvPr/>
        </p:nvSpPr>
        <p:spPr>
          <a:xfrm>
            <a:off x="578165" y="2513373"/>
            <a:ext cx="9715026" cy="76328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fontAlgn="auto">
              <a:spcAft>
                <a:spcPts val="0"/>
              </a:spcAft>
              <a:buClrTx/>
              <a:buSzTx/>
              <a:buFontTx/>
            </a:pPr>
            <a:endParaRPr lang="en-US" sz="2400" dirty="0">
              <a:solidFill>
                <a:srgbClr val="FF0000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6210159-DF2F-4FC5-AC24-7B352668CBC8}"/>
              </a:ext>
            </a:extLst>
          </p:cNvPr>
          <p:cNvSpPr txBox="1"/>
          <p:nvPr/>
        </p:nvSpPr>
        <p:spPr>
          <a:xfrm>
            <a:off x="578165" y="2888814"/>
            <a:ext cx="487207" cy="1366528"/>
          </a:xfrm>
          <a:prstGeom prst="rect">
            <a:avLst/>
          </a:prstGeom>
          <a:solidFill>
            <a:schemeClr val="bg1">
              <a:lumMod val="85000"/>
              <a:alpha val="30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pPr marL="49213" lvl="2" algn="l"/>
            <a:r>
              <a:rPr lang="en-US" sz="1800" dirty="0">
                <a:latin typeface="Courier" pitchFamily="2" charset="0"/>
              </a:rPr>
              <a:t>1</a:t>
            </a:r>
          </a:p>
          <a:p>
            <a:pPr marL="49213" lvl="2" algn="l"/>
            <a:r>
              <a:rPr lang="en-US" sz="1800" dirty="0">
                <a:latin typeface="Courier" pitchFamily="2" charset="0"/>
              </a:rPr>
              <a:t>2</a:t>
            </a:r>
          </a:p>
          <a:p>
            <a:pPr marL="49213" lvl="2" algn="l"/>
            <a:r>
              <a:rPr lang="en-US" sz="1800" dirty="0">
                <a:latin typeface="Courier" pitchFamily="2" charset="0"/>
              </a:rPr>
              <a:t>3</a:t>
            </a:r>
          </a:p>
          <a:p>
            <a:pPr marL="49213" lvl="2" algn="l"/>
            <a:r>
              <a:rPr lang="en-US" sz="1800" dirty="0">
                <a:latin typeface="Courier" pitchFamily="2" charset="0"/>
              </a:rPr>
              <a:t>4</a:t>
            </a:r>
            <a:endParaRPr lang="en-US" sz="1600" dirty="0">
              <a:latin typeface="Courier" pitchFamily="2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0ED1A94-170B-4FB5-AB5E-188E753A629D}"/>
              </a:ext>
            </a:extLst>
          </p:cNvPr>
          <p:cNvSpPr txBox="1"/>
          <p:nvPr/>
        </p:nvSpPr>
        <p:spPr>
          <a:xfrm>
            <a:off x="1094677" y="2888814"/>
            <a:ext cx="8794552" cy="1366528"/>
          </a:xfrm>
          <a:prstGeom prst="rect">
            <a:avLst/>
          </a:prstGeom>
          <a:solidFill>
            <a:schemeClr val="bg1">
              <a:lumMod val="85000"/>
              <a:alpha val="30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pPr marL="49213" lvl="2" algn="l"/>
            <a:r>
              <a:rPr lang="en-AU" sz="1800" dirty="0" err="1">
                <a:latin typeface="+mn-lt"/>
              </a:rPr>
              <a:t>aws</a:t>
            </a:r>
            <a:r>
              <a:rPr lang="en-AU" sz="1800" dirty="0">
                <a:latin typeface="+mn-lt"/>
              </a:rPr>
              <a:t> </a:t>
            </a:r>
            <a:r>
              <a:rPr lang="en-AU" sz="1800" dirty="0" err="1">
                <a:latin typeface="+mn-lt"/>
              </a:rPr>
              <a:t>dynamodb</a:t>
            </a:r>
            <a:r>
              <a:rPr lang="en-AU" sz="1800" dirty="0">
                <a:latin typeface="+mn-lt"/>
              </a:rPr>
              <a:t> put-item \ </a:t>
            </a:r>
          </a:p>
          <a:p>
            <a:pPr marL="49213" lvl="2" algn="l"/>
            <a:r>
              <a:rPr lang="en-AU" sz="1800" i="1" dirty="0">
                <a:latin typeface="+mn-lt"/>
              </a:rPr>
              <a:t>  --table-name </a:t>
            </a:r>
            <a:r>
              <a:rPr lang="en-AU" sz="1800" dirty="0" err="1">
                <a:latin typeface="+mn-lt"/>
              </a:rPr>
              <a:t>MusicAlbum</a:t>
            </a:r>
            <a:r>
              <a:rPr lang="en-AU" sz="1800" i="1" dirty="0">
                <a:latin typeface="+mn-lt"/>
              </a:rPr>
              <a:t> \</a:t>
            </a:r>
            <a:r>
              <a:rPr lang="en-AU" sz="1800" dirty="0">
                <a:latin typeface="+mn-lt"/>
              </a:rPr>
              <a:t> </a:t>
            </a:r>
          </a:p>
          <a:p>
            <a:pPr marL="49213" lvl="2" algn="l"/>
            <a:r>
              <a:rPr lang="en-AU" sz="1800" i="1" dirty="0">
                <a:latin typeface="+mn-lt"/>
              </a:rPr>
              <a:t>  --item </a:t>
            </a:r>
            <a:r>
              <a:rPr lang="en-AU" sz="1800" dirty="0">
                <a:latin typeface="+mn-lt"/>
              </a:rPr>
              <a:t>'{"Artist": {"S": "Tom"}, "Song": {"S": "Call me today"}}'\ </a:t>
            </a:r>
          </a:p>
          <a:p>
            <a:pPr marL="49213" lvl="2" algn="l"/>
            <a:r>
              <a:rPr lang="en-AU" sz="1800" i="1" dirty="0">
                <a:latin typeface="+mn-lt"/>
              </a:rPr>
              <a:t>  --return-consumed-capacity TOTAL </a:t>
            </a:r>
            <a:r>
              <a:rPr lang="en-AU" sz="1800" dirty="0">
                <a:latin typeface="+mn-lt"/>
              </a:rPr>
              <a:t>--endpoint-</a:t>
            </a:r>
            <a:r>
              <a:rPr lang="en-AU" sz="1800" dirty="0" err="1">
                <a:latin typeface="+mn-lt"/>
              </a:rPr>
              <a:t>url</a:t>
            </a:r>
            <a:r>
              <a:rPr lang="en-AU" sz="1800" dirty="0">
                <a:latin typeface="+mn-lt"/>
              </a:rPr>
              <a:t>=http://localhost:8000</a:t>
            </a:r>
            <a:endParaRPr lang="en-AU" sz="1800" i="1" dirty="0">
              <a:latin typeface="+mn-lt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DD6A3CB-BC1A-44D2-8F8C-A52CE7144D57}"/>
              </a:ext>
            </a:extLst>
          </p:cNvPr>
          <p:cNvSpPr txBox="1"/>
          <p:nvPr/>
        </p:nvSpPr>
        <p:spPr>
          <a:xfrm>
            <a:off x="578165" y="4637206"/>
            <a:ext cx="487207" cy="1698927"/>
          </a:xfrm>
          <a:prstGeom prst="rect">
            <a:avLst/>
          </a:prstGeom>
          <a:solidFill>
            <a:schemeClr val="bg1">
              <a:lumMod val="85000"/>
              <a:alpha val="30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pPr marL="49213" lvl="2" algn="l"/>
            <a:r>
              <a:rPr lang="en-US" sz="1800" dirty="0">
                <a:latin typeface="Courier" pitchFamily="2" charset="0"/>
              </a:rPr>
              <a:t>1</a:t>
            </a:r>
          </a:p>
          <a:p>
            <a:pPr marL="49213" lvl="2" algn="l"/>
            <a:r>
              <a:rPr lang="en-US" sz="1800" dirty="0">
                <a:latin typeface="Courier" pitchFamily="2" charset="0"/>
              </a:rPr>
              <a:t>2</a:t>
            </a:r>
          </a:p>
          <a:p>
            <a:pPr marL="49213" lvl="2" algn="l"/>
            <a:r>
              <a:rPr lang="en-US" sz="1800" dirty="0">
                <a:latin typeface="Courier" pitchFamily="2" charset="0"/>
              </a:rPr>
              <a:t>3</a:t>
            </a:r>
          </a:p>
          <a:p>
            <a:pPr marL="49213" lvl="2" algn="l"/>
            <a:r>
              <a:rPr lang="en-US" sz="1800" dirty="0">
                <a:latin typeface="Courier" pitchFamily="2" charset="0"/>
              </a:rPr>
              <a:t>4</a:t>
            </a:r>
          </a:p>
          <a:p>
            <a:pPr marL="49213" lvl="2" algn="l"/>
            <a:r>
              <a:rPr lang="en-US" sz="1800" dirty="0">
                <a:latin typeface="Courier" pitchFamily="2" charset="0"/>
              </a:rPr>
              <a:t>5</a:t>
            </a:r>
            <a:endParaRPr lang="en-US" sz="1600" dirty="0">
              <a:latin typeface="Courier" pitchFamily="2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40651EA-96A1-4C06-B8A6-057D5441B9E5}"/>
              </a:ext>
            </a:extLst>
          </p:cNvPr>
          <p:cNvSpPr txBox="1"/>
          <p:nvPr/>
        </p:nvSpPr>
        <p:spPr>
          <a:xfrm>
            <a:off x="1094677" y="4639123"/>
            <a:ext cx="8794552" cy="1698927"/>
          </a:xfrm>
          <a:prstGeom prst="rect">
            <a:avLst/>
          </a:prstGeom>
          <a:solidFill>
            <a:schemeClr val="bg1">
              <a:lumMod val="85000"/>
              <a:alpha val="30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pPr marL="49213" lvl="2" algn="l"/>
            <a:r>
              <a:rPr lang="en-AU" sz="1800" dirty="0" err="1">
                <a:latin typeface="+mn-lt"/>
              </a:rPr>
              <a:t>aws</a:t>
            </a:r>
            <a:r>
              <a:rPr lang="en-AU" sz="1800" dirty="0">
                <a:latin typeface="+mn-lt"/>
              </a:rPr>
              <a:t> </a:t>
            </a:r>
            <a:r>
              <a:rPr lang="en-AU" sz="1800" dirty="0" err="1">
                <a:latin typeface="+mn-lt"/>
              </a:rPr>
              <a:t>dynamodb</a:t>
            </a:r>
            <a:r>
              <a:rPr lang="en-AU" sz="1800" dirty="0">
                <a:latin typeface="+mn-lt"/>
              </a:rPr>
              <a:t> put-item \ </a:t>
            </a:r>
          </a:p>
          <a:p>
            <a:pPr marL="49213" lvl="2" algn="l"/>
            <a:r>
              <a:rPr lang="en-AU" sz="1800" dirty="0">
                <a:latin typeface="+mn-lt"/>
              </a:rPr>
              <a:t>  --table-name </a:t>
            </a:r>
            <a:r>
              <a:rPr lang="en-AU" sz="1800" dirty="0" err="1">
                <a:latin typeface="+mn-lt"/>
              </a:rPr>
              <a:t>MusicAlbum</a:t>
            </a:r>
            <a:r>
              <a:rPr lang="en-AU" sz="1800" dirty="0">
                <a:latin typeface="+mn-lt"/>
              </a:rPr>
              <a:t> \ </a:t>
            </a:r>
          </a:p>
          <a:p>
            <a:pPr marL="49213" lvl="2" algn="l"/>
            <a:r>
              <a:rPr lang="en-AU" sz="1800" dirty="0">
                <a:latin typeface="+mn-lt"/>
              </a:rPr>
              <a:t>  --item '{"Artist": {"S": “Tom"}, "Song": {"S": "Call me today"},  \</a:t>
            </a:r>
          </a:p>
          <a:p>
            <a:pPr marL="49213" lvl="2" algn="l"/>
            <a:r>
              <a:rPr lang="en-AU" sz="1800" dirty="0">
                <a:latin typeface="+mn-lt"/>
              </a:rPr>
              <a:t>              "</a:t>
            </a:r>
            <a:r>
              <a:rPr lang="en-AU" sz="1800" dirty="0" err="1">
                <a:latin typeface="+mn-lt"/>
              </a:rPr>
              <a:t>AlbumTitle</a:t>
            </a:r>
            <a:r>
              <a:rPr lang="en-AU" sz="1800" dirty="0">
                <a:latin typeface="+mn-lt"/>
              </a:rPr>
              <a:t>": {"S": "Somewhat Famous"}}’ \ </a:t>
            </a:r>
          </a:p>
          <a:p>
            <a:pPr marL="49213" lvl="2" algn="l"/>
            <a:r>
              <a:rPr lang="en-AU" sz="1800" dirty="0">
                <a:latin typeface="+mn-lt"/>
              </a:rPr>
              <a:t>  --return-consumed-capacity TOTAL --endpoint-</a:t>
            </a:r>
            <a:r>
              <a:rPr lang="en-AU" sz="1800" dirty="0" err="1">
                <a:latin typeface="+mn-lt"/>
              </a:rPr>
              <a:t>url</a:t>
            </a:r>
            <a:r>
              <a:rPr lang="en-AU" sz="1800" dirty="0">
                <a:latin typeface="+mn-lt"/>
              </a:rPr>
              <a:t>=http://localhost:8000</a:t>
            </a:r>
          </a:p>
        </p:txBody>
      </p:sp>
      <p:sp>
        <p:nvSpPr>
          <p:cNvPr id="15" name="Title 1">
            <a:extLst>
              <a:ext uri="{FF2B5EF4-FFF2-40B4-BE49-F238E27FC236}">
                <a16:creationId xmlns:a16="http://schemas.microsoft.com/office/drawing/2014/main" id="{9EDAFD53-BF89-4555-AE2E-803E19F885BD}"/>
              </a:ext>
            </a:extLst>
          </p:cNvPr>
          <p:cNvSpPr txBox="1">
            <a:spLocks/>
          </p:cNvSpPr>
          <p:nvPr/>
        </p:nvSpPr>
        <p:spPr>
          <a:xfrm>
            <a:off x="504382" y="2459304"/>
            <a:ext cx="3374014" cy="37166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fontAlgn="auto">
              <a:spcAft>
                <a:spcPts val="0"/>
              </a:spcAft>
              <a:buClrTx/>
              <a:buSzTx/>
              <a:buFontTx/>
            </a:pPr>
            <a:r>
              <a:rPr lang="en-US" sz="2000" dirty="0">
                <a:solidFill>
                  <a:srgbClr val="FF0000"/>
                </a:solidFill>
                <a:latin typeface="+mn-lt"/>
                <a:ea typeface="+mn-ea"/>
                <a:cs typeface="+mn-cs"/>
              </a:rPr>
              <a:t>Insert the first item.</a:t>
            </a:r>
          </a:p>
        </p:txBody>
      </p:sp>
      <p:sp>
        <p:nvSpPr>
          <p:cNvPr id="16" name="Title 1">
            <a:extLst>
              <a:ext uri="{FF2B5EF4-FFF2-40B4-BE49-F238E27FC236}">
                <a16:creationId xmlns:a16="http://schemas.microsoft.com/office/drawing/2014/main" id="{EF66AEC1-E0FE-4D2E-81B9-8422814CDE8B}"/>
              </a:ext>
            </a:extLst>
          </p:cNvPr>
          <p:cNvSpPr txBox="1">
            <a:spLocks/>
          </p:cNvSpPr>
          <p:nvPr/>
        </p:nvSpPr>
        <p:spPr>
          <a:xfrm>
            <a:off x="517533" y="4303716"/>
            <a:ext cx="3374014" cy="335407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fontAlgn="auto">
              <a:spcAft>
                <a:spcPts val="0"/>
              </a:spcAft>
              <a:buClrTx/>
              <a:buSzTx/>
              <a:buFontTx/>
            </a:pPr>
            <a:r>
              <a:rPr lang="en-US" sz="2000" dirty="0">
                <a:solidFill>
                  <a:srgbClr val="FF0000"/>
                </a:solidFill>
                <a:latin typeface="+mn-lt"/>
                <a:ea typeface="+mn-ea"/>
                <a:cs typeface="+mn-cs"/>
              </a:rPr>
              <a:t>Insert the second item.</a:t>
            </a:r>
          </a:p>
        </p:txBody>
      </p:sp>
      <p:sp>
        <p:nvSpPr>
          <p:cNvPr id="17" name="Title 1">
            <a:extLst>
              <a:ext uri="{FF2B5EF4-FFF2-40B4-BE49-F238E27FC236}">
                <a16:creationId xmlns:a16="http://schemas.microsoft.com/office/drawing/2014/main" id="{E338C0A8-EAC2-4D49-8973-627E1A214A95}"/>
              </a:ext>
            </a:extLst>
          </p:cNvPr>
          <p:cNvSpPr txBox="1">
            <a:spLocks/>
          </p:cNvSpPr>
          <p:nvPr/>
        </p:nvSpPr>
        <p:spPr>
          <a:xfrm>
            <a:off x="517533" y="6380501"/>
            <a:ext cx="4991798" cy="47749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fontAlgn="auto">
              <a:spcAft>
                <a:spcPts val="0"/>
              </a:spcAft>
              <a:buClrTx/>
              <a:buSzTx/>
            </a:pPr>
            <a:r>
              <a:rPr lang="en-AU" sz="2000" dirty="0">
                <a:solidFill>
                  <a:srgbClr val="FF0000"/>
                </a:solidFill>
                <a:latin typeface="+mn-lt"/>
                <a:ea typeface="+mn-ea"/>
                <a:cs typeface="+mn-cs"/>
              </a:rPr>
              <a:t>What will the table be like?</a:t>
            </a:r>
            <a:endParaRPr lang="en-US" sz="2000" dirty="0">
              <a:solidFill>
                <a:srgbClr val="FF0000"/>
              </a:solidFill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87521477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>
            <a:extLst>
              <a:ext uri="{FF2B5EF4-FFF2-40B4-BE49-F238E27FC236}">
                <a16:creationId xmlns:a16="http://schemas.microsoft.com/office/drawing/2014/main" id="{B95CFCB6-C71D-4989-9BBD-DDC20974EFAD}"/>
              </a:ext>
            </a:extLst>
          </p:cNvPr>
          <p:cNvSpPr txBox="1">
            <a:spLocks/>
          </p:cNvSpPr>
          <p:nvPr/>
        </p:nvSpPr>
        <p:spPr>
          <a:xfrm>
            <a:off x="588264" y="118885"/>
            <a:ext cx="5507736" cy="76328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fontAlgn="auto">
              <a:spcAft>
                <a:spcPts val="0"/>
              </a:spcAft>
              <a:buClrTx/>
              <a:buSzTx/>
              <a:buFontTx/>
            </a:pPr>
            <a:r>
              <a:rPr lang="en-US" sz="3200" b="1" dirty="0"/>
              <a:t>Further practice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77A1571-74FE-4469-B8FC-3AF47E1B2260}"/>
              </a:ext>
            </a:extLst>
          </p:cNvPr>
          <p:cNvSpPr txBox="1"/>
          <p:nvPr/>
        </p:nvSpPr>
        <p:spPr>
          <a:xfrm>
            <a:off x="1250305" y="1045029"/>
            <a:ext cx="9297118" cy="2696123"/>
          </a:xfrm>
          <a:prstGeom prst="rect">
            <a:avLst/>
          </a:prstGeom>
          <a:solidFill>
            <a:schemeClr val="bg1">
              <a:lumMod val="85000"/>
              <a:alpha val="30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pPr marL="49213" lvl="2" algn="l"/>
            <a:r>
              <a:rPr lang="en-AU" sz="1800" dirty="0" err="1">
                <a:latin typeface="Calibri" panose="020F0502020204030204" pitchFamily="34" charset="0"/>
              </a:rPr>
              <a:t>aws</a:t>
            </a:r>
            <a:r>
              <a:rPr lang="en-AU" sz="1800" dirty="0">
                <a:latin typeface="Calibri" panose="020F0502020204030204" pitchFamily="34" charset="0"/>
              </a:rPr>
              <a:t> </a:t>
            </a:r>
            <a:r>
              <a:rPr lang="en-AU" sz="1800" dirty="0" err="1">
                <a:latin typeface="Calibri" panose="020F0502020204030204" pitchFamily="34" charset="0"/>
              </a:rPr>
              <a:t>dynamodb</a:t>
            </a:r>
            <a:r>
              <a:rPr lang="en-AU" sz="1800" dirty="0">
                <a:latin typeface="Calibri" panose="020F0502020204030204" pitchFamily="34" charset="0"/>
              </a:rPr>
              <a:t> create-table --table-name </a:t>
            </a:r>
            <a:r>
              <a:rPr lang="en-AU" sz="1800" dirty="0" err="1">
                <a:latin typeface="Calibri" panose="020F0502020204030204" pitchFamily="34" charset="0"/>
              </a:rPr>
              <a:t>MusicAlbum</a:t>
            </a:r>
            <a:r>
              <a:rPr lang="en-AU" sz="1800" dirty="0">
                <a:latin typeface="Calibri" panose="020F0502020204030204" pitchFamily="34" charset="0"/>
              </a:rPr>
              <a:t> </a:t>
            </a:r>
          </a:p>
          <a:p>
            <a:pPr marL="49213" lvl="2" algn="l"/>
            <a:r>
              <a:rPr lang="en-AU" sz="1800" dirty="0">
                <a:latin typeface="Calibri" panose="020F0502020204030204" pitchFamily="34" charset="0"/>
              </a:rPr>
              <a:t>  --attribute-definitions \</a:t>
            </a:r>
          </a:p>
          <a:p>
            <a:pPr marL="49213" lvl="2" algn="l"/>
            <a:r>
              <a:rPr lang="en-AU" sz="1800" dirty="0">
                <a:latin typeface="Calibri" panose="020F0502020204030204" pitchFamily="34" charset="0"/>
              </a:rPr>
              <a:t>    </a:t>
            </a:r>
            <a:r>
              <a:rPr lang="en-AU" sz="1800" dirty="0" err="1">
                <a:latin typeface="Calibri" panose="020F0502020204030204" pitchFamily="34" charset="0"/>
              </a:rPr>
              <a:t>AttributeName</a:t>
            </a:r>
            <a:r>
              <a:rPr lang="en-AU" sz="1800" dirty="0">
                <a:latin typeface="Calibri" panose="020F0502020204030204" pitchFamily="34" charset="0"/>
              </a:rPr>
              <a:t>=</a:t>
            </a:r>
            <a:r>
              <a:rPr lang="en-AU" sz="1800" dirty="0" err="1">
                <a:latin typeface="Calibri" panose="020F0502020204030204" pitchFamily="34" charset="0"/>
              </a:rPr>
              <a:t>Artist,AttributeType</a:t>
            </a:r>
            <a:r>
              <a:rPr lang="en-AU" sz="1800" dirty="0">
                <a:latin typeface="Calibri" panose="020F0502020204030204" pitchFamily="34" charset="0"/>
              </a:rPr>
              <a:t>=S \</a:t>
            </a:r>
          </a:p>
          <a:p>
            <a:pPr marL="49213" lvl="2" algn="l"/>
            <a:r>
              <a:rPr lang="en-AU" sz="1800" dirty="0">
                <a:latin typeface="Calibri" panose="020F0502020204030204" pitchFamily="34" charset="0"/>
              </a:rPr>
              <a:t>    </a:t>
            </a:r>
            <a:r>
              <a:rPr lang="en-AU" sz="1800" dirty="0" err="1">
                <a:latin typeface="Calibri" panose="020F0502020204030204" pitchFamily="34" charset="0"/>
              </a:rPr>
              <a:t>AttributeName</a:t>
            </a:r>
            <a:r>
              <a:rPr lang="en-AU" sz="1800" dirty="0">
                <a:latin typeface="Calibri" panose="020F0502020204030204" pitchFamily="34" charset="0"/>
              </a:rPr>
              <a:t>=</a:t>
            </a:r>
            <a:r>
              <a:rPr lang="en-AU" sz="1800" dirty="0" err="1">
                <a:latin typeface="Calibri" panose="020F0502020204030204" pitchFamily="34" charset="0"/>
              </a:rPr>
              <a:t>Song,AttributeType</a:t>
            </a:r>
            <a:r>
              <a:rPr lang="en-AU" sz="1800" dirty="0">
                <a:latin typeface="Calibri" panose="020F0502020204030204" pitchFamily="34" charset="0"/>
              </a:rPr>
              <a:t>=S \ </a:t>
            </a:r>
          </a:p>
          <a:p>
            <a:pPr marL="49213" lvl="2" algn="l"/>
            <a:r>
              <a:rPr lang="en-AU" sz="1800" dirty="0">
                <a:latin typeface="Calibri" panose="020F0502020204030204" pitchFamily="34" charset="0"/>
              </a:rPr>
              <a:t>  --key-schema </a:t>
            </a:r>
            <a:r>
              <a:rPr lang="en-AU" sz="1800" dirty="0" err="1">
                <a:latin typeface="Calibri" panose="020F0502020204030204" pitchFamily="34" charset="0"/>
              </a:rPr>
              <a:t>AttributeName</a:t>
            </a:r>
            <a:r>
              <a:rPr lang="en-AU" sz="1800" dirty="0">
                <a:latin typeface="Calibri" panose="020F0502020204030204" pitchFamily="34" charset="0"/>
              </a:rPr>
              <a:t>=</a:t>
            </a:r>
            <a:r>
              <a:rPr lang="en-AU" sz="1800" dirty="0" err="1">
                <a:latin typeface="Calibri" panose="020F0502020204030204" pitchFamily="34" charset="0"/>
              </a:rPr>
              <a:t>Artist,KeyType</a:t>
            </a:r>
            <a:r>
              <a:rPr lang="en-AU" sz="1800" dirty="0">
                <a:latin typeface="Calibri" panose="020F0502020204030204" pitchFamily="34" charset="0"/>
              </a:rPr>
              <a:t>=HASH \ </a:t>
            </a:r>
          </a:p>
          <a:p>
            <a:pPr marL="49213" lvl="2" algn="l"/>
            <a:r>
              <a:rPr lang="en-AU" sz="1800" dirty="0">
                <a:latin typeface="Calibri" panose="020F0502020204030204" pitchFamily="34" charset="0"/>
              </a:rPr>
              <a:t>               </a:t>
            </a:r>
            <a:r>
              <a:rPr lang="en-AU" sz="1800" dirty="0" err="1">
                <a:latin typeface="Calibri" panose="020F0502020204030204" pitchFamily="34" charset="0"/>
              </a:rPr>
              <a:t>AttributeName</a:t>
            </a:r>
            <a:r>
              <a:rPr lang="en-AU" sz="1800" dirty="0">
                <a:latin typeface="Calibri" panose="020F0502020204030204" pitchFamily="34" charset="0"/>
              </a:rPr>
              <a:t>=</a:t>
            </a:r>
            <a:r>
              <a:rPr lang="en-AU" sz="1800" dirty="0" err="1">
                <a:latin typeface="Calibri" panose="020F0502020204030204" pitchFamily="34" charset="0"/>
              </a:rPr>
              <a:t>Song,KeyType</a:t>
            </a:r>
            <a:r>
              <a:rPr lang="en-AU" sz="1800" dirty="0">
                <a:latin typeface="Calibri" panose="020F0502020204030204" pitchFamily="34" charset="0"/>
              </a:rPr>
              <a:t>=RANGE  \</a:t>
            </a:r>
          </a:p>
          <a:p>
            <a:pPr marL="7938" lvl="2" algn="l"/>
            <a:r>
              <a:rPr lang="en-AU" sz="1800" dirty="0">
                <a:latin typeface="Calibri" panose="020F0502020204030204" pitchFamily="34" charset="0"/>
              </a:rPr>
              <a:t>  --provisioned-throughput </a:t>
            </a:r>
            <a:r>
              <a:rPr lang="en-AU" sz="1800" dirty="0" err="1">
                <a:latin typeface="Calibri" panose="020F0502020204030204" pitchFamily="34" charset="0"/>
              </a:rPr>
              <a:t>ReadCapacityUnits</a:t>
            </a:r>
            <a:r>
              <a:rPr lang="en-AU" sz="1800" dirty="0">
                <a:latin typeface="Calibri" panose="020F0502020204030204" pitchFamily="34" charset="0"/>
              </a:rPr>
              <a:t>=1,WriteCapacityUnits=1 \</a:t>
            </a:r>
          </a:p>
          <a:p>
            <a:pPr marL="7938" lvl="2" algn="l"/>
            <a:r>
              <a:rPr lang="en-AU" sz="1800" dirty="0">
                <a:latin typeface="Calibri" panose="020F0502020204030204" pitchFamily="34" charset="0"/>
              </a:rPr>
              <a:t>  --endpoint-</a:t>
            </a:r>
            <a:r>
              <a:rPr lang="en-AU" sz="1800" dirty="0" err="1">
                <a:latin typeface="Calibri" panose="020F0502020204030204" pitchFamily="34" charset="0"/>
              </a:rPr>
              <a:t>url</a:t>
            </a:r>
            <a:r>
              <a:rPr lang="en-AU" sz="1800" dirty="0">
                <a:latin typeface="Calibri" panose="020F0502020204030204" pitchFamily="34" charset="0"/>
              </a:rPr>
              <a:t>=http://localhost:8000</a:t>
            </a:r>
            <a:endParaRPr lang="en-US" sz="1800" dirty="0">
              <a:latin typeface="Calibri" panose="020F050202020403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C156143-998A-4DA9-ADF7-48C9419DE713}"/>
              </a:ext>
            </a:extLst>
          </p:cNvPr>
          <p:cNvSpPr txBox="1"/>
          <p:nvPr/>
        </p:nvSpPr>
        <p:spPr>
          <a:xfrm>
            <a:off x="691137" y="1045090"/>
            <a:ext cx="559168" cy="2696123"/>
          </a:xfrm>
          <a:prstGeom prst="rect">
            <a:avLst/>
          </a:prstGeom>
          <a:solidFill>
            <a:schemeClr val="bg1">
              <a:lumMod val="85000"/>
              <a:alpha val="30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pPr marL="49213" lvl="2" algn="l"/>
            <a:r>
              <a:rPr lang="en-US" sz="1800" dirty="0">
                <a:latin typeface="Calibri" panose="020F0502020204030204" pitchFamily="34" charset="0"/>
              </a:rPr>
              <a:t>1</a:t>
            </a:r>
          </a:p>
          <a:p>
            <a:pPr marL="49213" lvl="2" algn="l"/>
            <a:r>
              <a:rPr lang="en-US" sz="1800" dirty="0">
                <a:latin typeface="Calibri" panose="020F0502020204030204" pitchFamily="34" charset="0"/>
              </a:rPr>
              <a:t>2</a:t>
            </a:r>
          </a:p>
          <a:p>
            <a:pPr marL="49213" lvl="2" algn="l"/>
            <a:r>
              <a:rPr lang="en-US" sz="1800" dirty="0">
                <a:latin typeface="Calibri" panose="020F0502020204030204" pitchFamily="34" charset="0"/>
              </a:rPr>
              <a:t>3</a:t>
            </a:r>
          </a:p>
          <a:p>
            <a:pPr marL="49213" lvl="2" algn="l"/>
            <a:r>
              <a:rPr lang="en-US" sz="1800" dirty="0">
                <a:latin typeface="Calibri" panose="020F0502020204030204" pitchFamily="34" charset="0"/>
              </a:rPr>
              <a:t>4</a:t>
            </a:r>
          </a:p>
          <a:p>
            <a:pPr marL="49213" lvl="2" algn="l"/>
            <a:r>
              <a:rPr lang="en-US" sz="1800" dirty="0">
                <a:latin typeface="Calibri" panose="020F0502020204030204" pitchFamily="34" charset="0"/>
              </a:rPr>
              <a:t>5</a:t>
            </a:r>
          </a:p>
          <a:p>
            <a:pPr marL="49213" lvl="2" algn="l"/>
            <a:r>
              <a:rPr lang="en-US" sz="1800" dirty="0">
                <a:latin typeface="Calibri" panose="020F0502020204030204" pitchFamily="34" charset="0"/>
              </a:rPr>
              <a:t>6</a:t>
            </a:r>
          </a:p>
          <a:p>
            <a:pPr marL="49213" lvl="2" algn="l"/>
            <a:r>
              <a:rPr lang="en-US" sz="1800" dirty="0">
                <a:latin typeface="Calibri" panose="020F0502020204030204" pitchFamily="34" charset="0"/>
              </a:rPr>
              <a:t>7</a:t>
            </a:r>
          </a:p>
          <a:p>
            <a:pPr marL="49213" lvl="2" algn="l"/>
            <a:r>
              <a:rPr lang="en-US" sz="1800" dirty="0">
                <a:latin typeface="Calibri" panose="020F0502020204030204" pitchFamily="34" charset="0"/>
              </a:rPr>
              <a:t>8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E92A3208-12E5-4F35-A6D4-9EC3FAC0C370}"/>
              </a:ext>
            </a:extLst>
          </p:cNvPr>
          <p:cNvSpPr txBox="1">
            <a:spLocks/>
          </p:cNvSpPr>
          <p:nvPr/>
        </p:nvSpPr>
        <p:spPr>
          <a:xfrm>
            <a:off x="588264" y="3904012"/>
            <a:ext cx="10576448" cy="98489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fontAlgn="auto">
              <a:spcAft>
                <a:spcPts val="0"/>
              </a:spcAft>
              <a:buClrTx/>
              <a:buSzTx/>
            </a:pPr>
            <a:r>
              <a:rPr lang="en-AU" sz="2400" dirty="0">
                <a:solidFill>
                  <a:srgbClr val="FF0000"/>
                </a:solidFill>
                <a:latin typeface="+mn-lt"/>
                <a:ea typeface="+mn-ea"/>
                <a:cs typeface="+mn-cs"/>
              </a:rPr>
              <a:t>What will the table be like if we put an item by adding a value of “Jason” to the “Artist” key? </a:t>
            </a:r>
            <a:endParaRPr lang="en-US" sz="2400" dirty="0">
              <a:solidFill>
                <a:srgbClr val="FF0000"/>
              </a:solidFill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59205350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>
            <a:extLst>
              <a:ext uri="{FF2B5EF4-FFF2-40B4-BE49-F238E27FC236}">
                <a16:creationId xmlns:a16="http://schemas.microsoft.com/office/drawing/2014/main" id="{B95CFCB6-C71D-4989-9BBD-DDC20974EFAD}"/>
              </a:ext>
            </a:extLst>
          </p:cNvPr>
          <p:cNvSpPr txBox="1">
            <a:spLocks/>
          </p:cNvSpPr>
          <p:nvPr/>
        </p:nvSpPr>
        <p:spPr>
          <a:xfrm>
            <a:off x="588264" y="118885"/>
            <a:ext cx="5507736" cy="76328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fontAlgn="auto">
              <a:spcAft>
                <a:spcPts val="0"/>
              </a:spcAft>
              <a:buClrTx/>
              <a:buSzTx/>
              <a:buFontTx/>
            </a:pPr>
            <a:r>
              <a:rPr lang="en-US" sz="3200" b="1" dirty="0"/>
              <a:t>Further practice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77A1571-74FE-4469-B8FC-3AF47E1B2260}"/>
              </a:ext>
            </a:extLst>
          </p:cNvPr>
          <p:cNvSpPr txBox="1"/>
          <p:nvPr/>
        </p:nvSpPr>
        <p:spPr>
          <a:xfrm>
            <a:off x="1250305" y="1045029"/>
            <a:ext cx="9297118" cy="2696123"/>
          </a:xfrm>
          <a:prstGeom prst="rect">
            <a:avLst/>
          </a:prstGeom>
          <a:solidFill>
            <a:schemeClr val="bg1">
              <a:lumMod val="85000"/>
              <a:alpha val="30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pPr marL="49213" lvl="2" algn="l"/>
            <a:r>
              <a:rPr lang="en-AU" sz="1800" dirty="0" err="1">
                <a:latin typeface="Calibri" panose="020F0502020204030204" pitchFamily="34" charset="0"/>
              </a:rPr>
              <a:t>aws</a:t>
            </a:r>
            <a:r>
              <a:rPr lang="en-AU" sz="1800" dirty="0">
                <a:latin typeface="Calibri" panose="020F0502020204030204" pitchFamily="34" charset="0"/>
              </a:rPr>
              <a:t> </a:t>
            </a:r>
            <a:r>
              <a:rPr lang="en-AU" sz="1800" dirty="0" err="1">
                <a:latin typeface="Calibri" panose="020F0502020204030204" pitchFamily="34" charset="0"/>
              </a:rPr>
              <a:t>dynamodb</a:t>
            </a:r>
            <a:r>
              <a:rPr lang="en-AU" sz="1800" dirty="0">
                <a:latin typeface="Calibri" panose="020F0502020204030204" pitchFamily="34" charset="0"/>
              </a:rPr>
              <a:t> create-table --table-name </a:t>
            </a:r>
            <a:r>
              <a:rPr lang="en-AU" sz="1800" dirty="0" err="1">
                <a:latin typeface="Calibri" panose="020F0502020204030204" pitchFamily="34" charset="0"/>
              </a:rPr>
              <a:t>MusicAlbum</a:t>
            </a:r>
            <a:r>
              <a:rPr lang="en-AU" sz="1800" dirty="0">
                <a:latin typeface="Calibri" panose="020F0502020204030204" pitchFamily="34" charset="0"/>
              </a:rPr>
              <a:t> </a:t>
            </a:r>
          </a:p>
          <a:p>
            <a:pPr marL="49213" lvl="2" algn="l"/>
            <a:r>
              <a:rPr lang="en-AU" sz="1800" dirty="0">
                <a:latin typeface="Calibri" panose="020F0502020204030204" pitchFamily="34" charset="0"/>
              </a:rPr>
              <a:t>  --attribute-definitions \</a:t>
            </a:r>
          </a:p>
          <a:p>
            <a:pPr marL="49213" lvl="2" algn="l"/>
            <a:r>
              <a:rPr lang="en-AU" sz="1800" dirty="0">
                <a:latin typeface="Calibri" panose="020F0502020204030204" pitchFamily="34" charset="0"/>
              </a:rPr>
              <a:t>    </a:t>
            </a:r>
            <a:r>
              <a:rPr lang="en-AU" sz="1800" dirty="0" err="1">
                <a:latin typeface="Calibri" panose="020F0502020204030204" pitchFamily="34" charset="0"/>
              </a:rPr>
              <a:t>AttributeName</a:t>
            </a:r>
            <a:r>
              <a:rPr lang="en-AU" sz="1800" dirty="0">
                <a:latin typeface="Calibri" panose="020F0502020204030204" pitchFamily="34" charset="0"/>
              </a:rPr>
              <a:t>=</a:t>
            </a:r>
            <a:r>
              <a:rPr lang="en-AU" sz="1800" dirty="0" err="1">
                <a:latin typeface="Calibri" panose="020F0502020204030204" pitchFamily="34" charset="0"/>
              </a:rPr>
              <a:t>Artist,AttributeType</a:t>
            </a:r>
            <a:r>
              <a:rPr lang="en-AU" sz="1800" dirty="0">
                <a:latin typeface="Calibri" panose="020F0502020204030204" pitchFamily="34" charset="0"/>
              </a:rPr>
              <a:t>=S \</a:t>
            </a:r>
          </a:p>
          <a:p>
            <a:pPr marL="49213" lvl="2" algn="l"/>
            <a:r>
              <a:rPr lang="en-AU" sz="1800" dirty="0">
                <a:latin typeface="Calibri" panose="020F0502020204030204" pitchFamily="34" charset="0"/>
              </a:rPr>
              <a:t>    </a:t>
            </a:r>
            <a:r>
              <a:rPr lang="en-AU" sz="1800" dirty="0" err="1">
                <a:latin typeface="Calibri" panose="020F0502020204030204" pitchFamily="34" charset="0"/>
              </a:rPr>
              <a:t>AttributeName</a:t>
            </a:r>
            <a:r>
              <a:rPr lang="en-AU" sz="1800" dirty="0">
                <a:latin typeface="Calibri" panose="020F0502020204030204" pitchFamily="34" charset="0"/>
              </a:rPr>
              <a:t>=</a:t>
            </a:r>
            <a:r>
              <a:rPr lang="en-AU" sz="1800" dirty="0" err="1">
                <a:latin typeface="Calibri" panose="020F0502020204030204" pitchFamily="34" charset="0"/>
              </a:rPr>
              <a:t>Song,AttributeType</a:t>
            </a:r>
            <a:r>
              <a:rPr lang="en-AU" sz="1800" dirty="0">
                <a:latin typeface="Calibri" panose="020F0502020204030204" pitchFamily="34" charset="0"/>
              </a:rPr>
              <a:t>=S \ </a:t>
            </a:r>
          </a:p>
          <a:p>
            <a:pPr marL="49213" lvl="2" algn="l"/>
            <a:r>
              <a:rPr lang="en-AU" sz="1800" dirty="0">
                <a:latin typeface="Calibri" panose="020F0502020204030204" pitchFamily="34" charset="0"/>
              </a:rPr>
              <a:t>  --key-schema </a:t>
            </a:r>
            <a:r>
              <a:rPr lang="en-AU" sz="1800" dirty="0" err="1">
                <a:latin typeface="Calibri" panose="020F0502020204030204" pitchFamily="34" charset="0"/>
              </a:rPr>
              <a:t>AttributeName</a:t>
            </a:r>
            <a:r>
              <a:rPr lang="en-AU" sz="1800" dirty="0">
                <a:latin typeface="Calibri" panose="020F0502020204030204" pitchFamily="34" charset="0"/>
              </a:rPr>
              <a:t>=</a:t>
            </a:r>
            <a:r>
              <a:rPr lang="en-AU" sz="1800" dirty="0" err="1">
                <a:latin typeface="Calibri" panose="020F0502020204030204" pitchFamily="34" charset="0"/>
              </a:rPr>
              <a:t>Artist,KeyType</a:t>
            </a:r>
            <a:r>
              <a:rPr lang="en-AU" sz="1800" dirty="0">
                <a:latin typeface="Calibri" panose="020F0502020204030204" pitchFamily="34" charset="0"/>
              </a:rPr>
              <a:t>=HASH \ </a:t>
            </a:r>
          </a:p>
          <a:p>
            <a:pPr marL="49213" lvl="2" algn="l"/>
            <a:r>
              <a:rPr lang="en-AU" sz="1800" dirty="0">
                <a:latin typeface="Calibri" panose="020F0502020204030204" pitchFamily="34" charset="0"/>
              </a:rPr>
              <a:t>               </a:t>
            </a:r>
            <a:r>
              <a:rPr lang="en-AU" sz="1800" dirty="0" err="1">
                <a:latin typeface="Calibri" panose="020F0502020204030204" pitchFamily="34" charset="0"/>
              </a:rPr>
              <a:t>AttributeName</a:t>
            </a:r>
            <a:r>
              <a:rPr lang="en-AU" sz="1800" dirty="0">
                <a:latin typeface="Calibri" panose="020F0502020204030204" pitchFamily="34" charset="0"/>
              </a:rPr>
              <a:t>=</a:t>
            </a:r>
            <a:r>
              <a:rPr lang="en-AU" sz="1800" dirty="0" err="1">
                <a:latin typeface="Calibri" panose="020F0502020204030204" pitchFamily="34" charset="0"/>
              </a:rPr>
              <a:t>Song,KeyType</a:t>
            </a:r>
            <a:r>
              <a:rPr lang="en-AU" sz="1800" dirty="0">
                <a:latin typeface="Calibri" panose="020F0502020204030204" pitchFamily="34" charset="0"/>
              </a:rPr>
              <a:t>=RANGE  \</a:t>
            </a:r>
          </a:p>
          <a:p>
            <a:pPr marL="7938" lvl="2" algn="l"/>
            <a:r>
              <a:rPr lang="en-AU" sz="1800" dirty="0">
                <a:latin typeface="Calibri" panose="020F0502020204030204" pitchFamily="34" charset="0"/>
              </a:rPr>
              <a:t>  --provisioned-throughput </a:t>
            </a:r>
            <a:r>
              <a:rPr lang="en-AU" sz="1800" dirty="0" err="1">
                <a:latin typeface="Calibri" panose="020F0502020204030204" pitchFamily="34" charset="0"/>
              </a:rPr>
              <a:t>ReadCapacityUnits</a:t>
            </a:r>
            <a:r>
              <a:rPr lang="en-AU" sz="1800" dirty="0">
                <a:latin typeface="Calibri" panose="020F0502020204030204" pitchFamily="34" charset="0"/>
              </a:rPr>
              <a:t>=1,WriteCapacityUnits=1 \</a:t>
            </a:r>
          </a:p>
          <a:p>
            <a:pPr marL="7938" lvl="2" algn="l"/>
            <a:r>
              <a:rPr lang="en-AU" sz="1800" dirty="0">
                <a:latin typeface="Calibri" panose="020F0502020204030204" pitchFamily="34" charset="0"/>
              </a:rPr>
              <a:t>  --endpoint-</a:t>
            </a:r>
            <a:r>
              <a:rPr lang="en-AU" sz="1800" dirty="0" err="1">
                <a:latin typeface="Calibri" panose="020F0502020204030204" pitchFamily="34" charset="0"/>
              </a:rPr>
              <a:t>url</a:t>
            </a:r>
            <a:r>
              <a:rPr lang="en-AU" sz="1800" dirty="0">
                <a:latin typeface="Calibri" panose="020F0502020204030204" pitchFamily="34" charset="0"/>
              </a:rPr>
              <a:t>=http://localhost:8000</a:t>
            </a:r>
            <a:endParaRPr lang="en-US" sz="1800" dirty="0">
              <a:latin typeface="Calibri" panose="020F050202020403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C156143-998A-4DA9-ADF7-48C9419DE713}"/>
              </a:ext>
            </a:extLst>
          </p:cNvPr>
          <p:cNvSpPr txBox="1"/>
          <p:nvPr/>
        </p:nvSpPr>
        <p:spPr>
          <a:xfrm>
            <a:off x="691137" y="1045090"/>
            <a:ext cx="559168" cy="2696123"/>
          </a:xfrm>
          <a:prstGeom prst="rect">
            <a:avLst/>
          </a:prstGeom>
          <a:solidFill>
            <a:schemeClr val="bg1">
              <a:lumMod val="85000"/>
              <a:alpha val="30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pPr marL="49213" lvl="2" algn="l"/>
            <a:r>
              <a:rPr lang="en-US" sz="1800" dirty="0">
                <a:latin typeface="Calibri" panose="020F0502020204030204" pitchFamily="34" charset="0"/>
              </a:rPr>
              <a:t>1</a:t>
            </a:r>
          </a:p>
          <a:p>
            <a:pPr marL="49213" lvl="2" algn="l"/>
            <a:r>
              <a:rPr lang="en-US" sz="1800" dirty="0">
                <a:latin typeface="Calibri" panose="020F0502020204030204" pitchFamily="34" charset="0"/>
              </a:rPr>
              <a:t>2</a:t>
            </a:r>
          </a:p>
          <a:p>
            <a:pPr marL="49213" lvl="2" algn="l"/>
            <a:r>
              <a:rPr lang="en-US" sz="1800" dirty="0">
                <a:latin typeface="Calibri" panose="020F0502020204030204" pitchFamily="34" charset="0"/>
              </a:rPr>
              <a:t>3</a:t>
            </a:r>
          </a:p>
          <a:p>
            <a:pPr marL="49213" lvl="2" algn="l"/>
            <a:r>
              <a:rPr lang="en-US" sz="1800" dirty="0">
                <a:latin typeface="Calibri" panose="020F0502020204030204" pitchFamily="34" charset="0"/>
              </a:rPr>
              <a:t>4</a:t>
            </a:r>
          </a:p>
          <a:p>
            <a:pPr marL="49213" lvl="2" algn="l"/>
            <a:r>
              <a:rPr lang="en-US" sz="1800" dirty="0">
                <a:latin typeface="Calibri" panose="020F0502020204030204" pitchFamily="34" charset="0"/>
              </a:rPr>
              <a:t>5</a:t>
            </a:r>
          </a:p>
          <a:p>
            <a:pPr marL="49213" lvl="2" algn="l"/>
            <a:r>
              <a:rPr lang="en-US" sz="1800" dirty="0">
                <a:latin typeface="Calibri" panose="020F0502020204030204" pitchFamily="34" charset="0"/>
              </a:rPr>
              <a:t>6</a:t>
            </a:r>
          </a:p>
          <a:p>
            <a:pPr marL="49213" lvl="2" algn="l"/>
            <a:r>
              <a:rPr lang="en-US" sz="1800" dirty="0">
                <a:latin typeface="Calibri" panose="020F0502020204030204" pitchFamily="34" charset="0"/>
              </a:rPr>
              <a:t>7</a:t>
            </a:r>
          </a:p>
          <a:p>
            <a:pPr marL="49213" lvl="2" algn="l"/>
            <a:r>
              <a:rPr lang="en-US" sz="1800" dirty="0">
                <a:latin typeface="Calibri" panose="020F0502020204030204" pitchFamily="34" charset="0"/>
              </a:rPr>
              <a:t>8</a:t>
            </a: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202F41A2-418F-42E6-9EB6-30D4FBE5BA64}"/>
              </a:ext>
            </a:extLst>
          </p:cNvPr>
          <p:cNvSpPr txBox="1">
            <a:spLocks/>
          </p:cNvSpPr>
          <p:nvPr/>
        </p:nvSpPr>
        <p:spPr>
          <a:xfrm>
            <a:off x="610640" y="4097553"/>
            <a:ext cx="10576448" cy="98489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fontAlgn="auto">
              <a:spcAft>
                <a:spcPts val="0"/>
              </a:spcAft>
              <a:buClrTx/>
              <a:buSzTx/>
            </a:pPr>
            <a:r>
              <a:rPr lang="en-US" sz="2400" dirty="0">
                <a:latin typeface="+mn-lt"/>
                <a:ea typeface="+mn-ea"/>
                <a:cs typeface="+mn-cs"/>
              </a:rPr>
              <a:t>An error occurred (</a:t>
            </a:r>
            <a:r>
              <a:rPr lang="en-US" sz="2400" dirty="0" err="1">
                <a:latin typeface="+mn-lt"/>
                <a:ea typeface="+mn-ea"/>
                <a:cs typeface="+mn-cs"/>
              </a:rPr>
              <a:t>ValidationException</a:t>
            </a:r>
            <a:r>
              <a:rPr lang="en-US" sz="2400" dirty="0">
                <a:latin typeface="+mn-lt"/>
                <a:ea typeface="+mn-ea"/>
                <a:cs typeface="+mn-cs"/>
              </a:rPr>
              <a:t>) when calling the </a:t>
            </a:r>
            <a:r>
              <a:rPr lang="en-US" sz="2400" dirty="0" err="1">
                <a:latin typeface="+mn-lt"/>
                <a:ea typeface="+mn-ea"/>
                <a:cs typeface="+mn-cs"/>
              </a:rPr>
              <a:t>PutItem</a:t>
            </a:r>
            <a:r>
              <a:rPr lang="en-US" sz="2400" dirty="0">
                <a:latin typeface="+mn-lt"/>
                <a:ea typeface="+mn-ea"/>
                <a:cs typeface="+mn-cs"/>
              </a:rPr>
              <a:t> operation: One of the required keys was not given a value.</a:t>
            </a:r>
          </a:p>
        </p:txBody>
      </p:sp>
    </p:spTree>
    <p:extLst>
      <p:ext uri="{BB962C8B-B14F-4D97-AF65-F5344CB8AC3E}">
        <p14:creationId xmlns:p14="http://schemas.microsoft.com/office/powerpoint/2010/main" val="48312584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7A4E2B70-B132-40A7-9D52-EFE3D6E15C97}"/>
              </a:ext>
            </a:extLst>
          </p:cNvPr>
          <p:cNvSpPr txBox="1"/>
          <p:nvPr/>
        </p:nvSpPr>
        <p:spPr>
          <a:xfrm>
            <a:off x="1310745" y="1031192"/>
            <a:ext cx="8626845" cy="1366528"/>
          </a:xfrm>
          <a:prstGeom prst="rect">
            <a:avLst/>
          </a:prstGeom>
          <a:solidFill>
            <a:schemeClr val="bg1">
              <a:lumMod val="85000"/>
              <a:alpha val="30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pPr marL="49213" lvl="2" algn="l"/>
            <a:r>
              <a:rPr lang="en-AU" sz="1800" dirty="0" err="1">
                <a:latin typeface="+mn-lt"/>
              </a:rPr>
              <a:t>aws</a:t>
            </a:r>
            <a:r>
              <a:rPr lang="en-AU" sz="1800" dirty="0">
                <a:latin typeface="+mn-lt"/>
              </a:rPr>
              <a:t> </a:t>
            </a:r>
            <a:r>
              <a:rPr lang="en-AU" sz="1800" dirty="0" err="1">
                <a:latin typeface="+mn-lt"/>
              </a:rPr>
              <a:t>dynamodb</a:t>
            </a:r>
            <a:r>
              <a:rPr lang="en-AU" sz="1800" dirty="0">
                <a:latin typeface="+mn-lt"/>
              </a:rPr>
              <a:t> put-item \ </a:t>
            </a:r>
          </a:p>
          <a:p>
            <a:pPr marL="49213" lvl="2" algn="l"/>
            <a:r>
              <a:rPr lang="en-AU" sz="1800" i="1" dirty="0">
                <a:latin typeface="+mn-lt"/>
              </a:rPr>
              <a:t>  --table-name </a:t>
            </a:r>
            <a:r>
              <a:rPr lang="en-AU" sz="1800" dirty="0" err="1">
                <a:latin typeface="+mn-lt"/>
              </a:rPr>
              <a:t>MusicAlbum</a:t>
            </a:r>
            <a:r>
              <a:rPr lang="en-AU" sz="1800" i="1" dirty="0">
                <a:latin typeface="+mn-lt"/>
              </a:rPr>
              <a:t> \</a:t>
            </a:r>
            <a:r>
              <a:rPr lang="en-AU" sz="1800" dirty="0">
                <a:latin typeface="+mn-lt"/>
              </a:rPr>
              <a:t> </a:t>
            </a:r>
          </a:p>
          <a:p>
            <a:pPr marL="49213" lvl="2" algn="l"/>
            <a:r>
              <a:rPr lang="en-AU" sz="1800" i="1" dirty="0">
                <a:latin typeface="+mn-lt"/>
              </a:rPr>
              <a:t>  --item </a:t>
            </a:r>
            <a:r>
              <a:rPr lang="en-AU" sz="1800" dirty="0">
                <a:latin typeface="+mn-lt"/>
              </a:rPr>
              <a:t>'{"Artist": {"S": “J</a:t>
            </a:r>
            <a:r>
              <a:rPr lang="en-US" altLang="zh-CN" sz="1800" dirty="0" err="1">
                <a:latin typeface="+mn-lt"/>
              </a:rPr>
              <a:t>ason</a:t>
            </a:r>
            <a:r>
              <a:rPr lang="en-AU" sz="1800" dirty="0">
                <a:latin typeface="+mn-lt"/>
              </a:rPr>
              <a:t>"}, "Song": {"S": “Gloomy day"}}'\ </a:t>
            </a:r>
          </a:p>
          <a:p>
            <a:pPr marL="49213" lvl="2" algn="l"/>
            <a:r>
              <a:rPr lang="en-AU" sz="1800" i="1" dirty="0">
                <a:latin typeface="+mn-lt"/>
              </a:rPr>
              <a:t>  --return-consumed-capacity TOTAL </a:t>
            </a:r>
            <a:r>
              <a:rPr lang="en-AU" sz="1800" dirty="0">
                <a:latin typeface="+mn-lt"/>
              </a:rPr>
              <a:t>--endpoint-</a:t>
            </a:r>
            <a:r>
              <a:rPr lang="en-AU" sz="1800" dirty="0" err="1">
                <a:latin typeface="+mn-lt"/>
              </a:rPr>
              <a:t>url</a:t>
            </a:r>
            <a:r>
              <a:rPr lang="en-AU" sz="1800" dirty="0">
                <a:latin typeface="+mn-lt"/>
              </a:rPr>
              <a:t>=http://localhost:8000</a:t>
            </a:r>
            <a:endParaRPr lang="en-AU" sz="1800" i="1" dirty="0">
              <a:latin typeface="+mn-lt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50BC33F-906F-4157-AE5A-DF7FD85553F5}"/>
              </a:ext>
            </a:extLst>
          </p:cNvPr>
          <p:cNvSpPr txBox="1"/>
          <p:nvPr/>
        </p:nvSpPr>
        <p:spPr>
          <a:xfrm>
            <a:off x="751577" y="1031193"/>
            <a:ext cx="559168" cy="1366528"/>
          </a:xfrm>
          <a:prstGeom prst="rect">
            <a:avLst/>
          </a:prstGeom>
          <a:solidFill>
            <a:schemeClr val="bg1">
              <a:lumMod val="85000"/>
              <a:alpha val="30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pPr marL="49213" lvl="2" algn="l"/>
            <a:r>
              <a:rPr lang="en-US" sz="1800" dirty="0">
                <a:latin typeface="+mn-lt"/>
              </a:rPr>
              <a:t>1</a:t>
            </a:r>
          </a:p>
          <a:p>
            <a:pPr marL="49213" lvl="2" algn="l"/>
            <a:r>
              <a:rPr lang="en-US" sz="1800" dirty="0">
                <a:latin typeface="+mn-lt"/>
              </a:rPr>
              <a:t>2</a:t>
            </a:r>
          </a:p>
          <a:p>
            <a:pPr marL="49213" lvl="2" algn="l"/>
            <a:r>
              <a:rPr lang="en-US" sz="1800" dirty="0">
                <a:latin typeface="+mn-lt"/>
              </a:rPr>
              <a:t>3</a:t>
            </a:r>
          </a:p>
          <a:p>
            <a:pPr marL="49213" lvl="2" algn="l"/>
            <a:r>
              <a:rPr lang="en-US" sz="1800" dirty="0">
                <a:latin typeface="+mn-lt"/>
              </a:rPr>
              <a:t>4</a:t>
            </a:r>
          </a:p>
        </p:txBody>
      </p:sp>
      <p:sp>
        <p:nvSpPr>
          <p:cNvPr id="13" name="Title 1">
            <a:extLst>
              <a:ext uri="{FF2B5EF4-FFF2-40B4-BE49-F238E27FC236}">
                <a16:creationId xmlns:a16="http://schemas.microsoft.com/office/drawing/2014/main" id="{4E870DA3-0B06-4D59-B6AD-0C58073F1FDF}"/>
              </a:ext>
            </a:extLst>
          </p:cNvPr>
          <p:cNvSpPr txBox="1">
            <a:spLocks/>
          </p:cNvSpPr>
          <p:nvPr/>
        </p:nvSpPr>
        <p:spPr>
          <a:xfrm>
            <a:off x="588264" y="118885"/>
            <a:ext cx="5507736" cy="76328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fontAlgn="auto">
              <a:spcAft>
                <a:spcPts val="0"/>
              </a:spcAft>
              <a:buClrTx/>
              <a:buSzTx/>
              <a:buFontTx/>
            </a:pPr>
            <a:r>
              <a:rPr lang="en-US" sz="3200" b="1" dirty="0"/>
              <a:t>Further practice</a:t>
            </a:r>
          </a:p>
        </p:txBody>
      </p:sp>
    </p:spTree>
    <p:extLst>
      <p:ext uri="{BB962C8B-B14F-4D97-AF65-F5344CB8AC3E}">
        <p14:creationId xmlns:p14="http://schemas.microsoft.com/office/powerpoint/2010/main" val="1865111890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9712784-199A-4366-8059-4B353600DE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28415" y="1683012"/>
            <a:ext cx="7765322" cy="1745988"/>
          </a:xfrm>
        </p:spPr>
        <p:txBody>
          <a:bodyPr>
            <a:normAutofit/>
          </a:bodyPr>
          <a:lstStyle/>
          <a:p>
            <a:r>
              <a:rPr lang="en-AU" sz="2800" i="0" dirty="0">
                <a:solidFill>
                  <a:srgbClr val="000000"/>
                </a:solidFill>
                <a:effectLst/>
              </a:rPr>
              <a:t>Cryptography</a:t>
            </a:r>
          </a:p>
          <a:p>
            <a:r>
              <a:rPr lang="en-AU" dirty="0">
                <a:solidFill>
                  <a:srgbClr val="000000"/>
                </a:solidFill>
              </a:rPr>
              <a:t>IAM (Identity Access Management)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320ABAFD-759F-44AD-9737-4DC91D283DC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28415" y="217593"/>
            <a:ext cx="3258393" cy="994172"/>
          </a:xfrm>
          <a:prstGeom prst="rect">
            <a:avLst/>
          </a:prstGeom>
        </p:spPr>
        <p:txBody>
          <a:bodyPr>
            <a:normAutofit/>
          </a:bodyPr>
          <a:lstStyle/>
          <a:p>
            <a:r>
              <a:rPr lang="en-AU" sz="3200" b="1" dirty="0"/>
              <a:t>Overview</a:t>
            </a:r>
            <a:endParaRPr sz="2800" b="1" dirty="0"/>
          </a:p>
        </p:txBody>
      </p:sp>
    </p:spTree>
    <p:extLst>
      <p:ext uri="{BB962C8B-B14F-4D97-AF65-F5344CB8AC3E}">
        <p14:creationId xmlns:p14="http://schemas.microsoft.com/office/powerpoint/2010/main" val="368183121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4F01C5-5333-2248-B03B-703C97F7CC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3062" y="280094"/>
            <a:ext cx="3475892" cy="621476"/>
          </a:xfrm>
        </p:spPr>
        <p:txBody>
          <a:bodyPr>
            <a:normAutofit/>
          </a:bodyPr>
          <a:lstStyle/>
          <a:p>
            <a:r>
              <a:rPr lang="en-AU" sz="3200" b="1" dirty="0"/>
              <a:t>Cybersecurity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DD7DCB-C7E2-1B4F-BD83-3B7AF005DD7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3062" y="1368001"/>
            <a:ext cx="10515600" cy="1065150"/>
          </a:xfrm>
        </p:spPr>
        <p:txBody>
          <a:bodyPr>
            <a:normAutofit/>
          </a:bodyPr>
          <a:lstStyle/>
          <a:p>
            <a:r>
              <a:rPr lang="en-AU" sz="2800" dirty="0">
                <a:effectLst/>
                <a:cs typeface="Arial" panose="020B0604020202020204" pitchFamily="34" charset="0"/>
              </a:rPr>
              <a:t>It is about the protection of </a:t>
            </a:r>
            <a:r>
              <a:rPr lang="en-AU" dirty="0">
                <a:cs typeface="Arial" panose="020B0604020202020204" pitchFamily="34" charset="0"/>
              </a:rPr>
              <a:t>digital </a:t>
            </a:r>
            <a:r>
              <a:rPr lang="en-AU" sz="2800" dirty="0">
                <a:effectLst/>
                <a:cs typeface="Arial" panose="020B0604020202020204" pitchFamily="34" charset="0"/>
              </a:rPr>
              <a:t>information from unauthorised access, harm or misuse.</a:t>
            </a:r>
          </a:p>
          <a:p>
            <a:endParaRPr lang="en-AU" dirty="0">
              <a:effectLst/>
              <a:cs typeface="Arial" panose="020B0604020202020204" pitchFamily="34" charset="0"/>
            </a:endParaRP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EF5C00F6-0D13-428F-85AF-DA2592554DEF}"/>
              </a:ext>
            </a:extLst>
          </p:cNvPr>
          <p:cNvSpPr txBox="1">
            <a:spLocks/>
          </p:cNvSpPr>
          <p:nvPr/>
        </p:nvSpPr>
        <p:spPr>
          <a:xfrm>
            <a:off x="463062" y="2216274"/>
            <a:ext cx="10515600" cy="99584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Aft>
                <a:spcPts val="0"/>
              </a:spcAft>
              <a:buClrTx/>
              <a:buSzTx/>
            </a:pPr>
            <a:r>
              <a:rPr lang="en-AU" dirty="0">
                <a:cs typeface="Arial" panose="020B0604020202020204" pitchFamily="34" charset="0"/>
              </a:rPr>
              <a:t>This is done by preserving the CIA triad of the information, i.e., </a:t>
            </a:r>
            <a:r>
              <a:rPr lang="en-AU" u="sng" dirty="0">
                <a:solidFill>
                  <a:srgbClr val="00B0F0"/>
                </a:solidFill>
                <a:cs typeface="Arial" panose="020B0604020202020204" pitchFamily="34" charset="0"/>
              </a:rPr>
              <a:t>C</a:t>
            </a:r>
            <a:r>
              <a:rPr lang="en-AU" dirty="0">
                <a:cs typeface="Arial" panose="020B0604020202020204" pitchFamily="34" charset="0"/>
              </a:rPr>
              <a:t>onfidentiality, </a:t>
            </a:r>
            <a:r>
              <a:rPr lang="en-AU" u="sng" dirty="0">
                <a:solidFill>
                  <a:srgbClr val="00B0F0"/>
                </a:solidFill>
                <a:cs typeface="Arial" panose="020B0604020202020204" pitchFamily="34" charset="0"/>
              </a:rPr>
              <a:t>I</a:t>
            </a:r>
            <a:r>
              <a:rPr lang="en-AU" dirty="0">
                <a:cs typeface="Arial" panose="020B0604020202020204" pitchFamily="34" charset="0"/>
              </a:rPr>
              <a:t>ntegrity and </a:t>
            </a:r>
            <a:r>
              <a:rPr lang="en-AU" u="sng" dirty="0">
                <a:solidFill>
                  <a:srgbClr val="00B0F0"/>
                </a:solidFill>
                <a:cs typeface="Arial" panose="020B0604020202020204" pitchFamily="34" charset="0"/>
              </a:rPr>
              <a:t>A</a:t>
            </a:r>
            <a:r>
              <a:rPr lang="en-AU" dirty="0">
                <a:cs typeface="Arial" panose="020B0604020202020204" pitchFamily="34" charset="0"/>
              </a:rPr>
              <a:t>vailability.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B519B1AC-AE0F-42B6-B4BA-8AECAB6A10CC}"/>
              </a:ext>
            </a:extLst>
          </p:cNvPr>
          <p:cNvSpPr txBox="1">
            <a:spLocks/>
          </p:cNvSpPr>
          <p:nvPr/>
        </p:nvSpPr>
        <p:spPr>
          <a:xfrm>
            <a:off x="463062" y="3281424"/>
            <a:ext cx="11353800" cy="252571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Aft>
                <a:spcPts val="0"/>
              </a:spcAft>
              <a:buClrTx/>
              <a:buSzTx/>
            </a:pPr>
            <a:r>
              <a:rPr lang="en-AU" b="1" dirty="0">
                <a:cs typeface="Arial" panose="020B0604020202020204" pitchFamily="34" charset="0"/>
              </a:rPr>
              <a:t>Confidentiality</a:t>
            </a:r>
            <a:r>
              <a:rPr lang="en-AU" dirty="0">
                <a:cs typeface="Arial" panose="020B0604020202020204" pitchFamily="34" charset="0"/>
              </a:rPr>
              <a:t>: </a:t>
            </a:r>
            <a:r>
              <a:rPr lang="en-US" dirty="0">
                <a:cs typeface="Arial" panose="020B0604020202020204" pitchFamily="34" charset="0"/>
              </a:rPr>
              <a:t>keeps sensitive information private and ensures that only authorized individuals or entities have access to it.</a:t>
            </a:r>
            <a:endParaRPr lang="en-AU" dirty="0">
              <a:cs typeface="Arial" panose="020B0604020202020204" pitchFamily="34" charset="0"/>
            </a:endParaRPr>
          </a:p>
          <a:p>
            <a:pPr fontAlgn="auto">
              <a:spcAft>
                <a:spcPts val="0"/>
              </a:spcAft>
              <a:buClrTx/>
              <a:buSzTx/>
            </a:pPr>
            <a:r>
              <a:rPr lang="en-AU" b="1" dirty="0">
                <a:cs typeface="Arial" panose="020B0604020202020204" pitchFamily="34" charset="0"/>
              </a:rPr>
              <a:t>Integrity</a:t>
            </a:r>
            <a:r>
              <a:rPr lang="en-AU" dirty="0">
                <a:cs typeface="Arial" panose="020B0604020202020204" pitchFamily="34" charset="0"/>
              </a:rPr>
              <a:t>: </a:t>
            </a:r>
            <a:r>
              <a:rPr lang="en-US" dirty="0">
                <a:cs typeface="Arial" panose="020B0604020202020204" pitchFamily="34" charset="0"/>
              </a:rPr>
              <a:t>maintains the accuracy, and reliability of information. </a:t>
            </a:r>
            <a:endParaRPr lang="en-AU" dirty="0">
              <a:cs typeface="Arial" panose="020B0604020202020204" pitchFamily="34" charset="0"/>
            </a:endParaRPr>
          </a:p>
          <a:p>
            <a:pPr fontAlgn="auto">
              <a:spcAft>
                <a:spcPts val="0"/>
              </a:spcAft>
              <a:buClrTx/>
              <a:buSzTx/>
            </a:pPr>
            <a:r>
              <a:rPr lang="en-AU" b="1" dirty="0">
                <a:cs typeface="Arial" panose="020B0604020202020204" pitchFamily="34" charset="0"/>
              </a:rPr>
              <a:t>Availability: </a:t>
            </a:r>
            <a:r>
              <a:rPr lang="en-AU" dirty="0">
                <a:cs typeface="Arial" panose="020B0604020202020204" pitchFamily="34" charset="0"/>
              </a:rPr>
              <a:t>ensures that information such as services </a:t>
            </a:r>
            <a:r>
              <a:rPr lang="en-US" dirty="0">
                <a:cs typeface="Arial" panose="020B0604020202020204" pitchFamily="34" charset="0"/>
              </a:rPr>
              <a:t>and data are accessible and operational for authorized users. </a:t>
            </a:r>
            <a:endParaRPr lang="en-AU" dirty="0"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50690858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4F01C5-5333-2248-B03B-703C97F7CC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9100" y="150324"/>
            <a:ext cx="6871386" cy="887644"/>
          </a:xfrm>
        </p:spPr>
        <p:txBody>
          <a:bodyPr>
            <a:normAutofit/>
          </a:bodyPr>
          <a:lstStyle/>
          <a:p>
            <a:r>
              <a:rPr lang="en-AU" sz="3200" b="1" dirty="0"/>
              <a:t>Cybersecurity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DD7DCB-C7E2-1B4F-BD83-3B7AF005DD7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9100" y="1253331"/>
            <a:ext cx="11092962" cy="5030238"/>
          </a:xfrm>
        </p:spPr>
        <p:txBody>
          <a:bodyPr>
            <a:normAutofit/>
          </a:bodyPr>
          <a:lstStyle/>
          <a:p>
            <a:r>
              <a:rPr lang="en-AU" dirty="0">
                <a:effectLst/>
                <a:cs typeface="Arial" panose="020B0604020202020204" pitchFamily="34" charset="0"/>
              </a:rPr>
              <a:t>CIA </a:t>
            </a:r>
            <a:r>
              <a:rPr lang="en-AU" dirty="0">
                <a:cs typeface="Arial" panose="020B0604020202020204" pitchFamily="34" charset="0"/>
              </a:rPr>
              <a:t>can be </a:t>
            </a:r>
            <a:r>
              <a:rPr lang="en-AU" dirty="0">
                <a:effectLst/>
                <a:cs typeface="Arial" panose="020B0604020202020204" pitchFamily="34" charset="0"/>
              </a:rPr>
              <a:t>extended to include such as Authentication, Authorization and Non-Repudiation. </a:t>
            </a:r>
          </a:p>
          <a:p>
            <a:endParaRPr lang="en-AU" dirty="0">
              <a:cs typeface="Arial" panose="020B0604020202020204" pitchFamily="34" charset="0"/>
            </a:endParaRPr>
          </a:p>
          <a:p>
            <a:endParaRPr lang="en-AU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81054097-D8C8-48D2-A6BC-010249B4666F}"/>
              </a:ext>
            </a:extLst>
          </p:cNvPr>
          <p:cNvSpPr txBox="1">
            <a:spLocks/>
          </p:cNvSpPr>
          <p:nvPr/>
        </p:nvSpPr>
        <p:spPr>
          <a:xfrm>
            <a:off x="419100" y="2166145"/>
            <a:ext cx="11353800" cy="343852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Aft>
                <a:spcPts val="0"/>
              </a:spcAft>
              <a:buClrTx/>
              <a:buSzTx/>
            </a:pPr>
            <a:r>
              <a:rPr lang="en-AU" b="1" dirty="0">
                <a:cs typeface="Arial" panose="020B0604020202020204" pitchFamily="34" charset="0"/>
              </a:rPr>
              <a:t>Authentication:</a:t>
            </a:r>
            <a:r>
              <a:rPr lang="en-AU" dirty="0">
                <a:cs typeface="Arial" panose="020B0604020202020204" pitchFamily="34" charset="0"/>
              </a:rPr>
              <a:t> </a:t>
            </a:r>
            <a:r>
              <a:rPr lang="en-US" dirty="0">
                <a:cs typeface="Arial" panose="020B0604020202020204" pitchFamily="34" charset="0"/>
              </a:rPr>
              <a:t>verifies the identity of a user, or other entities trying to access a system.</a:t>
            </a:r>
            <a:endParaRPr lang="en-AU" dirty="0">
              <a:cs typeface="Arial" panose="020B0604020202020204" pitchFamily="34" charset="0"/>
            </a:endParaRPr>
          </a:p>
          <a:p>
            <a:pPr fontAlgn="auto">
              <a:spcAft>
                <a:spcPts val="0"/>
              </a:spcAft>
              <a:buClrTx/>
              <a:buSzTx/>
            </a:pPr>
            <a:r>
              <a:rPr lang="en-AU" b="1" dirty="0">
                <a:cs typeface="Arial" panose="020B0604020202020204" pitchFamily="34" charset="0"/>
              </a:rPr>
              <a:t>Authorization: </a:t>
            </a:r>
            <a:r>
              <a:rPr lang="en-US" dirty="0">
                <a:cs typeface="Arial" panose="020B0604020202020204" pitchFamily="34" charset="0"/>
              </a:rPr>
              <a:t>determines what actions or resources an authenticated user or entity is allowed to perform or access. </a:t>
            </a:r>
            <a:endParaRPr lang="en-AU" dirty="0">
              <a:cs typeface="Arial" panose="020B0604020202020204" pitchFamily="34" charset="0"/>
            </a:endParaRPr>
          </a:p>
          <a:p>
            <a:pPr fontAlgn="auto">
              <a:spcAft>
                <a:spcPts val="0"/>
              </a:spcAft>
              <a:buClrTx/>
              <a:buSzTx/>
            </a:pPr>
            <a:r>
              <a:rPr lang="en-AU" b="1" dirty="0">
                <a:effectLst/>
                <a:cs typeface="Arial" panose="020B0604020202020204" pitchFamily="34" charset="0"/>
              </a:rPr>
              <a:t>Non-Repudiation</a:t>
            </a:r>
            <a:r>
              <a:rPr lang="en-AU" b="1" dirty="0">
                <a:cs typeface="Arial" panose="020B0604020202020204" pitchFamily="34" charset="0"/>
              </a:rPr>
              <a:t>: </a:t>
            </a:r>
            <a:r>
              <a:rPr lang="en-US" dirty="0">
                <a:cs typeface="Arial" panose="020B0604020202020204" pitchFamily="34" charset="0"/>
              </a:rPr>
              <a:t>prevents individuals or entities from denying their involvement in a particular digital transaction. </a:t>
            </a:r>
            <a:endParaRPr lang="en-AU" dirty="0"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00226379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0799" y="231165"/>
            <a:ext cx="3098878" cy="643612"/>
          </a:xfrm>
        </p:spPr>
        <p:txBody>
          <a:bodyPr>
            <a:normAutofit/>
          </a:bodyPr>
          <a:lstStyle/>
          <a:p>
            <a:r>
              <a:rPr lang="en-US" sz="3200" b="1" dirty="0"/>
              <a:t>Cryptography</a:t>
            </a:r>
            <a:endParaRPr lang="en-US" sz="2800" b="1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0798" y="1070435"/>
            <a:ext cx="10528895" cy="4943503"/>
          </a:xfrm>
        </p:spPr>
        <p:txBody>
          <a:bodyPr>
            <a:normAutofit/>
          </a:bodyPr>
          <a:lstStyle/>
          <a:p>
            <a:r>
              <a:rPr lang="en-US" sz="2400" dirty="0"/>
              <a:t>It is the practice and study of techniques for secure communication in the presence of adversaries or potential threats.</a:t>
            </a:r>
          </a:p>
        </p:txBody>
      </p:sp>
      <p:pic>
        <p:nvPicPr>
          <p:cNvPr id="4" name="Picture 2" descr="Related image">
            <a:extLst>
              <a:ext uri="{FF2B5EF4-FFF2-40B4-BE49-F238E27FC236}">
                <a16:creationId xmlns:a16="http://schemas.microsoft.com/office/drawing/2014/main" id="{97B5D676-8165-4AB6-86C1-7ED7C8C5C8F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2513038" y="2518343"/>
            <a:ext cx="1056639" cy="12565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9F218937-93F2-4C1B-8079-9C9D809E350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07867" y="4055589"/>
            <a:ext cx="1056640" cy="122936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9178CC75-CBB3-43C3-895C-796D42D9C36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43945" y="2527597"/>
            <a:ext cx="1249312" cy="1229360"/>
          </a:xfrm>
          <a:prstGeom prst="rect">
            <a:avLst/>
          </a:prstGeom>
        </p:spPr>
      </p:pic>
      <p:sp>
        <p:nvSpPr>
          <p:cNvPr id="7" name="Title 1">
            <a:extLst>
              <a:ext uri="{FF2B5EF4-FFF2-40B4-BE49-F238E27FC236}">
                <a16:creationId xmlns:a16="http://schemas.microsoft.com/office/drawing/2014/main" id="{F0FF4A7F-7021-4D04-8A60-9BDC9954E3D1}"/>
              </a:ext>
            </a:extLst>
          </p:cNvPr>
          <p:cNvSpPr txBox="1">
            <a:spLocks/>
          </p:cNvSpPr>
          <p:nvPr/>
        </p:nvSpPr>
        <p:spPr>
          <a:xfrm>
            <a:off x="2208420" y="3728851"/>
            <a:ext cx="1665874" cy="756915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j-lt"/>
                <a:ea typeface="+mj-ea"/>
                <a:cs typeface="Trebuchet M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AU" sz="24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Alice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A354AAC5-33F4-4FCE-97B6-3A6CC598322D}"/>
              </a:ext>
            </a:extLst>
          </p:cNvPr>
          <p:cNvSpPr txBox="1">
            <a:spLocks/>
          </p:cNvSpPr>
          <p:nvPr/>
        </p:nvSpPr>
        <p:spPr>
          <a:xfrm>
            <a:off x="7681872" y="3728850"/>
            <a:ext cx="1704980" cy="756915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j-lt"/>
                <a:ea typeface="+mj-ea"/>
                <a:cs typeface="Trebuchet M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AU" sz="24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Bob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CC8938EE-5BBD-4B75-9B12-87F9EFB33AE3}"/>
              </a:ext>
            </a:extLst>
          </p:cNvPr>
          <p:cNvCxnSpPr>
            <a:cxnSpLocks/>
            <a:stCxn id="5" idx="0"/>
            <a:endCxn id="10" idx="2"/>
          </p:cNvCxnSpPr>
          <p:nvPr/>
        </p:nvCxnSpPr>
        <p:spPr>
          <a:xfrm flipV="1">
            <a:off x="5736187" y="3439852"/>
            <a:ext cx="0" cy="615737"/>
          </a:xfrm>
          <a:prstGeom prst="straightConnector1">
            <a:avLst/>
          </a:prstGeom>
          <a:ln w="317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7748760C-D898-4EF7-9397-042D2DBA3C8E}"/>
              </a:ext>
            </a:extLst>
          </p:cNvPr>
          <p:cNvSpPr/>
          <p:nvPr/>
        </p:nvSpPr>
        <p:spPr>
          <a:xfrm>
            <a:off x="4321408" y="2841102"/>
            <a:ext cx="2829558" cy="598750"/>
          </a:xfrm>
          <a:prstGeom prst="roundRect">
            <a:avLst/>
          </a:prstGeom>
          <a:solidFill>
            <a:schemeClr val="tx1">
              <a:alpha val="50196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400" dirty="0">
                <a:solidFill>
                  <a:schemeClr val="tx1"/>
                </a:solidFill>
              </a:rPr>
              <a:t>Insecure Channel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54C8282E-53ED-4386-BC16-856EE69715AF}"/>
              </a:ext>
            </a:extLst>
          </p:cNvPr>
          <p:cNvSpPr txBox="1">
            <a:spLocks/>
          </p:cNvSpPr>
          <p:nvPr/>
        </p:nvSpPr>
        <p:spPr>
          <a:xfrm>
            <a:off x="4670331" y="5257023"/>
            <a:ext cx="2184295" cy="756915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j-lt"/>
                <a:ea typeface="+mj-ea"/>
                <a:cs typeface="Trebuchet M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AU" sz="24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Attacker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45CB84C0-BCEC-44D9-A22C-FBAFE387295C}"/>
              </a:ext>
            </a:extLst>
          </p:cNvPr>
          <p:cNvCxnSpPr>
            <a:cxnSpLocks/>
            <a:stCxn id="4" idx="3"/>
            <a:endCxn id="10" idx="1"/>
          </p:cNvCxnSpPr>
          <p:nvPr/>
        </p:nvCxnSpPr>
        <p:spPr>
          <a:xfrm flipV="1">
            <a:off x="3569677" y="3140477"/>
            <a:ext cx="751731" cy="6139"/>
          </a:xfrm>
          <a:prstGeom prst="straightConnector1">
            <a:avLst/>
          </a:prstGeom>
          <a:ln w="38100">
            <a:solidFill>
              <a:srgbClr val="FF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513032F4-50CC-43A5-B112-87A3754F3379}"/>
              </a:ext>
            </a:extLst>
          </p:cNvPr>
          <p:cNvCxnSpPr>
            <a:cxnSpLocks/>
            <a:stCxn id="10" idx="3"/>
            <a:endCxn id="6" idx="1"/>
          </p:cNvCxnSpPr>
          <p:nvPr/>
        </p:nvCxnSpPr>
        <p:spPr>
          <a:xfrm>
            <a:off x="7150966" y="3140477"/>
            <a:ext cx="692979" cy="1800"/>
          </a:xfrm>
          <a:prstGeom prst="straightConnector1">
            <a:avLst/>
          </a:prstGeom>
          <a:ln w="38100">
            <a:solidFill>
              <a:srgbClr val="FF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52328963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0799" y="231165"/>
            <a:ext cx="3098878" cy="643612"/>
          </a:xfrm>
        </p:spPr>
        <p:txBody>
          <a:bodyPr>
            <a:normAutofit/>
          </a:bodyPr>
          <a:lstStyle/>
          <a:p>
            <a:r>
              <a:rPr lang="en-US" sz="3200" b="1" dirty="0"/>
              <a:t>Cryptography</a:t>
            </a:r>
            <a:endParaRPr lang="en-US" sz="2800" b="1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0798" y="1070435"/>
            <a:ext cx="10979983" cy="4943503"/>
          </a:xfrm>
        </p:spPr>
        <p:txBody>
          <a:bodyPr>
            <a:normAutofit/>
          </a:bodyPr>
          <a:lstStyle/>
          <a:p>
            <a:r>
              <a:rPr lang="en-US" sz="2400" dirty="0"/>
              <a:t>It is the practice and study of techniques for secure communication in the presence of adversaries or potential threats.</a:t>
            </a:r>
          </a:p>
          <a:p>
            <a:r>
              <a:rPr lang="en-US" sz="2400" dirty="0"/>
              <a:t>It is mainly about the use of mathematical algorithms to transform plain, readable data (i.e., plaintext) into an unintelligible data (i.e., ciphertext) and vise versa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65958393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0799" y="231165"/>
            <a:ext cx="3098878" cy="643612"/>
          </a:xfrm>
        </p:spPr>
        <p:txBody>
          <a:bodyPr>
            <a:normAutofit/>
          </a:bodyPr>
          <a:lstStyle/>
          <a:p>
            <a:r>
              <a:rPr lang="en-US" sz="3200" b="1" dirty="0"/>
              <a:t>Cryptography</a:t>
            </a:r>
            <a:endParaRPr lang="en-US" sz="2800" b="1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0798" y="1070435"/>
            <a:ext cx="10979983" cy="4943503"/>
          </a:xfrm>
        </p:spPr>
        <p:txBody>
          <a:bodyPr>
            <a:normAutofit/>
          </a:bodyPr>
          <a:lstStyle/>
          <a:p>
            <a:r>
              <a:rPr lang="en-US" sz="2400" dirty="0"/>
              <a:t>It is the practice and study of techniques for secure communication in the presence of adversaries or potential threats.</a:t>
            </a:r>
          </a:p>
          <a:p>
            <a:r>
              <a:rPr lang="en-US" sz="2400" dirty="0"/>
              <a:t>It is mainly about the use of mathematical algorithms to transform plain, readable data (i.e., plaintext) into an unintelligible data (i.e., ciphertext) and vise versa</a:t>
            </a:r>
            <a:endParaRPr lang="en-US" dirty="0"/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99504F4F-ADC4-4427-AD62-1EDEA48FD741}"/>
              </a:ext>
            </a:extLst>
          </p:cNvPr>
          <p:cNvSpPr txBox="1">
            <a:spLocks/>
          </p:cNvSpPr>
          <p:nvPr/>
        </p:nvSpPr>
        <p:spPr>
          <a:xfrm>
            <a:off x="945364" y="2793644"/>
            <a:ext cx="10301271" cy="203981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fontAlgn="auto">
              <a:spcAft>
                <a:spcPts val="0"/>
              </a:spcAft>
              <a:buClrTx/>
              <a:buSzTx/>
              <a:buNone/>
            </a:pPr>
            <a:r>
              <a:rPr lang="en-US" sz="2400" b="1" dirty="0"/>
              <a:t>Caesar cipher</a:t>
            </a:r>
            <a:r>
              <a:rPr lang="en-US" sz="2400" dirty="0"/>
              <a:t>: an old-fashion substitution cipher where each letter in the plaintext is shifted a certain number of positions down the alphabet.</a:t>
            </a:r>
          </a:p>
          <a:p>
            <a:pPr lvl="2" fontAlgn="auto">
              <a:spcAft>
                <a:spcPts val="0"/>
              </a:spcAft>
              <a:buClrTx/>
              <a:buSzTx/>
            </a:pPr>
            <a:r>
              <a:rPr lang="en-US" sz="2400" dirty="0"/>
              <a:t>ROT3</a:t>
            </a:r>
          </a:p>
          <a:p>
            <a:pPr lvl="3" fontAlgn="auto">
              <a:spcAft>
                <a:spcPts val="0"/>
              </a:spcAft>
              <a:buClrTx/>
              <a:buSzTx/>
            </a:pPr>
            <a:r>
              <a:rPr lang="en-US" sz="2400" dirty="0">
                <a:ea typeface="Courier" charset="0"/>
                <a:cs typeface="Courier" charset="0"/>
              </a:rPr>
              <a:t>plaintext :   HELLO </a:t>
            </a:r>
          </a:p>
          <a:p>
            <a:pPr lvl="3" fontAlgn="auto">
              <a:spcAft>
                <a:spcPts val="0"/>
              </a:spcAft>
              <a:buClrTx/>
              <a:buSzTx/>
            </a:pPr>
            <a:r>
              <a:rPr lang="en-US" sz="2400" dirty="0">
                <a:ea typeface="Courier" charset="0"/>
                <a:cs typeface="Courier" charset="0"/>
              </a:rPr>
              <a:t>ciphertext : KHOOR</a:t>
            </a:r>
          </a:p>
          <a:p>
            <a:pPr fontAlgn="auto">
              <a:spcAft>
                <a:spcPts val="0"/>
              </a:spcAft>
              <a:buClrTx/>
              <a:buSzTx/>
            </a:pPr>
            <a:endParaRPr lang="en-US" sz="2400" dirty="0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C7393093-F1DD-4F3D-AF3C-0A55F4A21CF8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03722" y="3813552"/>
            <a:ext cx="4705350" cy="193899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en-US" altLang="en-US" sz="2400" dirty="0">
                <a:latin typeface="+mn-lt"/>
              </a:rPr>
              <a:t>H becomes K (H → I → J → K)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en-US" altLang="en-US" sz="2400" dirty="0">
                <a:latin typeface="+mn-lt"/>
              </a:rPr>
              <a:t>E becomes H (E → F → G → H)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en-US" altLang="en-US" sz="2400" dirty="0">
                <a:latin typeface="+mn-lt"/>
              </a:rPr>
              <a:t>L becomes O (L →M → N → O)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en-US" altLang="en-US" sz="2400" dirty="0">
                <a:latin typeface="+mn-lt"/>
              </a:rPr>
              <a:t>L becomes O (L → M → N → O)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en-US" altLang="en-US" sz="2400" dirty="0">
                <a:latin typeface="+mn-lt"/>
              </a:rPr>
              <a:t>O becomes R (O → P → Q → R) </a:t>
            </a:r>
          </a:p>
        </p:txBody>
      </p:sp>
    </p:spTree>
    <p:extLst>
      <p:ext uri="{BB962C8B-B14F-4D97-AF65-F5344CB8AC3E}">
        <p14:creationId xmlns:p14="http://schemas.microsoft.com/office/powerpoint/2010/main" val="2305892565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78655" y="95855"/>
            <a:ext cx="4452893" cy="652959"/>
          </a:xfrm>
        </p:spPr>
        <p:txBody>
          <a:bodyPr>
            <a:normAutofit/>
          </a:bodyPr>
          <a:lstStyle/>
          <a:p>
            <a:r>
              <a:rPr lang="en-US" sz="3200" b="1" dirty="0"/>
              <a:t>Cryptography today</a:t>
            </a:r>
            <a:endParaRPr lang="en-US" sz="2800" b="1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78655" y="914400"/>
            <a:ext cx="11434690" cy="5399881"/>
          </a:xfrm>
        </p:spPr>
        <p:txBody>
          <a:bodyPr>
            <a:normAutofit fontScale="92500" lnSpcReduction="20000"/>
          </a:bodyPr>
          <a:lstStyle/>
          <a:p>
            <a:r>
              <a:rPr lang="en-US" sz="2400" dirty="0"/>
              <a:t>Symmetric key cryptography: the same key is used for data transformation.</a:t>
            </a:r>
          </a:p>
          <a:p>
            <a:r>
              <a:rPr lang="en-US" sz="2400" dirty="0"/>
              <a:t> The transformation involve encryption and decryption.</a:t>
            </a:r>
          </a:p>
          <a:p>
            <a:pPr lvl="1"/>
            <a:r>
              <a:rPr lang="en-US" dirty="0"/>
              <a:t>Encryption: takes plaintext and converts it into ciphertext</a:t>
            </a:r>
          </a:p>
          <a:p>
            <a:pPr lvl="1"/>
            <a:r>
              <a:rPr lang="en-US" dirty="0"/>
              <a:t>Decryption: reverses the encryption process</a:t>
            </a:r>
          </a:p>
          <a:p>
            <a:endParaRPr lang="en-US" sz="2400" dirty="0"/>
          </a:p>
          <a:p>
            <a:pPr lvl="1"/>
            <a:endParaRPr lang="en-US" dirty="0">
              <a:solidFill>
                <a:srgbClr val="C00000"/>
              </a:solidFill>
            </a:endParaRPr>
          </a:p>
          <a:p>
            <a:pPr lvl="1"/>
            <a:endParaRPr lang="en-US" dirty="0">
              <a:solidFill>
                <a:srgbClr val="C00000"/>
              </a:solidFill>
            </a:endParaRPr>
          </a:p>
          <a:p>
            <a:pPr lvl="1"/>
            <a:endParaRPr lang="en-US" dirty="0">
              <a:solidFill>
                <a:srgbClr val="C00000"/>
              </a:solidFill>
            </a:endParaRPr>
          </a:p>
          <a:p>
            <a:pPr lvl="1"/>
            <a:endParaRPr lang="en-US" dirty="0">
              <a:solidFill>
                <a:srgbClr val="C00000"/>
              </a:solidFill>
            </a:endParaRPr>
          </a:p>
          <a:p>
            <a:pPr lvl="1"/>
            <a:endParaRPr lang="en-US" dirty="0">
              <a:solidFill>
                <a:srgbClr val="C00000"/>
              </a:solidFill>
            </a:endParaRPr>
          </a:p>
          <a:p>
            <a:pPr lvl="1"/>
            <a:endParaRPr lang="en-US" dirty="0">
              <a:solidFill>
                <a:srgbClr val="C00000"/>
              </a:solidFill>
            </a:endParaRPr>
          </a:p>
          <a:p>
            <a:pPr lvl="1"/>
            <a:endParaRPr lang="en-US" dirty="0">
              <a:solidFill>
                <a:srgbClr val="C00000"/>
              </a:solidFill>
            </a:endParaRPr>
          </a:p>
          <a:p>
            <a:pPr lvl="1"/>
            <a:endParaRPr lang="en-US" dirty="0">
              <a:solidFill>
                <a:srgbClr val="C00000"/>
              </a:solidFill>
            </a:endParaRPr>
          </a:p>
          <a:p>
            <a:pPr lvl="1"/>
            <a:endParaRPr lang="en-US" dirty="0">
              <a:solidFill>
                <a:srgbClr val="C00000"/>
              </a:solidFill>
            </a:endParaRPr>
          </a:p>
          <a:p>
            <a:pPr marL="457200" lvl="1" indent="0">
              <a:buNone/>
            </a:pPr>
            <a:endParaRPr lang="en-US" dirty="0">
              <a:solidFill>
                <a:srgbClr val="C00000"/>
              </a:solidFill>
            </a:endParaRPr>
          </a:p>
          <a:p>
            <a:pPr lvl="1"/>
            <a:endParaRPr lang="en-US" dirty="0">
              <a:solidFill>
                <a:srgbClr val="C00000"/>
              </a:solidFill>
            </a:endParaRPr>
          </a:p>
          <a:p>
            <a:pPr lvl="1"/>
            <a:r>
              <a:rPr lang="en-US" dirty="0">
                <a:solidFill>
                  <a:srgbClr val="C00000"/>
                </a:solidFill>
              </a:rPr>
              <a:t>Examples?</a:t>
            </a:r>
          </a:p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78F1C2A-D8FA-49CD-9769-6123FCD335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05101" y="2369621"/>
            <a:ext cx="7177467" cy="30609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2280736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9009" y="168327"/>
            <a:ext cx="4452893" cy="859082"/>
          </a:xfrm>
        </p:spPr>
        <p:txBody>
          <a:bodyPr>
            <a:normAutofit/>
          </a:bodyPr>
          <a:lstStyle/>
          <a:p>
            <a:r>
              <a:rPr lang="en-US" sz="3200" b="1" dirty="0"/>
              <a:t>Cryptography today</a:t>
            </a:r>
            <a:endParaRPr lang="en-US" sz="2800" b="1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35399" y="1042269"/>
            <a:ext cx="11721202" cy="5399881"/>
          </a:xfrm>
        </p:spPr>
        <p:txBody>
          <a:bodyPr>
            <a:normAutofit/>
          </a:bodyPr>
          <a:lstStyle/>
          <a:p>
            <a:r>
              <a:rPr lang="en-US" sz="2400" dirty="0"/>
              <a:t>Symmetric key cryptography: the same key is used for data transformation. </a:t>
            </a:r>
          </a:p>
          <a:p>
            <a:pPr lvl="1"/>
            <a:endParaRPr lang="en-US" dirty="0">
              <a:solidFill>
                <a:srgbClr val="C00000"/>
              </a:solidFill>
            </a:endParaRPr>
          </a:p>
          <a:p>
            <a:pPr lvl="1"/>
            <a:endParaRPr lang="en-US" dirty="0">
              <a:solidFill>
                <a:srgbClr val="C00000"/>
              </a:solidFill>
            </a:endParaRPr>
          </a:p>
          <a:p>
            <a:pPr lvl="1"/>
            <a:endParaRPr lang="en-US" dirty="0">
              <a:solidFill>
                <a:srgbClr val="C00000"/>
              </a:solidFill>
            </a:endParaRPr>
          </a:p>
          <a:p>
            <a:pPr lvl="1"/>
            <a:endParaRPr lang="en-US" dirty="0">
              <a:solidFill>
                <a:srgbClr val="C00000"/>
              </a:solidFill>
            </a:endParaRPr>
          </a:p>
          <a:p>
            <a:pPr lvl="1"/>
            <a:endParaRPr lang="en-US" dirty="0">
              <a:solidFill>
                <a:srgbClr val="C00000"/>
              </a:solidFill>
            </a:endParaRPr>
          </a:p>
          <a:p>
            <a:pPr lvl="1"/>
            <a:endParaRPr lang="en-US" dirty="0">
              <a:solidFill>
                <a:srgbClr val="C00000"/>
              </a:solidFill>
            </a:endParaRPr>
          </a:p>
          <a:p>
            <a:pPr lvl="1"/>
            <a:endParaRPr lang="en-US" dirty="0">
              <a:solidFill>
                <a:srgbClr val="C00000"/>
              </a:solidFill>
            </a:endParaRPr>
          </a:p>
          <a:p>
            <a:pPr marL="457200" lvl="1" indent="0">
              <a:buNone/>
            </a:pPr>
            <a:endParaRPr lang="en-US" dirty="0">
              <a:solidFill>
                <a:srgbClr val="C00000"/>
              </a:solidFill>
            </a:endParaRPr>
          </a:p>
          <a:p>
            <a:pPr marL="457200" lvl="1" indent="0">
              <a:buNone/>
            </a:pPr>
            <a:endParaRPr lang="en-US" dirty="0">
              <a:solidFill>
                <a:srgbClr val="C00000"/>
              </a:solidFill>
            </a:endParaRPr>
          </a:p>
          <a:p>
            <a:pPr lvl="1"/>
            <a:endParaRPr lang="en-US" dirty="0">
              <a:solidFill>
                <a:srgbClr val="C00000"/>
              </a:solidFill>
            </a:endParaRPr>
          </a:p>
          <a:p>
            <a:pPr lvl="1"/>
            <a:r>
              <a:rPr lang="en-US" dirty="0">
                <a:solidFill>
                  <a:srgbClr val="C00000"/>
                </a:solidFill>
              </a:rPr>
              <a:t>Examples: </a:t>
            </a:r>
            <a:r>
              <a:rPr lang="en-US" dirty="0"/>
              <a:t>DES (insecure), AES (</a:t>
            </a:r>
            <a:r>
              <a:rPr lang="en-AU" sz="2400" dirty="0"/>
              <a:t>AES-128, AES-192, AES-256)</a:t>
            </a:r>
            <a:r>
              <a:rPr lang="en-US" dirty="0"/>
              <a:t>.</a:t>
            </a:r>
          </a:p>
          <a:p>
            <a:pPr lvl="1"/>
            <a:r>
              <a:rPr lang="en-US" dirty="0"/>
              <a:t>Applications: data (file, network packets) encryption (AES-256 used by S3)</a:t>
            </a:r>
          </a:p>
          <a:p>
            <a:pPr lvl="1"/>
            <a:endParaRPr lang="en-US" dirty="0">
              <a:solidFill>
                <a:srgbClr val="C00000"/>
              </a:solidFill>
            </a:endParaRPr>
          </a:p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78F1C2A-D8FA-49CD-9769-6123FCD335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28708" y="1907675"/>
            <a:ext cx="7134584" cy="30426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3040449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59664" y="108073"/>
            <a:ext cx="4452893" cy="859082"/>
          </a:xfrm>
        </p:spPr>
        <p:txBody>
          <a:bodyPr>
            <a:normAutofit/>
          </a:bodyPr>
          <a:lstStyle/>
          <a:p>
            <a:r>
              <a:rPr lang="en-US" sz="3200" b="1" dirty="0"/>
              <a:t>Cryptography today</a:t>
            </a:r>
            <a:endParaRPr lang="en-US" sz="2800" b="1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9664" y="967155"/>
            <a:ext cx="11564112" cy="5404656"/>
          </a:xfrm>
        </p:spPr>
        <p:txBody>
          <a:bodyPr>
            <a:normAutofit/>
          </a:bodyPr>
          <a:lstStyle/>
          <a:p>
            <a:r>
              <a:rPr lang="en-US" sz="2400" dirty="0"/>
              <a:t>Symmetric key cryptography: the same key is used for encryption and decryption of data. </a:t>
            </a:r>
          </a:p>
          <a:p>
            <a:r>
              <a:rPr lang="en-US" sz="2400" dirty="0"/>
              <a:t>Asymmetric key cryptography (public key cryptography): a pair of distinct keys is used for encryption and decryption. </a:t>
            </a:r>
          </a:p>
          <a:p>
            <a:pPr lvl="1"/>
            <a:endParaRPr lang="en-US" dirty="0">
              <a:solidFill>
                <a:srgbClr val="C00000"/>
              </a:solidFill>
            </a:endParaRPr>
          </a:p>
          <a:p>
            <a:pPr lvl="1"/>
            <a:endParaRPr lang="en-US" dirty="0">
              <a:solidFill>
                <a:srgbClr val="C00000"/>
              </a:solidFill>
            </a:endParaRPr>
          </a:p>
          <a:p>
            <a:pPr lvl="1"/>
            <a:endParaRPr lang="en-US" dirty="0">
              <a:solidFill>
                <a:srgbClr val="C00000"/>
              </a:solidFill>
            </a:endParaRPr>
          </a:p>
          <a:p>
            <a:pPr lvl="1"/>
            <a:endParaRPr lang="en-US" dirty="0">
              <a:solidFill>
                <a:srgbClr val="C00000"/>
              </a:solidFill>
            </a:endParaRPr>
          </a:p>
          <a:p>
            <a:pPr lvl="1"/>
            <a:endParaRPr lang="en-US" dirty="0">
              <a:solidFill>
                <a:srgbClr val="C00000"/>
              </a:solidFill>
            </a:endParaRPr>
          </a:p>
          <a:p>
            <a:pPr lvl="1"/>
            <a:endParaRPr lang="en-US" dirty="0">
              <a:solidFill>
                <a:srgbClr val="C00000"/>
              </a:solidFill>
            </a:endParaRPr>
          </a:p>
          <a:p>
            <a:pPr lvl="1"/>
            <a:endParaRPr lang="en-US" dirty="0">
              <a:solidFill>
                <a:srgbClr val="C00000"/>
              </a:solidFill>
            </a:endParaRPr>
          </a:p>
          <a:p>
            <a:pPr lvl="1"/>
            <a:endParaRPr lang="en-US" dirty="0">
              <a:solidFill>
                <a:srgbClr val="C00000"/>
              </a:solidFill>
            </a:endParaRPr>
          </a:p>
          <a:p>
            <a:pPr lvl="1"/>
            <a:r>
              <a:rPr lang="en-US" dirty="0">
                <a:solidFill>
                  <a:srgbClr val="C00000"/>
                </a:solidFill>
              </a:rPr>
              <a:t>Examples?</a:t>
            </a:r>
          </a:p>
          <a:p>
            <a:pPr marL="457200" lvl="1" indent="0">
              <a:buNone/>
            </a:pPr>
            <a:endParaRPr lang="en-US" sz="2000" dirty="0"/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2991398-964D-41DD-8C09-FC0560ED2F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35808" y="2404870"/>
            <a:ext cx="6670755" cy="29184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9054386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0798" y="108073"/>
            <a:ext cx="4452893" cy="859082"/>
          </a:xfrm>
        </p:spPr>
        <p:txBody>
          <a:bodyPr>
            <a:normAutofit/>
          </a:bodyPr>
          <a:lstStyle/>
          <a:p>
            <a:r>
              <a:rPr lang="en-US" sz="3200" b="1" dirty="0"/>
              <a:t>Cryptography today</a:t>
            </a:r>
            <a:endParaRPr lang="en-US" sz="2800" b="1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0798" y="1037494"/>
            <a:ext cx="11544418" cy="5404656"/>
          </a:xfrm>
        </p:spPr>
        <p:txBody>
          <a:bodyPr>
            <a:normAutofit lnSpcReduction="10000"/>
          </a:bodyPr>
          <a:lstStyle/>
          <a:p>
            <a:r>
              <a:rPr lang="en-US" sz="2400" dirty="0"/>
              <a:t>Symmetric key cryptography: the same key is used for encryption and decryption of data. </a:t>
            </a:r>
          </a:p>
          <a:p>
            <a:r>
              <a:rPr lang="en-US" sz="2400" dirty="0"/>
              <a:t>Asymmetric key cryptography (public key cryptography): a pair of distinct keys is used for encryption and decryption. </a:t>
            </a:r>
          </a:p>
          <a:p>
            <a:pPr lvl="1"/>
            <a:endParaRPr lang="en-US" dirty="0">
              <a:solidFill>
                <a:srgbClr val="C00000"/>
              </a:solidFill>
            </a:endParaRPr>
          </a:p>
          <a:p>
            <a:pPr lvl="1"/>
            <a:endParaRPr lang="en-US" dirty="0">
              <a:solidFill>
                <a:srgbClr val="C00000"/>
              </a:solidFill>
            </a:endParaRPr>
          </a:p>
          <a:p>
            <a:pPr lvl="1"/>
            <a:endParaRPr lang="en-US" dirty="0">
              <a:solidFill>
                <a:srgbClr val="C00000"/>
              </a:solidFill>
            </a:endParaRPr>
          </a:p>
          <a:p>
            <a:pPr lvl="1"/>
            <a:endParaRPr lang="en-US" dirty="0">
              <a:solidFill>
                <a:srgbClr val="C00000"/>
              </a:solidFill>
            </a:endParaRPr>
          </a:p>
          <a:p>
            <a:pPr lvl="1"/>
            <a:endParaRPr lang="en-US" dirty="0">
              <a:solidFill>
                <a:srgbClr val="C00000"/>
              </a:solidFill>
            </a:endParaRPr>
          </a:p>
          <a:p>
            <a:pPr lvl="1"/>
            <a:endParaRPr lang="en-US" dirty="0">
              <a:solidFill>
                <a:srgbClr val="C00000"/>
              </a:solidFill>
            </a:endParaRPr>
          </a:p>
          <a:p>
            <a:pPr marL="457200" lvl="1" indent="0">
              <a:buNone/>
            </a:pPr>
            <a:endParaRPr lang="en-US" dirty="0">
              <a:solidFill>
                <a:srgbClr val="C00000"/>
              </a:solidFill>
            </a:endParaRPr>
          </a:p>
          <a:p>
            <a:pPr marL="457200" lvl="1" indent="0">
              <a:buNone/>
            </a:pPr>
            <a:endParaRPr lang="en-US" dirty="0">
              <a:solidFill>
                <a:srgbClr val="C00000"/>
              </a:solidFill>
            </a:endParaRPr>
          </a:p>
          <a:p>
            <a:pPr lvl="1"/>
            <a:endParaRPr lang="en-US" dirty="0">
              <a:solidFill>
                <a:srgbClr val="C00000"/>
              </a:solidFill>
            </a:endParaRPr>
          </a:p>
          <a:p>
            <a:pPr lvl="1"/>
            <a:r>
              <a:rPr lang="en-US" dirty="0">
                <a:solidFill>
                  <a:srgbClr val="C00000"/>
                </a:solidFill>
              </a:rPr>
              <a:t>Examples:</a:t>
            </a:r>
            <a:r>
              <a:rPr lang="en-AU" dirty="0">
                <a:solidFill>
                  <a:srgbClr val="C00000"/>
                </a:solidFill>
              </a:rPr>
              <a:t> </a:t>
            </a:r>
            <a:r>
              <a:rPr lang="en-US" dirty="0"/>
              <a:t>RSA</a:t>
            </a:r>
            <a:r>
              <a:rPr lang="en-AU" dirty="0"/>
              <a:t>,</a:t>
            </a:r>
            <a:r>
              <a:rPr lang="zh-CN" altLang="en-US" dirty="0"/>
              <a:t> </a:t>
            </a:r>
            <a:r>
              <a:rPr lang="en-AU" altLang="zh-CN" dirty="0"/>
              <a:t>ED25519</a:t>
            </a:r>
            <a:endParaRPr lang="en-AU" dirty="0"/>
          </a:p>
          <a:p>
            <a:pPr lvl="1"/>
            <a:r>
              <a:rPr lang="en-US" dirty="0"/>
              <a:t>Application: remote authentication (SSH communication), digital signature (DocuSign)</a:t>
            </a:r>
          </a:p>
          <a:p>
            <a:pPr lvl="1"/>
            <a:endParaRPr lang="en-US" dirty="0">
              <a:solidFill>
                <a:srgbClr val="C00000"/>
              </a:solidFill>
            </a:endParaRPr>
          </a:p>
          <a:p>
            <a:pPr marL="457200" lvl="1" indent="0">
              <a:buNone/>
            </a:pPr>
            <a:endParaRPr lang="en-US" sz="2000" dirty="0"/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2991398-964D-41DD-8C09-FC0560ED2F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89925" y="2326370"/>
            <a:ext cx="6506163" cy="2846446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31B766B6-1FF9-4645-9C86-89007D426304}"/>
              </a:ext>
            </a:extLst>
          </p:cNvPr>
          <p:cNvSpPr txBox="1"/>
          <p:nvPr/>
        </p:nvSpPr>
        <p:spPr>
          <a:xfrm>
            <a:off x="4346212" y="6442150"/>
            <a:ext cx="784578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AU" sz="1400" dirty="0">
                <a:latin typeface="+mn-lt"/>
              </a:rPr>
              <a:t>https://www.cisco.com/c/en/us/products/security/encryption-explained.html#~encryption-algorithms</a:t>
            </a:r>
          </a:p>
        </p:txBody>
      </p:sp>
    </p:spTree>
    <p:extLst>
      <p:ext uri="{BB962C8B-B14F-4D97-AF65-F5344CB8AC3E}">
        <p14:creationId xmlns:p14="http://schemas.microsoft.com/office/powerpoint/2010/main" val="3048608888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80183" y="103910"/>
            <a:ext cx="4452893" cy="624910"/>
          </a:xfrm>
        </p:spPr>
        <p:txBody>
          <a:bodyPr>
            <a:normAutofit/>
          </a:bodyPr>
          <a:lstStyle/>
          <a:p>
            <a:r>
              <a:rPr lang="en-US" sz="3200" b="1" dirty="0"/>
              <a:t>Cryptography today</a:t>
            </a:r>
            <a:endParaRPr lang="en-US" sz="2800" b="1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04800" y="1002672"/>
            <a:ext cx="11831633" cy="1533735"/>
          </a:xfrm>
        </p:spPr>
        <p:txBody>
          <a:bodyPr>
            <a:normAutofit/>
          </a:bodyPr>
          <a:lstStyle/>
          <a:p>
            <a:r>
              <a:rPr lang="en-US" sz="2400" dirty="0"/>
              <a:t>Symmetric key cryptography</a:t>
            </a:r>
          </a:p>
          <a:p>
            <a:r>
              <a:rPr lang="en-US" sz="2400" dirty="0"/>
              <a:t>Asymmetric key cryptography</a:t>
            </a:r>
            <a:endParaRPr lang="en-US" sz="2400" dirty="0">
              <a:solidFill>
                <a:srgbClr val="C00000"/>
              </a:solidFill>
            </a:endParaRPr>
          </a:p>
          <a:p>
            <a:pPr lvl="2"/>
            <a:endParaRPr lang="en-US" sz="2400" dirty="0">
              <a:solidFill>
                <a:srgbClr val="C00000"/>
              </a:solidFill>
            </a:endParaRPr>
          </a:p>
          <a:p>
            <a:pPr lvl="2"/>
            <a:endParaRPr lang="en-US" sz="2400" dirty="0">
              <a:solidFill>
                <a:srgbClr val="C00000"/>
              </a:solidFill>
            </a:endParaRPr>
          </a:p>
          <a:p>
            <a:pPr lvl="2"/>
            <a:endParaRPr lang="en-US" sz="2400" dirty="0">
              <a:solidFill>
                <a:srgbClr val="C00000"/>
              </a:solidFill>
            </a:endParaRPr>
          </a:p>
          <a:p>
            <a:pPr lvl="2"/>
            <a:endParaRPr lang="en-US" sz="2400" dirty="0">
              <a:solidFill>
                <a:srgbClr val="C00000"/>
              </a:solidFill>
            </a:endParaRPr>
          </a:p>
          <a:p>
            <a:pPr lvl="2"/>
            <a:endParaRPr lang="en-US" sz="2400" dirty="0">
              <a:solidFill>
                <a:srgbClr val="C00000"/>
              </a:solidFill>
            </a:endParaRPr>
          </a:p>
          <a:p>
            <a:pPr lvl="2"/>
            <a:endParaRPr lang="en-US" sz="2400" dirty="0">
              <a:solidFill>
                <a:srgbClr val="C00000"/>
              </a:solidFill>
            </a:endParaRPr>
          </a:p>
          <a:p>
            <a:pPr marL="914400" lvl="2" indent="0">
              <a:buNone/>
            </a:pPr>
            <a:endParaRPr lang="en-US" sz="2400" dirty="0">
              <a:solidFill>
                <a:srgbClr val="C00000"/>
              </a:solidFill>
            </a:endParaRPr>
          </a:p>
          <a:p>
            <a:pPr lvl="2"/>
            <a:endParaRPr lang="en-US" sz="2400" dirty="0">
              <a:solidFill>
                <a:srgbClr val="C00000"/>
              </a:solidFill>
            </a:endParaRPr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CA10E97-1F01-4865-859B-855C1D4669E2}"/>
              </a:ext>
            </a:extLst>
          </p:cNvPr>
          <p:cNvSpPr txBox="1"/>
          <p:nvPr/>
        </p:nvSpPr>
        <p:spPr>
          <a:xfrm>
            <a:off x="304800" y="2262555"/>
            <a:ext cx="98044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2400" dirty="0">
                <a:solidFill>
                  <a:srgbClr val="FF0000"/>
                </a:solidFill>
                <a:latin typeface="+mn-lt"/>
              </a:rPr>
              <a:t>Which aspect of the CIA triad do the cryptography techniques above protect?</a:t>
            </a:r>
            <a:endParaRPr lang="en-AU" sz="2400" dirty="0">
              <a:solidFill>
                <a:srgbClr val="FF0000"/>
              </a:solidFill>
              <a:latin typeface="+mn-lt"/>
            </a:endParaRPr>
          </a:p>
        </p:txBody>
      </p:sp>
      <p:pic>
        <p:nvPicPr>
          <p:cNvPr id="5" name="Picture 2" descr="Related image">
            <a:extLst>
              <a:ext uri="{FF2B5EF4-FFF2-40B4-BE49-F238E27FC236}">
                <a16:creationId xmlns:a16="http://schemas.microsoft.com/office/drawing/2014/main" id="{478D5D2F-A814-4C6F-AB54-B68F0A66999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2259038" y="3229543"/>
            <a:ext cx="1056639" cy="12565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6D0A2A2-81A9-4194-BF6E-AAEA5457C75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53867" y="4766789"/>
            <a:ext cx="1056640" cy="122936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57FD0796-6020-4385-BE70-2B4CE4AA77D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89945" y="3238797"/>
            <a:ext cx="1249312" cy="1229360"/>
          </a:xfrm>
          <a:prstGeom prst="rect">
            <a:avLst/>
          </a:prstGeom>
        </p:spPr>
      </p:pic>
      <p:sp>
        <p:nvSpPr>
          <p:cNvPr id="9" name="Title 1">
            <a:extLst>
              <a:ext uri="{FF2B5EF4-FFF2-40B4-BE49-F238E27FC236}">
                <a16:creationId xmlns:a16="http://schemas.microsoft.com/office/drawing/2014/main" id="{19B491C5-9ED7-4F2D-8CD8-2DEE5D5A5D09}"/>
              </a:ext>
            </a:extLst>
          </p:cNvPr>
          <p:cNvSpPr txBox="1">
            <a:spLocks/>
          </p:cNvSpPr>
          <p:nvPr/>
        </p:nvSpPr>
        <p:spPr>
          <a:xfrm>
            <a:off x="1954420" y="4440051"/>
            <a:ext cx="1665874" cy="756915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j-lt"/>
                <a:ea typeface="+mj-ea"/>
                <a:cs typeface="Trebuchet M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AU" sz="24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Alice</a:t>
            </a: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73FABE0C-08C5-4A95-B6A5-A580E871026A}"/>
              </a:ext>
            </a:extLst>
          </p:cNvPr>
          <p:cNvSpPr txBox="1">
            <a:spLocks/>
          </p:cNvSpPr>
          <p:nvPr/>
        </p:nvSpPr>
        <p:spPr>
          <a:xfrm>
            <a:off x="7427872" y="4440050"/>
            <a:ext cx="1704980" cy="756915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j-lt"/>
                <a:ea typeface="+mj-ea"/>
                <a:cs typeface="Trebuchet M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AU" sz="24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Bob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C170C69F-ACE3-4B37-906E-A5F6279A6D6A}"/>
              </a:ext>
            </a:extLst>
          </p:cNvPr>
          <p:cNvCxnSpPr>
            <a:cxnSpLocks/>
            <a:stCxn id="7" idx="0"/>
            <a:endCxn id="12" idx="2"/>
          </p:cNvCxnSpPr>
          <p:nvPr/>
        </p:nvCxnSpPr>
        <p:spPr>
          <a:xfrm flipV="1">
            <a:off x="5482187" y="4151052"/>
            <a:ext cx="0" cy="615737"/>
          </a:xfrm>
          <a:prstGeom prst="straightConnector1">
            <a:avLst/>
          </a:prstGeom>
          <a:ln w="317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1AC03B0E-7022-48AD-9D9C-BAF9EE059207}"/>
              </a:ext>
            </a:extLst>
          </p:cNvPr>
          <p:cNvSpPr/>
          <p:nvPr/>
        </p:nvSpPr>
        <p:spPr>
          <a:xfrm>
            <a:off x="4067408" y="3552302"/>
            <a:ext cx="2829558" cy="598750"/>
          </a:xfrm>
          <a:prstGeom prst="roundRect">
            <a:avLst/>
          </a:prstGeom>
          <a:solidFill>
            <a:schemeClr val="tx1">
              <a:alpha val="50196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400" dirty="0">
                <a:solidFill>
                  <a:schemeClr val="tx1"/>
                </a:solidFill>
              </a:rPr>
              <a:t>Secure Channel</a:t>
            </a:r>
          </a:p>
        </p:txBody>
      </p:sp>
      <p:sp>
        <p:nvSpPr>
          <p:cNvPr id="13" name="Title 1">
            <a:extLst>
              <a:ext uri="{FF2B5EF4-FFF2-40B4-BE49-F238E27FC236}">
                <a16:creationId xmlns:a16="http://schemas.microsoft.com/office/drawing/2014/main" id="{07028910-4132-4FF1-9D1F-E01B9CDCAD56}"/>
              </a:ext>
            </a:extLst>
          </p:cNvPr>
          <p:cNvSpPr txBox="1">
            <a:spLocks/>
          </p:cNvSpPr>
          <p:nvPr/>
        </p:nvSpPr>
        <p:spPr>
          <a:xfrm>
            <a:off x="4416331" y="5968223"/>
            <a:ext cx="2184295" cy="756915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j-lt"/>
                <a:ea typeface="+mj-ea"/>
                <a:cs typeface="Trebuchet M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AU" sz="24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Attacker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C7958E04-5729-402E-8441-F5F1D519BF6D}"/>
              </a:ext>
            </a:extLst>
          </p:cNvPr>
          <p:cNvCxnSpPr>
            <a:cxnSpLocks/>
            <a:stCxn id="5" idx="3"/>
            <a:endCxn id="12" idx="1"/>
          </p:cNvCxnSpPr>
          <p:nvPr/>
        </p:nvCxnSpPr>
        <p:spPr>
          <a:xfrm flipV="1">
            <a:off x="3315677" y="3851677"/>
            <a:ext cx="751731" cy="6139"/>
          </a:xfrm>
          <a:prstGeom prst="straightConnector1">
            <a:avLst/>
          </a:prstGeom>
          <a:ln w="38100">
            <a:solidFill>
              <a:srgbClr val="FF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FD7F2160-D20C-451F-A256-C65DB44916EF}"/>
              </a:ext>
            </a:extLst>
          </p:cNvPr>
          <p:cNvCxnSpPr>
            <a:cxnSpLocks/>
            <a:stCxn id="12" idx="3"/>
            <a:endCxn id="8" idx="1"/>
          </p:cNvCxnSpPr>
          <p:nvPr/>
        </p:nvCxnSpPr>
        <p:spPr>
          <a:xfrm>
            <a:off x="6896966" y="3851677"/>
            <a:ext cx="692979" cy="1800"/>
          </a:xfrm>
          <a:prstGeom prst="straightConnector1">
            <a:avLst/>
          </a:prstGeom>
          <a:ln w="38100">
            <a:solidFill>
              <a:srgbClr val="FF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3376742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73304" y="349121"/>
            <a:ext cx="8242005" cy="634335"/>
          </a:xfrm>
        </p:spPr>
        <p:txBody>
          <a:bodyPr>
            <a:normAutofit/>
          </a:bodyPr>
          <a:lstStyle/>
          <a:p>
            <a:r>
              <a:rPr lang="en-US" sz="3200" b="1" dirty="0"/>
              <a:t>What is IAM (identity access management)?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73304" y="1299411"/>
            <a:ext cx="10645391" cy="4824942"/>
          </a:xfrm>
        </p:spPr>
        <p:txBody>
          <a:bodyPr>
            <a:normAutofit/>
          </a:bodyPr>
          <a:lstStyle/>
          <a:p>
            <a:pPr>
              <a:defRPr/>
            </a:pPr>
            <a:r>
              <a:rPr lang="en-US" sz="2400" dirty="0">
                <a:solidFill>
                  <a:srgbClr val="16191F"/>
                </a:solidFill>
              </a:rPr>
              <a:t>It is</a:t>
            </a:r>
            <a:r>
              <a:rPr lang="en-US" sz="2400" b="0" i="0" dirty="0">
                <a:solidFill>
                  <a:srgbClr val="16191F"/>
                </a:solidFill>
                <a:effectLst/>
              </a:rPr>
              <a:t> a service that helps us securely control access to AWS resources. </a:t>
            </a:r>
            <a:endParaRPr lang="en-AU" sz="2400" dirty="0"/>
          </a:p>
          <a:p>
            <a:pPr>
              <a:defRPr/>
            </a:pPr>
            <a:r>
              <a:rPr lang="en-AU" sz="2400" dirty="0"/>
              <a:t>It is used to control </a:t>
            </a:r>
            <a:r>
              <a:rPr lang="en-US" sz="2400" b="0" i="0" dirty="0">
                <a:solidFill>
                  <a:srgbClr val="16191F"/>
                </a:solidFill>
                <a:effectLst/>
              </a:rPr>
              <a:t>who is authenticated (signed in) and authorized (has permissions) to use AWS resources.</a:t>
            </a:r>
          </a:p>
          <a:p>
            <a:pPr marL="0" indent="0">
              <a:buNone/>
              <a:defRPr/>
            </a:pPr>
            <a:endParaRPr lang="en-AU" sz="2400" dirty="0"/>
          </a:p>
          <a:p>
            <a:pPr>
              <a:defRPr/>
            </a:pPr>
            <a:endParaRPr lang="en-AU" sz="2400" dirty="0"/>
          </a:p>
          <a:p>
            <a:pPr>
              <a:defRPr/>
            </a:pPr>
            <a:endParaRPr lang="en-AU" sz="24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CFA79EF-2B18-42D5-988E-51061AD8001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7691" y="2307345"/>
            <a:ext cx="4219311" cy="381700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ABF3C21-F117-4C68-99C9-0832D234D817}"/>
              </a:ext>
            </a:extLst>
          </p:cNvPr>
          <p:cNvSpPr txBox="1"/>
          <p:nvPr/>
        </p:nvSpPr>
        <p:spPr>
          <a:xfrm>
            <a:off x="1060699" y="2891960"/>
            <a:ext cx="5299597" cy="13238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7000"/>
              </a:lnSpc>
              <a:spcAft>
                <a:spcPts val="800"/>
              </a:spcAft>
            </a:pPr>
            <a:r>
              <a:rPr lang="en-US" sz="2400" b="1" dirty="0">
                <a:solidFill>
                  <a:srgbClr val="16191F"/>
                </a:solidFill>
                <a:latin typeface="+mn-lt"/>
              </a:rPr>
              <a:t>Root user</a:t>
            </a:r>
            <a:r>
              <a:rPr lang="en-US" sz="2400" dirty="0">
                <a:solidFill>
                  <a:srgbClr val="16191F"/>
                </a:solidFill>
                <a:latin typeface="+mn-lt"/>
              </a:rPr>
              <a:t>: complete access to all AWS resources in the account</a:t>
            </a:r>
          </a:p>
          <a:p>
            <a:pPr algn="l">
              <a:lnSpc>
                <a:spcPct val="107000"/>
              </a:lnSpc>
              <a:spcAft>
                <a:spcPts val="800"/>
              </a:spcAft>
            </a:pPr>
            <a:endParaRPr lang="en-US" sz="1800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590366965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93F8D7-86BD-1F45-AFCF-101895A32B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4542" y="154152"/>
            <a:ext cx="3627474" cy="582451"/>
          </a:xfrm>
        </p:spPr>
        <p:txBody>
          <a:bodyPr>
            <a:normAutofit/>
          </a:bodyPr>
          <a:lstStyle/>
          <a:p>
            <a:r>
              <a:rPr lang="en-US" sz="3200" b="1" dirty="0"/>
              <a:t>IAM identity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E16A9C-2324-5945-B4B8-0E9FCC57A6F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4542" y="922033"/>
            <a:ext cx="11282916" cy="5013933"/>
          </a:xfrm>
        </p:spPr>
        <p:txBody>
          <a:bodyPr>
            <a:normAutofit/>
          </a:bodyPr>
          <a:lstStyle/>
          <a:p>
            <a:r>
              <a:rPr lang="en-US" sz="2200" b="1" dirty="0"/>
              <a:t>IAM user</a:t>
            </a:r>
            <a:r>
              <a:rPr lang="en-US" sz="2200" dirty="0"/>
              <a:t>: an identity within a root user account that has specific permissions for a single person or application:</a:t>
            </a:r>
          </a:p>
          <a:p>
            <a:pPr lvl="1"/>
            <a:r>
              <a:rPr lang="en-US" sz="2200" dirty="0"/>
              <a:t>Each user has an ARN:</a:t>
            </a:r>
          </a:p>
          <a:p>
            <a:pPr marL="457200" lvl="1" indent="0">
              <a:buNone/>
            </a:pPr>
            <a:r>
              <a:rPr lang="en-AU" sz="2200" dirty="0">
                <a:solidFill>
                  <a:srgbClr val="16191F"/>
                </a:solidFill>
              </a:rPr>
              <a:t>	e.g., </a:t>
            </a:r>
            <a:r>
              <a:rPr lang="en-AU" sz="2200" b="0" i="0" u="sng" dirty="0" err="1">
                <a:solidFill>
                  <a:srgbClr val="16191F"/>
                </a:solidFill>
                <a:effectLst/>
              </a:rPr>
              <a:t>arn:aws:iam</a:t>
            </a:r>
            <a:r>
              <a:rPr lang="en-AU" sz="2200" b="0" i="0" u="sng" dirty="0">
                <a:solidFill>
                  <a:srgbClr val="16191F"/>
                </a:solidFill>
                <a:effectLst/>
              </a:rPr>
              <a:t>::489389878001</a:t>
            </a:r>
            <a:r>
              <a:rPr lang="en-AU" sz="2200" b="0" i="0" dirty="0">
                <a:solidFill>
                  <a:srgbClr val="16191F"/>
                </a:solidFill>
                <a:effectLst/>
              </a:rPr>
              <a:t>:</a:t>
            </a:r>
            <a:r>
              <a:rPr lang="en-AU" sz="2200" b="0" i="0" u="sng" dirty="0">
                <a:solidFill>
                  <a:srgbClr val="16191F"/>
                </a:solidFill>
                <a:effectLst/>
              </a:rPr>
              <a:t>user/12345678@student.uwa.edu.au</a:t>
            </a:r>
          </a:p>
          <a:p>
            <a:pPr lvl="1"/>
            <a:endParaRPr lang="en-AU" sz="2200" u="sng" dirty="0">
              <a:solidFill>
                <a:srgbClr val="16191F"/>
              </a:solidFill>
            </a:endParaRPr>
          </a:p>
          <a:p>
            <a:r>
              <a:rPr lang="en-US" sz="2200" b="1" dirty="0"/>
              <a:t>IAM user group</a:t>
            </a:r>
            <a:r>
              <a:rPr lang="en-US" sz="2200" dirty="0"/>
              <a:t>: an identity that specifies a set of IAM users:</a:t>
            </a:r>
          </a:p>
          <a:p>
            <a:pPr lvl="1"/>
            <a:r>
              <a:rPr lang="en-AU" sz="2200" dirty="0"/>
              <a:t>Users within the same group are given the same set of permissions.</a:t>
            </a:r>
          </a:p>
          <a:p>
            <a:pPr lvl="1"/>
            <a:r>
              <a:rPr lang="en-AU" sz="2200" dirty="0"/>
              <a:t>Users can belong to different groups.</a:t>
            </a:r>
          </a:p>
          <a:p>
            <a:pPr lvl="1"/>
            <a:r>
              <a:rPr lang="en-AU" sz="2200" dirty="0"/>
              <a:t>Each group has an ARN, e.g., </a:t>
            </a:r>
            <a:r>
              <a:rPr lang="en-US" sz="2200" dirty="0" err="1"/>
              <a:t>arn:aws:iam</a:t>
            </a:r>
            <a:r>
              <a:rPr lang="en-US" sz="2200" dirty="0"/>
              <a:t>::489389878001:group/admins</a:t>
            </a:r>
          </a:p>
          <a:p>
            <a:pPr marL="457200" lvl="1" indent="0">
              <a:buNone/>
            </a:pPr>
            <a:endParaRPr lang="en-AU" sz="2200" dirty="0"/>
          </a:p>
          <a:p>
            <a:pPr marL="914400" lvl="2" indent="0">
              <a:buNone/>
            </a:pPr>
            <a:endParaRPr lang="en-US" sz="2400" u="sng" dirty="0"/>
          </a:p>
          <a:p>
            <a:pPr lvl="1"/>
            <a:endParaRPr lang="en-US" u="sng" dirty="0"/>
          </a:p>
          <a:p>
            <a:pPr marL="457200" lvl="1" indent="0">
              <a:buNone/>
            </a:pPr>
            <a:endParaRPr lang="en-US" u="sng" dirty="0"/>
          </a:p>
        </p:txBody>
      </p:sp>
    </p:spTree>
    <p:extLst>
      <p:ext uri="{BB962C8B-B14F-4D97-AF65-F5344CB8AC3E}">
        <p14:creationId xmlns:p14="http://schemas.microsoft.com/office/powerpoint/2010/main" val="1049597773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93F8D7-86BD-1F45-AFCF-101895A32B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4542" y="154152"/>
            <a:ext cx="3627474" cy="582451"/>
          </a:xfrm>
        </p:spPr>
        <p:txBody>
          <a:bodyPr>
            <a:normAutofit/>
          </a:bodyPr>
          <a:lstStyle/>
          <a:p>
            <a:r>
              <a:rPr lang="en-US" sz="3200" b="1" dirty="0"/>
              <a:t>IAM identity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E16A9C-2324-5945-B4B8-0E9FCC57A6F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4542" y="922033"/>
            <a:ext cx="11282916" cy="5013933"/>
          </a:xfrm>
        </p:spPr>
        <p:txBody>
          <a:bodyPr>
            <a:normAutofit/>
          </a:bodyPr>
          <a:lstStyle/>
          <a:p>
            <a:r>
              <a:rPr lang="en-US" sz="2200" b="1" dirty="0"/>
              <a:t>IAM user</a:t>
            </a:r>
            <a:r>
              <a:rPr lang="en-US" sz="2200" dirty="0"/>
              <a:t>: an identity within a root user account that has specific permissions for a single person or application.</a:t>
            </a:r>
            <a:endParaRPr lang="en-AU" sz="2200" u="sng" dirty="0">
              <a:solidFill>
                <a:srgbClr val="16191F"/>
              </a:solidFill>
            </a:endParaRPr>
          </a:p>
          <a:p>
            <a:r>
              <a:rPr lang="en-US" sz="2200" b="1" dirty="0"/>
              <a:t>IAM user group</a:t>
            </a:r>
            <a:r>
              <a:rPr lang="en-US" sz="2200" dirty="0"/>
              <a:t>: an identity that specifies a set of IAM users.</a:t>
            </a:r>
            <a:endParaRPr lang="en-AU" sz="2200" u="sng" dirty="0"/>
          </a:p>
          <a:p>
            <a:r>
              <a:rPr lang="en-US" sz="2200" b="1" dirty="0"/>
              <a:t>IAM role</a:t>
            </a:r>
            <a:r>
              <a:rPr lang="en-US" sz="2200" dirty="0"/>
              <a:t>: an identity that has specific permissions, </a:t>
            </a:r>
            <a:r>
              <a:rPr lang="en-AU" sz="2200" dirty="0"/>
              <a:t>similar to IAM user but not relevant to a specific person/application.</a:t>
            </a:r>
          </a:p>
          <a:p>
            <a:pPr lvl="1"/>
            <a:r>
              <a:rPr lang="en-AU" sz="2200" dirty="0"/>
              <a:t>Any users/applications can assume a role to complete a specific task.</a:t>
            </a:r>
          </a:p>
          <a:p>
            <a:pPr lvl="2"/>
            <a:r>
              <a:rPr lang="en-AU" sz="2200" dirty="0"/>
              <a:t>User case: an IAM role </a:t>
            </a:r>
            <a:r>
              <a:rPr lang="en-US" sz="2200" dirty="0"/>
              <a:t>grants permissions to applications running on an EC2 instance</a:t>
            </a:r>
            <a:endParaRPr lang="en-AU" sz="2200" dirty="0"/>
          </a:p>
          <a:p>
            <a:pPr lvl="1"/>
            <a:r>
              <a:rPr lang="en-AU" sz="2200" dirty="0"/>
              <a:t>Each role has an ARN, e.g., </a:t>
            </a:r>
            <a:r>
              <a:rPr lang="en-AU" sz="2200" dirty="0" err="1"/>
              <a:t>arn:aws:iam</a:t>
            </a:r>
            <a:r>
              <a:rPr lang="en-AU" sz="2200" dirty="0"/>
              <a:t>::</a:t>
            </a:r>
            <a:r>
              <a:rPr lang="en-US" sz="2200" dirty="0"/>
              <a:t> 489389878001 </a:t>
            </a:r>
            <a:r>
              <a:rPr lang="en-AU" sz="2200" dirty="0"/>
              <a:t>:role/apps4ec2</a:t>
            </a:r>
          </a:p>
          <a:p>
            <a:pPr lvl="1"/>
            <a:endParaRPr lang="en-AU" sz="2200" dirty="0"/>
          </a:p>
          <a:p>
            <a:pPr marL="914400" lvl="2" indent="0">
              <a:buNone/>
            </a:pPr>
            <a:endParaRPr lang="en-US" sz="2400" u="sng" dirty="0"/>
          </a:p>
          <a:p>
            <a:pPr lvl="1"/>
            <a:endParaRPr lang="en-US" u="sng" dirty="0"/>
          </a:p>
          <a:p>
            <a:pPr marL="457200" lvl="1" indent="0">
              <a:buNone/>
            </a:pPr>
            <a:endParaRPr lang="en-US" u="sng" dirty="0"/>
          </a:p>
        </p:txBody>
      </p:sp>
    </p:spTree>
    <p:extLst>
      <p:ext uri="{BB962C8B-B14F-4D97-AF65-F5344CB8AC3E}">
        <p14:creationId xmlns:p14="http://schemas.microsoft.com/office/powerpoint/2010/main" val="3499781435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93F8D7-86BD-1F45-AFCF-101895A32B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4542" y="97002"/>
            <a:ext cx="3627474" cy="582451"/>
          </a:xfrm>
        </p:spPr>
        <p:txBody>
          <a:bodyPr>
            <a:normAutofit/>
          </a:bodyPr>
          <a:lstStyle/>
          <a:p>
            <a:r>
              <a:rPr lang="en-US" sz="3200" b="1" dirty="0"/>
              <a:t>IAM role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88B6C2B-8ED6-484C-A800-A0369EAC8915}"/>
              </a:ext>
            </a:extLst>
          </p:cNvPr>
          <p:cNvSpPr txBox="1"/>
          <p:nvPr/>
        </p:nvSpPr>
        <p:spPr>
          <a:xfrm>
            <a:off x="2486542" y="679453"/>
            <a:ext cx="6765408" cy="5201424"/>
          </a:xfrm>
          <a:prstGeom prst="rect">
            <a:avLst/>
          </a:prstGeom>
          <a:solidFill>
            <a:schemeClr val="bg1">
              <a:lumMod val="85000"/>
              <a:alpha val="3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49213" lvl="2" algn="l"/>
            <a:r>
              <a:rPr lang="en-US" dirty="0">
                <a:latin typeface="+mn-lt"/>
              </a:rPr>
              <a:t>{</a:t>
            </a:r>
          </a:p>
          <a:p>
            <a:pPr marL="49213" lvl="2" algn="l"/>
            <a:r>
              <a:rPr lang="en-US" dirty="0">
                <a:latin typeface="+mn-lt"/>
              </a:rPr>
              <a:t>  "Version": "2012-10-17",</a:t>
            </a:r>
          </a:p>
          <a:p>
            <a:pPr marL="49213" lvl="2" algn="l"/>
            <a:r>
              <a:rPr lang="en-US" dirty="0">
                <a:latin typeface="+mn-lt"/>
              </a:rPr>
              <a:t>  "Statement": [</a:t>
            </a:r>
          </a:p>
          <a:p>
            <a:pPr marL="49213" lvl="2" algn="l"/>
            <a:r>
              <a:rPr lang="en-US" dirty="0">
                <a:latin typeface="+mn-lt"/>
              </a:rPr>
              <a:t>    {</a:t>
            </a:r>
          </a:p>
          <a:p>
            <a:pPr marL="49213" lvl="2" algn="l"/>
            <a:r>
              <a:rPr lang="en-US" dirty="0">
                <a:latin typeface="+mn-lt"/>
              </a:rPr>
              <a:t>      "Effect": "Allow",</a:t>
            </a:r>
          </a:p>
          <a:p>
            <a:pPr marL="49213" lvl="2" algn="l"/>
            <a:r>
              <a:rPr lang="en-US" dirty="0">
                <a:latin typeface="+mn-lt"/>
              </a:rPr>
              <a:t>      "Action": [</a:t>
            </a:r>
          </a:p>
          <a:p>
            <a:pPr marL="49213" lvl="2" algn="l"/>
            <a:r>
              <a:rPr lang="en-US" dirty="0">
                <a:latin typeface="+mn-lt"/>
              </a:rPr>
              <a:t>        "s3:GetObject", </a:t>
            </a:r>
          </a:p>
          <a:p>
            <a:pPr marL="49213" lvl="2" algn="l"/>
            <a:r>
              <a:rPr lang="en-US" dirty="0">
                <a:latin typeface="+mn-lt"/>
              </a:rPr>
              <a:t>        "s3:PutObject"</a:t>
            </a:r>
          </a:p>
          <a:p>
            <a:pPr marL="49213" lvl="2" algn="l"/>
            <a:r>
              <a:rPr lang="en-US" dirty="0">
                <a:latin typeface="+mn-lt"/>
              </a:rPr>
              <a:t>      ],</a:t>
            </a:r>
          </a:p>
          <a:p>
            <a:pPr marL="49213" lvl="2" algn="l"/>
            <a:r>
              <a:rPr lang="en-US" dirty="0">
                <a:latin typeface="+mn-lt"/>
              </a:rPr>
              <a:t>      "Resource": [</a:t>
            </a:r>
          </a:p>
          <a:p>
            <a:pPr marL="49213" lvl="2" algn="l"/>
            <a:r>
              <a:rPr lang="en-US" dirty="0">
                <a:latin typeface="+mn-lt"/>
              </a:rPr>
              <a:t>        "arn:aws:s3:::my-app-bucket/*"</a:t>
            </a:r>
          </a:p>
          <a:p>
            <a:pPr marL="49213" lvl="2" algn="l"/>
            <a:r>
              <a:rPr lang="en-US" dirty="0">
                <a:latin typeface="+mn-lt"/>
              </a:rPr>
              <a:t>    }</a:t>
            </a:r>
          </a:p>
          <a:p>
            <a:pPr marL="49213" lvl="2" algn="l"/>
            <a:r>
              <a:rPr lang="en-US" dirty="0">
                <a:latin typeface="+mn-lt"/>
              </a:rPr>
              <a:t>  ]</a:t>
            </a:r>
          </a:p>
          <a:p>
            <a:pPr marL="49213" lvl="2" algn="l"/>
            <a:r>
              <a:rPr lang="en-US" dirty="0">
                <a:latin typeface="+mn-lt"/>
              </a:rPr>
              <a:t>}</a:t>
            </a:r>
            <a:endParaRPr lang="en-US" sz="2400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297871442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60879" y="258422"/>
            <a:ext cx="3075519" cy="634335"/>
          </a:xfrm>
        </p:spPr>
        <p:txBody>
          <a:bodyPr>
            <a:normAutofit/>
          </a:bodyPr>
          <a:lstStyle/>
          <a:p>
            <a:r>
              <a:rPr lang="en-US" sz="3200" b="1" dirty="0"/>
              <a:t>How IAM works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6391CC7C-1255-423F-9333-BEF38E9F702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28768" y="554836"/>
            <a:ext cx="7333628" cy="5748328"/>
          </a:xfrm>
          <a:prstGeom prst="rect">
            <a:avLst/>
          </a:prstGeom>
        </p:spPr>
      </p:pic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8094980C-4790-438E-BE00-60E7F6CDCE65}"/>
              </a:ext>
            </a:extLst>
          </p:cNvPr>
          <p:cNvSpPr txBox="1">
            <a:spLocks/>
          </p:cNvSpPr>
          <p:nvPr/>
        </p:nvSpPr>
        <p:spPr>
          <a:xfrm>
            <a:off x="329604" y="1542826"/>
            <a:ext cx="4199164" cy="283986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Aft>
                <a:spcPts val="0"/>
              </a:spcAft>
              <a:buClrTx/>
              <a:buSzTx/>
            </a:pPr>
            <a:r>
              <a:rPr lang="en-US" sz="2400" dirty="0"/>
              <a:t>Step 1: Authenticate a principal.</a:t>
            </a:r>
          </a:p>
          <a:p>
            <a:pPr lvl="1" fontAlgn="auto">
              <a:spcAft>
                <a:spcPts val="0"/>
              </a:spcAft>
              <a:buClrTx/>
              <a:buSzTx/>
            </a:pPr>
            <a:r>
              <a:rPr lang="en-AU" sz="2000" b="1" dirty="0">
                <a:solidFill>
                  <a:srgbClr val="16191F"/>
                </a:solidFill>
              </a:rPr>
              <a:t>Principal</a:t>
            </a:r>
            <a:r>
              <a:rPr lang="en-AU" sz="2000" dirty="0">
                <a:solidFill>
                  <a:srgbClr val="16191F"/>
                </a:solidFill>
              </a:rPr>
              <a:t>: </a:t>
            </a:r>
            <a:r>
              <a:rPr lang="en-US" sz="2000" dirty="0">
                <a:solidFill>
                  <a:srgbClr val="16191F"/>
                </a:solidFill>
              </a:rPr>
              <a:t>a person or application that uses an IAM user, a root user, or an IAM role to sign in and make requests to AWS.</a:t>
            </a:r>
            <a:endParaRPr lang="en-AU" sz="2000" u="sng" dirty="0">
              <a:solidFill>
                <a:srgbClr val="16191F"/>
              </a:solidFill>
            </a:endParaRPr>
          </a:p>
          <a:p>
            <a:pPr marL="914400" lvl="2" indent="0" fontAlgn="auto"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</a:pPr>
            <a:endParaRPr lang="en-US" sz="2400" u="sng" dirty="0"/>
          </a:p>
          <a:p>
            <a:pPr lvl="1" fontAlgn="auto">
              <a:spcAft>
                <a:spcPts val="0"/>
              </a:spcAft>
              <a:buClrTx/>
              <a:buSzTx/>
            </a:pPr>
            <a:endParaRPr lang="en-US" u="sng" dirty="0"/>
          </a:p>
          <a:p>
            <a:pPr marL="457200" lvl="1" indent="0" fontAlgn="auto"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</a:pPr>
            <a:endParaRPr lang="en-US" u="sng" dirty="0"/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975D513C-5DCB-4B43-8020-1A695B882F80}"/>
              </a:ext>
            </a:extLst>
          </p:cNvPr>
          <p:cNvSpPr txBox="1">
            <a:spLocks/>
          </p:cNvSpPr>
          <p:nvPr/>
        </p:nvSpPr>
        <p:spPr>
          <a:xfrm>
            <a:off x="637795" y="3656422"/>
            <a:ext cx="3582781" cy="72626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 fontAlgn="auto">
              <a:spcAft>
                <a:spcPts val="0"/>
              </a:spcAft>
              <a:buClrTx/>
              <a:buSzTx/>
            </a:pPr>
            <a:endParaRPr lang="en-AU" sz="2200" dirty="0"/>
          </a:p>
          <a:p>
            <a:pPr marL="914400" lvl="2" indent="0" fontAlgn="auto"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</a:pPr>
            <a:endParaRPr lang="en-US" sz="2400" u="sng" dirty="0"/>
          </a:p>
          <a:p>
            <a:pPr lvl="1" fontAlgn="auto">
              <a:spcAft>
                <a:spcPts val="0"/>
              </a:spcAft>
              <a:buClrTx/>
              <a:buSzTx/>
            </a:pPr>
            <a:endParaRPr lang="en-US" u="sng" dirty="0"/>
          </a:p>
          <a:p>
            <a:pPr marL="457200" lvl="1" indent="0" fontAlgn="auto"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</a:pPr>
            <a:endParaRPr lang="en-US" u="sng" dirty="0"/>
          </a:p>
        </p:txBody>
      </p:sp>
    </p:spTree>
    <p:extLst>
      <p:ext uri="{BB962C8B-B14F-4D97-AF65-F5344CB8AC3E}">
        <p14:creationId xmlns:p14="http://schemas.microsoft.com/office/powerpoint/2010/main" val="369015162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60879" y="258422"/>
            <a:ext cx="3075519" cy="634335"/>
          </a:xfrm>
        </p:spPr>
        <p:txBody>
          <a:bodyPr>
            <a:normAutofit/>
          </a:bodyPr>
          <a:lstStyle/>
          <a:p>
            <a:r>
              <a:rPr lang="en-US" sz="3200" b="1" dirty="0"/>
              <a:t>How IAM works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6391CC7C-1255-423F-9333-BEF38E9F702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05684" y="554836"/>
            <a:ext cx="7025437" cy="5748328"/>
          </a:xfrm>
          <a:prstGeom prst="rect">
            <a:avLst/>
          </a:prstGeom>
        </p:spPr>
      </p:pic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8094980C-4790-438E-BE00-60E7F6CDCE65}"/>
              </a:ext>
            </a:extLst>
          </p:cNvPr>
          <p:cNvSpPr txBox="1">
            <a:spLocks/>
          </p:cNvSpPr>
          <p:nvPr/>
        </p:nvSpPr>
        <p:spPr>
          <a:xfrm>
            <a:off x="329604" y="1542826"/>
            <a:ext cx="4507354" cy="283986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Aft>
                <a:spcPts val="0"/>
              </a:spcAft>
              <a:buClrTx/>
              <a:buSzTx/>
            </a:pPr>
            <a:r>
              <a:rPr lang="en-US" sz="2400" dirty="0"/>
              <a:t>Step 1: Authenticate a principal.</a:t>
            </a:r>
          </a:p>
          <a:p>
            <a:pPr fontAlgn="auto">
              <a:spcAft>
                <a:spcPts val="0"/>
              </a:spcAft>
              <a:buClrTx/>
              <a:buSzTx/>
            </a:pPr>
            <a:r>
              <a:rPr lang="en-US" sz="2400" dirty="0"/>
              <a:t>Step 2: Authorize a principal.</a:t>
            </a:r>
          </a:p>
          <a:p>
            <a:pPr marL="914400" lvl="2" indent="0" fontAlgn="auto"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</a:pPr>
            <a:endParaRPr lang="en-US" sz="2400" u="sng" dirty="0"/>
          </a:p>
          <a:p>
            <a:pPr lvl="1" fontAlgn="auto">
              <a:spcAft>
                <a:spcPts val="0"/>
              </a:spcAft>
              <a:buClrTx/>
              <a:buSzTx/>
            </a:pPr>
            <a:endParaRPr lang="en-US" u="sng" dirty="0"/>
          </a:p>
          <a:p>
            <a:pPr marL="457200" lvl="1" indent="0" fontAlgn="auto"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</a:pPr>
            <a:endParaRPr lang="en-US" u="sng" dirty="0"/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975D513C-5DCB-4B43-8020-1A695B882F80}"/>
              </a:ext>
            </a:extLst>
          </p:cNvPr>
          <p:cNvSpPr txBox="1">
            <a:spLocks/>
          </p:cNvSpPr>
          <p:nvPr/>
        </p:nvSpPr>
        <p:spPr>
          <a:xfrm>
            <a:off x="637795" y="3656422"/>
            <a:ext cx="3582781" cy="72626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 fontAlgn="auto">
              <a:spcAft>
                <a:spcPts val="0"/>
              </a:spcAft>
              <a:buClrTx/>
              <a:buSzTx/>
            </a:pPr>
            <a:endParaRPr lang="en-AU" sz="2200" dirty="0"/>
          </a:p>
          <a:p>
            <a:pPr marL="914400" lvl="2" indent="0" fontAlgn="auto"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</a:pPr>
            <a:endParaRPr lang="en-US" sz="2400" u="sng" dirty="0"/>
          </a:p>
          <a:p>
            <a:pPr lvl="1" fontAlgn="auto">
              <a:spcAft>
                <a:spcPts val="0"/>
              </a:spcAft>
              <a:buClrTx/>
              <a:buSzTx/>
            </a:pPr>
            <a:endParaRPr lang="en-US" u="sng" dirty="0"/>
          </a:p>
          <a:p>
            <a:pPr marL="457200" lvl="1" indent="0" fontAlgn="auto"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</a:pPr>
            <a:endParaRPr lang="en-US" u="sng" dirty="0"/>
          </a:p>
        </p:txBody>
      </p:sp>
    </p:spTree>
    <p:extLst>
      <p:ext uri="{BB962C8B-B14F-4D97-AF65-F5344CB8AC3E}">
        <p14:creationId xmlns:p14="http://schemas.microsoft.com/office/powerpoint/2010/main" val="4064397517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60879" y="258422"/>
            <a:ext cx="3075519" cy="634335"/>
          </a:xfrm>
        </p:spPr>
        <p:txBody>
          <a:bodyPr>
            <a:normAutofit/>
          </a:bodyPr>
          <a:lstStyle/>
          <a:p>
            <a:r>
              <a:rPr lang="en-US" sz="3200" b="1" dirty="0"/>
              <a:t>How IAM works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6391CC7C-1255-423F-9333-BEF38E9F702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36958" y="554836"/>
            <a:ext cx="7025437" cy="5748328"/>
          </a:xfrm>
          <a:prstGeom prst="rect">
            <a:avLst/>
          </a:prstGeom>
        </p:spPr>
      </p:pic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8094980C-4790-438E-BE00-60E7F6CDCE65}"/>
              </a:ext>
            </a:extLst>
          </p:cNvPr>
          <p:cNvSpPr txBox="1">
            <a:spLocks/>
          </p:cNvSpPr>
          <p:nvPr/>
        </p:nvSpPr>
        <p:spPr>
          <a:xfrm>
            <a:off x="329604" y="1542826"/>
            <a:ext cx="4507354" cy="283986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Aft>
                <a:spcPts val="0"/>
              </a:spcAft>
              <a:buClrTx/>
              <a:buSzTx/>
            </a:pPr>
            <a:r>
              <a:rPr lang="en-US" sz="2400" dirty="0"/>
              <a:t>Step 1: Authenticate a principal.</a:t>
            </a:r>
          </a:p>
          <a:p>
            <a:pPr fontAlgn="auto">
              <a:spcAft>
                <a:spcPts val="0"/>
              </a:spcAft>
              <a:buClrTx/>
              <a:buSzTx/>
            </a:pPr>
            <a:r>
              <a:rPr lang="en-US" sz="2400" dirty="0"/>
              <a:t>Step 2: Authorize a principal.</a:t>
            </a:r>
          </a:p>
          <a:p>
            <a:pPr fontAlgn="auto">
              <a:spcAft>
                <a:spcPts val="0"/>
              </a:spcAft>
              <a:buClrTx/>
              <a:buSzTx/>
            </a:pPr>
            <a:r>
              <a:rPr lang="en-US" sz="2400" dirty="0"/>
              <a:t>Step 3: Take actions/operations on AWS resources.</a:t>
            </a:r>
            <a:endParaRPr lang="en-AU" sz="2400" dirty="0"/>
          </a:p>
          <a:p>
            <a:pPr marL="914400" lvl="2" indent="0" fontAlgn="auto"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</a:pPr>
            <a:endParaRPr lang="en-US" sz="2400" u="sng" dirty="0"/>
          </a:p>
          <a:p>
            <a:pPr lvl="1" fontAlgn="auto">
              <a:spcAft>
                <a:spcPts val="0"/>
              </a:spcAft>
              <a:buClrTx/>
              <a:buSzTx/>
            </a:pPr>
            <a:endParaRPr lang="en-US" u="sng" dirty="0"/>
          </a:p>
          <a:p>
            <a:pPr marL="457200" lvl="1" indent="0" fontAlgn="auto"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</a:pPr>
            <a:endParaRPr lang="en-US" u="sng" dirty="0"/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975D513C-5DCB-4B43-8020-1A695B882F80}"/>
              </a:ext>
            </a:extLst>
          </p:cNvPr>
          <p:cNvSpPr txBox="1">
            <a:spLocks/>
          </p:cNvSpPr>
          <p:nvPr/>
        </p:nvSpPr>
        <p:spPr>
          <a:xfrm>
            <a:off x="637795" y="3656422"/>
            <a:ext cx="3582781" cy="72626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 fontAlgn="auto">
              <a:spcAft>
                <a:spcPts val="0"/>
              </a:spcAft>
              <a:buClrTx/>
              <a:buSzTx/>
            </a:pPr>
            <a:endParaRPr lang="en-AU" sz="2200" dirty="0"/>
          </a:p>
          <a:p>
            <a:pPr marL="914400" lvl="2" indent="0" fontAlgn="auto"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</a:pPr>
            <a:endParaRPr lang="en-US" sz="2400" u="sng" dirty="0"/>
          </a:p>
          <a:p>
            <a:pPr lvl="1" fontAlgn="auto">
              <a:spcAft>
                <a:spcPts val="0"/>
              </a:spcAft>
              <a:buClrTx/>
              <a:buSzTx/>
            </a:pPr>
            <a:endParaRPr lang="en-US" u="sng" dirty="0"/>
          </a:p>
          <a:p>
            <a:pPr marL="457200" lvl="1" indent="0" fontAlgn="auto"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</a:pPr>
            <a:endParaRPr lang="en-US" u="sng" dirty="0"/>
          </a:p>
        </p:txBody>
      </p:sp>
    </p:spTree>
    <p:extLst>
      <p:ext uri="{BB962C8B-B14F-4D97-AF65-F5344CB8AC3E}">
        <p14:creationId xmlns:p14="http://schemas.microsoft.com/office/powerpoint/2010/main" val="3232267705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73304" y="330513"/>
            <a:ext cx="3842239" cy="955121"/>
          </a:xfrm>
        </p:spPr>
        <p:txBody>
          <a:bodyPr>
            <a:normAutofit/>
          </a:bodyPr>
          <a:lstStyle/>
          <a:p>
            <a:r>
              <a:rPr lang="en-US" sz="3200" b="1" dirty="0"/>
              <a:t>Main features of IAM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73304" y="808074"/>
            <a:ext cx="10645391" cy="5316279"/>
          </a:xfrm>
        </p:spPr>
        <p:txBody>
          <a:bodyPr>
            <a:normAutofit/>
          </a:bodyPr>
          <a:lstStyle/>
          <a:p>
            <a:pPr marL="0" indent="0">
              <a:buNone/>
              <a:defRPr/>
            </a:pPr>
            <a:endParaRPr lang="en-AU" sz="2400" dirty="0"/>
          </a:p>
          <a:p>
            <a:pPr>
              <a:lnSpc>
                <a:spcPct val="81000"/>
              </a:lnSpc>
              <a:defRPr sz="2500"/>
            </a:pPr>
            <a:r>
              <a:rPr lang="en-US" sz="2400" i="0" dirty="0">
                <a:solidFill>
                  <a:srgbClr val="16191F"/>
                </a:solidFill>
                <a:effectLst/>
              </a:rPr>
              <a:t>Shared access to AWS root user account</a:t>
            </a:r>
            <a:endParaRPr lang="en-US" sz="2400" dirty="0">
              <a:solidFill>
                <a:srgbClr val="16191F"/>
              </a:solidFill>
            </a:endParaRPr>
          </a:p>
          <a:p>
            <a:pPr lvl="2">
              <a:lnSpc>
                <a:spcPct val="81000"/>
              </a:lnSpc>
              <a:defRPr sz="2200"/>
            </a:pPr>
            <a:r>
              <a:rPr lang="en-US" sz="2400" dirty="0">
                <a:solidFill>
                  <a:srgbClr val="16191F"/>
                </a:solidFill>
              </a:rPr>
              <a:t>Grant other people permission to use resources in our root user account without having to share our password or access key.</a:t>
            </a:r>
          </a:p>
          <a:p>
            <a:pPr lvl="2">
              <a:lnSpc>
                <a:spcPct val="81000"/>
              </a:lnSpc>
              <a:defRPr sz="2200"/>
            </a:pPr>
            <a:endParaRPr lang="en-AU" sz="2400" dirty="0">
              <a:solidFill>
                <a:srgbClr val="16191F"/>
              </a:solidFill>
            </a:endParaRPr>
          </a:p>
          <a:p>
            <a:pPr>
              <a:lnSpc>
                <a:spcPct val="81000"/>
              </a:lnSpc>
              <a:defRPr sz="2500"/>
            </a:pPr>
            <a:r>
              <a:rPr lang="en-AU" sz="2400" dirty="0">
                <a:solidFill>
                  <a:srgbClr val="16191F"/>
                </a:solidFill>
              </a:rPr>
              <a:t>Granular permissions</a:t>
            </a:r>
            <a:endParaRPr lang="en-US" sz="2400" dirty="0">
              <a:solidFill>
                <a:srgbClr val="16191F"/>
              </a:solidFill>
            </a:endParaRPr>
          </a:p>
          <a:p>
            <a:pPr lvl="2">
              <a:lnSpc>
                <a:spcPct val="81000"/>
              </a:lnSpc>
              <a:defRPr sz="2200"/>
            </a:pPr>
            <a:r>
              <a:rPr lang="en-US" sz="2400" dirty="0">
                <a:solidFill>
                  <a:srgbClr val="16191F"/>
                </a:solidFill>
              </a:rPr>
              <a:t>Grant varying permissions to different individuals for specific resources.</a:t>
            </a:r>
          </a:p>
          <a:p>
            <a:pPr lvl="3">
              <a:lnSpc>
                <a:spcPct val="81000"/>
              </a:lnSpc>
              <a:defRPr sz="2200"/>
            </a:pPr>
            <a:r>
              <a:rPr lang="en-US" sz="2400" dirty="0">
                <a:solidFill>
                  <a:srgbClr val="16191F"/>
                </a:solidFill>
              </a:rPr>
              <a:t>e.g., some IAM users have complete access to specified EC2 instances while some have read-only access to specific S3 buckets. </a:t>
            </a:r>
          </a:p>
          <a:p>
            <a:pPr lvl="3">
              <a:lnSpc>
                <a:spcPct val="81000"/>
              </a:lnSpc>
              <a:defRPr sz="2200"/>
            </a:pPr>
            <a:endParaRPr lang="en-US" sz="2200" dirty="0">
              <a:solidFill>
                <a:srgbClr val="16191F"/>
              </a:solidFill>
            </a:endParaRPr>
          </a:p>
          <a:p>
            <a:pPr>
              <a:defRPr/>
            </a:pPr>
            <a:endParaRPr lang="en-AU" sz="2400" dirty="0"/>
          </a:p>
        </p:txBody>
      </p:sp>
    </p:spTree>
    <p:extLst>
      <p:ext uri="{BB962C8B-B14F-4D97-AF65-F5344CB8AC3E}">
        <p14:creationId xmlns:p14="http://schemas.microsoft.com/office/powerpoint/2010/main" val="1855926147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9689" y="235630"/>
            <a:ext cx="5116551" cy="758283"/>
          </a:xfrm>
        </p:spPr>
        <p:txBody>
          <a:bodyPr>
            <a:normAutofit/>
          </a:bodyPr>
          <a:lstStyle/>
          <a:p>
            <a:r>
              <a:rPr lang="en-US" sz="3200" b="1" dirty="0"/>
              <a:t>Policies and permissions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16879" y="1162844"/>
            <a:ext cx="10098722" cy="4532312"/>
          </a:xfrm>
        </p:spPr>
        <p:txBody>
          <a:bodyPr>
            <a:normAutofit/>
          </a:bodyPr>
          <a:lstStyle/>
          <a:p>
            <a:pPr>
              <a:defRPr/>
            </a:pPr>
            <a:r>
              <a:rPr lang="en-US" sz="2400" b="0" i="0" dirty="0">
                <a:solidFill>
                  <a:srgbClr val="16191F"/>
                </a:solidFill>
                <a:effectLst/>
              </a:rPr>
              <a:t>Access permissions (authorization) are managed by creating policies and attaching them to IAM identities (users, groups of users, or roles) or AWS resources. </a:t>
            </a:r>
          </a:p>
          <a:p>
            <a:pPr>
              <a:defRPr/>
            </a:pPr>
            <a:r>
              <a:rPr lang="en-US" sz="2400" b="0" i="0" kern="1200" dirty="0">
                <a:solidFill>
                  <a:srgbClr val="16191F"/>
                </a:solidFill>
                <a:effectLst/>
                <a:ea typeface="+mn-ea"/>
                <a:cs typeface="+mn-cs"/>
              </a:rPr>
              <a:t>Note: IAM policies only define permissions for an action regardless of the method that we use to perform the action</a:t>
            </a:r>
          </a:p>
          <a:p>
            <a:pPr lvl="1">
              <a:defRPr/>
            </a:pPr>
            <a:r>
              <a:rPr lang="en-AU" dirty="0"/>
              <a:t>e.g., </a:t>
            </a:r>
            <a:r>
              <a:rPr lang="en-US" b="0" i="0" kern="1200" dirty="0">
                <a:solidFill>
                  <a:srgbClr val="16191F"/>
                </a:solidFill>
                <a:effectLst/>
                <a:latin typeface="Amazon Ember"/>
                <a:ea typeface="+mn-ea"/>
                <a:cs typeface="+mn-cs"/>
              </a:rPr>
              <a:t>if a policy allows the GetUser action, then a user with that policy can get user information with all three methods. 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452057753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>
            <a:extLst>
              <a:ext uri="{FF2B5EF4-FFF2-40B4-BE49-F238E27FC236}">
                <a16:creationId xmlns:a16="http://schemas.microsoft.com/office/drawing/2014/main" id="{1AA3D2F4-E1F2-4DA9-9CAA-C0B91246655B}"/>
              </a:ext>
            </a:extLst>
          </p:cNvPr>
          <p:cNvSpPr txBox="1"/>
          <p:nvPr/>
        </p:nvSpPr>
        <p:spPr>
          <a:xfrm>
            <a:off x="422988" y="927681"/>
            <a:ext cx="10614802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latin typeface="+mn-lt"/>
              </a:rPr>
              <a:t>Which of the following statements are correct about IAM? (Select all that apply)</a:t>
            </a:r>
          </a:p>
          <a:p>
            <a:pPr indent="228600" algn="l" rtl="0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latin typeface="+mn-lt"/>
              </a:rPr>
              <a:t>A. A principal must be authorized to access AWS resources after being authenticated.</a:t>
            </a:r>
          </a:p>
          <a:p>
            <a:pPr indent="228600" algn="l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latin typeface="+mn-lt"/>
              </a:rPr>
              <a:t>B. </a:t>
            </a:r>
            <a:r>
              <a:rPr lang="en-US" b="0" i="0" dirty="0">
                <a:solidFill>
                  <a:srgbClr val="16191F"/>
                </a:solidFill>
                <a:effectLst/>
                <a:latin typeface="Amazon Ember"/>
              </a:rPr>
              <a:t>An AWS root user account can create many IAM users and grant them access to AWS resources. The root user does not have to share their login credentials</a:t>
            </a:r>
            <a:r>
              <a:rPr lang="en-US" dirty="0">
                <a:latin typeface="+mn-lt"/>
              </a:rPr>
              <a:t>.</a:t>
            </a:r>
          </a:p>
          <a:p>
            <a:pPr indent="228600" algn="l" rtl="0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latin typeface="+mn-lt"/>
              </a:rPr>
              <a:t>C. IAM policies define both permissions for an action and the method used to perform the action.</a:t>
            </a:r>
          </a:p>
          <a:p>
            <a:pPr indent="228600" algn="l" rtl="0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latin typeface="+mn-lt"/>
              </a:rPr>
              <a:t>D. IAM allows fine-grained permissions, e.g., specifying actions that an IAM user or role can perform on specific AWS resources.</a:t>
            </a:r>
          </a:p>
          <a:p>
            <a:pPr indent="228600" algn="l" rtl="0">
              <a:spcBef>
                <a:spcPts val="0"/>
              </a:spcBef>
              <a:spcAft>
                <a:spcPts val="0"/>
              </a:spcAft>
            </a:pPr>
            <a:endParaRPr lang="en-US" dirty="0">
              <a:solidFill>
                <a:srgbClr val="000000"/>
              </a:solidFill>
              <a:latin typeface="+mn-lt"/>
            </a:endParaRPr>
          </a:p>
          <a:p>
            <a:pPr indent="228600" algn="l" rtl="0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FF0000"/>
                </a:solidFill>
                <a:latin typeface="+mn-lt"/>
              </a:rPr>
              <a:t>Answer: ABD</a:t>
            </a:r>
            <a:endParaRPr lang="en-US" dirty="0">
              <a:solidFill>
                <a:srgbClr val="000000"/>
              </a:solidFill>
              <a:latin typeface="+mn-lt"/>
            </a:endParaRP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5CE2BA23-D316-4CAA-91C7-58F765B920BE}"/>
              </a:ext>
            </a:extLst>
          </p:cNvPr>
          <p:cNvSpPr txBox="1">
            <a:spLocks/>
          </p:cNvSpPr>
          <p:nvPr/>
        </p:nvSpPr>
        <p:spPr>
          <a:xfrm>
            <a:off x="422988" y="121327"/>
            <a:ext cx="1867618" cy="588263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fontAlgn="auto"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</a:pPr>
            <a:r>
              <a:rPr lang="en-AU" sz="2600" dirty="0"/>
              <a:t>Part 2</a:t>
            </a:r>
            <a:endParaRPr lang="en-US" sz="2200" dirty="0"/>
          </a:p>
        </p:txBody>
      </p:sp>
    </p:spTree>
    <p:extLst>
      <p:ext uri="{BB962C8B-B14F-4D97-AF65-F5344CB8AC3E}">
        <p14:creationId xmlns:p14="http://schemas.microsoft.com/office/powerpoint/2010/main" val="214205117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9689" y="235630"/>
            <a:ext cx="5116551" cy="758283"/>
          </a:xfrm>
        </p:spPr>
        <p:txBody>
          <a:bodyPr>
            <a:normAutofit/>
          </a:bodyPr>
          <a:lstStyle/>
          <a:p>
            <a:r>
              <a:rPr lang="en-US" sz="3200" b="1" dirty="0"/>
              <a:t>Policies and permissions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16879" y="1162844"/>
            <a:ext cx="10098722" cy="4532312"/>
          </a:xfrm>
        </p:spPr>
        <p:txBody>
          <a:bodyPr>
            <a:normAutofit/>
          </a:bodyPr>
          <a:lstStyle/>
          <a:p>
            <a:pPr>
              <a:defRPr/>
            </a:pPr>
            <a:r>
              <a:rPr lang="en-US" sz="2400" b="0" i="0" dirty="0">
                <a:solidFill>
                  <a:srgbClr val="16191F"/>
                </a:solidFill>
                <a:effectLst/>
              </a:rPr>
              <a:t>Access permissions (authorization) are managed by creating policies and attaching them to IAM identities (users, groups of users, or roles) or AWS resources. </a:t>
            </a:r>
          </a:p>
          <a:p>
            <a:pPr>
              <a:defRPr/>
            </a:pPr>
            <a:r>
              <a:rPr lang="en-US" sz="2400" b="0" i="0" kern="1200" dirty="0">
                <a:solidFill>
                  <a:srgbClr val="16191F"/>
                </a:solidFill>
                <a:effectLst/>
                <a:ea typeface="+mn-ea"/>
                <a:cs typeface="+mn-cs"/>
              </a:rPr>
              <a:t>Note: IAM policies only define permissions for an action regardless of the method that we use to perform the action</a:t>
            </a:r>
          </a:p>
          <a:p>
            <a:pPr lvl="1">
              <a:defRPr/>
            </a:pPr>
            <a:r>
              <a:rPr lang="en-AU" dirty="0"/>
              <a:t>e.g., </a:t>
            </a:r>
            <a:r>
              <a:rPr lang="en-US" b="0" i="0" kern="1200" dirty="0">
                <a:solidFill>
                  <a:srgbClr val="16191F"/>
                </a:solidFill>
                <a:effectLst/>
                <a:latin typeface="Amazon Ember"/>
                <a:ea typeface="+mn-ea"/>
                <a:cs typeface="+mn-cs"/>
              </a:rPr>
              <a:t>if a policy allows the GetUser action, then a user with that policy can get user information with all three methods. </a:t>
            </a:r>
            <a:endParaRPr lang="en-AU" dirty="0"/>
          </a:p>
          <a:p>
            <a:pPr>
              <a:defRPr/>
            </a:pPr>
            <a:r>
              <a:rPr lang="en-AU" sz="2400" b="1" dirty="0"/>
              <a:t>Policy types (most frequently used):</a:t>
            </a:r>
          </a:p>
          <a:p>
            <a:pPr lvl="1">
              <a:defRPr/>
            </a:pPr>
            <a:r>
              <a:rPr lang="en-AU" i="0" u="none" strike="noStrike" dirty="0">
                <a:solidFill>
                  <a:srgbClr val="16191F"/>
                </a:solidFill>
                <a:effectLst/>
              </a:rPr>
              <a:t>Identity-based policy</a:t>
            </a:r>
          </a:p>
          <a:p>
            <a:pPr lvl="1">
              <a:defRPr/>
            </a:pPr>
            <a:r>
              <a:rPr lang="en-US" altLang="zh-CN" dirty="0">
                <a:solidFill>
                  <a:srgbClr val="16191F"/>
                </a:solidFill>
              </a:rPr>
              <a:t>Resource-based policy</a:t>
            </a:r>
            <a:endParaRPr lang="en-AU" dirty="0">
              <a:solidFill>
                <a:srgbClr val="16191F"/>
              </a:solidFill>
            </a:endParaRPr>
          </a:p>
          <a:p>
            <a:pPr lvl="1">
              <a:defRPr/>
            </a:pPr>
            <a:r>
              <a:rPr lang="en-US" b="0" i="0" dirty="0">
                <a:solidFill>
                  <a:srgbClr val="16191F"/>
                </a:solidFill>
                <a:effectLst/>
              </a:rPr>
              <a:t>permissions boundary</a:t>
            </a:r>
          </a:p>
        </p:txBody>
      </p:sp>
    </p:spTree>
    <p:extLst>
      <p:ext uri="{BB962C8B-B14F-4D97-AF65-F5344CB8AC3E}">
        <p14:creationId xmlns:p14="http://schemas.microsoft.com/office/powerpoint/2010/main" val="872438736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9689" y="235630"/>
            <a:ext cx="5116551" cy="758283"/>
          </a:xfrm>
        </p:spPr>
        <p:txBody>
          <a:bodyPr>
            <a:normAutofit/>
          </a:bodyPr>
          <a:lstStyle/>
          <a:p>
            <a:r>
              <a:rPr lang="en-AU" sz="3200" b="1" dirty="0"/>
              <a:t>Identity-based policy</a:t>
            </a:r>
            <a:endParaRPr lang="en-US" sz="3200" b="1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16878" y="1162844"/>
            <a:ext cx="11291417" cy="4532312"/>
          </a:xfrm>
        </p:spPr>
        <p:txBody>
          <a:bodyPr>
            <a:normAutofit/>
          </a:bodyPr>
          <a:lstStyle/>
          <a:p>
            <a:pPr>
              <a:defRPr/>
            </a:pPr>
            <a:r>
              <a:rPr lang="en-US" sz="2400" dirty="0">
                <a:solidFill>
                  <a:srgbClr val="16191F"/>
                </a:solidFill>
              </a:rPr>
              <a:t>It controls what actions an identity can perform. </a:t>
            </a:r>
          </a:p>
          <a:p>
            <a:pPr>
              <a:defRPr/>
            </a:pPr>
            <a:r>
              <a:rPr lang="en-AU" sz="2400" b="1" dirty="0">
                <a:solidFill>
                  <a:srgbClr val="16191F"/>
                </a:solidFill>
                <a:latin typeface="Amazon Ember"/>
              </a:rPr>
              <a:t>Managed policy</a:t>
            </a:r>
            <a:r>
              <a:rPr lang="en-AU" sz="2400" dirty="0">
                <a:solidFill>
                  <a:srgbClr val="16191F"/>
                </a:solidFill>
                <a:latin typeface="Amazon Ember"/>
              </a:rPr>
              <a:t>: </a:t>
            </a:r>
            <a:r>
              <a:rPr lang="en-US" sz="2400" dirty="0">
                <a:solidFill>
                  <a:srgbClr val="16191F"/>
                </a:solidFill>
                <a:latin typeface="Amazon Ember"/>
              </a:rPr>
              <a:t>standalone identity-based policy that we can attach to multiple users, groups, and roles.</a:t>
            </a:r>
          </a:p>
          <a:p>
            <a:pPr lvl="1">
              <a:defRPr/>
            </a:pPr>
            <a:r>
              <a:rPr lang="en-AU" dirty="0">
                <a:solidFill>
                  <a:srgbClr val="16191F"/>
                </a:solidFill>
                <a:latin typeface="Amazon Ember"/>
              </a:rPr>
              <a:t>AWS managed policy: </a:t>
            </a:r>
            <a:r>
              <a:rPr lang="en-US" b="0" i="0" dirty="0">
                <a:solidFill>
                  <a:srgbClr val="16191F"/>
                </a:solidFill>
                <a:effectLst/>
                <a:latin typeface="Amazon Ember"/>
              </a:rPr>
              <a:t>created and managed by AWS</a:t>
            </a:r>
            <a:endParaRPr lang="en-AU" dirty="0">
              <a:solidFill>
                <a:srgbClr val="16191F"/>
              </a:solidFill>
              <a:latin typeface="Amazon Ember"/>
            </a:endParaRPr>
          </a:p>
          <a:p>
            <a:pPr lvl="1">
              <a:defRPr/>
            </a:pPr>
            <a:r>
              <a:rPr lang="en-AU" dirty="0">
                <a:solidFill>
                  <a:srgbClr val="16191F"/>
                </a:solidFill>
                <a:latin typeface="Amazon Ember"/>
              </a:rPr>
              <a:t>Customer managed policy: </a:t>
            </a:r>
            <a:r>
              <a:rPr lang="en-US" b="0" i="0" dirty="0">
                <a:solidFill>
                  <a:srgbClr val="16191F"/>
                </a:solidFill>
                <a:effectLst/>
                <a:latin typeface="Amazon Ember"/>
              </a:rPr>
              <a:t>created and managed by AWS users. </a:t>
            </a:r>
            <a:endParaRPr lang="en-AU" dirty="0">
              <a:solidFill>
                <a:srgbClr val="16191F"/>
              </a:solidFill>
              <a:latin typeface="Amazon Ember"/>
            </a:endParaRPr>
          </a:p>
          <a:p>
            <a:pPr>
              <a:defRPr/>
            </a:pPr>
            <a:r>
              <a:rPr lang="en-AU" sz="2400" b="1" dirty="0">
                <a:solidFill>
                  <a:srgbClr val="16191F"/>
                </a:solidFill>
                <a:latin typeface="Amazon Ember"/>
              </a:rPr>
              <a:t>Inline policy</a:t>
            </a:r>
          </a:p>
        </p:txBody>
      </p:sp>
    </p:spTree>
    <p:extLst>
      <p:ext uri="{BB962C8B-B14F-4D97-AF65-F5344CB8AC3E}">
        <p14:creationId xmlns:p14="http://schemas.microsoft.com/office/powerpoint/2010/main" val="3827594684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8125" y="235630"/>
            <a:ext cx="5116551" cy="758283"/>
          </a:xfrm>
        </p:spPr>
        <p:txBody>
          <a:bodyPr>
            <a:normAutofit/>
          </a:bodyPr>
          <a:lstStyle/>
          <a:p>
            <a:r>
              <a:rPr lang="en-AU" sz="3200" b="1" dirty="0"/>
              <a:t>Identity-based policy</a:t>
            </a:r>
            <a:endParaRPr lang="en-US" sz="3200" b="1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2186" y="1162844"/>
            <a:ext cx="11615795" cy="4532312"/>
          </a:xfrm>
        </p:spPr>
        <p:txBody>
          <a:bodyPr>
            <a:normAutofit/>
          </a:bodyPr>
          <a:lstStyle/>
          <a:p>
            <a:pPr>
              <a:defRPr/>
            </a:pPr>
            <a:r>
              <a:rPr lang="en-US" sz="2400" dirty="0">
                <a:solidFill>
                  <a:srgbClr val="16191F"/>
                </a:solidFill>
              </a:rPr>
              <a:t>It controls what actions an identity can perform. </a:t>
            </a:r>
          </a:p>
          <a:p>
            <a:pPr>
              <a:defRPr/>
            </a:pPr>
            <a:r>
              <a:rPr lang="en-AU" sz="2400" b="1" dirty="0">
                <a:solidFill>
                  <a:srgbClr val="16191F"/>
                </a:solidFill>
                <a:latin typeface="Amazon Ember"/>
              </a:rPr>
              <a:t>Managed policy</a:t>
            </a:r>
            <a:r>
              <a:rPr lang="en-AU" sz="2400" dirty="0">
                <a:solidFill>
                  <a:srgbClr val="16191F"/>
                </a:solidFill>
                <a:latin typeface="Amazon Ember"/>
              </a:rPr>
              <a:t>: </a:t>
            </a:r>
            <a:r>
              <a:rPr lang="en-US" sz="2400" dirty="0">
                <a:solidFill>
                  <a:srgbClr val="16191F"/>
                </a:solidFill>
                <a:latin typeface="Amazon Ember"/>
              </a:rPr>
              <a:t>standalone identity-based policy that we can attach to multiple users, groups, and roles.</a:t>
            </a:r>
            <a:endParaRPr lang="en-AU" sz="2400" dirty="0">
              <a:solidFill>
                <a:srgbClr val="16191F"/>
              </a:solidFill>
              <a:latin typeface="Amazon Ember"/>
            </a:endParaRPr>
          </a:p>
          <a:p>
            <a:pPr lvl="1">
              <a:defRPr/>
            </a:pPr>
            <a:r>
              <a:rPr lang="en-AU" dirty="0">
                <a:solidFill>
                  <a:srgbClr val="16191F"/>
                </a:solidFill>
                <a:latin typeface="Amazon Ember"/>
              </a:rPr>
              <a:t>AWS managed </a:t>
            </a:r>
            <a:r>
              <a:rPr lang="en-AU" sz="2400" dirty="0">
                <a:solidFill>
                  <a:srgbClr val="16191F"/>
                </a:solidFill>
                <a:latin typeface="Amazon Ember"/>
              </a:rPr>
              <a:t>policy: </a:t>
            </a:r>
            <a:r>
              <a:rPr lang="en-US" b="0" i="0" dirty="0">
                <a:solidFill>
                  <a:srgbClr val="16191F"/>
                </a:solidFill>
                <a:effectLst/>
                <a:latin typeface="Amazon Ember"/>
              </a:rPr>
              <a:t>created and managed by AWS</a:t>
            </a:r>
            <a:endParaRPr lang="en-AU" dirty="0">
              <a:solidFill>
                <a:srgbClr val="16191F"/>
              </a:solidFill>
              <a:latin typeface="Amazon Ember"/>
            </a:endParaRPr>
          </a:p>
          <a:p>
            <a:pPr lvl="1">
              <a:defRPr/>
            </a:pPr>
            <a:r>
              <a:rPr lang="en-AU" dirty="0">
                <a:solidFill>
                  <a:srgbClr val="16191F"/>
                </a:solidFill>
                <a:latin typeface="Amazon Ember"/>
              </a:rPr>
              <a:t>Customer managed </a:t>
            </a:r>
            <a:r>
              <a:rPr lang="en-AU" sz="2400" dirty="0">
                <a:solidFill>
                  <a:srgbClr val="16191F"/>
                </a:solidFill>
                <a:latin typeface="Amazon Ember"/>
              </a:rPr>
              <a:t>policy: </a:t>
            </a:r>
            <a:r>
              <a:rPr lang="en-US" b="0" i="0" dirty="0">
                <a:solidFill>
                  <a:srgbClr val="16191F"/>
                </a:solidFill>
                <a:effectLst/>
                <a:latin typeface="Amazon Ember"/>
              </a:rPr>
              <a:t>created and managed by AWS users. </a:t>
            </a:r>
            <a:endParaRPr lang="en-AU" dirty="0">
              <a:solidFill>
                <a:srgbClr val="16191F"/>
              </a:solidFill>
              <a:latin typeface="Amazon Ember"/>
            </a:endParaRPr>
          </a:p>
          <a:p>
            <a:pPr>
              <a:defRPr/>
            </a:pPr>
            <a:r>
              <a:rPr lang="en-AU" sz="2400" b="1" dirty="0">
                <a:solidFill>
                  <a:srgbClr val="16191F"/>
                </a:solidFill>
                <a:latin typeface="Amazon Ember"/>
              </a:rPr>
              <a:t>Inline policy</a:t>
            </a:r>
            <a:r>
              <a:rPr lang="en-AU" sz="2400" dirty="0">
                <a:solidFill>
                  <a:srgbClr val="16191F"/>
                </a:solidFill>
                <a:latin typeface="Amazon Ember"/>
              </a:rPr>
              <a:t>:</a:t>
            </a:r>
            <a:r>
              <a:rPr lang="en-US" sz="1600" b="0" i="0" dirty="0">
                <a:solidFill>
                  <a:srgbClr val="16191F"/>
                </a:solidFill>
                <a:effectLst/>
                <a:latin typeface="Amazon Ember"/>
              </a:rPr>
              <a:t> </a:t>
            </a:r>
            <a:r>
              <a:rPr lang="en-US" sz="2400" dirty="0">
                <a:solidFill>
                  <a:srgbClr val="16191F"/>
                </a:solidFill>
                <a:latin typeface="Amazon Ember"/>
              </a:rPr>
              <a:t>it is </a:t>
            </a:r>
            <a:r>
              <a:rPr lang="en-US" altLang="zh-CN" sz="2400" dirty="0">
                <a:solidFill>
                  <a:srgbClr val="16191F"/>
                </a:solidFill>
                <a:latin typeface="Amazon Ember"/>
              </a:rPr>
              <a:t>attached</a:t>
            </a:r>
            <a:r>
              <a:rPr lang="en-US" sz="2400" dirty="0">
                <a:solidFill>
                  <a:srgbClr val="16191F"/>
                </a:solidFill>
                <a:latin typeface="Amazon Ember"/>
              </a:rPr>
              <a:t> directly to an IAM identity, so it has a one-to-one relationship with the identity. If the identity is deleted, the policy is deleted</a:t>
            </a:r>
            <a:r>
              <a:rPr lang="en-AU" sz="2400" dirty="0">
                <a:solidFill>
                  <a:srgbClr val="16191F"/>
                </a:solidFill>
                <a:latin typeface="Amazon Ember"/>
              </a:rPr>
              <a:t>.</a:t>
            </a:r>
          </a:p>
          <a:p>
            <a:pPr lvl="1">
              <a:defRPr/>
            </a:pP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852958549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9689" y="235630"/>
            <a:ext cx="5116551" cy="758283"/>
          </a:xfrm>
        </p:spPr>
        <p:txBody>
          <a:bodyPr>
            <a:normAutofit/>
          </a:bodyPr>
          <a:lstStyle/>
          <a:p>
            <a:r>
              <a:rPr lang="en-AU" sz="3200" b="1" dirty="0"/>
              <a:t>AWS managed policy</a:t>
            </a:r>
            <a:endParaRPr lang="en-US" sz="3200" b="1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16878" y="1162844"/>
            <a:ext cx="11291417" cy="4532312"/>
          </a:xfrm>
        </p:spPr>
        <p:txBody>
          <a:bodyPr>
            <a:normAutofit/>
          </a:bodyPr>
          <a:lstStyle/>
          <a:p>
            <a:pPr>
              <a:defRPr/>
            </a:pPr>
            <a:r>
              <a:rPr lang="en-US" sz="2400" b="1" dirty="0">
                <a:solidFill>
                  <a:srgbClr val="16191F"/>
                </a:solidFill>
              </a:rPr>
              <a:t>full-access managed policy</a:t>
            </a:r>
            <a:r>
              <a:rPr lang="en-US" sz="2400" dirty="0">
                <a:solidFill>
                  <a:srgbClr val="16191F"/>
                </a:solidFill>
              </a:rPr>
              <a:t>: defines permissions for administrators by granting full access to services, e.g., </a:t>
            </a:r>
            <a:r>
              <a:rPr lang="en-AU" sz="2400" dirty="0" err="1">
                <a:solidFill>
                  <a:srgbClr val="16191F"/>
                </a:solidFill>
                <a:latin typeface="+mn-lt"/>
              </a:rPr>
              <a:t>AdministratorAccess</a:t>
            </a:r>
            <a:r>
              <a:rPr lang="en-AU" sz="2400" dirty="0">
                <a:solidFill>
                  <a:srgbClr val="16191F"/>
                </a:solidFill>
                <a:latin typeface="+mn-lt"/>
              </a:rPr>
              <a:t>.</a:t>
            </a:r>
            <a:endParaRPr lang="en-US" sz="2400" dirty="0">
              <a:solidFill>
                <a:srgbClr val="16191F"/>
              </a:solidFill>
            </a:endParaRPr>
          </a:p>
          <a:p>
            <a:pPr>
              <a:defRPr/>
            </a:pPr>
            <a:r>
              <a:rPr lang="en-US" sz="2400" b="1" dirty="0">
                <a:solidFill>
                  <a:srgbClr val="16191F"/>
                </a:solidFill>
              </a:rPr>
              <a:t>power-user managed policy</a:t>
            </a:r>
            <a:r>
              <a:rPr lang="en-US" sz="2400" dirty="0">
                <a:solidFill>
                  <a:srgbClr val="16191F"/>
                </a:solidFill>
              </a:rPr>
              <a:t>: provides full access to services and resources, but disallows managing users and groups, i.e., a subset of full-access managed policy, e.g., </a:t>
            </a:r>
            <a:r>
              <a:rPr lang="en-AU" sz="2400" dirty="0" err="1">
                <a:solidFill>
                  <a:srgbClr val="16191F"/>
                </a:solidFill>
                <a:latin typeface="+mn-lt"/>
              </a:rPr>
              <a:t>PowerUserAccess</a:t>
            </a:r>
            <a:r>
              <a:rPr lang="en-AU" sz="2400" b="1" dirty="0">
                <a:solidFill>
                  <a:srgbClr val="16191F"/>
                </a:solidFill>
                <a:latin typeface="+mn-lt"/>
              </a:rPr>
              <a:t>.</a:t>
            </a:r>
            <a:endParaRPr lang="en-US" sz="2400" dirty="0">
              <a:solidFill>
                <a:srgbClr val="16191F"/>
              </a:solidFill>
            </a:endParaRPr>
          </a:p>
          <a:p>
            <a:pPr>
              <a:defRPr/>
            </a:pPr>
            <a:r>
              <a:rPr lang="en-US" sz="2400" b="1" dirty="0">
                <a:solidFill>
                  <a:srgbClr val="16191F"/>
                </a:solidFill>
              </a:rPr>
              <a:t>partial-user managed policy</a:t>
            </a:r>
            <a:r>
              <a:rPr lang="en-US" sz="2400" dirty="0">
                <a:solidFill>
                  <a:srgbClr val="16191F"/>
                </a:solidFill>
              </a:rPr>
              <a:t>: provides varying access to specific services, i.e., a subset of power-user managed policy, e.g., </a:t>
            </a:r>
            <a:r>
              <a:rPr lang="en-AU" sz="2400" dirty="0" err="1">
                <a:solidFill>
                  <a:srgbClr val="16191F"/>
                </a:solidFill>
                <a:latin typeface="+mn-lt"/>
              </a:rPr>
              <a:t>AWSCloudTrail_ReadOnlyAccess</a:t>
            </a:r>
            <a:r>
              <a:rPr lang="en-AU" sz="2400" dirty="0">
                <a:solidFill>
                  <a:srgbClr val="16191F"/>
                </a:solidFill>
                <a:latin typeface="+mn-lt"/>
              </a:rPr>
              <a:t>.</a:t>
            </a:r>
            <a:endParaRPr lang="en-US" sz="2400" dirty="0">
              <a:solidFill>
                <a:srgbClr val="16191F"/>
              </a:solidFill>
            </a:endParaRPr>
          </a:p>
          <a:p>
            <a:pPr lvl="1">
              <a:defRPr/>
            </a:pP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157606205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9689" y="235631"/>
            <a:ext cx="5116551" cy="539622"/>
          </a:xfrm>
        </p:spPr>
        <p:txBody>
          <a:bodyPr>
            <a:normAutofit/>
          </a:bodyPr>
          <a:lstStyle/>
          <a:p>
            <a:r>
              <a:rPr lang="en-AU" sz="3200" b="1" dirty="0"/>
              <a:t>AWS managed policy</a:t>
            </a:r>
            <a:endParaRPr lang="en-US" sz="3200" b="1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34A8BE9-272A-4B5B-A4CC-29F452923C5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36307" y="972704"/>
            <a:ext cx="8119385" cy="5308828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8370F18F-8E36-4F31-958B-42B9E76D29C9}"/>
              </a:ext>
            </a:extLst>
          </p:cNvPr>
          <p:cNvSpPr txBox="1"/>
          <p:nvPr/>
        </p:nvSpPr>
        <p:spPr>
          <a:xfrm>
            <a:off x="4359392" y="6483869"/>
            <a:ext cx="7716493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AU" sz="1200" dirty="0">
                <a:latin typeface="+mn-lt"/>
              </a:rPr>
              <a:t>https://docs.aws.amazon.com/IAM/latest/UserGuide/access_policies_managed-vs-inline.html#aws-managed-policies</a:t>
            </a:r>
          </a:p>
        </p:txBody>
      </p:sp>
    </p:spTree>
    <p:extLst>
      <p:ext uri="{BB962C8B-B14F-4D97-AF65-F5344CB8AC3E}">
        <p14:creationId xmlns:p14="http://schemas.microsoft.com/office/powerpoint/2010/main" val="2189245151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9689" y="235631"/>
            <a:ext cx="5116551" cy="539622"/>
          </a:xfrm>
        </p:spPr>
        <p:txBody>
          <a:bodyPr>
            <a:normAutofit/>
          </a:bodyPr>
          <a:lstStyle/>
          <a:p>
            <a:r>
              <a:rPr lang="en-AU" sz="3200" b="1" dirty="0" err="1">
                <a:solidFill>
                  <a:srgbClr val="16191F"/>
                </a:solidFill>
                <a:latin typeface="+mn-lt"/>
              </a:rPr>
              <a:t>AdministratorAccess</a:t>
            </a:r>
            <a:endParaRPr lang="en-US" sz="3200" b="1" dirty="0">
              <a:solidFill>
                <a:srgbClr val="16191F"/>
              </a:solidFill>
              <a:latin typeface="+mn-lt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1D474CA-CA3C-46A9-BF3A-026768BDE282}"/>
              </a:ext>
            </a:extLst>
          </p:cNvPr>
          <p:cNvSpPr txBox="1"/>
          <p:nvPr/>
        </p:nvSpPr>
        <p:spPr>
          <a:xfrm>
            <a:off x="6614683" y="1199236"/>
            <a:ext cx="4631634" cy="4450449"/>
          </a:xfrm>
          <a:prstGeom prst="rect">
            <a:avLst/>
          </a:prstGeom>
          <a:solidFill>
            <a:schemeClr val="bg1">
              <a:lumMod val="85000"/>
              <a:alpha val="3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49213" lvl="2" algn="l"/>
            <a:r>
              <a:rPr lang="en-US" sz="2400" dirty="0">
                <a:latin typeface="+mn-lt"/>
              </a:rPr>
              <a:t>{</a:t>
            </a:r>
          </a:p>
          <a:p>
            <a:pPr marL="49213" lvl="2" algn="l"/>
            <a:r>
              <a:rPr lang="en-US" sz="2400" dirty="0">
                <a:latin typeface="+mn-lt"/>
              </a:rPr>
              <a:t>    "Version": "2012-10-17",</a:t>
            </a:r>
          </a:p>
          <a:p>
            <a:pPr marL="49213" lvl="2" algn="l"/>
            <a:r>
              <a:rPr lang="en-US" sz="2400" dirty="0">
                <a:latin typeface="+mn-lt"/>
              </a:rPr>
              <a:t>    "Statement": [</a:t>
            </a:r>
          </a:p>
          <a:p>
            <a:pPr marL="49213" lvl="2" algn="l"/>
            <a:r>
              <a:rPr lang="en-US" sz="2400" dirty="0">
                <a:latin typeface="+mn-lt"/>
              </a:rPr>
              <a:t>        {</a:t>
            </a:r>
          </a:p>
          <a:p>
            <a:pPr marL="49213" lvl="2" algn="l"/>
            <a:r>
              <a:rPr lang="en-US" sz="2400" dirty="0">
                <a:latin typeface="+mn-lt"/>
              </a:rPr>
              <a:t>            "Effect": "Allow",</a:t>
            </a:r>
          </a:p>
          <a:p>
            <a:pPr marL="49213" lvl="2" algn="l"/>
            <a:r>
              <a:rPr lang="en-US" sz="2400" dirty="0">
                <a:latin typeface="+mn-lt"/>
              </a:rPr>
              <a:t>            "Action": "*",</a:t>
            </a:r>
          </a:p>
          <a:p>
            <a:pPr marL="49213" lvl="2" algn="l"/>
            <a:r>
              <a:rPr lang="en-US" sz="2400" dirty="0">
                <a:latin typeface="+mn-lt"/>
              </a:rPr>
              <a:t>            "Resource": "*"</a:t>
            </a:r>
          </a:p>
          <a:p>
            <a:pPr marL="49213" lvl="2" algn="l"/>
            <a:r>
              <a:rPr lang="en-US" sz="2400" dirty="0">
                <a:latin typeface="+mn-lt"/>
              </a:rPr>
              <a:t>        }</a:t>
            </a:r>
          </a:p>
          <a:p>
            <a:pPr marL="49213" lvl="2" algn="l"/>
            <a:r>
              <a:rPr lang="en-US" sz="2400" dirty="0">
                <a:latin typeface="+mn-lt"/>
              </a:rPr>
              <a:t>    ]</a:t>
            </a:r>
          </a:p>
          <a:p>
            <a:pPr marL="49213" lvl="2" algn="l"/>
            <a:r>
              <a:rPr lang="en-US" sz="2400" dirty="0">
                <a:latin typeface="+mn-lt"/>
              </a:rPr>
              <a:t>}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79D1FF7-0B2C-4CFC-991F-05103A538ED6}"/>
              </a:ext>
            </a:extLst>
          </p:cNvPr>
          <p:cNvSpPr txBox="1"/>
          <p:nvPr/>
        </p:nvSpPr>
        <p:spPr>
          <a:xfrm>
            <a:off x="349689" y="1203775"/>
            <a:ext cx="5799900" cy="33784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7000"/>
              </a:lnSpc>
              <a:spcAft>
                <a:spcPts val="800"/>
              </a:spcAft>
            </a:pPr>
            <a:r>
              <a:rPr lang="en-US" sz="1800" b="1" dirty="0">
                <a:latin typeface="+mn-lt"/>
              </a:rPr>
              <a:t>Version</a:t>
            </a:r>
            <a:r>
              <a:rPr lang="en-US" sz="1800" dirty="0">
                <a:latin typeface="+mn-lt"/>
              </a:rPr>
              <a:t>: indicates the language version of the policy language.</a:t>
            </a:r>
          </a:p>
          <a:p>
            <a:pPr algn="l">
              <a:lnSpc>
                <a:spcPct val="107000"/>
              </a:lnSpc>
              <a:spcAft>
                <a:spcPts val="800"/>
              </a:spcAft>
            </a:pPr>
            <a:r>
              <a:rPr lang="en-US" sz="1800" b="1" dirty="0">
                <a:latin typeface="+mn-lt"/>
              </a:rPr>
              <a:t>Statement</a:t>
            </a:r>
            <a:r>
              <a:rPr lang="en-US" sz="1800" dirty="0">
                <a:latin typeface="+mn-lt"/>
              </a:rPr>
              <a:t>: represents a permission rule.</a:t>
            </a:r>
          </a:p>
          <a:p>
            <a:pPr algn="l">
              <a:lnSpc>
                <a:spcPct val="107000"/>
              </a:lnSpc>
              <a:spcAft>
                <a:spcPts val="800"/>
              </a:spcAft>
            </a:pPr>
            <a:r>
              <a:rPr lang="en-US" sz="1800" b="1" dirty="0">
                <a:latin typeface="+mn-lt"/>
              </a:rPr>
              <a:t>Effect</a:t>
            </a:r>
            <a:r>
              <a:rPr lang="en-US" sz="1800" dirty="0">
                <a:latin typeface="+mn-lt"/>
              </a:rPr>
              <a:t>: what the effect will be when a user requests the specific action—this can be either </a:t>
            </a:r>
            <a:r>
              <a:rPr lang="en-US" sz="1800" b="1" dirty="0">
                <a:latin typeface="+mn-lt"/>
              </a:rPr>
              <a:t>Allow</a:t>
            </a:r>
            <a:r>
              <a:rPr lang="en-US" sz="1800" dirty="0">
                <a:latin typeface="+mn-lt"/>
              </a:rPr>
              <a:t> or </a:t>
            </a:r>
            <a:r>
              <a:rPr lang="en-US" sz="1800" b="1" dirty="0">
                <a:latin typeface="+mn-lt"/>
              </a:rPr>
              <a:t>Deny.</a:t>
            </a:r>
            <a:endParaRPr lang="en-US" sz="1800" dirty="0">
              <a:latin typeface="+mn-lt"/>
            </a:endParaRPr>
          </a:p>
          <a:p>
            <a:pPr algn="l">
              <a:lnSpc>
                <a:spcPct val="107000"/>
              </a:lnSpc>
              <a:spcAft>
                <a:spcPts val="800"/>
              </a:spcAft>
            </a:pPr>
            <a:r>
              <a:rPr lang="en-US" sz="1800" b="1" dirty="0">
                <a:latin typeface="+mn-lt"/>
              </a:rPr>
              <a:t>Action</a:t>
            </a:r>
            <a:r>
              <a:rPr lang="en-US" sz="1800" dirty="0">
                <a:latin typeface="+mn-lt"/>
              </a:rPr>
              <a:t>: defines a set of resource operations a user/application is allowed (or denied) to perform.</a:t>
            </a:r>
          </a:p>
          <a:p>
            <a:pPr algn="l">
              <a:lnSpc>
                <a:spcPct val="107000"/>
              </a:lnSpc>
              <a:spcAft>
                <a:spcPts val="800"/>
              </a:spcAft>
            </a:pPr>
            <a:r>
              <a:rPr lang="en-US" sz="1800" b="1" dirty="0">
                <a:latin typeface="+mn-lt"/>
              </a:rPr>
              <a:t>Resource</a:t>
            </a:r>
            <a:r>
              <a:rPr lang="en-US" sz="1800" dirty="0">
                <a:latin typeface="+mn-lt"/>
              </a:rPr>
              <a:t>: specifies AWS resources for which a user is allowed or denied to take actions. ARN is often used.</a:t>
            </a:r>
          </a:p>
        </p:txBody>
      </p:sp>
    </p:spTree>
    <p:extLst>
      <p:ext uri="{BB962C8B-B14F-4D97-AF65-F5344CB8AC3E}">
        <p14:creationId xmlns:p14="http://schemas.microsoft.com/office/powerpoint/2010/main" val="1362306075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9689" y="235631"/>
            <a:ext cx="3714311" cy="539622"/>
          </a:xfrm>
        </p:spPr>
        <p:txBody>
          <a:bodyPr>
            <a:normAutofit/>
          </a:bodyPr>
          <a:lstStyle/>
          <a:p>
            <a:r>
              <a:rPr lang="en-AU" sz="3200" b="1" dirty="0" err="1">
                <a:solidFill>
                  <a:srgbClr val="16191F"/>
                </a:solidFill>
                <a:latin typeface="+mn-lt"/>
              </a:rPr>
              <a:t>PowerUserAccess</a:t>
            </a:r>
            <a:endParaRPr lang="en-US" sz="3200" b="1" dirty="0">
              <a:solidFill>
                <a:srgbClr val="16191F"/>
              </a:solidFill>
              <a:latin typeface="+mn-lt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1D474CA-CA3C-46A9-BF3A-026768BDE282}"/>
              </a:ext>
            </a:extLst>
          </p:cNvPr>
          <p:cNvSpPr txBox="1"/>
          <p:nvPr/>
        </p:nvSpPr>
        <p:spPr>
          <a:xfrm>
            <a:off x="5642660" y="305068"/>
            <a:ext cx="4631634" cy="6247864"/>
          </a:xfrm>
          <a:prstGeom prst="rect">
            <a:avLst/>
          </a:prstGeom>
          <a:solidFill>
            <a:schemeClr val="bg1">
              <a:lumMod val="85000"/>
              <a:alpha val="3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49213" lvl="2" algn="l"/>
            <a:r>
              <a:rPr lang="en-US" sz="1600" dirty="0">
                <a:latin typeface="+mn-lt"/>
              </a:rPr>
              <a:t>{</a:t>
            </a:r>
          </a:p>
          <a:p>
            <a:pPr marL="49213" lvl="2" algn="l"/>
            <a:r>
              <a:rPr lang="en-US" sz="1600" dirty="0">
                <a:latin typeface="+mn-lt"/>
              </a:rPr>
              <a:t>    "Version": "2012-10-17",</a:t>
            </a:r>
          </a:p>
          <a:p>
            <a:pPr marL="49213" lvl="2" algn="l"/>
            <a:r>
              <a:rPr lang="en-US" sz="1600" dirty="0">
                <a:latin typeface="+mn-lt"/>
              </a:rPr>
              <a:t>    "Statement": [</a:t>
            </a:r>
          </a:p>
          <a:p>
            <a:pPr marL="49213" lvl="2" algn="l"/>
            <a:r>
              <a:rPr lang="en-US" sz="1600" dirty="0">
                <a:latin typeface="+mn-lt"/>
              </a:rPr>
              <a:t>        {  "Effect": "Allow",</a:t>
            </a:r>
          </a:p>
          <a:p>
            <a:pPr marL="49213" lvl="2" algn="l"/>
            <a:r>
              <a:rPr lang="en-US" sz="1600" dirty="0">
                <a:latin typeface="+mn-lt"/>
              </a:rPr>
              <a:t>            "</a:t>
            </a:r>
            <a:r>
              <a:rPr lang="en-US" sz="1600" dirty="0" err="1">
                <a:latin typeface="+mn-lt"/>
              </a:rPr>
              <a:t>NotAction</a:t>
            </a:r>
            <a:r>
              <a:rPr lang="en-US" sz="1600" dirty="0">
                <a:latin typeface="+mn-lt"/>
              </a:rPr>
              <a:t>": [</a:t>
            </a:r>
          </a:p>
          <a:p>
            <a:pPr marL="49213" lvl="2" algn="l"/>
            <a:r>
              <a:rPr lang="en-US" sz="1600" dirty="0">
                <a:latin typeface="+mn-lt"/>
              </a:rPr>
              <a:t>                "</a:t>
            </a:r>
            <a:r>
              <a:rPr lang="en-US" sz="1600" dirty="0" err="1">
                <a:latin typeface="+mn-lt"/>
              </a:rPr>
              <a:t>iam</a:t>
            </a:r>
            <a:r>
              <a:rPr lang="en-US" sz="1600" dirty="0">
                <a:latin typeface="+mn-lt"/>
              </a:rPr>
              <a:t>:*",</a:t>
            </a:r>
          </a:p>
          <a:p>
            <a:pPr marL="49213" lvl="2" algn="l"/>
            <a:r>
              <a:rPr lang="en-US" sz="1600" dirty="0">
                <a:latin typeface="+mn-lt"/>
              </a:rPr>
              <a:t>                "organizations:*",</a:t>
            </a:r>
          </a:p>
          <a:p>
            <a:pPr marL="49213" lvl="2" algn="l"/>
            <a:r>
              <a:rPr lang="en-US" sz="1600" dirty="0">
                <a:latin typeface="+mn-lt"/>
              </a:rPr>
              <a:t>                "account:*"</a:t>
            </a:r>
          </a:p>
          <a:p>
            <a:pPr marL="49213" lvl="2" algn="l"/>
            <a:r>
              <a:rPr lang="en-US" sz="1600" dirty="0">
                <a:latin typeface="+mn-lt"/>
              </a:rPr>
              <a:t>            ],</a:t>
            </a:r>
          </a:p>
          <a:p>
            <a:pPr marL="49213" lvl="2" algn="l"/>
            <a:r>
              <a:rPr lang="en-US" sz="1600" dirty="0">
                <a:latin typeface="+mn-lt"/>
              </a:rPr>
              <a:t>            "Resource": "*"</a:t>
            </a:r>
          </a:p>
          <a:p>
            <a:pPr marL="49213" lvl="2" algn="l"/>
            <a:r>
              <a:rPr lang="en-US" sz="1600" dirty="0">
                <a:latin typeface="+mn-lt"/>
              </a:rPr>
              <a:t>        },</a:t>
            </a:r>
          </a:p>
          <a:p>
            <a:pPr marL="49213" lvl="2" algn="l"/>
            <a:r>
              <a:rPr lang="en-US" sz="1600" dirty="0">
                <a:latin typeface="+mn-lt"/>
              </a:rPr>
              <a:t>        {  "Effect": "Allow",</a:t>
            </a:r>
          </a:p>
          <a:p>
            <a:pPr marL="49213" lvl="2" algn="l"/>
            <a:r>
              <a:rPr lang="en-US" sz="1600" dirty="0">
                <a:latin typeface="+mn-lt"/>
              </a:rPr>
              <a:t>            "Action": [</a:t>
            </a:r>
          </a:p>
          <a:p>
            <a:pPr marL="49213" lvl="2" algn="l"/>
            <a:r>
              <a:rPr lang="en-US" sz="1600" dirty="0">
                <a:latin typeface="+mn-lt"/>
              </a:rPr>
              <a:t>                "</a:t>
            </a:r>
            <a:r>
              <a:rPr lang="en-US" sz="1600" dirty="0" err="1">
                <a:latin typeface="+mn-lt"/>
              </a:rPr>
              <a:t>iam:ListRoles</a:t>
            </a:r>
            <a:r>
              <a:rPr lang="en-US" sz="1600" dirty="0">
                <a:latin typeface="+mn-lt"/>
              </a:rPr>
              <a:t>",</a:t>
            </a:r>
          </a:p>
          <a:p>
            <a:pPr marL="49213" lvl="2" algn="l"/>
            <a:r>
              <a:rPr lang="en-US" sz="1600" dirty="0">
                <a:latin typeface="+mn-lt"/>
              </a:rPr>
              <a:t>                "</a:t>
            </a:r>
            <a:r>
              <a:rPr lang="en-US" sz="1600" dirty="0" err="1">
                <a:latin typeface="+mn-lt"/>
              </a:rPr>
              <a:t>organizations:DescribeOrganization</a:t>
            </a:r>
            <a:r>
              <a:rPr lang="en-US" sz="1600" dirty="0">
                <a:latin typeface="+mn-lt"/>
              </a:rPr>
              <a:t>",</a:t>
            </a:r>
          </a:p>
          <a:p>
            <a:pPr marL="49213" lvl="2" algn="l"/>
            <a:r>
              <a:rPr lang="en-US" sz="1600" dirty="0">
                <a:latin typeface="+mn-lt"/>
              </a:rPr>
              <a:t>                "</a:t>
            </a:r>
            <a:r>
              <a:rPr lang="en-US" sz="1600" dirty="0" err="1">
                <a:latin typeface="+mn-lt"/>
              </a:rPr>
              <a:t>account:GetAccountInformation</a:t>
            </a:r>
            <a:r>
              <a:rPr lang="en-US" sz="1600" dirty="0">
                <a:latin typeface="+mn-lt"/>
              </a:rPr>
              <a:t>"</a:t>
            </a:r>
          </a:p>
          <a:p>
            <a:pPr marL="49213" lvl="2" algn="l"/>
            <a:r>
              <a:rPr lang="en-US" sz="1600" dirty="0">
                <a:latin typeface="+mn-lt"/>
              </a:rPr>
              <a:t>            ],</a:t>
            </a:r>
          </a:p>
          <a:p>
            <a:pPr marL="49213" lvl="2" algn="l"/>
            <a:r>
              <a:rPr lang="en-US" sz="1600" dirty="0">
                <a:latin typeface="+mn-lt"/>
              </a:rPr>
              <a:t>            "Resource": "*"</a:t>
            </a:r>
          </a:p>
          <a:p>
            <a:pPr marL="49213" lvl="2" algn="l"/>
            <a:r>
              <a:rPr lang="en-US" sz="1600" dirty="0">
                <a:latin typeface="+mn-lt"/>
              </a:rPr>
              <a:t>        }</a:t>
            </a:r>
          </a:p>
          <a:p>
            <a:pPr marL="49213" lvl="2" algn="l"/>
            <a:r>
              <a:rPr lang="en-US" sz="1600" dirty="0">
                <a:latin typeface="+mn-lt"/>
              </a:rPr>
              <a:t>    ]</a:t>
            </a:r>
          </a:p>
          <a:p>
            <a:pPr marL="49213" lvl="2" algn="l"/>
            <a:r>
              <a:rPr lang="en-US" sz="1600" dirty="0">
                <a:latin typeface="+mn-lt"/>
              </a:rPr>
              <a:t>}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C39EAAC1-8964-4BCF-B32A-9A89EE6463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6878" y="1162844"/>
            <a:ext cx="4631635" cy="1466056"/>
          </a:xfrm>
        </p:spPr>
        <p:txBody>
          <a:bodyPr>
            <a:normAutofit/>
          </a:bodyPr>
          <a:lstStyle/>
          <a:p>
            <a:pPr>
              <a:defRPr/>
            </a:pPr>
            <a:r>
              <a:rPr lang="en-US" altLang="zh-CN" sz="2400" dirty="0">
                <a:solidFill>
                  <a:srgbClr val="16191F"/>
                </a:solidFill>
              </a:rPr>
              <a:t>Organizations: are</a:t>
            </a:r>
            <a:r>
              <a:rPr lang="en-US" sz="2400" dirty="0">
                <a:solidFill>
                  <a:srgbClr val="16191F"/>
                </a:solidFill>
              </a:rPr>
              <a:t> a service that allows us to consolidate multiple AWS accounts into an organizational structure.</a:t>
            </a:r>
          </a:p>
          <a:p>
            <a:pPr marL="0" indent="0">
              <a:buNone/>
              <a:defRPr/>
            </a:pPr>
            <a:endParaRPr lang="en-AU" sz="2400" dirty="0">
              <a:solidFill>
                <a:srgbClr val="16191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72710811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9689" y="235631"/>
            <a:ext cx="3714311" cy="539622"/>
          </a:xfrm>
        </p:spPr>
        <p:txBody>
          <a:bodyPr>
            <a:normAutofit/>
          </a:bodyPr>
          <a:lstStyle/>
          <a:p>
            <a:r>
              <a:rPr lang="en-AU" sz="3200" b="1" dirty="0" err="1">
                <a:solidFill>
                  <a:srgbClr val="16191F"/>
                </a:solidFill>
                <a:latin typeface="+mn-lt"/>
              </a:rPr>
              <a:t>PowerUserAccess</a:t>
            </a:r>
            <a:endParaRPr lang="en-US" sz="3200" b="1" dirty="0">
              <a:solidFill>
                <a:srgbClr val="16191F"/>
              </a:solidFill>
              <a:latin typeface="+mn-lt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1D474CA-CA3C-46A9-BF3A-026768BDE282}"/>
              </a:ext>
            </a:extLst>
          </p:cNvPr>
          <p:cNvSpPr txBox="1"/>
          <p:nvPr/>
        </p:nvSpPr>
        <p:spPr>
          <a:xfrm>
            <a:off x="5642660" y="305068"/>
            <a:ext cx="4631634" cy="6247864"/>
          </a:xfrm>
          <a:prstGeom prst="rect">
            <a:avLst/>
          </a:prstGeom>
          <a:solidFill>
            <a:schemeClr val="bg1">
              <a:lumMod val="85000"/>
              <a:alpha val="3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49213" lvl="2" algn="l"/>
            <a:r>
              <a:rPr lang="en-US" sz="1600" dirty="0">
                <a:latin typeface="+mn-lt"/>
              </a:rPr>
              <a:t>{</a:t>
            </a:r>
          </a:p>
          <a:p>
            <a:pPr marL="49213" lvl="2" algn="l"/>
            <a:r>
              <a:rPr lang="en-US" sz="1600" dirty="0">
                <a:latin typeface="+mn-lt"/>
              </a:rPr>
              <a:t>    "Version": "2012-10-17",</a:t>
            </a:r>
          </a:p>
          <a:p>
            <a:pPr marL="49213" lvl="2" algn="l"/>
            <a:r>
              <a:rPr lang="en-US" sz="1600" dirty="0">
                <a:latin typeface="+mn-lt"/>
              </a:rPr>
              <a:t>    "Statement": [</a:t>
            </a:r>
          </a:p>
          <a:p>
            <a:pPr marL="49213" lvl="2" algn="l"/>
            <a:r>
              <a:rPr lang="en-US" sz="1600" dirty="0">
                <a:latin typeface="+mn-lt"/>
              </a:rPr>
              <a:t>        {  "Effect": "Allow",</a:t>
            </a:r>
          </a:p>
          <a:p>
            <a:pPr marL="49213" lvl="2" algn="l"/>
            <a:r>
              <a:rPr lang="en-US" sz="1600" dirty="0">
                <a:latin typeface="+mn-lt"/>
              </a:rPr>
              <a:t>            "</a:t>
            </a:r>
            <a:r>
              <a:rPr lang="en-US" sz="1600" dirty="0" err="1">
                <a:latin typeface="+mn-lt"/>
              </a:rPr>
              <a:t>NotAction</a:t>
            </a:r>
            <a:r>
              <a:rPr lang="en-US" sz="1600" dirty="0">
                <a:latin typeface="+mn-lt"/>
              </a:rPr>
              <a:t>": [</a:t>
            </a:r>
          </a:p>
          <a:p>
            <a:pPr marL="49213" lvl="2" algn="l"/>
            <a:r>
              <a:rPr lang="en-US" sz="1600" dirty="0">
                <a:latin typeface="+mn-lt"/>
              </a:rPr>
              <a:t>                "</a:t>
            </a:r>
            <a:r>
              <a:rPr lang="en-US" sz="1600" dirty="0" err="1">
                <a:latin typeface="+mn-lt"/>
              </a:rPr>
              <a:t>iam</a:t>
            </a:r>
            <a:r>
              <a:rPr lang="en-US" sz="1600" dirty="0">
                <a:latin typeface="+mn-lt"/>
              </a:rPr>
              <a:t>:*",</a:t>
            </a:r>
          </a:p>
          <a:p>
            <a:pPr marL="49213" lvl="2" algn="l"/>
            <a:r>
              <a:rPr lang="en-US" sz="1600" dirty="0">
                <a:latin typeface="+mn-lt"/>
              </a:rPr>
              <a:t>                "organizations:*",</a:t>
            </a:r>
          </a:p>
          <a:p>
            <a:pPr marL="49213" lvl="2" algn="l"/>
            <a:r>
              <a:rPr lang="en-US" sz="1600" dirty="0">
                <a:latin typeface="+mn-lt"/>
              </a:rPr>
              <a:t>                "account:*"</a:t>
            </a:r>
          </a:p>
          <a:p>
            <a:pPr marL="49213" lvl="2" algn="l"/>
            <a:r>
              <a:rPr lang="en-US" sz="1600" dirty="0">
                <a:latin typeface="+mn-lt"/>
              </a:rPr>
              <a:t>            ],</a:t>
            </a:r>
          </a:p>
          <a:p>
            <a:pPr marL="49213" lvl="2" algn="l"/>
            <a:r>
              <a:rPr lang="en-US" sz="1600" dirty="0">
                <a:latin typeface="+mn-lt"/>
              </a:rPr>
              <a:t>            "Resource": "*"</a:t>
            </a:r>
          </a:p>
          <a:p>
            <a:pPr marL="49213" lvl="2" algn="l"/>
            <a:r>
              <a:rPr lang="en-US" sz="1600" dirty="0">
                <a:latin typeface="+mn-lt"/>
              </a:rPr>
              <a:t>        },</a:t>
            </a:r>
          </a:p>
          <a:p>
            <a:pPr marL="49213" lvl="2" algn="l"/>
            <a:r>
              <a:rPr lang="en-US" sz="1600" dirty="0">
                <a:latin typeface="+mn-lt"/>
              </a:rPr>
              <a:t>        {  "Effect": "Allow",</a:t>
            </a:r>
          </a:p>
          <a:p>
            <a:pPr marL="49213" lvl="2" algn="l"/>
            <a:r>
              <a:rPr lang="en-US" sz="1600" dirty="0">
                <a:latin typeface="+mn-lt"/>
              </a:rPr>
              <a:t>            "Action": [</a:t>
            </a:r>
          </a:p>
          <a:p>
            <a:pPr marL="49213" lvl="2" algn="l"/>
            <a:r>
              <a:rPr lang="en-US" sz="1600" dirty="0">
                <a:latin typeface="+mn-lt"/>
              </a:rPr>
              <a:t>                "</a:t>
            </a:r>
            <a:r>
              <a:rPr lang="en-US" sz="1600" dirty="0" err="1">
                <a:latin typeface="+mn-lt"/>
              </a:rPr>
              <a:t>iam:ListRoles</a:t>
            </a:r>
            <a:r>
              <a:rPr lang="en-US" sz="1600" dirty="0">
                <a:latin typeface="+mn-lt"/>
              </a:rPr>
              <a:t>",</a:t>
            </a:r>
          </a:p>
          <a:p>
            <a:pPr marL="49213" lvl="2" algn="l"/>
            <a:r>
              <a:rPr lang="en-US" sz="1600" dirty="0">
                <a:latin typeface="+mn-lt"/>
              </a:rPr>
              <a:t>                "</a:t>
            </a:r>
            <a:r>
              <a:rPr lang="en-US" sz="1600" dirty="0" err="1">
                <a:latin typeface="+mn-lt"/>
              </a:rPr>
              <a:t>organizations:DescribeOrganization</a:t>
            </a:r>
            <a:r>
              <a:rPr lang="en-US" sz="1600" dirty="0">
                <a:latin typeface="+mn-lt"/>
              </a:rPr>
              <a:t>",</a:t>
            </a:r>
          </a:p>
          <a:p>
            <a:pPr marL="49213" lvl="2" algn="l"/>
            <a:r>
              <a:rPr lang="en-US" sz="1600" dirty="0">
                <a:latin typeface="+mn-lt"/>
              </a:rPr>
              <a:t>                "</a:t>
            </a:r>
            <a:r>
              <a:rPr lang="en-US" sz="1600" dirty="0" err="1">
                <a:latin typeface="+mn-lt"/>
              </a:rPr>
              <a:t>account:GetAccountInformation</a:t>
            </a:r>
            <a:r>
              <a:rPr lang="en-US" sz="1600" dirty="0">
                <a:latin typeface="+mn-lt"/>
              </a:rPr>
              <a:t>"</a:t>
            </a:r>
          </a:p>
          <a:p>
            <a:pPr marL="49213" lvl="2" algn="l"/>
            <a:r>
              <a:rPr lang="en-US" sz="1600" dirty="0">
                <a:latin typeface="+mn-lt"/>
              </a:rPr>
              <a:t>            ],</a:t>
            </a:r>
          </a:p>
          <a:p>
            <a:pPr marL="49213" lvl="2" algn="l"/>
            <a:r>
              <a:rPr lang="en-US" sz="1600" dirty="0">
                <a:latin typeface="+mn-lt"/>
              </a:rPr>
              <a:t>            "Resource": "*"</a:t>
            </a:r>
          </a:p>
          <a:p>
            <a:pPr marL="49213" lvl="2" algn="l"/>
            <a:r>
              <a:rPr lang="en-US" sz="1600" dirty="0">
                <a:latin typeface="+mn-lt"/>
              </a:rPr>
              <a:t>        }</a:t>
            </a:r>
          </a:p>
          <a:p>
            <a:pPr marL="49213" lvl="2" algn="l"/>
            <a:r>
              <a:rPr lang="en-US" sz="1600" dirty="0">
                <a:latin typeface="+mn-lt"/>
              </a:rPr>
              <a:t>    ]</a:t>
            </a:r>
          </a:p>
          <a:p>
            <a:pPr marL="49213" lvl="2" algn="l"/>
            <a:r>
              <a:rPr lang="en-US" sz="1600" dirty="0">
                <a:latin typeface="+mn-lt"/>
              </a:rPr>
              <a:t>}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1E721762-677A-4FE1-B113-F92F94602FDA}"/>
              </a:ext>
            </a:extLst>
          </p:cNvPr>
          <p:cNvSpPr txBox="1">
            <a:spLocks/>
          </p:cNvSpPr>
          <p:nvPr/>
        </p:nvSpPr>
        <p:spPr>
          <a:xfrm>
            <a:off x="349689" y="1692729"/>
            <a:ext cx="4853622" cy="3045060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fontAlgn="auto">
              <a:spcAft>
                <a:spcPts val="0"/>
              </a:spcAft>
              <a:buClrTx/>
              <a:buSzTx/>
              <a:buNone/>
              <a:defRPr/>
            </a:pPr>
            <a:endParaRPr lang="en-US" sz="2400" dirty="0">
              <a:solidFill>
                <a:srgbClr val="16191F"/>
              </a:solidFill>
            </a:endParaRPr>
          </a:p>
          <a:p>
            <a:pPr fontAlgn="auto">
              <a:spcAft>
                <a:spcPts val="0"/>
              </a:spcAft>
              <a:buClrTx/>
              <a:buSzTx/>
              <a:defRPr/>
            </a:pPr>
            <a:r>
              <a:rPr lang="en-US" sz="2400" dirty="0">
                <a:solidFill>
                  <a:srgbClr val="16191F"/>
                </a:solidFill>
              </a:rPr>
              <a:t>This policy allows all actions on all resources except those related to IAM, Organizations, and Account management. However, it explicitly allows three actions of </a:t>
            </a:r>
            <a:r>
              <a:rPr lang="en-US" sz="2400" dirty="0" err="1">
                <a:solidFill>
                  <a:srgbClr val="16191F"/>
                </a:solidFill>
              </a:rPr>
              <a:t>ListRoles</a:t>
            </a:r>
            <a:r>
              <a:rPr lang="en-US" sz="2400" dirty="0">
                <a:solidFill>
                  <a:srgbClr val="16191F"/>
                </a:solidFill>
              </a:rPr>
              <a:t>, </a:t>
            </a:r>
            <a:r>
              <a:rPr lang="en-US" sz="2400" dirty="0" err="1">
                <a:solidFill>
                  <a:srgbClr val="16191F"/>
                </a:solidFill>
              </a:rPr>
              <a:t>DescribeOrganization</a:t>
            </a:r>
            <a:r>
              <a:rPr lang="en-US" sz="2400" dirty="0">
                <a:solidFill>
                  <a:srgbClr val="16191F"/>
                </a:solidFill>
              </a:rPr>
              <a:t> and </a:t>
            </a:r>
            <a:r>
              <a:rPr lang="en-US" sz="2400" dirty="0" err="1">
                <a:solidFill>
                  <a:srgbClr val="16191F"/>
                </a:solidFill>
              </a:rPr>
              <a:t>GetAccountInformation</a:t>
            </a:r>
            <a:r>
              <a:rPr lang="en-US" sz="2400" dirty="0">
                <a:solidFill>
                  <a:srgbClr val="16191F"/>
                </a:solidFill>
              </a:rPr>
              <a:t>, providing limited access to any resource.</a:t>
            </a:r>
          </a:p>
          <a:p>
            <a:pPr fontAlgn="auto">
              <a:spcAft>
                <a:spcPts val="0"/>
              </a:spcAft>
              <a:buClrTx/>
              <a:buSzTx/>
              <a:defRPr/>
            </a:pPr>
            <a:endParaRPr lang="en-US" sz="2400" dirty="0">
              <a:solidFill>
                <a:srgbClr val="16191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68301146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C1D474CA-CA3C-46A9-BF3A-026768BDE282}"/>
              </a:ext>
            </a:extLst>
          </p:cNvPr>
          <p:cNvSpPr txBox="1"/>
          <p:nvPr/>
        </p:nvSpPr>
        <p:spPr>
          <a:xfrm>
            <a:off x="5642660" y="305068"/>
            <a:ext cx="4631634" cy="6247864"/>
          </a:xfrm>
          <a:prstGeom prst="rect">
            <a:avLst/>
          </a:prstGeom>
          <a:solidFill>
            <a:schemeClr val="bg1">
              <a:lumMod val="85000"/>
              <a:alpha val="3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49213" lvl="2" algn="l"/>
            <a:r>
              <a:rPr lang="en-US" sz="1600" dirty="0">
                <a:latin typeface="+mn-lt"/>
              </a:rPr>
              <a:t>{</a:t>
            </a:r>
          </a:p>
          <a:p>
            <a:pPr marL="49213" lvl="2" algn="l"/>
            <a:r>
              <a:rPr lang="en-US" sz="1600" dirty="0">
                <a:latin typeface="+mn-lt"/>
              </a:rPr>
              <a:t>    "Version": "2012-10-17",</a:t>
            </a:r>
          </a:p>
          <a:p>
            <a:pPr marL="49213" lvl="2" algn="l"/>
            <a:r>
              <a:rPr lang="en-US" sz="1600" dirty="0">
                <a:latin typeface="+mn-lt"/>
              </a:rPr>
              <a:t>    "Statement": [</a:t>
            </a:r>
          </a:p>
          <a:p>
            <a:pPr marL="49213" lvl="2" algn="l"/>
            <a:r>
              <a:rPr lang="en-US" sz="1600" dirty="0">
                <a:latin typeface="+mn-lt"/>
              </a:rPr>
              <a:t>        {  "Effect": "Allow",</a:t>
            </a:r>
          </a:p>
          <a:p>
            <a:pPr marL="49213" lvl="2" algn="l"/>
            <a:r>
              <a:rPr lang="en-US" sz="1600" dirty="0">
                <a:latin typeface="+mn-lt"/>
              </a:rPr>
              <a:t>            "</a:t>
            </a:r>
            <a:r>
              <a:rPr lang="en-US" sz="1600" dirty="0" err="1">
                <a:latin typeface="+mn-lt"/>
              </a:rPr>
              <a:t>NotAction</a:t>
            </a:r>
            <a:r>
              <a:rPr lang="en-US" sz="1600" dirty="0">
                <a:latin typeface="+mn-lt"/>
              </a:rPr>
              <a:t>": [</a:t>
            </a:r>
          </a:p>
          <a:p>
            <a:pPr marL="49213" lvl="2" algn="l"/>
            <a:r>
              <a:rPr lang="en-US" sz="1600" dirty="0">
                <a:latin typeface="+mn-lt"/>
              </a:rPr>
              <a:t>                "</a:t>
            </a:r>
            <a:r>
              <a:rPr lang="en-US" sz="1600" dirty="0" err="1">
                <a:latin typeface="+mn-lt"/>
              </a:rPr>
              <a:t>iam</a:t>
            </a:r>
            <a:r>
              <a:rPr lang="en-US" sz="1600" dirty="0">
                <a:latin typeface="+mn-lt"/>
              </a:rPr>
              <a:t>:*",</a:t>
            </a:r>
          </a:p>
          <a:p>
            <a:pPr marL="49213" lvl="2" algn="l"/>
            <a:r>
              <a:rPr lang="en-US" sz="1600" dirty="0">
                <a:latin typeface="+mn-lt"/>
              </a:rPr>
              <a:t>                "organizations:*",</a:t>
            </a:r>
          </a:p>
          <a:p>
            <a:pPr marL="49213" lvl="2" algn="l"/>
            <a:r>
              <a:rPr lang="en-US" sz="1600" dirty="0">
                <a:latin typeface="+mn-lt"/>
              </a:rPr>
              <a:t>                "account:*"</a:t>
            </a:r>
          </a:p>
          <a:p>
            <a:pPr marL="49213" lvl="2" algn="l"/>
            <a:r>
              <a:rPr lang="en-US" sz="1600" dirty="0">
                <a:latin typeface="+mn-lt"/>
              </a:rPr>
              <a:t>            ],</a:t>
            </a:r>
          </a:p>
          <a:p>
            <a:pPr marL="49213" lvl="2" algn="l"/>
            <a:r>
              <a:rPr lang="en-US" sz="1600" dirty="0">
                <a:latin typeface="+mn-lt"/>
              </a:rPr>
              <a:t>            "Resource": "*"</a:t>
            </a:r>
          </a:p>
          <a:p>
            <a:pPr marL="49213" lvl="2" algn="l"/>
            <a:r>
              <a:rPr lang="en-US" sz="1600" dirty="0">
                <a:latin typeface="+mn-lt"/>
              </a:rPr>
              <a:t>        },</a:t>
            </a:r>
          </a:p>
          <a:p>
            <a:pPr marL="49213" lvl="2" algn="l"/>
            <a:r>
              <a:rPr lang="en-US" sz="1600" dirty="0">
                <a:latin typeface="+mn-lt"/>
              </a:rPr>
              <a:t>        {  "Effect": "Allow",</a:t>
            </a:r>
          </a:p>
          <a:p>
            <a:pPr marL="49213" lvl="2" algn="l"/>
            <a:r>
              <a:rPr lang="en-US" sz="1600" dirty="0">
                <a:latin typeface="+mn-lt"/>
              </a:rPr>
              <a:t>            "Action": [</a:t>
            </a:r>
          </a:p>
          <a:p>
            <a:pPr marL="49213" lvl="2" algn="l"/>
            <a:r>
              <a:rPr lang="en-US" sz="1600" dirty="0">
                <a:latin typeface="+mn-lt"/>
              </a:rPr>
              <a:t>                "</a:t>
            </a:r>
            <a:r>
              <a:rPr lang="en-US" sz="1600" dirty="0" err="1">
                <a:latin typeface="+mn-lt"/>
              </a:rPr>
              <a:t>iam</a:t>
            </a:r>
            <a:r>
              <a:rPr lang="en-US" sz="1600" dirty="0">
                <a:latin typeface="+mn-lt"/>
              </a:rPr>
              <a:t>:*",</a:t>
            </a:r>
          </a:p>
          <a:p>
            <a:pPr marL="49213" lvl="2" algn="l"/>
            <a:r>
              <a:rPr lang="en-US" sz="1600" dirty="0">
                <a:latin typeface="+mn-lt"/>
              </a:rPr>
              <a:t>                "</a:t>
            </a:r>
            <a:r>
              <a:rPr lang="en-US" sz="1600" dirty="0" err="1">
                <a:latin typeface="+mn-lt"/>
              </a:rPr>
              <a:t>organizations:DescribeOrganization</a:t>
            </a:r>
            <a:r>
              <a:rPr lang="en-US" sz="1600" dirty="0">
                <a:latin typeface="+mn-lt"/>
              </a:rPr>
              <a:t>",</a:t>
            </a:r>
          </a:p>
          <a:p>
            <a:pPr marL="49213" lvl="2" algn="l"/>
            <a:r>
              <a:rPr lang="en-US" sz="1600" dirty="0">
                <a:latin typeface="+mn-lt"/>
              </a:rPr>
              <a:t>                "</a:t>
            </a:r>
            <a:r>
              <a:rPr lang="en-US" sz="1600" dirty="0" err="1">
                <a:latin typeface="+mn-lt"/>
              </a:rPr>
              <a:t>account:GetAccountInformation</a:t>
            </a:r>
            <a:r>
              <a:rPr lang="en-US" sz="1600" dirty="0">
                <a:latin typeface="+mn-lt"/>
              </a:rPr>
              <a:t>"</a:t>
            </a:r>
          </a:p>
          <a:p>
            <a:pPr marL="49213" lvl="2" algn="l"/>
            <a:r>
              <a:rPr lang="en-US" sz="1600" dirty="0">
                <a:latin typeface="+mn-lt"/>
              </a:rPr>
              <a:t>            ],</a:t>
            </a:r>
          </a:p>
          <a:p>
            <a:pPr marL="49213" lvl="2" algn="l"/>
            <a:r>
              <a:rPr lang="en-US" sz="1600" dirty="0">
                <a:latin typeface="+mn-lt"/>
              </a:rPr>
              <a:t>            "Resource": "*"</a:t>
            </a:r>
          </a:p>
          <a:p>
            <a:pPr marL="49213" lvl="2" algn="l"/>
            <a:r>
              <a:rPr lang="en-US" sz="1600" dirty="0">
                <a:latin typeface="+mn-lt"/>
              </a:rPr>
              <a:t>        }</a:t>
            </a:r>
          </a:p>
          <a:p>
            <a:pPr marL="49213" lvl="2" algn="l"/>
            <a:r>
              <a:rPr lang="en-US" sz="1600" dirty="0">
                <a:latin typeface="+mn-lt"/>
              </a:rPr>
              <a:t>    ]</a:t>
            </a:r>
          </a:p>
          <a:p>
            <a:pPr marL="49213" lvl="2" algn="l"/>
            <a:r>
              <a:rPr lang="en-US" sz="1600" dirty="0">
                <a:latin typeface="+mn-lt"/>
              </a:rPr>
              <a:t>}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C39EAAC1-8964-4BCF-B32A-9A89EE6463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8511" y="441256"/>
            <a:ext cx="4631635" cy="646501"/>
          </a:xfrm>
        </p:spPr>
        <p:txBody>
          <a:bodyPr>
            <a:normAutofit/>
          </a:bodyPr>
          <a:lstStyle/>
          <a:p>
            <a:pPr>
              <a:defRPr/>
            </a:pPr>
            <a:r>
              <a:rPr lang="en-US" altLang="zh-CN" sz="2400" dirty="0">
                <a:solidFill>
                  <a:srgbClr val="16191F"/>
                </a:solidFill>
              </a:rPr>
              <a:t>What does this policy mean?</a:t>
            </a:r>
            <a:endParaRPr lang="en-US" sz="2400" dirty="0">
              <a:solidFill>
                <a:srgbClr val="16191F"/>
              </a:solidFill>
            </a:endParaRPr>
          </a:p>
          <a:p>
            <a:pPr marL="0" indent="0">
              <a:buNone/>
              <a:defRPr/>
            </a:pPr>
            <a:endParaRPr lang="en-AU" sz="2400" dirty="0">
              <a:solidFill>
                <a:srgbClr val="16191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25472714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C1D474CA-CA3C-46A9-BF3A-026768BDE282}"/>
              </a:ext>
            </a:extLst>
          </p:cNvPr>
          <p:cNvSpPr txBox="1"/>
          <p:nvPr/>
        </p:nvSpPr>
        <p:spPr>
          <a:xfrm>
            <a:off x="5642660" y="305068"/>
            <a:ext cx="4631634" cy="6247864"/>
          </a:xfrm>
          <a:prstGeom prst="rect">
            <a:avLst/>
          </a:prstGeom>
          <a:solidFill>
            <a:schemeClr val="bg1">
              <a:lumMod val="85000"/>
              <a:alpha val="3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49213" lvl="2" algn="l"/>
            <a:r>
              <a:rPr lang="en-US" sz="1600" dirty="0">
                <a:latin typeface="+mn-lt"/>
              </a:rPr>
              <a:t>{</a:t>
            </a:r>
          </a:p>
          <a:p>
            <a:pPr marL="49213" lvl="2" algn="l"/>
            <a:r>
              <a:rPr lang="en-US" sz="1600" dirty="0">
                <a:latin typeface="+mn-lt"/>
              </a:rPr>
              <a:t>    "Version": "2012-10-17",</a:t>
            </a:r>
          </a:p>
          <a:p>
            <a:pPr marL="49213" lvl="2" algn="l"/>
            <a:r>
              <a:rPr lang="en-US" sz="1600" dirty="0">
                <a:latin typeface="+mn-lt"/>
              </a:rPr>
              <a:t>    "Statement": [</a:t>
            </a:r>
          </a:p>
          <a:p>
            <a:pPr marL="49213" lvl="2" algn="l"/>
            <a:r>
              <a:rPr lang="en-US" sz="1600" dirty="0">
                <a:latin typeface="+mn-lt"/>
              </a:rPr>
              <a:t>        {  "Effect": "Allow",</a:t>
            </a:r>
          </a:p>
          <a:p>
            <a:pPr marL="49213" lvl="2" algn="l"/>
            <a:r>
              <a:rPr lang="en-US" sz="1600" dirty="0">
                <a:latin typeface="+mn-lt"/>
              </a:rPr>
              <a:t>            "</a:t>
            </a:r>
            <a:r>
              <a:rPr lang="en-US" sz="1600" dirty="0" err="1">
                <a:latin typeface="+mn-lt"/>
              </a:rPr>
              <a:t>NotAction</a:t>
            </a:r>
            <a:r>
              <a:rPr lang="en-US" sz="1600" dirty="0">
                <a:latin typeface="+mn-lt"/>
              </a:rPr>
              <a:t>": [</a:t>
            </a:r>
          </a:p>
          <a:p>
            <a:pPr marL="49213" lvl="2" algn="l"/>
            <a:r>
              <a:rPr lang="en-US" sz="1600" dirty="0">
                <a:latin typeface="+mn-lt"/>
              </a:rPr>
              <a:t>                "</a:t>
            </a:r>
            <a:r>
              <a:rPr lang="en-US" sz="1600" dirty="0" err="1">
                <a:latin typeface="+mn-lt"/>
              </a:rPr>
              <a:t>iam</a:t>
            </a:r>
            <a:r>
              <a:rPr lang="en-US" sz="1600" dirty="0">
                <a:latin typeface="+mn-lt"/>
              </a:rPr>
              <a:t>:*",</a:t>
            </a:r>
          </a:p>
          <a:p>
            <a:pPr marL="49213" lvl="2" algn="l"/>
            <a:r>
              <a:rPr lang="en-US" sz="1600" dirty="0">
                <a:latin typeface="+mn-lt"/>
              </a:rPr>
              <a:t>                "organizations:*",</a:t>
            </a:r>
          </a:p>
          <a:p>
            <a:pPr marL="49213" lvl="2" algn="l"/>
            <a:r>
              <a:rPr lang="en-US" sz="1600" dirty="0">
                <a:latin typeface="+mn-lt"/>
              </a:rPr>
              <a:t>                "account:*"</a:t>
            </a:r>
          </a:p>
          <a:p>
            <a:pPr marL="49213" lvl="2" algn="l"/>
            <a:r>
              <a:rPr lang="en-US" sz="1600" dirty="0">
                <a:latin typeface="+mn-lt"/>
              </a:rPr>
              <a:t>            ],</a:t>
            </a:r>
          </a:p>
          <a:p>
            <a:pPr marL="49213" lvl="2" algn="l"/>
            <a:r>
              <a:rPr lang="en-US" sz="1600" dirty="0">
                <a:latin typeface="+mn-lt"/>
              </a:rPr>
              <a:t>            "Resource": "*"</a:t>
            </a:r>
          </a:p>
          <a:p>
            <a:pPr marL="49213" lvl="2" algn="l"/>
            <a:r>
              <a:rPr lang="en-US" sz="1600" dirty="0">
                <a:latin typeface="+mn-lt"/>
              </a:rPr>
              <a:t>        },</a:t>
            </a:r>
          </a:p>
          <a:p>
            <a:pPr marL="49213" lvl="2" algn="l"/>
            <a:r>
              <a:rPr lang="en-US" sz="1600" dirty="0">
                <a:latin typeface="+mn-lt"/>
              </a:rPr>
              <a:t>        {  "Effect": "Allow",</a:t>
            </a:r>
          </a:p>
          <a:p>
            <a:pPr marL="49213" lvl="2" algn="l"/>
            <a:r>
              <a:rPr lang="en-US" sz="1600" dirty="0">
                <a:latin typeface="+mn-lt"/>
              </a:rPr>
              <a:t>            "Action": [</a:t>
            </a:r>
          </a:p>
          <a:p>
            <a:pPr marL="49213" lvl="2" algn="l"/>
            <a:r>
              <a:rPr lang="en-US" sz="1600" dirty="0">
                <a:latin typeface="+mn-lt"/>
              </a:rPr>
              <a:t>                "</a:t>
            </a:r>
            <a:r>
              <a:rPr lang="en-US" sz="1600" dirty="0" err="1">
                <a:latin typeface="+mn-lt"/>
              </a:rPr>
              <a:t>iam</a:t>
            </a:r>
            <a:r>
              <a:rPr lang="en-US" sz="1600" dirty="0">
                <a:latin typeface="+mn-lt"/>
              </a:rPr>
              <a:t>:*",</a:t>
            </a:r>
          </a:p>
          <a:p>
            <a:pPr marL="49213" lvl="2" algn="l"/>
            <a:r>
              <a:rPr lang="en-US" sz="1600" dirty="0">
                <a:latin typeface="+mn-lt"/>
              </a:rPr>
              <a:t>                "</a:t>
            </a:r>
            <a:r>
              <a:rPr lang="en-US" sz="1600" dirty="0" err="1">
                <a:latin typeface="+mn-lt"/>
              </a:rPr>
              <a:t>organizations:DescribeOrganization</a:t>
            </a:r>
            <a:r>
              <a:rPr lang="en-US" sz="1600" dirty="0">
                <a:latin typeface="+mn-lt"/>
              </a:rPr>
              <a:t>",</a:t>
            </a:r>
          </a:p>
          <a:p>
            <a:pPr marL="49213" lvl="2" algn="l"/>
            <a:r>
              <a:rPr lang="en-US" sz="1600" dirty="0">
                <a:latin typeface="+mn-lt"/>
              </a:rPr>
              <a:t>                "</a:t>
            </a:r>
            <a:r>
              <a:rPr lang="en-US" sz="1600" dirty="0" err="1">
                <a:latin typeface="+mn-lt"/>
              </a:rPr>
              <a:t>account:GetAccountInformation</a:t>
            </a:r>
            <a:r>
              <a:rPr lang="en-US" sz="1600" dirty="0">
                <a:latin typeface="+mn-lt"/>
              </a:rPr>
              <a:t>"</a:t>
            </a:r>
          </a:p>
          <a:p>
            <a:pPr marL="49213" lvl="2" algn="l"/>
            <a:r>
              <a:rPr lang="en-US" sz="1600" dirty="0">
                <a:latin typeface="+mn-lt"/>
              </a:rPr>
              <a:t>            ],</a:t>
            </a:r>
          </a:p>
          <a:p>
            <a:pPr marL="49213" lvl="2" algn="l"/>
            <a:r>
              <a:rPr lang="en-US" sz="1600" dirty="0">
                <a:latin typeface="+mn-lt"/>
              </a:rPr>
              <a:t>            "Resource": "*"</a:t>
            </a:r>
          </a:p>
          <a:p>
            <a:pPr marL="49213" lvl="2" algn="l"/>
            <a:r>
              <a:rPr lang="en-US" sz="1600" dirty="0">
                <a:latin typeface="+mn-lt"/>
              </a:rPr>
              <a:t>        }</a:t>
            </a:r>
          </a:p>
          <a:p>
            <a:pPr marL="49213" lvl="2" algn="l"/>
            <a:r>
              <a:rPr lang="en-US" sz="1600" dirty="0">
                <a:latin typeface="+mn-lt"/>
              </a:rPr>
              <a:t>    ]</a:t>
            </a:r>
          </a:p>
          <a:p>
            <a:pPr marL="49213" lvl="2" algn="l"/>
            <a:r>
              <a:rPr lang="en-US" sz="1600" dirty="0">
                <a:latin typeface="+mn-lt"/>
              </a:rPr>
              <a:t>}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C39EAAC1-8964-4BCF-B32A-9A89EE6463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8511" y="441256"/>
            <a:ext cx="4777693" cy="998438"/>
          </a:xfrm>
        </p:spPr>
        <p:txBody>
          <a:bodyPr>
            <a:normAutofit lnSpcReduction="10000"/>
          </a:bodyPr>
          <a:lstStyle/>
          <a:p>
            <a:pPr>
              <a:defRPr/>
            </a:pPr>
            <a:r>
              <a:rPr lang="en-US" sz="2400" dirty="0">
                <a:solidFill>
                  <a:srgbClr val="16191F"/>
                </a:solidFill>
              </a:rPr>
              <a:t>Both effects are allow. Their super set regardless of their order is taking effect. </a:t>
            </a:r>
            <a:endParaRPr lang="en-AU" sz="2400" dirty="0">
              <a:solidFill>
                <a:srgbClr val="16191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38600557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C1D474CA-CA3C-46A9-BF3A-026768BDE282}"/>
              </a:ext>
            </a:extLst>
          </p:cNvPr>
          <p:cNvSpPr txBox="1"/>
          <p:nvPr/>
        </p:nvSpPr>
        <p:spPr>
          <a:xfrm>
            <a:off x="5642660" y="305068"/>
            <a:ext cx="4631634" cy="5952399"/>
          </a:xfrm>
          <a:prstGeom prst="rect">
            <a:avLst/>
          </a:prstGeom>
          <a:solidFill>
            <a:schemeClr val="bg1">
              <a:lumMod val="85000"/>
              <a:alpha val="3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49213" lvl="2" algn="l"/>
            <a:r>
              <a:rPr lang="en-US" sz="1600" dirty="0">
                <a:latin typeface="+mn-lt"/>
              </a:rPr>
              <a:t>{</a:t>
            </a:r>
          </a:p>
          <a:p>
            <a:pPr marL="49213" lvl="2" algn="l"/>
            <a:r>
              <a:rPr lang="en-US" sz="1600" dirty="0">
                <a:latin typeface="+mn-lt"/>
              </a:rPr>
              <a:t>    "Version": "2012-10-17",</a:t>
            </a:r>
          </a:p>
          <a:p>
            <a:pPr marL="49213" lvl="2" algn="l"/>
            <a:r>
              <a:rPr lang="en-US" sz="1600" dirty="0">
                <a:latin typeface="+mn-lt"/>
              </a:rPr>
              <a:t>    "Statement": [</a:t>
            </a:r>
          </a:p>
          <a:p>
            <a:pPr marL="49213" lvl="2" algn="l"/>
            <a:r>
              <a:rPr lang="en-US" sz="1600" dirty="0">
                <a:latin typeface="+mn-lt"/>
              </a:rPr>
              <a:t>        {  "Effect": “Deny",</a:t>
            </a:r>
          </a:p>
          <a:p>
            <a:pPr marL="49213" lvl="2" algn="l"/>
            <a:r>
              <a:rPr lang="en-US" sz="1600" dirty="0">
                <a:latin typeface="+mn-lt"/>
              </a:rPr>
              <a:t>            "Action": [</a:t>
            </a:r>
          </a:p>
          <a:p>
            <a:pPr marL="49213" lvl="2" algn="l"/>
            <a:r>
              <a:rPr lang="en-US" sz="1600" dirty="0">
                <a:latin typeface="+mn-lt"/>
              </a:rPr>
              <a:t>                "</a:t>
            </a:r>
            <a:r>
              <a:rPr lang="en-US" sz="1600" dirty="0" err="1">
                <a:latin typeface="+mn-lt"/>
              </a:rPr>
              <a:t>iam</a:t>
            </a:r>
            <a:r>
              <a:rPr lang="en-US" sz="1600" dirty="0">
                <a:latin typeface="+mn-lt"/>
              </a:rPr>
              <a:t>:*",</a:t>
            </a:r>
          </a:p>
          <a:p>
            <a:pPr marL="49213" lvl="2" algn="l"/>
            <a:r>
              <a:rPr lang="en-US" sz="1600" dirty="0">
                <a:latin typeface="+mn-lt"/>
              </a:rPr>
              <a:t>                "organizations:*",</a:t>
            </a:r>
          </a:p>
          <a:p>
            <a:pPr marL="49213" lvl="2" algn="l"/>
            <a:r>
              <a:rPr lang="en-US" sz="1600" dirty="0">
                <a:latin typeface="+mn-lt"/>
              </a:rPr>
              <a:t>                "account:*"</a:t>
            </a:r>
          </a:p>
          <a:p>
            <a:pPr marL="49213" lvl="2" algn="l"/>
            <a:r>
              <a:rPr lang="en-US" sz="1600" dirty="0">
                <a:latin typeface="+mn-lt"/>
              </a:rPr>
              <a:t>            ],</a:t>
            </a:r>
          </a:p>
          <a:p>
            <a:pPr marL="49213" lvl="2" algn="l"/>
            <a:r>
              <a:rPr lang="en-US" sz="1600" dirty="0">
                <a:latin typeface="+mn-lt"/>
              </a:rPr>
              <a:t>            "Resource": "*"</a:t>
            </a:r>
          </a:p>
          <a:p>
            <a:pPr marL="49213" lvl="2" algn="l"/>
            <a:r>
              <a:rPr lang="en-US" sz="1600" dirty="0">
                <a:latin typeface="+mn-lt"/>
              </a:rPr>
              <a:t>        },</a:t>
            </a:r>
          </a:p>
          <a:p>
            <a:pPr marL="49213" lvl="2" algn="l"/>
            <a:r>
              <a:rPr lang="en-US" sz="1600" dirty="0">
                <a:latin typeface="+mn-lt"/>
              </a:rPr>
              <a:t>        {  "Effect": "Allow",</a:t>
            </a:r>
          </a:p>
          <a:p>
            <a:pPr marL="49213" lvl="2" algn="l"/>
            <a:r>
              <a:rPr lang="en-US" sz="1600" dirty="0">
                <a:latin typeface="+mn-lt"/>
              </a:rPr>
              <a:t>            "Action": [</a:t>
            </a:r>
          </a:p>
          <a:p>
            <a:pPr marL="49213" lvl="2" algn="l"/>
            <a:r>
              <a:rPr lang="en-US" sz="1600" dirty="0">
                <a:latin typeface="+mn-lt"/>
              </a:rPr>
              <a:t>                "</a:t>
            </a:r>
            <a:r>
              <a:rPr lang="en-US" sz="1600" dirty="0" err="1">
                <a:latin typeface="+mn-lt"/>
              </a:rPr>
              <a:t>iam</a:t>
            </a:r>
            <a:r>
              <a:rPr lang="en-US" sz="1600" dirty="0">
                <a:latin typeface="+mn-lt"/>
              </a:rPr>
              <a:t>:*",</a:t>
            </a:r>
          </a:p>
          <a:p>
            <a:pPr marL="49213" lvl="2" algn="l"/>
            <a:r>
              <a:rPr lang="en-US" sz="1600" dirty="0">
                <a:latin typeface="+mn-lt"/>
              </a:rPr>
              <a:t>                "s3:*"</a:t>
            </a:r>
          </a:p>
          <a:p>
            <a:pPr marL="49213" lvl="2" algn="l"/>
            <a:r>
              <a:rPr lang="en-US" sz="1600" dirty="0">
                <a:latin typeface="+mn-lt"/>
              </a:rPr>
              <a:t>            ],</a:t>
            </a:r>
          </a:p>
          <a:p>
            <a:pPr marL="49213" lvl="2" algn="l"/>
            <a:r>
              <a:rPr lang="en-US" sz="1600" dirty="0">
                <a:latin typeface="+mn-lt"/>
              </a:rPr>
              <a:t>            "Resource": "*"</a:t>
            </a:r>
          </a:p>
          <a:p>
            <a:pPr marL="49213" lvl="2" algn="l"/>
            <a:r>
              <a:rPr lang="en-US" sz="1600" dirty="0">
                <a:latin typeface="+mn-lt"/>
              </a:rPr>
              <a:t>        }</a:t>
            </a:r>
          </a:p>
          <a:p>
            <a:pPr marL="49213" lvl="2" algn="l"/>
            <a:r>
              <a:rPr lang="en-US" sz="1600" dirty="0">
                <a:latin typeface="+mn-lt"/>
              </a:rPr>
              <a:t>    ]</a:t>
            </a:r>
          </a:p>
          <a:p>
            <a:pPr marL="49213" lvl="2" algn="l"/>
            <a:r>
              <a:rPr lang="en-US" sz="1600" dirty="0">
                <a:latin typeface="+mn-lt"/>
              </a:rPr>
              <a:t>}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D5ADBFC9-01EB-4F59-A35D-10FA77460F6A}"/>
              </a:ext>
            </a:extLst>
          </p:cNvPr>
          <p:cNvSpPr txBox="1">
            <a:spLocks/>
          </p:cNvSpPr>
          <p:nvPr/>
        </p:nvSpPr>
        <p:spPr>
          <a:xfrm>
            <a:off x="358511" y="441256"/>
            <a:ext cx="4631635" cy="64650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Aft>
                <a:spcPts val="0"/>
              </a:spcAft>
              <a:buClrTx/>
              <a:buSzTx/>
              <a:defRPr/>
            </a:pPr>
            <a:r>
              <a:rPr lang="en-US" altLang="zh-CN" sz="2400">
                <a:solidFill>
                  <a:srgbClr val="16191F"/>
                </a:solidFill>
              </a:rPr>
              <a:t>What does this policy mean?</a:t>
            </a:r>
            <a:endParaRPr lang="en-US" sz="2400">
              <a:solidFill>
                <a:srgbClr val="16191F"/>
              </a:solidFill>
            </a:endParaRPr>
          </a:p>
          <a:p>
            <a:pPr marL="0" indent="0" fontAlgn="auto"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endParaRPr lang="en-AU" sz="2400" dirty="0">
              <a:solidFill>
                <a:srgbClr val="16191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22934997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C1D474CA-CA3C-46A9-BF3A-026768BDE282}"/>
              </a:ext>
            </a:extLst>
          </p:cNvPr>
          <p:cNvSpPr txBox="1"/>
          <p:nvPr/>
        </p:nvSpPr>
        <p:spPr>
          <a:xfrm>
            <a:off x="5642660" y="305068"/>
            <a:ext cx="4631634" cy="5952399"/>
          </a:xfrm>
          <a:prstGeom prst="rect">
            <a:avLst/>
          </a:prstGeom>
          <a:solidFill>
            <a:schemeClr val="bg1">
              <a:lumMod val="85000"/>
              <a:alpha val="3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49213" lvl="2" algn="l"/>
            <a:r>
              <a:rPr lang="en-US" sz="1600" dirty="0">
                <a:latin typeface="+mn-lt"/>
              </a:rPr>
              <a:t>{</a:t>
            </a:r>
          </a:p>
          <a:p>
            <a:pPr marL="49213" lvl="2" algn="l"/>
            <a:r>
              <a:rPr lang="en-US" sz="1600" dirty="0">
                <a:latin typeface="+mn-lt"/>
              </a:rPr>
              <a:t>    "Version": "2012-10-17",</a:t>
            </a:r>
          </a:p>
          <a:p>
            <a:pPr marL="49213" lvl="2" algn="l"/>
            <a:r>
              <a:rPr lang="en-US" sz="1600" dirty="0">
                <a:latin typeface="+mn-lt"/>
              </a:rPr>
              <a:t>    "Statement": [</a:t>
            </a:r>
          </a:p>
          <a:p>
            <a:pPr marL="49213" lvl="2" algn="l"/>
            <a:r>
              <a:rPr lang="en-US" sz="1600" dirty="0">
                <a:latin typeface="+mn-lt"/>
              </a:rPr>
              <a:t>        {  "Effect": “Deny",</a:t>
            </a:r>
          </a:p>
          <a:p>
            <a:pPr marL="49213" lvl="2" algn="l"/>
            <a:r>
              <a:rPr lang="en-US" sz="1600" dirty="0">
                <a:latin typeface="+mn-lt"/>
              </a:rPr>
              <a:t>            "Action": [</a:t>
            </a:r>
          </a:p>
          <a:p>
            <a:pPr marL="49213" lvl="2" algn="l"/>
            <a:r>
              <a:rPr lang="en-US" sz="1600" dirty="0">
                <a:latin typeface="+mn-lt"/>
              </a:rPr>
              <a:t>                "</a:t>
            </a:r>
            <a:r>
              <a:rPr lang="en-US" sz="1600" dirty="0" err="1">
                <a:latin typeface="+mn-lt"/>
              </a:rPr>
              <a:t>iam</a:t>
            </a:r>
            <a:r>
              <a:rPr lang="en-US" sz="1600" dirty="0">
                <a:latin typeface="+mn-lt"/>
              </a:rPr>
              <a:t>:*",</a:t>
            </a:r>
          </a:p>
          <a:p>
            <a:pPr marL="49213" lvl="2" algn="l"/>
            <a:r>
              <a:rPr lang="en-US" sz="1600" dirty="0">
                <a:latin typeface="+mn-lt"/>
              </a:rPr>
              <a:t>                "organizations:*",</a:t>
            </a:r>
          </a:p>
          <a:p>
            <a:pPr marL="49213" lvl="2" algn="l"/>
            <a:r>
              <a:rPr lang="en-US" sz="1600" dirty="0">
                <a:latin typeface="+mn-lt"/>
              </a:rPr>
              <a:t>                "account:*"</a:t>
            </a:r>
          </a:p>
          <a:p>
            <a:pPr marL="49213" lvl="2" algn="l"/>
            <a:r>
              <a:rPr lang="en-US" sz="1600" dirty="0">
                <a:latin typeface="+mn-lt"/>
              </a:rPr>
              <a:t>            ],</a:t>
            </a:r>
          </a:p>
          <a:p>
            <a:pPr marL="49213" lvl="2" algn="l"/>
            <a:r>
              <a:rPr lang="en-US" sz="1600" dirty="0">
                <a:latin typeface="+mn-lt"/>
              </a:rPr>
              <a:t>            "Resource": "*"</a:t>
            </a:r>
          </a:p>
          <a:p>
            <a:pPr marL="49213" lvl="2" algn="l"/>
            <a:r>
              <a:rPr lang="en-US" sz="1600" dirty="0">
                <a:latin typeface="+mn-lt"/>
              </a:rPr>
              <a:t>        },</a:t>
            </a:r>
          </a:p>
          <a:p>
            <a:pPr marL="49213" lvl="2" algn="l"/>
            <a:r>
              <a:rPr lang="en-US" sz="1600" dirty="0">
                <a:latin typeface="+mn-lt"/>
              </a:rPr>
              <a:t>        {  "Effect": "Allow",</a:t>
            </a:r>
          </a:p>
          <a:p>
            <a:pPr marL="49213" lvl="2" algn="l"/>
            <a:r>
              <a:rPr lang="en-US" sz="1600" dirty="0">
                <a:latin typeface="+mn-lt"/>
              </a:rPr>
              <a:t>            "Action": [</a:t>
            </a:r>
          </a:p>
          <a:p>
            <a:pPr marL="49213" lvl="2" algn="l"/>
            <a:r>
              <a:rPr lang="en-US" sz="1600" dirty="0">
                <a:latin typeface="+mn-lt"/>
              </a:rPr>
              <a:t>                "</a:t>
            </a:r>
            <a:r>
              <a:rPr lang="en-US" sz="1600" dirty="0" err="1">
                <a:latin typeface="+mn-lt"/>
              </a:rPr>
              <a:t>iam</a:t>
            </a:r>
            <a:r>
              <a:rPr lang="en-US" sz="1600" dirty="0">
                <a:latin typeface="+mn-lt"/>
              </a:rPr>
              <a:t>:*",</a:t>
            </a:r>
          </a:p>
          <a:p>
            <a:pPr marL="49213" lvl="2" algn="l"/>
            <a:r>
              <a:rPr lang="en-US" sz="1600" dirty="0">
                <a:latin typeface="+mn-lt"/>
              </a:rPr>
              <a:t>                "s3:*"</a:t>
            </a:r>
          </a:p>
          <a:p>
            <a:pPr marL="49213" lvl="2" algn="l"/>
            <a:r>
              <a:rPr lang="en-US" sz="1600" dirty="0">
                <a:latin typeface="+mn-lt"/>
              </a:rPr>
              <a:t>            ],</a:t>
            </a:r>
          </a:p>
          <a:p>
            <a:pPr marL="49213" lvl="2" algn="l"/>
            <a:r>
              <a:rPr lang="en-US" sz="1600" dirty="0">
                <a:latin typeface="+mn-lt"/>
              </a:rPr>
              <a:t>            "Resource": "*"</a:t>
            </a:r>
          </a:p>
          <a:p>
            <a:pPr marL="49213" lvl="2" algn="l"/>
            <a:r>
              <a:rPr lang="en-US" sz="1600" dirty="0">
                <a:latin typeface="+mn-lt"/>
              </a:rPr>
              <a:t>        }</a:t>
            </a:r>
          </a:p>
          <a:p>
            <a:pPr marL="49213" lvl="2" algn="l"/>
            <a:r>
              <a:rPr lang="en-US" sz="1600" dirty="0">
                <a:latin typeface="+mn-lt"/>
              </a:rPr>
              <a:t>    ]</a:t>
            </a:r>
          </a:p>
          <a:p>
            <a:pPr marL="49213" lvl="2" algn="l"/>
            <a:r>
              <a:rPr lang="en-US" sz="1600" dirty="0">
                <a:latin typeface="+mn-lt"/>
              </a:rPr>
              <a:t>}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C39EAAC1-8964-4BCF-B32A-9A89EE6463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6878" y="1162844"/>
            <a:ext cx="4631635" cy="1466056"/>
          </a:xfrm>
        </p:spPr>
        <p:txBody>
          <a:bodyPr>
            <a:normAutofit/>
          </a:bodyPr>
          <a:lstStyle/>
          <a:p>
            <a:r>
              <a:rPr lang="en-US" sz="2400" dirty="0">
                <a:solidFill>
                  <a:srgbClr val="16191F"/>
                </a:solidFill>
              </a:rPr>
              <a:t>A Deny overrides any Allow. If there is no Deny, an Allow grants access. Otherwise, access is implicitly denied.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lang="en-US" sz="2400" dirty="0">
              <a:solidFill>
                <a:srgbClr val="16191F"/>
              </a:solidFill>
            </a:endParaRPr>
          </a:p>
          <a:p>
            <a:pPr>
              <a:defRPr/>
            </a:pPr>
            <a:endParaRPr lang="en-US" sz="2400" dirty="0">
              <a:solidFill>
                <a:srgbClr val="16191F"/>
              </a:solidFill>
            </a:endParaRPr>
          </a:p>
          <a:p>
            <a:pPr marL="0" indent="0">
              <a:buNone/>
              <a:defRPr/>
            </a:pPr>
            <a:endParaRPr lang="en-AU" sz="2400" dirty="0">
              <a:solidFill>
                <a:srgbClr val="16191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18095361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5133" y="147782"/>
            <a:ext cx="5760867" cy="645693"/>
          </a:xfrm>
        </p:spPr>
        <p:txBody>
          <a:bodyPr>
            <a:normAutofit/>
          </a:bodyPr>
          <a:lstStyle/>
          <a:p>
            <a:r>
              <a:rPr lang="en-AU" sz="3200" b="1" dirty="0" err="1">
                <a:solidFill>
                  <a:srgbClr val="16191F"/>
                </a:solidFill>
                <a:latin typeface="+mn-lt"/>
              </a:rPr>
              <a:t>AWSCloudTrail_ReadOnlyAccess</a:t>
            </a:r>
            <a:endParaRPr lang="en-US" sz="3200" b="1" dirty="0">
              <a:solidFill>
                <a:srgbClr val="16191F"/>
              </a:solidFill>
              <a:latin typeface="+mn-lt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1D474CA-CA3C-46A9-BF3A-026768BDE282}"/>
              </a:ext>
            </a:extLst>
          </p:cNvPr>
          <p:cNvSpPr txBox="1"/>
          <p:nvPr/>
        </p:nvSpPr>
        <p:spPr>
          <a:xfrm>
            <a:off x="6684065" y="793475"/>
            <a:ext cx="4631634" cy="5201424"/>
          </a:xfrm>
          <a:prstGeom prst="rect">
            <a:avLst/>
          </a:prstGeom>
          <a:solidFill>
            <a:schemeClr val="bg1">
              <a:lumMod val="85000"/>
              <a:alpha val="3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49213" lvl="2" algn="l"/>
            <a:r>
              <a:rPr lang="en-US" dirty="0">
                <a:latin typeface="+mn-lt"/>
              </a:rPr>
              <a:t>{</a:t>
            </a:r>
          </a:p>
          <a:p>
            <a:pPr marL="49213" lvl="2" algn="l"/>
            <a:r>
              <a:rPr lang="en-US" dirty="0">
                <a:latin typeface="+mn-lt"/>
              </a:rPr>
              <a:t>    "Version": "2012-10-17",</a:t>
            </a:r>
          </a:p>
          <a:p>
            <a:pPr marL="49213" lvl="2" algn="l"/>
            <a:r>
              <a:rPr lang="en-US" dirty="0">
                <a:latin typeface="+mn-lt"/>
              </a:rPr>
              <a:t>    "Statement": [</a:t>
            </a:r>
          </a:p>
          <a:p>
            <a:pPr marL="49213" lvl="2" algn="l"/>
            <a:r>
              <a:rPr lang="en-US" dirty="0">
                <a:latin typeface="+mn-lt"/>
              </a:rPr>
              <a:t>        {</a:t>
            </a:r>
          </a:p>
          <a:p>
            <a:pPr marL="49213" lvl="2" algn="l"/>
            <a:r>
              <a:rPr lang="en-US" dirty="0">
                <a:latin typeface="+mn-lt"/>
              </a:rPr>
              <a:t>            "Effect": "Allow",</a:t>
            </a:r>
          </a:p>
          <a:p>
            <a:pPr marL="49213" lvl="2" algn="l"/>
            <a:r>
              <a:rPr lang="en-US" dirty="0">
                <a:latin typeface="+mn-lt"/>
              </a:rPr>
              <a:t>            "Action": [</a:t>
            </a:r>
          </a:p>
          <a:p>
            <a:pPr marL="49213" lvl="2" algn="l"/>
            <a:r>
              <a:rPr lang="en-US" dirty="0">
                <a:latin typeface="+mn-lt"/>
              </a:rPr>
              <a:t>                "</a:t>
            </a:r>
            <a:r>
              <a:rPr lang="en-US" dirty="0" err="1">
                <a:latin typeface="+mn-lt"/>
              </a:rPr>
              <a:t>cloudtrail:Get</a:t>
            </a:r>
            <a:r>
              <a:rPr lang="en-US" dirty="0">
                <a:latin typeface="+mn-lt"/>
              </a:rPr>
              <a:t>*",</a:t>
            </a:r>
          </a:p>
          <a:p>
            <a:pPr marL="49213" lvl="2" algn="l"/>
            <a:r>
              <a:rPr lang="en-US" dirty="0">
                <a:latin typeface="+mn-lt"/>
              </a:rPr>
              <a:t>                "</a:t>
            </a:r>
            <a:r>
              <a:rPr lang="en-US" dirty="0" err="1">
                <a:latin typeface="+mn-lt"/>
              </a:rPr>
              <a:t>cloudtrail:Describe</a:t>
            </a:r>
            <a:r>
              <a:rPr lang="en-US" dirty="0">
                <a:latin typeface="+mn-lt"/>
              </a:rPr>
              <a:t>*",</a:t>
            </a:r>
          </a:p>
          <a:p>
            <a:pPr marL="49213" lvl="2" algn="l"/>
            <a:r>
              <a:rPr lang="en-US" dirty="0">
                <a:latin typeface="+mn-lt"/>
              </a:rPr>
              <a:t>                "</a:t>
            </a:r>
            <a:r>
              <a:rPr lang="en-US" dirty="0" err="1">
                <a:latin typeface="+mn-lt"/>
              </a:rPr>
              <a:t>cloudtrail:List</a:t>
            </a:r>
            <a:r>
              <a:rPr lang="en-US" dirty="0">
                <a:latin typeface="+mn-lt"/>
              </a:rPr>
              <a:t>*",</a:t>
            </a:r>
          </a:p>
          <a:p>
            <a:pPr marL="49213" lvl="2" algn="l"/>
            <a:r>
              <a:rPr lang="en-US" dirty="0">
                <a:latin typeface="+mn-lt"/>
              </a:rPr>
              <a:t>             ],</a:t>
            </a:r>
          </a:p>
          <a:p>
            <a:pPr marL="49213" lvl="2" algn="l"/>
            <a:r>
              <a:rPr lang="en-US" dirty="0">
                <a:latin typeface="+mn-lt"/>
              </a:rPr>
              <a:t>            "Resource": "*"</a:t>
            </a:r>
          </a:p>
          <a:p>
            <a:pPr marL="49213" lvl="2" algn="l"/>
            <a:r>
              <a:rPr lang="en-US" dirty="0">
                <a:latin typeface="+mn-lt"/>
              </a:rPr>
              <a:t>        }</a:t>
            </a:r>
          </a:p>
          <a:p>
            <a:pPr marL="49213" lvl="2" algn="l"/>
            <a:r>
              <a:rPr lang="en-US" dirty="0">
                <a:latin typeface="+mn-lt"/>
              </a:rPr>
              <a:t>    ]</a:t>
            </a:r>
          </a:p>
          <a:p>
            <a:pPr marL="49213" lvl="2" algn="l"/>
            <a:r>
              <a:rPr lang="en-US" dirty="0">
                <a:latin typeface="+mn-lt"/>
              </a:rPr>
              <a:t>}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EF3FEF0F-767E-4B51-A22C-E0D6FFA0DBC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6878" y="1162844"/>
            <a:ext cx="5964872" cy="4532312"/>
          </a:xfrm>
        </p:spPr>
        <p:txBody>
          <a:bodyPr>
            <a:normAutofit/>
          </a:bodyPr>
          <a:lstStyle/>
          <a:p>
            <a:pPr>
              <a:defRPr/>
            </a:pPr>
            <a:r>
              <a:rPr lang="en-US" sz="2400" dirty="0">
                <a:solidFill>
                  <a:srgbClr val="16191F"/>
                </a:solidFill>
              </a:rPr>
              <a:t>CloudTrail is a service that provides visibility into user activity and resource usage.</a:t>
            </a:r>
          </a:p>
          <a:p>
            <a:pPr marL="0" indent="0">
              <a:buNone/>
              <a:defRPr/>
            </a:pPr>
            <a:endParaRPr lang="en-US" sz="2400" dirty="0">
              <a:solidFill>
                <a:srgbClr val="16191F"/>
              </a:solidFill>
            </a:endParaRPr>
          </a:p>
          <a:p>
            <a:pPr marL="0" indent="0">
              <a:buNone/>
              <a:defRPr/>
            </a:pPr>
            <a:endParaRPr lang="en-AU" sz="2400" dirty="0">
              <a:solidFill>
                <a:srgbClr val="16191F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DB9188D-51FE-4B8F-9169-C570BD8E319C}"/>
              </a:ext>
            </a:extLst>
          </p:cNvPr>
          <p:cNvSpPr txBox="1"/>
          <p:nvPr/>
        </p:nvSpPr>
        <p:spPr>
          <a:xfrm>
            <a:off x="484633" y="6387371"/>
            <a:ext cx="836874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AU" sz="1800" dirty="0">
                <a:latin typeface="+mn-lt"/>
              </a:rPr>
              <a:t>https://docs.aws.amazon.com/awscloudtrail/latest/APIReference/API_Operations.html</a:t>
            </a:r>
          </a:p>
        </p:txBody>
      </p:sp>
    </p:spTree>
    <p:extLst>
      <p:ext uri="{BB962C8B-B14F-4D97-AF65-F5344CB8AC3E}">
        <p14:creationId xmlns:p14="http://schemas.microsoft.com/office/powerpoint/2010/main" val="4271675142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9689" y="235631"/>
            <a:ext cx="5116551" cy="539622"/>
          </a:xfrm>
        </p:spPr>
        <p:txBody>
          <a:bodyPr>
            <a:normAutofit/>
          </a:bodyPr>
          <a:lstStyle/>
          <a:p>
            <a:r>
              <a:rPr lang="en-AU" sz="3200" b="1" dirty="0">
                <a:solidFill>
                  <a:srgbClr val="16191F"/>
                </a:solidFill>
                <a:latin typeface="+mn-lt"/>
              </a:rPr>
              <a:t>Customer managed policy</a:t>
            </a:r>
            <a:endParaRPr lang="en-US" sz="3200" b="1" dirty="0">
              <a:latin typeface="+mn-lt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FDB31DA-FB26-44E9-8CC2-C65ECF55C36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21212" y="934279"/>
            <a:ext cx="5196513" cy="5546034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0E5C67C5-9D59-4FBC-B6FB-76A70D4AC5AE}"/>
              </a:ext>
            </a:extLst>
          </p:cNvPr>
          <p:cNvSpPr txBox="1"/>
          <p:nvPr/>
        </p:nvSpPr>
        <p:spPr>
          <a:xfrm>
            <a:off x="4475508" y="6542225"/>
            <a:ext cx="7571349" cy="287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AU" sz="1200" dirty="0">
                <a:latin typeface="+mn-lt"/>
              </a:rPr>
              <a:t>https://docs.aws.amazon.com/IAM/latest/UserGuide/access_policies_managed-vs-inline.html#aws-managed-policies</a:t>
            </a:r>
          </a:p>
        </p:txBody>
      </p:sp>
    </p:spTree>
    <p:extLst>
      <p:ext uri="{BB962C8B-B14F-4D97-AF65-F5344CB8AC3E}">
        <p14:creationId xmlns:p14="http://schemas.microsoft.com/office/powerpoint/2010/main" val="489735103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F057CCD-5BA7-4D07-8118-5291FB062AF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96021" y="235631"/>
            <a:ext cx="5925887" cy="595116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C06EE92E-C6F7-4A86-88F1-FB6D27AE7FC5}"/>
              </a:ext>
            </a:extLst>
          </p:cNvPr>
          <p:cNvSpPr txBox="1"/>
          <p:nvPr/>
        </p:nvSpPr>
        <p:spPr>
          <a:xfrm>
            <a:off x="4475509" y="6524969"/>
            <a:ext cx="7600377" cy="287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AU" sz="1200" dirty="0">
                <a:latin typeface="+mn-lt"/>
              </a:rPr>
              <a:t>https://docs.aws.amazon.com/IAM/latest/UserGuide/access_policies_managed-vs-inline.html#aws-managed-policies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CA8F0938-8D7C-47D8-88F7-37F353560B5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2957" y="2935078"/>
            <a:ext cx="4963064" cy="987843"/>
          </a:xfrm>
        </p:spPr>
        <p:txBody>
          <a:bodyPr>
            <a:normAutofit/>
          </a:bodyPr>
          <a:lstStyle/>
          <a:p>
            <a:pPr marL="0" indent="0">
              <a:buNone/>
              <a:defRPr/>
            </a:pPr>
            <a:r>
              <a:rPr lang="en-AU" sz="2400" dirty="0">
                <a:solidFill>
                  <a:srgbClr val="FF0000"/>
                </a:solidFill>
              </a:rPr>
              <a:t>The </a:t>
            </a:r>
            <a:r>
              <a:rPr lang="en-AU" sz="2400" i="0" dirty="0">
                <a:solidFill>
                  <a:srgbClr val="FF0000"/>
                </a:solidFill>
                <a:effectLst/>
              </a:rPr>
              <a:t>DynamoDB-books-app policy is used </a:t>
            </a:r>
            <a:r>
              <a:rPr lang="en-AU" sz="2400" dirty="0">
                <a:solidFill>
                  <a:srgbClr val="FF0000"/>
                </a:solidFill>
              </a:rPr>
              <a:t>by both roles. Is it </a:t>
            </a:r>
            <a:r>
              <a:rPr lang="en-AU" sz="2400" i="0" dirty="0">
                <a:solidFill>
                  <a:srgbClr val="FF0000"/>
                </a:solidFill>
                <a:effectLst/>
              </a:rPr>
              <a:t>shared?</a:t>
            </a:r>
            <a:endParaRPr lang="en-US" sz="2400" dirty="0">
              <a:solidFill>
                <a:srgbClr val="FF0000"/>
              </a:solidFill>
            </a:endParaRPr>
          </a:p>
          <a:p>
            <a:pPr marL="0" indent="0">
              <a:buNone/>
              <a:defRPr/>
            </a:pPr>
            <a:endParaRPr lang="en-US" sz="2400" dirty="0">
              <a:solidFill>
                <a:srgbClr val="16191F"/>
              </a:solidFill>
            </a:endParaRPr>
          </a:p>
          <a:p>
            <a:pPr marL="0" indent="0">
              <a:buNone/>
              <a:defRPr/>
            </a:pPr>
            <a:endParaRPr lang="en-AU" sz="2400" dirty="0">
              <a:solidFill>
                <a:srgbClr val="16191F"/>
              </a:solidFill>
            </a:endParaRP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EBC86B30-E326-4201-9C14-F794CE18D4D6}"/>
              </a:ext>
            </a:extLst>
          </p:cNvPr>
          <p:cNvSpPr txBox="1">
            <a:spLocks/>
          </p:cNvSpPr>
          <p:nvPr/>
        </p:nvSpPr>
        <p:spPr>
          <a:xfrm>
            <a:off x="232957" y="604989"/>
            <a:ext cx="4963064" cy="143177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Aft>
                <a:spcPts val="0"/>
              </a:spcAft>
              <a:buClrTx/>
              <a:buSzTx/>
              <a:defRPr/>
            </a:pPr>
            <a:r>
              <a:rPr lang="en-AU" sz="2400" dirty="0">
                <a:solidFill>
                  <a:srgbClr val="16191F"/>
                </a:solidFill>
                <a:latin typeface="Amazon Ember"/>
              </a:rPr>
              <a:t>Managed policy</a:t>
            </a:r>
            <a:endParaRPr lang="en-AU" dirty="0">
              <a:solidFill>
                <a:srgbClr val="16191F"/>
              </a:solidFill>
              <a:latin typeface="Amazon Ember"/>
            </a:endParaRPr>
          </a:p>
          <a:p>
            <a:pPr fontAlgn="auto">
              <a:spcAft>
                <a:spcPts val="0"/>
              </a:spcAft>
              <a:buClrTx/>
              <a:buSzTx/>
              <a:defRPr/>
            </a:pPr>
            <a:r>
              <a:rPr lang="en-AU" sz="2400" b="1" dirty="0">
                <a:solidFill>
                  <a:srgbClr val="16191F"/>
                </a:solidFill>
                <a:latin typeface="Amazon Ember"/>
              </a:rPr>
              <a:t>Inline policy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707740235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9689" y="183450"/>
            <a:ext cx="5116551" cy="758283"/>
          </a:xfrm>
        </p:spPr>
        <p:txBody>
          <a:bodyPr>
            <a:normAutofit/>
          </a:bodyPr>
          <a:lstStyle/>
          <a:p>
            <a:r>
              <a:rPr lang="en-AU" sz="3200" b="1" dirty="0"/>
              <a:t>Resource-based policy</a:t>
            </a:r>
            <a:endParaRPr lang="en-US" sz="3200" b="1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49689" y="1015437"/>
            <a:ext cx="11291417" cy="805798"/>
          </a:xfrm>
        </p:spPr>
        <p:txBody>
          <a:bodyPr>
            <a:normAutofit/>
          </a:bodyPr>
          <a:lstStyle/>
          <a:p>
            <a:pPr>
              <a:defRPr/>
            </a:pPr>
            <a:r>
              <a:rPr lang="en-US" sz="2400" dirty="0">
                <a:solidFill>
                  <a:srgbClr val="16191F"/>
                </a:solidFill>
                <a:latin typeface="Amazon Ember"/>
              </a:rPr>
              <a:t>It specifies which principal has access to the resource and what actions they can perform on it, e.g., </a:t>
            </a:r>
            <a:r>
              <a:rPr lang="en-AU" sz="2400" dirty="0">
                <a:solidFill>
                  <a:srgbClr val="16191F"/>
                </a:solidFill>
                <a:latin typeface="Amazon Ember"/>
              </a:rPr>
              <a:t>bucket policy.</a:t>
            </a:r>
            <a:endParaRPr lang="en-US" sz="2400" dirty="0">
              <a:solidFill>
                <a:srgbClr val="16191F"/>
              </a:solidFill>
              <a:latin typeface="Amazon Ember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15A2540-4A73-47F6-88E7-765CB6CFCF7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30974" y="1821235"/>
            <a:ext cx="5679484" cy="3969588"/>
          </a:xfrm>
          <a:prstGeom prst="rect">
            <a:avLst/>
          </a:prstGeom>
        </p:spPr>
      </p:pic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69E9B341-9213-4B18-9D97-183AF59E3A69}"/>
              </a:ext>
            </a:extLst>
          </p:cNvPr>
          <p:cNvSpPr txBox="1">
            <a:spLocks/>
          </p:cNvSpPr>
          <p:nvPr/>
        </p:nvSpPr>
        <p:spPr>
          <a:xfrm>
            <a:off x="349689" y="5842563"/>
            <a:ext cx="11615795" cy="83198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Aft>
                <a:spcPts val="0"/>
              </a:spcAft>
              <a:buClrTx/>
              <a:buSzTx/>
              <a:defRPr/>
            </a:pPr>
            <a:r>
              <a:rPr lang="en-AU" sz="2400" dirty="0">
                <a:solidFill>
                  <a:srgbClr val="16191F"/>
                </a:solidFill>
                <a:latin typeface="Amazon Ember"/>
              </a:rPr>
              <a:t>It is</a:t>
            </a:r>
            <a:r>
              <a:rPr lang="en-US" sz="2400" dirty="0">
                <a:solidFill>
                  <a:srgbClr val="16191F"/>
                </a:solidFill>
                <a:latin typeface="Amazon Ember"/>
              </a:rPr>
              <a:t> </a:t>
            </a:r>
            <a:r>
              <a:rPr lang="en-AU" sz="2400" dirty="0">
                <a:solidFill>
                  <a:srgbClr val="16191F"/>
                </a:solidFill>
                <a:latin typeface="Amazon Ember"/>
              </a:rPr>
              <a:t>inline with the resource</a:t>
            </a:r>
            <a:r>
              <a:rPr lang="en-US" sz="2400" dirty="0">
                <a:solidFill>
                  <a:srgbClr val="16191F"/>
                </a:solidFill>
                <a:latin typeface="Amazon Ember"/>
              </a:rPr>
              <a:t>, so it also has a one-to-one relationship with the resource. If the resource is deleted, it is also deleted</a:t>
            </a:r>
            <a:r>
              <a:rPr lang="en-AU" sz="2400" dirty="0">
                <a:solidFill>
                  <a:srgbClr val="16191F"/>
                </a:solidFill>
                <a:latin typeface="Amazon Ember"/>
              </a:rPr>
              <a:t>.</a:t>
            </a:r>
          </a:p>
          <a:p>
            <a:pPr lvl="1" fontAlgn="auto">
              <a:spcAft>
                <a:spcPts val="0"/>
              </a:spcAft>
              <a:buClrTx/>
              <a:buSzTx/>
              <a:defRPr/>
            </a:pP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391783939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9689" y="235630"/>
            <a:ext cx="5116551" cy="758283"/>
          </a:xfrm>
        </p:spPr>
        <p:txBody>
          <a:bodyPr>
            <a:normAutofit/>
          </a:bodyPr>
          <a:lstStyle/>
          <a:p>
            <a:pPr algn="l"/>
            <a:r>
              <a:rPr lang="en-AU" sz="3200" b="1" i="0" dirty="0">
                <a:solidFill>
                  <a:srgbClr val="16191F"/>
                </a:solidFill>
                <a:effectLst/>
              </a:rPr>
              <a:t>Permissions boundary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16878" y="1162844"/>
            <a:ext cx="11291417" cy="4532312"/>
          </a:xfrm>
        </p:spPr>
        <p:txBody>
          <a:bodyPr>
            <a:normAutofit/>
          </a:bodyPr>
          <a:lstStyle/>
          <a:p>
            <a:pPr>
              <a:defRPr/>
            </a:pPr>
            <a:r>
              <a:rPr lang="en-US" sz="2400" dirty="0">
                <a:solidFill>
                  <a:srgbClr val="16191F"/>
                </a:solidFill>
              </a:rPr>
              <a:t>It sets the </a:t>
            </a:r>
            <a:r>
              <a:rPr lang="en-US" sz="2400" b="1" dirty="0">
                <a:solidFill>
                  <a:srgbClr val="16191F"/>
                </a:solidFill>
              </a:rPr>
              <a:t>maximum permissions </a:t>
            </a:r>
            <a:r>
              <a:rPr lang="en-US" sz="2400" dirty="0">
                <a:solidFill>
                  <a:srgbClr val="16191F"/>
                </a:solidFill>
              </a:rPr>
              <a:t>that an identity-based policy can grant.</a:t>
            </a:r>
          </a:p>
          <a:p>
            <a:pPr lvl="1">
              <a:defRPr/>
            </a:pPr>
            <a:endParaRPr lang="en-AU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FC8F10E-23DA-49EE-83EC-7D11BCB4EFA8}"/>
              </a:ext>
            </a:extLst>
          </p:cNvPr>
          <p:cNvSpPr txBox="1"/>
          <p:nvPr/>
        </p:nvSpPr>
        <p:spPr>
          <a:xfrm>
            <a:off x="6062586" y="2124689"/>
            <a:ext cx="3944460" cy="4358116"/>
          </a:xfrm>
          <a:prstGeom prst="rect">
            <a:avLst/>
          </a:prstGeom>
          <a:solidFill>
            <a:schemeClr val="bg1">
              <a:lumMod val="85000"/>
              <a:alpha val="3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49213" lvl="2" algn="l"/>
            <a:r>
              <a:rPr lang="en-US" sz="1800" dirty="0">
                <a:latin typeface="+mn-lt"/>
              </a:rPr>
              <a:t>{</a:t>
            </a:r>
          </a:p>
          <a:p>
            <a:pPr marL="49213" lvl="2" algn="l"/>
            <a:r>
              <a:rPr lang="en-US" sz="1800" dirty="0">
                <a:latin typeface="+mn-lt"/>
              </a:rPr>
              <a:t>    "Version": "2012-10-17",</a:t>
            </a:r>
          </a:p>
          <a:p>
            <a:pPr marL="49213" lvl="2" algn="l"/>
            <a:r>
              <a:rPr lang="en-US" sz="1800" dirty="0">
                <a:latin typeface="+mn-lt"/>
              </a:rPr>
              <a:t>    "Statement": [</a:t>
            </a:r>
          </a:p>
          <a:p>
            <a:pPr marL="49213" lvl="2" algn="l"/>
            <a:r>
              <a:rPr lang="en-US" sz="1800" dirty="0">
                <a:latin typeface="+mn-lt"/>
              </a:rPr>
              <a:t>        {</a:t>
            </a:r>
          </a:p>
          <a:p>
            <a:pPr marL="49213" lvl="2" algn="l"/>
            <a:r>
              <a:rPr lang="en-US" sz="1800" dirty="0">
                <a:latin typeface="+mn-lt"/>
              </a:rPr>
              <a:t>            "Effect": "Allow",</a:t>
            </a:r>
          </a:p>
          <a:p>
            <a:pPr marL="49213" lvl="2" algn="l"/>
            <a:r>
              <a:rPr lang="en-US" sz="1800" dirty="0">
                <a:latin typeface="+mn-lt"/>
              </a:rPr>
              <a:t>            "Action": [</a:t>
            </a:r>
          </a:p>
          <a:p>
            <a:pPr marL="49213" lvl="2" algn="l"/>
            <a:r>
              <a:rPr lang="en-US" sz="1800" dirty="0">
                <a:latin typeface="+mn-lt"/>
              </a:rPr>
              <a:t>                "s3:*",</a:t>
            </a:r>
          </a:p>
          <a:p>
            <a:pPr marL="49213" lvl="2" algn="l"/>
            <a:r>
              <a:rPr lang="en-US" sz="1800" dirty="0">
                <a:latin typeface="+mn-lt"/>
              </a:rPr>
              <a:t>                "ec2:*"</a:t>
            </a:r>
          </a:p>
          <a:p>
            <a:pPr marL="49213" lvl="2" algn="l"/>
            <a:r>
              <a:rPr lang="en-US" sz="1800" dirty="0">
                <a:latin typeface="+mn-lt"/>
              </a:rPr>
              <a:t>            ],</a:t>
            </a:r>
          </a:p>
          <a:p>
            <a:pPr marL="49213" lvl="2" algn="l"/>
            <a:r>
              <a:rPr lang="en-US" sz="1800" dirty="0">
                <a:latin typeface="+mn-lt"/>
              </a:rPr>
              <a:t>            "Resource": "*"</a:t>
            </a:r>
          </a:p>
          <a:p>
            <a:pPr marL="49213" lvl="2" algn="l"/>
            <a:r>
              <a:rPr lang="en-US" sz="1800" dirty="0">
                <a:latin typeface="+mn-lt"/>
              </a:rPr>
              <a:t>        }</a:t>
            </a:r>
          </a:p>
          <a:p>
            <a:pPr marL="49213" lvl="2" algn="l"/>
            <a:r>
              <a:rPr lang="en-US" sz="1800" dirty="0">
                <a:latin typeface="+mn-lt"/>
              </a:rPr>
              <a:t>    ]</a:t>
            </a:r>
          </a:p>
          <a:p>
            <a:pPr marL="49213" lvl="2" algn="l"/>
            <a:r>
              <a:rPr lang="en-US" sz="1800" dirty="0">
                <a:latin typeface="+mn-lt"/>
              </a:rPr>
              <a:t>}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ABBBD4F2-FEA6-4BD2-8115-208CD2D3A2D5}"/>
              </a:ext>
            </a:extLst>
          </p:cNvPr>
          <p:cNvSpPr txBox="1">
            <a:spLocks/>
          </p:cNvSpPr>
          <p:nvPr/>
        </p:nvSpPr>
        <p:spPr>
          <a:xfrm>
            <a:off x="416878" y="2124689"/>
            <a:ext cx="5507672" cy="435811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Aft>
                <a:spcPts val="0"/>
              </a:spcAft>
              <a:buClrTx/>
              <a:buSzTx/>
              <a:defRPr/>
            </a:pPr>
            <a:r>
              <a:rPr lang="en-AU" sz="2400" dirty="0">
                <a:solidFill>
                  <a:srgbClr val="16191F"/>
                </a:solidFill>
                <a:latin typeface="Amazon Ember"/>
              </a:rPr>
              <a:t>e.g., The permissions boundary is attached to an IAM user named Alice.  </a:t>
            </a:r>
          </a:p>
          <a:p>
            <a:pPr lvl="1" fontAlgn="auto">
              <a:spcAft>
                <a:spcPts val="0"/>
              </a:spcAft>
              <a:buClrTx/>
              <a:buSzTx/>
              <a:defRPr/>
            </a:pP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269036335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9689" y="235630"/>
            <a:ext cx="5116551" cy="476539"/>
          </a:xfrm>
        </p:spPr>
        <p:txBody>
          <a:bodyPr>
            <a:normAutofit fontScale="90000"/>
          </a:bodyPr>
          <a:lstStyle/>
          <a:p>
            <a:pPr algn="l"/>
            <a:r>
              <a:rPr lang="en-AU" sz="3200" b="1" i="0" dirty="0">
                <a:solidFill>
                  <a:srgbClr val="16191F"/>
                </a:solidFill>
                <a:effectLst/>
              </a:rPr>
              <a:t>Permissions boundary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FC8F10E-23DA-49EE-83EC-7D11BCB4EFA8}"/>
              </a:ext>
            </a:extLst>
          </p:cNvPr>
          <p:cNvSpPr txBox="1"/>
          <p:nvPr/>
        </p:nvSpPr>
        <p:spPr>
          <a:xfrm>
            <a:off x="805098" y="1609464"/>
            <a:ext cx="3944460" cy="2696123"/>
          </a:xfrm>
          <a:prstGeom prst="rect">
            <a:avLst/>
          </a:prstGeom>
          <a:solidFill>
            <a:schemeClr val="bg1">
              <a:lumMod val="85000"/>
              <a:alpha val="3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49213" lvl="2" algn="l"/>
            <a:r>
              <a:rPr lang="en-US" sz="1800" dirty="0">
                <a:latin typeface="+mn-lt"/>
              </a:rPr>
              <a:t>{</a:t>
            </a:r>
          </a:p>
          <a:p>
            <a:pPr marL="49213" lvl="2" algn="l"/>
            <a:r>
              <a:rPr lang="en-US" sz="1800" dirty="0">
                <a:latin typeface="+mn-lt"/>
              </a:rPr>
              <a:t>  "Version": "2012-10-17",</a:t>
            </a:r>
          </a:p>
          <a:p>
            <a:pPr marL="49213" lvl="2" algn="l"/>
            <a:r>
              <a:rPr lang="en-US" sz="1800" dirty="0">
                <a:latin typeface="+mn-lt"/>
              </a:rPr>
              <a:t>  "Statement": {</a:t>
            </a:r>
          </a:p>
          <a:p>
            <a:pPr marL="49213" lvl="2" algn="l"/>
            <a:r>
              <a:rPr lang="en-US" sz="1800" dirty="0">
                <a:latin typeface="+mn-lt"/>
              </a:rPr>
              <a:t>    "Effect": "Allow",</a:t>
            </a:r>
          </a:p>
          <a:p>
            <a:pPr marL="49213" lvl="2" algn="l"/>
            <a:r>
              <a:rPr lang="en-US" sz="1800" dirty="0">
                <a:latin typeface="+mn-lt"/>
              </a:rPr>
              <a:t>    "Action": "</a:t>
            </a:r>
            <a:r>
              <a:rPr lang="en-US" sz="1800" dirty="0" err="1">
                <a:latin typeface="+mn-lt"/>
              </a:rPr>
              <a:t>iam:CreateUser</a:t>
            </a:r>
            <a:r>
              <a:rPr lang="en-US" sz="1800" dirty="0">
                <a:latin typeface="+mn-lt"/>
              </a:rPr>
              <a:t>",</a:t>
            </a:r>
          </a:p>
          <a:p>
            <a:pPr marL="49213" lvl="2" algn="l"/>
            <a:r>
              <a:rPr lang="en-US" sz="1800" dirty="0">
                <a:latin typeface="+mn-lt"/>
              </a:rPr>
              <a:t>    "Resource": "*"</a:t>
            </a:r>
          </a:p>
          <a:p>
            <a:pPr marL="49213" lvl="2" algn="l"/>
            <a:r>
              <a:rPr lang="en-US" sz="1800" dirty="0">
                <a:latin typeface="+mn-lt"/>
              </a:rPr>
              <a:t>  }</a:t>
            </a:r>
          </a:p>
          <a:p>
            <a:pPr marL="49213" lvl="2" algn="l"/>
            <a:r>
              <a:rPr lang="en-US" sz="1800" dirty="0">
                <a:latin typeface="+mn-lt"/>
              </a:rPr>
              <a:t>}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ABBBD4F2-FEA6-4BD2-8115-208CD2D3A2D5}"/>
              </a:ext>
            </a:extLst>
          </p:cNvPr>
          <p:cNvSpPr txBox="1">
            <a:spLocks/>
          </p:cNvSpPr>
          <p:nvPr/>
        </p:nvSpPr>
        <p:spPr>
          <a:xfrm>
            <a:off x="1294907" y="993913"/>
            <a:ext cx="3226114" cy="4765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fontAlgn="auto">
              <a:spcAft>
                <a:spcPts val="0"/>
              </a:spcAft>
              <a:buClrTx/>
              <a:buSzTx/>
              <a:buNone/>
              <a:defRPr/>
            </a:pPr>
            <a:r>
              <a:rPr lang="en-AU" sz="2400" dirty="0">
                <a:solidFill>
                  <a:srgbClr val="16191F"/>
                </a:solidFill>
              </a:rPr>
              <a:t>identity-based policy  </a:t>
            </a:r>
          </a:p>
          <a:p>
            <a:pPr lvl="1" fontAlgn="auto">
              <a:spcAft>
                <a:spcPts val="0"/>
              </a:spcAft>
              <a:buClrTx/>
              <a:buSzTx/>
              <a:defRPr/>
            </a:pPr>
            <a:endParaRPr lang="en-AU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C2E0D3D-771E-4B07-B9FA-11D8A29C15E3}"/>
              </a:ext>
            </a:extLst>
          </p:cNvPr>
          <p:cNvSpPr txBox="1"/>
          <p:nvPr/>
        </p:nvSpPr>
        <p:spPr>
          <a:xfrm>
            <a:off x="7290042" y="1609464"/>
            <a:ext cx="3944460" cy="4358116"/>
          </a:xfrm>
          <a:prstGeom prst="rect">
            <a:avLst/>
          </a:prstGeom>
          <a:solidFill>
            <a:schemeClr val="bg1">
              <a:lumMod val="85000"/>
              <a:alpha val="3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49213" lvl="2" algn="l"/>
            <a:r>
              <a:rPr lang="en-US" sz="1800" dirty="0">
                <a:latin typeface="+mn-lt"/>
              </a:rPr>
              <a:t>{</a:t>
            </a:r>
          </a:p>
          <a:p>
            <a:pPr marL="49213" lvl="2" algn="l"/>
            <a:r>
              <a:rPr lang="en-US" sz="1800" dirty="0">
                <a:latin typeface="+mn-lt"/>
              </a:rPr>
              <a:t>    "Version": "2012-10-17",</a:t>
            </a:r>
          </a:p>
          <a:p>
            <a:pPr marL="49213" lvl="2" algn="l"/>
            <a:r>
              <a:rPr lang="en-US" sz="1800" dirty="0">
                <a:latin typeface="+mn-lt"/>
              </a:rPr>
              <a:t>    "Statement": [</a:t>
            </a:r>
          </a:p>
          <a:p>
            <a:pPr marL="49213" lvl="2" algn="l"/>
            <a:r>
              <a:rPr lang="en-US" sz="1800" dirty="0">
                <a:latin typeface="+mn-lt"/>
              </a:rPr>
              <a:t>        {</a:t>
            </a:r>
          </a:p>
          <a:p>
            <a:pPr marL="49213" lvl="2" algn="l"/>
            <a:r>
              <a:rPr lang="en-US" sz="1800" dirty="0">
                <a:latin typeface="+mn-lt"/>
              </a:rPr>
              <a:t>            "Effect": "Allow",</a:t>
            </a:r>
          </a:p>
          <a:p>
            <a:pPr marL="49213" lvl="2" algn="l"/>
            <a:r>
              <a:rPr lang="en-US" sz="1800" dirty="0">
                <a:latin typeface="+mn-lt"/>
              </a:rPr>
              <a:t>            "Action": [</a:t>
            </a:r>
          </a:p>
          <a:p>
            <a:pPr marL="49213" lvl="2" algn="l"/>
            <a:r>
              <a:rPr lang="en-US" sz="1800" dirty="0">
                <a:latin typeface="+mn-lt"/>
              </a:rPr>
              <a:t>                "s3:*",</a:t>
            </a:r>
          </a:p>
          <a:p>
            <a:pPr marL="49213" lvl="2" algn="l"/>
            <a:r>
              <a:rPr lang="en-US" sz="1800" dirty="0">
                <a:latin typeface="+mn-lt"/>
              </a:rPr>
              <a:t>                "ec2:*"</a:t>
            </a:r>
          </a:p>
          <a:p>
            <a:pPr marL="49213" lvl="2" algn="l"/>
            <a:r>
              <a:rPr lang="en-US" sz="1800" dirty="0">
                <a:latin typeface="+mn-lt"/>
              </a:rPr>
              <a:t>            ],</a:t>
            </a:r>
          </a:p>
          <a:p>
            <a:pPr marL="49213" lvl="2" algn="l"/>
            <a:r>
              <a:rPr lang="en-US" sz="1800" dirty="0">
                <a:latin typeface="+mn-lt"/>
              </a:rPr>
              <a:t>            "Resource": "*"</a:t>
            </a:r>
          </a:p>
          <a:p>
            <a:pPr marL="49213" lvl="2" algn="l"/>
            <a:r>
              <a:rPr lang="en-US" sz="1800" dirty="0">
                <a:latin typeface="+mn-lt"/>
              </a:rPr>
              <a:t>        }</a:t>
            </a:r>
          </a:p>
          <a:p>
            <a:pPr marL="49213" lvl="2" algn="l"/>
            <a:r>
              <a:rPr lang="en-US" sz="1800" dirty="0">
                <a:latin typeface="+mn-lt"/>
              </a:rPr>
              <a:t>    ]</a:t>
            </a:r>
          </a:p>
          <a:p>
            <a:pPr marL="49213" lvl="2" algn="l"/>
            <a:r>
              <a:rPr lang="en-US" sz="1800" dirty="0">
                <a:latin typeface="+mn-lt"/>
              </a:rPr>
              <a:t>}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8170A1BA-2D13-4B6C-B961-D387E00F4A37}"/>
              </a:ext>
            </a:extLst>
          </p:cNvPr>
          <p:cNvSpPr txBox="1">
            <a:spLocks/>
          </p:cNvSpPr>
          <p:nvPr/>
        </p:nvSpPr>
        <p:spPr>
          <a:xfrm>
            <a:off x="7649216" y="993913"/>
            <a:ext cx="3226112" cy="4765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fontAlgn="auto">
              <a:spcAft>
                <a:spcPts val="0"/>
              </a:spcAft>
              <a:buClrTx/>
              <a:buSzTx/>
              <a:buNone/>
              <a:defRPr/>
            </a:pPr>
            <a:r>
              <a:rPr lang="en-AU" sz="2400" i="0" dirty="0">
                <a:solidFill>
                  <a:srgbClr val="16191F"/>
                </a:solidFill>
                <a:effectLst/>
              </a:rPr>
              <a:t>Permissions boundary</a:t>
            </a:r>
            <a:endParaRPr lang="en-AU" dirty="0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CA6A2D6F-5285-4CE0-95BE-8A3044EF7204}"/>
              </a:ext>
            </a:extLst>
          </p:cNvPr>
          <p:cNvSpPr txBox="1">
            <a:spLocks/>
          </p:cNvSpPr>
          <p:nvPr/>
        </p:nvSpPr>
        <p:spPr>
          <a:xfrm>
            <a:off x="805098" y="4718737"/>
            <a:ext cx="6484944" cy="154871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Aft>
                <a:spcPts val="0"/>
              </a:spcAft>
              <a:buClrTx/>
              <a:buSzTx/>
              <a:defRPr/>
            </a:pPr>
            <a:r>
              <a:rPr lang="en-AU" sz="2200" dirty="0">
                <a:solidFill>
                  <a:srgbClr val="16191F"/>
                </a:solidFill>
              </a:rPr>
              <a:t>Both policies are attached to Alice.</a:t>
            </a:r>
          </a:p>
          <a:p>
            <a:pPr fontAlgn="auto">
              <a:spcAft>
                <a:spcPts val="0"/>
              </a:spcAft>
              <a:buClrTx/>
              <a:buSzTx/>
              <a:defRPr/>
            </a:pPr>
            <a:r>
              <a:rPr lang="en-AU" sz="2200" dirty="0">
                <a:solidFill>
                  <a:srgbClr val="C00000"/>
                </a:solidFill>
              </a:rPr>
              <a:t>Can Alice create a user? </a:t>
            </a:r>
          </a:p>
          <a:p>
            <a:pPr fontAlgn="auto">
              <a:spcAft>
                <a:spcPts val="0"/>
              </a:spcAft>
              <a:buClrTx/>
              <a:buSzTx/>
              <a:defRPr/>
            </a:pPr>
            <a:r>
              <a:rPr lang="en-AU" sz="2200" dirty="0">
                <a:solidFill>
                  <a:srgbClr val="C00000"/>
                </a:solidFill>
              </a:rPr>
              <a:t>Can Alice create S3 buckets and EC2 instances?</a:t>
            </a:r>
          </a:p>
          <a:p>
            <a:pPr lvl="1" fontAlgn="auto">
              <a:spcAft>
                <a:spcPts val="0"/>
              </a:spcAft>
              <a:buClrTx/>
              <a:buSzTx/>
              <a:defRPr/>
            </a:pP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198507562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6769" y="331076"/>
            <a:ext cx="5116551" cy="476539"/>
          </a:xfrm>
        </p:spPr>
        <p:txBody>
          <a:bodyPr>
            <a:normAutofit fontScale="90000"/>
          </a:bodyPr>
          <a:lstStyle/>
          <a:p>
            <a:pPr algn="l"/>
            <a:r>
              <a:rPr lang="en-AU" sz="3200" b="1" i="0" dirty="0">
                <a:solidFill>
                  <a:srgbClr val="16191F"/>
                </a:solidFill>
                <a:effectLst/>
              </a:rPr>
              <a:t>Permissions boundary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182F0DDB-0B9D-400C-BD20-516097D69115}"/>
              </a:ext>
            </a:extLst>
          </p:cNvPr>
          <p:cNvSpPr txBox="1">
            <a:spLocks/>
          </p:cNvSpPr>
          <p:nvPr/>
        </p:nvSpPr>
        <p:spPr>
          <a:xfrm>
            <a:off x="336769" y="971550"/>
            <a:ext cx="11842311" cy="92378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Aft>
                <a:spcPts val="0"/>
              </a:spcAft>
              <a:buClrTx/>
              <a:buSzTx/>
              <a:defRPr/>
            </a:pPr>
            <a:r>
              <a:rPr lang="en-AU" sz="2200" dirty="0">
                <a:solidFill>
                  <a:srgbClr val="16191F"/>
                </a:solidFill>
              </a:rPr>
              <a:t>Both answers are NO.</a:t>
            </a:r>
          </a:p>
          <a:p>
            <a:pPr fontAlgn="auto">
              <a:spcAft>
                <a:spcPts val="0"/>
              </a:spcAft>
              <a:buClrTx/>
              <a:buSzTx/>
              <a:defRPr/>
            </a:pPr>
            <a:r>
              <a:rPr lang="en-AU" sz="2200" dirty="0">
                <a:solidFill>
                  <a:srgbClr val="16191F"/>
                </a:solidFill>
              </a:rPr>
              <a:t>Effective permissions are in the intersection of </a:t>
            </a:r>
            <a:r>
              <a:rPr lang="en-US" sz="2200" dirty="0">
                <a:solidFill>
                  <a:srgbClr val="16191F"/>
                </a:solidFill>
              </a:rPr>
              <a:t>Identity-based policies and permissions boundaries. </a:t>
            </a:r>
            <a:endParaRPr lang="en-AU" sz="2200" dirty="0">
              <a:solidFill>
                <a:srgbClr val="16191F"/>
              </a:solidFill>
            </a:endParaRPr>
          </a:p>
          <a:p>
            <a:pPr lvl="1" fontAlgn="auto">
              <a:spcAft>
                <a:spcPts val="0"/>
              </a:spcAft>
              <a:buClrTx/>
              <a:buSzTx/>
              <a:defRPr/>
            </a:pPr>
            <a:endParaRPr lang="en-AU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DC7B8ABE-5D38-42EC-9428-57ADA45FD6A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43519" y="2059274"/>
            <a:ext cx="4419601" cy="40698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7088618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728133" y="157644"/>
            <a:ext cx="4101776" cy="942975"/>
          </a:xfrm>
        </p:spPr>
        <p:txBody>
          <a:bodyPr>
            <a:normAutofit/>
          </a:bodyPr>
          <a:lstStyle/>
          <a:p>
            <a:r>
              <a:rPr lang="en-AU" sz="3200" b="1" dirty="0"/>
              <a:t>Practice Questions</a:t>
            </a:r>
          </a:p>
        </p:txBody>
      </p:sp>
      <p:sp>
        <p:nvSpPr>
          <p:cNvPr id="7" name="Content Placeholder 1">
            <a:extLst>
              <a:ext uri="{FF2B5EF4-FFF2-40B4-BE49-F238E27FC236}">
                <a16:creationId xmlns:a16="http://schemas.microsoft.com/office/drawing/2014/main" id="{85F180D1-C7EF-4A34-96CA-73A86A26F467}"/>
              </a:ext>
            </a:extLst>
          </p:cNvPr>
          <p:cNvSpPr txBox="1">
            <a:spLocks/>
          </p:cNvSpPr>
          <p:nvPr/>
        </p:nvSpPr>
        <p:spPr>
          <a:xfrm>
            <a:off x="728132" y="1100619"/>
            <a:ext cx="9457859" cy="111095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Aft>
                <a:spcPts val="0"/>
              </a:spcAft>
              <a:buClrTx/>
              <a:buSzTx/>
            </a:pPr>
            <a:r>
              <a:rPr lang="en-AU" sz="2400" dirty="0"/>
              <a:t>[6 marks] Q1: </a:t>
            </a:r>
            <a:r>
              <a:rPr lang="en-US" sz="2400" dirty="0"/>
              <a:t>Name 3 of the keys in a Policy. Explain their role. An example of a key is “Version” that specifies the version of the policy syntax and is normally “Version”: “2012-10-17”</a:t>
            </a:r>
          </a:p>
        </p:txBody>
      </p:sp>
    </p:spTree>
    <p:extLst>
      <p:ext uri="{BB962C8B-B14F-4D97-AF65-F5344CB8AC3E}">
        <p14:creationId xmlns:p14="http://schemas.microsoft.com/office/powerpoint/2010/main" val="2249381299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728133" y="157644"/>
            <a:ext cx="4101776" cy="942975"/>
          </a:xfrm>
        </p:spPr>
        <p:txBody>
          <a:bodyPr>
            <a:normAutofit/>
          </a:bodyPr>
          <a:lstStyle/>
          <a:p>
            <a:r>
              <a:rPr lang="en-AU" sz="3200" b="1" dirty="0"/>
              <a:t>Practice Questions</a:t>
            </a:r>
          </a:p>
        </p:txBody>
      </p:sp>
      <p:sp>
        <p:nvSpPr>
          <p:cNvPr id="5" name="Content Placeholder 1">
            <a:extLst>
              <a:ext uri="{FF2B5EF4-FFF2-40B4-BE49-F238E27FC236}">
                <a16:creationId xmlns:a16="http://schemas.microsoft.com/office/drawing/2014/main" id="{4D7B3B84-FDE9-4250-98AF-F8F63A52E3D9}"/>
              </a:ext>
            </a:extLst>
          </p:cNvPr>
          <p:cNvSpPr txBox="1">
            <a:spLocks/>
          </p:cNvSpPr>
          <p:nvPr/>
        </p:nvSpPr>
        <p:spPr>
          <a:xfrm>
            <a:off x="728132" y="2277687"/>
            <a:ext cx="11208944" cy="347969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fontAlgn="auto">
              <a:spcAft>
                <a:spcPts val="0"/>
              </a:spcAft>
              <a:buClrTx/>
              <a:buSzTx/>
              <a:buNone/>
            </a:pPr>
            <a:endParaRPr lang="en-AU" sz="2200" dirty="0"/>
          </a:p>
          <a:p>
            <a:pPr fontAlgn="auto">
              <a:spcAft>
                <a:spcPts val="0"/>
              </a:spcAft>
              <a:buClrTx/>
              <a:buSzTx/>
            </a:pPr>
            <a:r>
              <a:rPr lang="en-US" sz="2400" dirty="0"/>
              <a:t>[2 marks] </a:t>
            </a:r>
            <a:r>
              <a:rPr lang="en-US" sz="2400" b="1" dirty="0"/>
              <a:t>Statement</a:t>
            </a:r>
            <a:r>
              <a:rPr lang="en-US" sz="2400" dirty="0"/>
              <a:t>: </a:t>
            </a:r>
            <a:r>
              <a:rPr lang="en-US" sz="2400" dirty="0">
                <a:latin typeface="+mn-lt"/>
              </a:rPr>
              <a:t>represents a permission rule.</a:t>
            </a:r>
            <a:endParaRPr lang="en-US" sz="2400" dirty="0"/>
          </a:p>
          <a:p>
            <a:pPr fontAlgn="auto">
              <a:spcAft>
                <a:spcPts val="0"/>
              </a:spcAft>
              <a:buClrTx/>
              <a:buSzTx/>
            </a:pPr>
            <a:r>
              <a:rPr lang="en-US" sz="2400" dirty="0"/>
              <a:t>[2 marks] </a:t>
            </a:r>
            <a:r>
              <a:rPr lang="en-US" sz="2400" b="1" dirty="0"/>
              <a:t>Effect</a:t>
            </a:r>
            <a:r>
              <a:rPr lang="en-US" sz="2400" dirty="0"/>
              <a:t>: </a:t>
            </a:r>
            <a:r>
              <a:rPr lang="en-US" sz="2400" dirty="0">
                <a:latin typeface="+mn-lt"/>
              </a:rPr>
              <a:t>what the effect will be when a user requests the specific action—this can be either </a:t>
            </a:r>
            <a:r>
              <a:rPr lang="en-US" sz="2400" b="1" dirty="0">
                <a:latin typeface="+mn-lt"/>
              </a:rPr>
              <a:t>Allow</a:t>
            </a:r>
            <a:r>
              <a:rPr lang="en-US" sz="2400" dirty="0">
                <a:latin typeface="+mn-lt"/>
              </a:rPr>
              <a:t> or </a:t>
            </a:r>
            <a:r>
              <a:rPr lang="en-US" sz="2400" b="1" dirty="0">
                <a:latin typeface="+mn-lt"/>
              </a:rPr>
              <a:t>Deny</a:t>
            </a:r>
            <a:r>
              <a:rPr lang="en-US" sz="2400" dirty="0"/>
              <a:t>.</a:t>
            </a:r>
          </a:p>
          <a:p>
            <a:pPr fontAlgn="auto">
              <a:spcAft>
                <a:spcPts val="0"/>
              </a:spcAft>
              <a:buClrTx/>
              <a:buSzTx/>
            </a:pPr>
            <a:r>
              <a:rPr lang="en-US" sz="2400" dirty="0"/>
              <a:t>[2 marks] </a:t>
            </a:r>
            <a:r>
              <a:rPr lang="en-US" sz="2400" b="1" dirty="0"/>
              <a:t>Action</a:t>
            </a:r>
            <a:r>
              <a:rPr lang="en-US" sz="2400" dirty="0"/>
              <a:t>: </a:t>
            </a:r>
            <a:r>
              <a:rPr lang="en-US" sz="2400" dirty="0">
                <a:latin typeface="+mn-lt"/>
              </a:rPr>
              <a:t>defines a set of resource operations a user/application is allowed (or denied) to perform.</a:t>
            </a:r>
            <a:endParaRPr lang="en-US" sz="2400" dirty="0"/>
          </a:p>
          <a:p>
            <a:pPr fontAlgn="auto">
              <a:spcAft>
                <a:spcPts val="0"/>
              </a:spcAft>
              <a:buClrTx/>
              <a:buSzTx/>
            </a:pPr>
            <a:r>
              <a:rPr lang="en-US" sz="2400" dirty="0"/>
              <a:t>[2 marks] </a:t>
            </a:r>
            <a:r>
              <a:rPr lang="en-US" sz="2400" b="1" dirty="0"/>
              <a:t>Resource</a:t>
            </a:r>
            <a:r>
              <a:rPr lang="en-US" sz="2400" dirty="0"/>
              <a:t>: </a:t>
            </a:r>
            <a:r>
              <a:rPr lang="en-US" sz="2400" dirty="0">
                <a:latin typeface="+mn-lt"/>
              </a:rPr>
              <a:t>specifies AWS resources for which a user is allowed or denied to take actions. </a:t>
            </a:r>
            <a:endParaRPr lang="en-AU" sz="2400" dirty="0"/>
          </a:p>
        </p:txBody>
      </p:sp>
      <p:sp>
        <p:nvSpPr>
          <p:cNvPr id="6" name="Content Placeholder 1">
            <a:extLst>
              <a:ext uri="{FF2B5EF4-FFF2-40B4-BE49-F238E27FC236}">
                <a16:creationId xmlns:a16="http://schemas.microsoft.com/office/drawing/2014/main" id="{3F549DDF-458A-4210-B50B-BD3C33D7266E}"/>
              </a:ext>
            </a:extLst>
          </p:cNvPr>
          <p:cNvSpPr txBox="1">
            <a:spLocks/>
          </p:cNvSpPr>
          <p:nvPr/>
        </p:nvSpPr>
        <p:spPr>
          <a:xfrm>
            <a:off x="728132" y="1100619"/>
            <a:ext cx="9457859" cy="111095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Aft>
                <a:spcPts val="0"/>
              </a:spcAft>
              <a:buClrTx/>
              <a:buSzTx/>
            </a:pPr>
            <a:r>
              <a:rPr lang="en-AU" sz="2400" dirty="0"/>
              <a:t>[6 marks] Q1: </a:t>
            </a:r>
            <a:r>
              <a:rPr lang="en-US" sz="2400" dirty="0"/>
              <a:t>Name 3 of the keys in a Policy. Explain their role. An example of a key is “Version” that specifies the version of the policy syntax and is normally “Version”: “2012-10-17”</a:t>
            </a:r>
          </a:p>
        </p:txBody>
      </p:sp>
    </p:spTree>
    <p:extLst>
      <p:ext uri="{BB962C8B-B14F-4D97-AF65-F5344CB8AC3E}">
        <p14:creationId xmlns:p14="http://schemas.microsoft.com/office/powerpoint/2010/main" val="293027335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6913</Words>
  <Application>Microsoft Office PowerPoint</Application>
  <PresentationFormat>Widescreen</PresentationFormat>
  <Paragraphs>1096</Paragraphs>
  <Slides>80</Slides>
  <Notes>74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80</vt:i4>
      </vt:variant>
    </vt:vector>
  </HeadingPairs>
  <TitlesOfParts>
    <vt:vector size="89" baseType="lpstr">
      <vt:lpstr>Amazon Ember</vt:lpstr>
      <vt:lpstr>Courier</vt:lpstr>
      <vt:lpstr>Arial</vt:lpstr>
      <vt:lpstr>Calibri</vt:lpstr>
      <vt:lpstr>Calibri Light</vt:lpstr>
      <vt:lpstr>Tahoma</vt:lpstr>
      <vt:lpstr>Times New Roman</vt:lpstr>
      <vt:lpstr>Wingdings</vt:lpstr>
      <vt:lpstr>Office Theme</vt:lpstr>
      <vt:lpstr>Week 5 AWS Identity Access Management</vt:lpstr>
      <vt:lpstr>Mid-sem test</vt:lpstr>
      <vt:lpstr>Mid-sem test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Overview</vt:lpstr>
      <vt:lpstr>Cybersecurity</vt:lpstr>
      <vt:lpstr>Cybersecurity</vt:lpstr>
      <vt:lpstr>Cryptography</vt:lpstr>
      <vt:lpstr>Cryptography</vt:lpstr>
      <vt:lpstr>Cryptography</vt:lpstr>
      <vt:lpstr>Cryptography today</vt:lpstr>
      <vt:lpstr>Cryptography today</vt:lpstr>
      <vt:lpstr>Cryptography today</vt:lpstr>
      <vt:lpstr>Cryptography today</vt:lpstr>
      <vt:lpstr>Cryptography today</vt:lpstr>
      <vt:lpstr>What is IAM (identity access management)?</vt:lpstr>
      <vt:lpstr>IAM identity</vt:lpstr>
      <vt:lpstr>IAM identity</vt:lpstr>
      <vt:lpstr>IAM role</vt:lpstr>
      <vt:lpstr>How IAM works</vt:lpstr>
      <vt:lpstr>How IAM works</vt:lpstr>
      <vt:lpstr>How IAM works</vt:lpstr>
      <vt:lpstr>Main features of IAM</vt:lpstr>
      <vt:lpstr>Policies and permissions</vt:lpstr>
      <vt:lpstr>PowerPoint Presentation</vt:lpstr>
      <vt:lpstr>Policies and permissions</vt:lpstr>
      <vt:lpstr>Identity-based policy</vt:lpstr>
      <vt:lpstr>Identity-based policy</vt:lpstr>
      <vt:lpstr>AWS managed policy</vt:lpstr>
      <vt:lpstr>AWS managed policy</vt:lpstr>
      <vt:lpstr>AdministratorAccess</vt:lpstr>
      <vt:lpstr>PowerUserAccess</vt:lpstr>
      <vt:lpstr>PowerUserAccess</vt:lpstr>
      <vt:lpstr>PowerPoint Presentation</vt:lpstr>
      <vt:lpstr>PowerPoint Presentation</vt:lpstr>
      <vt:lpstr>PowerPoint Presentation</vt:lpstr>
      <vt:lpstr>PowerPoint Presentation</vt:lpstr>
      <vt:lpstr>AWSCloudTrail_ReadOnlyAccess</vt:lpstr>
      <vt:lpstr>Customer managed policy</vt:lpstr>
      <vt:lpstr>PowerPoint Presentation</vt:lpstr>
      <vt:lpstr>Resource-based policy</vt:lpstr>
      <vt:lpstr>Permissions boundary</vt:lpstr>
      <vt:lpstr>Permissions boundary</vt:lpstr>
      <vt:lpstr>Permissions boundary</vt:lpstr>
      <vt:lpstr>Practice Questions</vt:lpstr>
      <vt:lpstr>Practice Questions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cp:lastModifiedBy/>
  <cp:revision>1</cp:revision>
  <dcterms:created xsi:type="dcterms:W3CDTF">2026-08-17T03:35:38Z</dcterms:created>
  <dcterms:modified xsi:type="dcterms:W3CDTF">2026-08-23T07:11:17Z</dcterms:modified>
  <cp:category/>
</cp:coreProperties>
</file>